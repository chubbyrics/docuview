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sldIdLst>
    <p:sldId id="266" r:id="rId5"/>
    <p:sldId id="308" r:id="rId6"/>
    <p:sldId id="309" r:id="rId7"/>
    <p:sldId id="310" r:id="rId8"/>
    <p:sldId id="312" r:id="rId9"/>
    <p:sldId id="31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16882A-A192-DE88-960D-C4F9ACBD5B96}" v="1" dt="2025-10-31T16:13:04.1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dgm:spPr/>
      <dgm:t>
        <a:bodyPr/>
        <a:lstStyle/>
        <a:p>
          <a:pPr>
            <a:lnSpc>
              <a:spcPct val="100000"/>
            </a:lnSpc>
            <a:defRPr cap="all"/>
          </a:pPr>
          <a:r>
            <a:rPr lang="en-US"/>
            <a:t>Does not negotiate with debt settlement companies </a:t>
          </a:r>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r>
            <a:rPr lang="en-US"/>
            <a:t>Settlements are less favorable</a:t>
          </a:r>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defRPr cap="all"/>
          </a:pPr>
          <a:r>
            <a:rPr lang="en-US"/>
            <a:t>Clients need to be involved in the settlement process.</a:t>
          </a:r>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B6056BFB-47D7-4C5F-BA11-2CB63C56A52D}" type="pres">
      <dgm:prSet presAssocID="{01A66772-F185-4D58-B8BB-E9370D7A7A2B}" presName="root" presStyleCnt="0">
        <dgm:presLayoutVars>
          <dgm:dir/>
          <dgm:resizeHandles val="exact"/>
        </dgm:presLayoutVars>
      </dgm:prSet>
      <dgm:spPr/>
    </dgm:pt>
    <dgm:pt modelId="{311B26C8-22B1-4363-B621-DD56FB7418C8}" type="pres">
      <dgm:prSet presAssocID="{40FC4FFE-8987-4A26-B7F4-8A516F18ADAE}" presName="compNode" presStyleCnt="0"/>
      <dgm:spPr/>
    </dgm:pt>
    <dgm:pt modelId="{A201D7A7-914C-4D24-8B82-EE40155AB0BE}" type="pres">
      <dgm:prSet presAssocID="{40FC4FFE-8987-4A26-B7F4-8A516F18ADAE}" presName="iconBgRect" presStyleLbl="bgShp" presStyleIdx="0" presStyleCnt="3"/>
      <dgm:spPr>
        <a:prstGeom prst="ellipse">
          <a:avLst/>
        </a:prstGeom>
      </dgm:spPr>
    </dgm:pt>
    <dgm:pt modelId="{8FA2F131-CD01-4CBD-B7A5-1B9B5E7F0402}" type="pres">
      <dgm:prSet presAssocID="{40FC4FFE-8987-4A26-B7F4-8A516F18ADAE}"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ie chart"/>
        </a:ext>
      </dgm:extLst>
    </dgm:pt>
    <dgm:pt modelId="{F755F00C-B2DB-4097-B4BC-8F1BACC938B7}" type="pres">
      <dgm:prSet presAssocID="{40FC4FFE-8987-4A26-B7F4-8A516F18ADAE}" presName="spaceRect" presStyleCnt="0"/>
      <dgm:spPr/>
    </dgm:pt>
    <dgm:pt modelId="{08F4E96D-0DB6-4476-8C51-7CC7EC2F227B}" type="pres">
      <dgm:prSet presAssocID="{40FC4FFE-8987-4A26-B7F4-8A516F18ADAE}" presName="textRect" presStyleLbl="revTx" presStyleIdx="0" presStyleCnt="3">
        <dgm:presLayoutVars>
          <dgm:chMax val="1"/>
          <dgm:chPref val="1"/>
        </dgm:presLayoutVars>
      </dgm:prSet>
      <dgm:spPr/>
    </dgm:pt>
    <dgm:pt modelId="{5AB3C10D-885E-4522-AB39-7ED4318D191A}" type="pres">
      <dgm:prSet presAssocID="{5B62599A-5C9B-48E7-896E-EA782AC60C8B}" presName="sibTrans" presStyleCnt="0"/>
      <dgm:spPr/>
    </dgm:pt>
    <dgm:pt modelId="{2F278BF9-E1B2-4A1C-B065-C19A7B904219}" type="pres">
      <dgm:prSet presAssocID="{49225C73-1633-42F1-AB3B-7CB183E5F8B8}" presName="compNode" presStyleCnt="0"/>
      <dgm:spPr/>
    </dgm:pt>
    <dgm:pt modelId="{543C18BC-1989-44B2-9862-C670C61D3452}" type="pres">
      <dgm:prSet presAssocID="{49225C73-1633-42F1-AB3B-7CB183E5F8B8}" presName="iconBgRect" presStyleLbl="bgShp" presStyleIdx="1" presStyleCnt="3"/>
      <dgm:spPr>
        <a:prstGeom prst="ellipse">
          <a:avLst/>
        </a:prstGeom>
      </dgm:spPr>
    </dgm:pt>
    <dgm:pt modelId="{E94F35BC-9C76-400A-BBCA-0032259E2E5A}" type="pres">
      <dgm:prSet presAssocID="{49225C73-1633-42F1-AB3B-7CB183E5F8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llseye"/>
        </a:ext>
      </dgm:extLst>
    </dgm:pt>
    <dgm:pt modelId="{503A6D04-9ADD-43CC-9847-497CD48F2D11}" type="pres">
      <dgm:prSet presAssocID="{49225C73-1633-42F1-AB3B-7CB183E5F8B8}" presName="spaceRect" presStyleCnt="0"/>
      <dgm:spPr/>
    </dgm:pt>
    <dgm:pt modelId="{20363298-B2A6-463D-A7BE-F9F67404E389}" type="pres">
      <dgm:prSet presAssocID="{49225C73-1633-42F1-AB3B-7CB183E5F8B8}" presName="textRect" presStyleLbl="revTx" presStyleIdx="1" presStyleCnt="3">
        <dgm:presLayoutVars>
          <dgm:chMax val="1"/>
          <dgm:chPref val="1"/>
        </dgm:presLayoutVars>
      </dgm:prSet>
      <dgm:spPr/>
    </dgm:pt>
    <dgm:pt modelId="{A47947BB-708D-4F7E-B072-3C2E42B34B24}" type="pres">
      <dgm:prSet presAssocID="{9646853A-8964-4519-A5B1-0B7D18B2983D}" presName="sibTrans" presStyleCnt="0"/>
      <dgm:spPr/>
    </dgm:pt>
    <dgm:pt modelId="{BDCD0AC9-D564-4025-AD8A-36664A6CBE31}" type="pres">
      <dgm:prSet presAssocID="{1C383F32-22E8-4F62-A3E0-BDC3D5F48992}" presName="compNode" presStyleCnt="0"/>
      <dgm:spPr/>
    </dgm:pt>
    <dgm:pt modelId="{5BDDFF18-9AEC-4E5E-B9AA-33D86F01A63E}" type="pres">
      <dgm:prSet presAssocID="{1C383F32-22E8-4F62-A3E0-BDC3D5F48992}" presName="iconBgRect" presStyleLbl="bgShp" presStyleIdx="2" presStyleCnt="3"/>
      <dgm:spPr>
        <a:prstGeom prst="ellipse">
          <a:avLst/>
        </a:prstGeom>
      </dgm:spPr>
    </dgm:pt>
    <dgm:pt modelId="{F09AEBFF-D2D3-4FFF-AD65-C3CEAEEB10F2}" type="pres">
      <dgm:prSet presAssocID="{1C383F32-22E8-4F62-A3E0-BDC3D5F489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topwatch"/>
        </a:ext>
      </dgm:extLst>
    </dgm:pt>
    <dgm:pt modelId="{F2EBFBCF-0520-415A-A886-3C4F90D208EF}" type="pres">
      <dgm:prSet presAssocID="{1C383F32-22E8-4F62-A3E0-BDC3D5F48992}" presName="spaceRect" presStyleCnt="0"/>
      <dgm:spPr/>
    </dgm:pt>
    <dgm:pt modelId="{AB9CAFAA-6939-48A6-A89B-19D1A94B9EA1}"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BA953D32-2DFF-47FE-AF26-C6B9E63D38DF}" type="presOf" srcId="{49225C73-1633-42F1-AB3B-7CB183E5F8B8}" destId="{20363298-B2A6-463D-A7BE-F9F67404E389}" srcOrd="0" destOrd="0" presId="urn:microsoft.com/office/officeart/2018/5/layout/IconLeafLabelList"/>
    <dgm:cxn modelId="{EC450542-0ED9-4BD6-9E85-5709B80794C5}" type="presOf" srcId="{01A66772-F185-4D58-B8BB-E9370D7A7A2B}" destId="{B6056BFB-47D7-4C5F-BA11-2CB63C56A52D}" srcOrd="0" destOrd="0" presId="urn:microsoft.com/office/officeart/2018/5/layout/IconLeafLabelList"/>
    <dgm:cxn modelId="{C7AD8469-3C68-4AF9-AB82-79B0043AA120}" srcId="{01A66772-F185-4D58-B8BB-E9370D7A7A2B}" destId="{40FC4FFE-8987-4A26-B7F4-8A516F18ADAE}" srcOrd="0" destOrd="0" parTransId="{CAD7EF86-FB23-41F6-BF42-040B36DEFDB1}" sibTransId="{5B62599A-5C9B-48E7-896E-EA782AC60C8B}"/>
    <dgm:cxn modelId="{C4CCE57E-E871-46D6-BAD5-880252C95D22}" srcId="{01A66772-F185-4D58-B8BB-E9370D7A7A2B}" destId="{1C383F32-22E8-4F62-A3E0-BDC3D5F48992}" srcOrd="2" destOrd="0" parTransId="{A7920A2F-3244-4159-AF04-6A1D38B7B317}" sibTransId="{8500F72A-2C6D-4FDF-9C1D-CA691380EB0B}"/>
    <dgm:cxn modelId="{D55FAE9C-CF3C-44F3-9D1E-DE6DF574E6D9}" type="presOf" srcId="{1C383F32-22E8-4F62-A3E0-BDC3D5F48992}" destId="{AB9CAFAA-6939-48A6-A89B-19D1A94B9EA1}" srcOrd="0" destOrd="0" presId="urn:microsoft.com/office/officeart/2018/5/layout/IconLeafLabelList"/>
    <dgm:cxn modelId="{A85983B4-FADF-419C-BC71-B5F0871C3055}" type="presOf" srcId="{40FC4FFE-8987-4A26-B7F4-8A516F18ADAE}" destId="{08F4E96D-0DB6-4476-8C51-7CC7EC2F227B}" srcOrd="0" destOrd="0" presId="urn:microsoft.com/office/officeart/2018/5/layout/IconLeafLabelList"/>
    <dgm:cxn modelId="{A3E74EE8-8900-4EBD-8983-3BF0AFD6DCC7}" type="presParOf" srcId="{B6056BFB-47D7-4C5F-BA11-2CB63C56A52D}" destId="{311B26C8-22B1-4363-B621-DD56FB7418C8}" srcOrd="0" destOrd="0" presId="urn:microsoft.com/office/officeart/2018/5/layout/IconLeafLabelList"/>
    <dgm:cxn modelId="{044EA9E0-B51B-492A-BE32-015CEAD0BAC9}" type="presParOf" srcId="{311B26C8-22B1-4363-B621-DD56FB7418C8}" destId="{A201D7A7-914C-4D24-8B82-EE40155AB0BE}" srcOrd="0" destOrd="0" presId="urn:microsoft.com/office/officeart/2018/5/layout/IconLeafLabelList"/>
    <dgm:cxn modelId="{08373EC6-14CB-429D-9495-F32683B931D7}" type="presParOf" srcId="{311B26C8-22B1-4363-B621-DD56FB7418C8}" destId="{8FA2F131-CD01-4CBD-B7A5-1B9B5E7F0402}" srcOrd="1" destOrd="0" presId="urn:microsoft.com/office/officeart/2018/5/layout/IconLeafLabelList"/>
    <dgm:cxn modelId="{9AB500F0-62A2-4E73-B4F4-5056804C8D6A}" type="presParOf" srcId="{311B26C8-22B1-4363-B621-DD56FB7418C8}" destId="{F755F00C-B2DB-4097-B4BC-8F1BACC938B7}" srcOrd="2" destOrd="0" presId="urn:microsoft.com/office/officeart/2018/5/layout/IconLeafLabelList"/>
    <dgm:cxn modelId="{676606A7-6564-4CEB-ACE0-4FF9A3A04E67}" type="presParOf" srcId="{311B26C8-22B1-4363-B621-DD56FB7418C8}" destId="{08F4E96D-0DB6-4476-8C51-7CC7EC2F227B}" srcOrd="3" destOrd="0" presId="urn:microsoft.com/office/officeart/2018/5/layout/IconLeafLabelList"/>
    <dgm:cxn modelId="{EAE0F94A-A454-4049-84F7-9EC90E847A03}" type="presParOf" srcId="{B6056BFB-47D7-4C5F-BA11-2CB63C56A52D}" destId="{5AB3C10D-885E-4522-AB39-7ED4318D191A}" srcOrd="1" destOrd="0" presId="urn:microsoft.com/office/officeart/2018/5/layout/IconLeafLabelList"/>
    <dgm:cxn modelId="{B0B5B21A-5ADD-4500-9A67-9B26AF543EBA}" type="presParOf" srcId="{B6056BFB-47D7-4C5F-BA11-2CB63C56A52D}" destId="{2F278BF9-E1B2-4A1C-B065-C19A7B904219}" srcOrd="2" destOrd="0" presId="urn:microsoft.com/office/officeart/2018/5/layout/IconLeafLabelList"/>
    <dgm:cxn modelId="{11FEAF2C-54F7-4E9C-A1D6-5FA0BF7F3665}" type="presParOf" srcId="{2F278BF9-E1B2-4A1C-B065-C19A7B904219}" destId="{543C18BC-1989-44B2-9862-C670C61D3452}" srcOrd="0" destOrd="0" presId="urn:microsoft.com/office/officeart/2018/5/layout/IconLeafLabelList"/>
    <dgm:cxn modelId="{92C17ECB-A80D-4A0E-95CF-40A53D32275F}" type="presParOf" srcId="{2F278BF9-E1B2-4A1C-B065-C19A7B904219}" destId="{E94F35BC-9C76-400A-BBCA-0032259E2E5A}" srcOrd="1" destOrd="0" presId="urn:microsoft.com/office/officeart/2018/5/layout/IconLeafLabelList"/>
    <dgm:cxn modelId="{54E5AE33-4BE6-44E7-871B-1103A0BA7A56}" type="presParOf" srcId="{2F278BF9-E1B2-4A1C-B065-C19A7B904219}" destId="{503A6D04-9ADD-43CC-9847-497CD48F2D11}" srcOrd="2" destOrd="0" presId="urn:microsoft.com/office/officeart/2018/5/layout/IconLeafLabelList"/>
    <dgm:cxn modelId="{3575FCA0-4FCE-460A-8D84-2C767D311A20}" type="presParOf" srcId="{2F278BF9-E1B2-4A1C-B065-C19A7B904219}" destId="{20363298-B2A6-463D-A7BE-F9F67404E389}" srcOrd="3" destOrd="0" presId="urn:microsoft.com/office/officeart/2018/5/layout/IconLeafLabelList"/>
    <dgm:cxn modelId="{4FD22448-C17B-4C43-BAB3-A0B7AA9BCE0D}" type="presParOf" srcId="{B6056BFB-47D7-4C5F-BA11-2CB63C56A52D}" destId="{A47947BB-708D-4F7E-B072-3C2E42B34B24}" srcOrd="3" destOrd="0" presId="urn:microsoft.com/office/officeart/2018/5/layout/IconLeafLabelList"/>
    <dgm:cxn modelId="{75E30F4F-0E76-457B-9D4F-CDE27C2F7F77}" type="presParOf" srcId="{B6056BFB-47D7-4C5F-BA11-2CB63C56A52D}" destId="{BDCD0AC9-D564-4025-AD8A-36664A6CBE31}" srcOrd="4" destOrd="0" presId="urn:microsoft.com/office/officeart/2018/5/layout/IconLeafLabelList"/>
    <dgm:cxn modelId="{C6A367E7-6A7C-42CB-94E4-8EA78AEF87BF}" type="presParOf" srcId="{BDCD0AC9-D564-4025-AD8A-36664A6CBE31}" destId="{5BDDFF18-9AEC-4E5E-B9AA-33D86F01A63E}" srcOrd="0" destOrd="0" presId="urn:microsoft.com/office/officeart/2018/5/layout/IconLeafLabelList"/>
    <dgm:cxn modelId="{B180CBEB-FA9F-4E52-8CA3-A65CB80BB91B}" type="presParOf" srcId="{BDCD0AC9-D564-4025-AD8A-36664A6CBE31}" destId="{F09AEBFF-D2D3-4FFF-AD65-C3CEAEEB10F2}" srcOrd="1" destOrd="0" presId="urn:microsoft.com/office/officeart/2018/5/layout/IconLeafLabelList"/>
    <dgm:cxn modelId="{170B020E-1E19-4EB4-A72C-4FCF01A7DD7E}" type="presParOf" srcId="{BDCD0AC9-D564-4025-AD8A-36664A6CBE31}" destId="{F2EBFBCF-0520-415A-A886-3C4F90D208EF}" srcOrd="2" destOrd="0" presId="urn:microsoft.com/office/officeart/2018/5/layout/IconLeafLabelList"/>
    <dgm:cxn modelId="{CADD8F7D-722C-42A0-AF21-39A3559F8D7B}" type="presParOf" srcId="{BDCD0AC9-D564-4025-AD8A-36664A6CBE31}" destId="{AB9CAFAA-6939-48A6-A89B-19D1A94B9EA1}"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1D7A7-914C-4D24-8B82-EE40155AB0BE}">
      <dsp:nvSpPr>
        <dsp:cNvPr id="0" name=""/>
        <dsp:cNvSpPr/>
      </dsp:nvSpPr>
      <dsp:spPr>
        <a:xfrm>
          <a:off x="616949" y="340539"/>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A2F131-CD01-4CBD-B7A5-1B9B5E7F0402}">
      <dsp:nvSpPr>
        <dsp:cNvPr id="0" name=""/>
        <dsp:cNvSpPr/>
      </dsp:nvSpPr>
      <dsp:spPr>
        <a:xfrm>
          <a:off x="1004512" y="728102"/>
          <a:ext cx="1043437" cy="104343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F4E96D-0DB6-4476-8C51-7CC7EC2F227B}">
      <dsp:nvSpPr>
        <dsp:cNvPr id="0" name=""/>
        <dsp:cNvSpPr/>
      </dsp:nvSpPr>
      <dsp:spPr>
        <a:xfrm>
          <a:off x="35606"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t>Does not negotiate with debt settlement companies </a:t>
          </a:r>
        </a:p>
      </dsp:txBody>
      <dsp:txXfrm>
        <a:off x="35606" y="2725540"/>
        <a:ext cx="2981250" cy="720000"/>
      </dsp:txXfrm>
    </dsp:sp>
    <dsp:sp modelId="{543C18BC-1989-44B2-9862-C670C61D3452}">
      <dsp:nvSpPr>
        <dsp:cNvPr id="0" name=""/>
        <dsp:cNvSpPr/>
      </dsp:nvSpPr>
      <dsp:spPr>
        <a:xfrm>
          <a:off x="4119918" y="340539"/>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F35BC-9C76-400A-BBCA-0032259E2E5A}">
      <dsp:nvSpPr>
        <dsp:cNvPr id="0" name=""/>
        <dsp:cNvSpPr/>
      </dsp:nvSpPr>
      <dsp:spPr>
        <a:xfrm>
          <a:off x="4507481" y="72810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363298-B2A6-463D-A7BE-F9F67404E389}">
      <dsp:nvSpPr>
        <dsp:cNvPr id="0" name=""/>
        <dsp:cNvSpPr/>
      </dsp:nvSpPr>
      <dsp:spPr>
        <a:xfrm>
          <a:off x="3538574"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t>Settlements are less favorable</a:t>
          </a:r>
        </a:p>
      </dsp:txBody>
      <dsp:txXfrm>
        <a:off x="3538574" y="2725540"/>
        <a:ext cx="2981250" cy="720000"/>
      </dsp:txXfrm>
    </dsp:sp>
    <dsp:sp modelId="{5BDDFF18-9AEC-4E5E-B9AA-33D86F01A63E}">
      <dsp:nvSpPr>
        <dsp:cNvPr id="0" name=""/>
        <dsp:cNvSpPr/>
      </dsp:nvSpPr>
      <dsp:spPr>
        <a:xfrm>
          <a:off x="7622887" y="340539"/>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9AEBFF-D2D3-4FFF-AD65-C3CEAEEB10F2}">
      <dsp:nvSpPr>
        <dsp:cNvPr id="0" name=""/>
        <dsp:cNvSpPr/>
      </dsp:nvSpPr>
      <dsp:spPr>
        <a:xfrm>
          <a:off x="8010450" y="72810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9CAFAA-6939-48A6-A89B-19D1A94B9EA1}">
      <dsp:nvSpPr>
        <dsp:cNvPr id="0" name=""/>
        <dsp:cNvSpPr/>
      </dsp:nvSpPr>
      <dsp:spPr>
        <a:xfrm>
          <a:off x="7041543"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t>Clients need to be involved in the settlement process.</a:t>
          </a:r>
        </a:p>
      </dsp:txBody>
      <dsp:txXfrm>
        <a:off x="7041543" y="2725540"/>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2/12/2026</a:t>
            </a:fld>
            <a:endParaRPr lang="en-US"/>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2/12/2026</a:t>
            </a:fld>
            <a:endParaRPr lang="en-US"/>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2/12/2026</a:t>
            </a:fld>
            <a:endParaRPr lang="en-US"/>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2/12/2026</a:t>
            </a:fld>
            <a:endParaRPr lang="en-US"/>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2/12/2026</a:t>
            </a:fld>
            <a:endParaRPr lang="en-US"/>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2/12/2026</a:t>
            </a:fld>
            <a:endParaRPr lang="en-US"/>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2/12/2026</a:t>
            </a:fld>
            <a:endParaRPr lang="en-US"/>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2/12/2026</a:t>
            </a:fld>
            <a:endParaRPr lang="en-US"/>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2/12/2026</a:t>
            </a:fld>
            <a:endParaRPr lang="en-US"/>
          </a:p>
        </p:txBody>
      </p:sp>
      <p:sp>
        <p:nvSpPr>
          <p:cNvPr id="6" name="Footer Placeholder 5"/>
          <p:cNvSpPr>
            <a:spLocks noGrp="1"/>
          </p:cNvSpPr>
          <p:nvPr>
            <p:ph type="ftr" sz="quarter" idx="11"/>
          </p:nvPr>
        </p:nvSpPr>
        <p:spPr>
          <a:xfrm>
            <a:off x="1097279" y="6446838"/>
            <a:ext cx="6818262" cy="365125"/>
          </a:xfr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2/12/2026</a:t>
            </a:fld>
            <a:endParaRPr lang="en-US"/>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rmAutofit/>
          </a:bodyPr>
          <a:lstStyle/>
          <a:p>
            <a:r>
              <a:rPr lang="en-US"/>
              <a:t>Hard Creditor Retainers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a:t>Authorizations Team </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a:t>What is a hard creditor?</a:t>
            </a:r>
          </a:p>
        </p:txBody>
      </p:sp>
      <p:graphicFrame>
        <p:nvGraphicFramePr>
          <p:cNvPr id="4" name="Content Placeholder 2" descr="SmartArt graphic">
            <a:extLst>
              <a:ext uri="{FF2B5EF4-FFF2-40B4-BE49-F238E27FC236}">
                <a16:creationId xmlns:a16="http://schemas.microsoft.com/office/drawing/2014/main" id="{59F5A1AC-D08D-42AE-B94A-1CAFB517D846}"/>
              </a:ext>
            </a:extLst>
          </p:cNvPr>
          <p:cNvGraphicFramePr>
            <a:graphicFrameLocks noGrp="1"/>
          </p:cNvGraphicFramePr>
          <p:nvPr>
            <p:ph idx="1"/>
            <p:extLst>
              <p:ext uri="{D42A27DB-BD31-4B8C-83A1-F6EECF244321}">
                <p14:modId xmlns:p14="http://schemas.microsoft.com/office/powerpoint/2010/main" val="4070625984"/>
              </p:ext>
            </p:extLst>
          </p:nvPr>
        </p:nvGraphicFramePr>
        <p:xfrm>
          <a:off x="1096963" y="19080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522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31EC8-411E-464C-8E74-286E3B781048}"/>
              </a:ext>
            </a:extLst>
          </p:cNvPr>
          <p:cNvSpPr>
            <a:spLocks noGrp="1"/>
          </p:cNvSpPr>
          <p:nvPr>
            <p:ph type="title"/>
          </p:nvPr>
        </p:nvSpPr>
        <p:spPr>
          <a:xfrm>
            <a:off x="1097280" y="263529"/>
            <a:ext cx="10058400" cy="1450757"/>
          </a:xfrm>
        </p:spPr>
        <p:txBody>
          <a:bodyPr/>
          <a:lstStyle/>
          <a:p>
            <a:r>
              <a:rPr lang="en-US"/>
              <a:t>What we say in the enrollment agreement</a:t>
            </a:r>
          </a:p>
        </p:txBody>
      </p:sp>
      <p:sp>
        <p:nvSpPr>
          <p:cNvPr id="3" name="Content Placeholder 2">
            <a:extLst>
              <a:ext uri="{FF2B5EF4-FFF2-40B4-BE49-F238E27FC236}">
                <a16:creationId xmlns:a16="http://schemas.microsoft.com/office/drawing/2014/main" id="{DB743A66-5B96-4301-B4E6-F52682B27D10}"/>
              </a:ext>
            </a:extLst>
          </p:cNvPr>
          <p:cNvSpPr>
            <a:spLocks noGrp="1"/>
          </p:cNvSpPr>
          <p:nvPr>
            <p:ph idx="1"/>
          </p:nvPr>
        </p:nvSpPr>
        <p:spPr/>
        <p:txBody>
          <a:bodyPr>
            <a:normAutofit/>
          </a:bodyPr>
          <a:lstStyle/>
          <a:p>
            <a:r>
              <a:rPr lang="en-US" sz="1600"/>
              <a:t>“Difficult Creditors”: Certain creditors are more difficult to negotiate with than others, some substantially so. The presence of an enrolled debt with a difficult creditor may result in a less favorable settlement for that particular debt than the same debt with a non-difficult creditor. If your enrolled accounts consist of one or more creditors which are known or believed to be “difficult creditors,” a greater degree of personal involvement may be required from you in order to obtain the best possible settlement. Though we are committed to handling every possible aspect of your debt negotiation agreement and will make the initial outreach to difficult creditors when necessary, you may be required to directly communicate or negotiate with a difficult creditor. In such an instance, we will work with you on a case-by-case basis to formulate an appropriate method for approaching these creditors, including providing you with step by step instructions to follow and an appropriate negotiated settlement range.</a:t>
            </a:r>
          </a:p>
        </p:txBody>
      </p:sp>
    </p:spTree>
    <p:extLst>
      <p:ext uri="{BB962C8B-B14F-4D97-AF65-F5344CB8AC3E}">
        <p14:creationId xmlns:p14="http://schemas.microsoft.com/office/powerpoint/2010/main" val="3629342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2C1F8-BD9F-43CB-B8A1-D9605CE9265C}"/>
              </a:ext>
            </a:extLst>
          </p:cNvPr>
          <p:cNvSpPr>
            <a:spLocks noGrp="1"/>
          </p:cNvSpPr>
          <p:nvPr>
            <p:ph type="title"/>
          </p:nvPr>
        </p:nvSpPr>
        <p:spPr/>
        <p:txBody>
          <a:bodyPr/>
          <a:lstStyle/>
          <a:p>
            <a:r>
              <a:rPr lang="en-US"/>
              <a:t>Why sign a retainer?</a:t>
            </a:r>
          </a:p>
        </p:txBody>
      </p:sp>
      <p:sp>
        <p:nvSpPr>
          <p:cNvPr id="3" name="Content Placeholder 2">
            <a:extLst>
              <a:ext uri="{FF2B5EF4-FFF2-40B4-BE49-F238E27FC236}">
                <a16:creationId xmlns:a16="http://schemas.microsoft.com/office/drawing/2014/main" id="{71C7DA5C-C100-4905-B6A6-FEE4FC7FEC8C}"/>
              </a:ext>
            </a:extLst>
          </p:cNvPr>
          <p:cNvSpPr>
            <a:spLocks noGrp="1"/>
          </p:cNvSpPr>
          <p:nvPr>
            <p:ph idx="1"/>
          </p:nvPr>
        </p:nvSpPr>
        <p:spPr>
          <a:xfrm>
            <a:off x="1097280" y="2108201"/>
            <a:ext cx="10058400" cy="3760891"/>
          </a:xfrm>
        </p:spPr>
        <p:txBody>
          <a:bodyPr>
            <a:normAutofit lnSpcReduction="10000"/>
          </a:bodyPr>
          <a:lstStyle/>
          <a:p>
            <a:r>
              <a:rPr lang="en-US" sz="2400" b="1"/>
              <a:t>Chase/Amex/Wells Fargo </a:t>
            </a:r>
            <a:r>
              <a:rPr lang="en-US" sz="2400"/>
              <a:t>have stated that they will only negotiate with a law firm who represents the client in this matter. </a:t>
            </a:r>
            <a:r>
              <a:rPr lang="en-US" sz="2400" b="1">
                <a:highlight>
                  <a:srgbClr val="FFFF00"/>
                </a:highlight>
              </a:rPr>
              <a:t>(Enrolled before 03/09/2023 )Greenberg Law or (Enrolled after 03/09/2023) Alperstein &amp; Associates LLC </a:t>
            </a:r>
            <a:r>
              <a:rPr lang="en-US" sz="2400"/>
              <a:t>has agreed to offer to represent you for the limited purpose of contacting </a:t>
            </a:r>
            <a:r>
              <a:rPr lang="en-US" sz="2400" b="1"/>
              <a:t>Chase/Amex/Wells Fargo </a:t>
            </a:r>
            <a:r>
              <a:rPr lang="en-US" sz="2400"/>
              <a:t>to assist in the negotiations process.  This is what is called Limited Representation.  There is no cost to the client for this, and there is nothing more that they need to do.  </a:t>
            </a:r>
          </a:p>
          <a:p>
            <a:r>
              <a:rPr lang="en-US" sz="2400"/>
              <a:t>This way the client does not need to be involved in the negotiations process. Sometimes that means being on the phone for an hour or more.</a:t>
            </a:r>
          </a:p>
        </p:txBody>
      </p:sp>
    </p:spTree>
    <p:extLst>
      <p:ext uri="{BB962C8B-B14F-4D97-AF65-F5344CB8AC3E}">
        <p14:creationId xmlns:p14="http://schemas.microsoft.com/office/powerpoint/2010/main" val="2865397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E4748-91F5-4594-B2A4-655994883002}"/>
              </a:ext>
            </a:extLst>
          </p:cNvPr>
          <p:cNvSpPr>
            <a:spLocks noGrp="1"/>
          </p:cNvSpPr>
          <p:nvPr>
            <p:ph type="title"/>
          </p:nvPr>
        </p:nvSpPr>
        <p:spPr/>
        <p:txBody>
          <a:bodyPr/>
          <a:lstStyle/>
          <a:p>
            <a:r>
              <a:rPr lang="en-US"/>
              <a:t>Talking Points</a:t>
            </a:r>
          </a:p>
        </p:txBody>
      </p:sp>
      <p:sp>
        <p:nvSpPr>
          <p:cNvPr id="3" name="Content Placeholder 2">
            <a:extLst>
              <a:ext uri="{FF2B5EF4-FFF2-40B4-BE49-F238E27FC236}">
                <a16:creationId xmlns:a16="http://schemas.microsoft.com/office/drawing/2014/main" id="{10F98AFF-0959-4DF0-AA9A-A702C0C430C0}"/>
              </a:ext>
            </a:extLst>
          </p:cNvPr>
          <p:cNvSpPr>
            <a:spLocks noGrp="1"/>
          </p:cNvSpPr>
          <p:nvPr>
            <p:ph idx="1"/>
          </p:nvPr>
        </p:nvSpPr>
        <p:spPr/>
        <p:txBody>
          <a:bodyPr>
            <a:normAutofit fontScale="92500" lnSpcReduction="10000"/>
          </a:bodyPr>
          <a:lstStyle/>
          <a:p>
            <a:pPr>
              <a:buFont typeface="Wingdings" panose="05000000000000000000" pitchFamily="2" charset="2"/>
              <a:buChar char="Ø"/>
            </a:pPr>
            <a:r>
              <a:rPr lang="en-US"/>
              <a:t>Why am I signing a retainer?</a:t>
            </a:r>
          </a:p>
          <a:p>
            <a:pPr lvl="1">
              <a:buFont typeface="Wingdings" panose="05000000000000000000" pitchFamily="2" charset="2"/>
              <a:buChar char="Ø"/>
            </a:pPr>
            <a:r>
              <a:rPr lang="en-US"/>
              <a:t>This retainer will allow </a:t>
            </a:r>
            <a:r>
              <a:rPr lang="en-US" sz="1800" b="1">
                <a:highlight>
                  <a:srgbClr val="FFFF00"/>
                </a:highlight>
              </a:rPr>
              <a:t>(Enrolled before 03/09/2023 )Greenberg Law or (Enrolled after 03/09/2023) Alperstein &amp; Associates LLC </a:t>
            </a:r>
            <a:r>
              <a:rPr lang="en-US"/>
              <a:t>to contact these more difficult creditors (Chase/Amex/Wells Fargo) and obtain settlements without needing to get you involved in the actual settlement process.</a:t>
            </a:r>
          </a:p>
          <a:p>
            <a:pPr>
              <a:buFont typeface="Wingdings" panose="05000000000000000000" pitchFamily="2" charset="2"/>
              <a:buChar char="Ø"/>
            </a:pPr>
            <a:r>
              <a:rPr lang="en-US"/>
              <a:t>What does this mean for me?</a:t>
            </a:r>
          </a:p>
          <a:p>
            <a:pPr lvl="1">
              <a:buFont typeface="Wingdings" panose="05000000000000000000" pitchFamily="2" charset="2"/>
              <a:buChar char="Ø"/>
            </a:pPr>
            <a:r>
              <a:rPr lang="en-US"/>
              <a:t>Creditors such as Chase, Wells Fargo and American Express will not settle directly with a debt settlement company, they require you to be on the line as well, however, they will settle with a law firm. This retainer makes it so that </a:t>
            </a:r>
            <a:r>
              <a:rPr lang="en-US" sz="1800" b="1">
                <a:highlight>
                  <a:srgbClr val="FFFF00"/>
                </a:highlight>
              </a:rPr>
              <a:t>(Enrolled before 03/09/2023 )Greenberg Law or (Enrolled after 03/09/2023) Alperstein &amp; Associates LLC </a:t>
            </a:r>
            <a:r>
              <a:rPr lang="en-US"/>
              <a:t>will be able to assist us in contacting that creditor and will not require for you to be on the phone. This is at no additional cost to you.</a:t>
            </a:r>
          </a:p>
          <a:p>
            <a:pPr>
              <a:buFont typeface="Wingdings" panose="05000000000000000000" pitchFamily="2" charset="2"/>
              <a:buChar char="Ø"/>
            </a:pPr>
            <a:r>
              <a:rPr lang="en-US"/>
              <a:t>Are you going to represent me if I get sued?</a:t>
            </a:r>
          </a:p>
          <a:p>
            <a:pPr lvl="1">
              <a:buFont typeface="Wingdings" panose="05000000000000000000" pitchFamily="2" charset="2"/>
              <a:buChar char="Ø"/>
            </a:pPr>
            <a:r>
              <a:rPr lang="en-US"/>
              <a:t>No, this retainer is simply to help us secure settlements on these creditors through the program.</a:t>
            </a:r>
          </a:p>
        </p:txBody>
      </p:sp>
    </p:spTree>
    <p:extLst>
      <p:ext uri="{BB962C8B-B14F-4D97-AF65-F5344CB8AC3E}">
        <p14:creationId xmlns:p14="http://schemas.microsoft.com/office/powerpoint/2010/main" val="2864068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7EC73-70FB-44AA-ABED-76417DD313A8}"/>
              </a:ext>
            </a:extLst>
          </p:cNvPr>
          <p:cNvSpPr>
            <a:spLocks noGrp="1"/>
          </p:cNvSpPr>
          <p:nvPr>
            <p:ph type="title"/>
          </p:nvPr>
        </p:nvSpPr>
        <p:spPr/>
        <p:txBody>
          <a:bodyPr/>
          <a:lstStyle/>
          <a:p>
            <a:r>
              <a:rPr lang="en-US"/>
              <a:t>How do we send retainers?</a:t>
            </a:r>
          </a:p>
        </p:txBody>
      </p:sp>
      <p:sp>
        <p:nvSpPr>
          <p:cNvPr id="3" name="Content Placeholder 2">
            <a:extLst>
              <a:ext uri="{FF2B5EF4-FFF2-40B4-BE49-F238E27FC236}">
                <a16:creationId xmlns:a16="http://schemas.microsoft.com/office/drawing/2014/main" id="{ECCFA4E5-4BCF-401D-B4C1-715B298F0121}"/>
              </a:ext>
            </a:extLst>
          </p:cNvPr>
          <p:cNvSpPr>
            <a:spLocks noGrp="1"/>
          </p:cNvSpPr>
          <p:nvPr>
            <p:ph idx="1"/>
          </p:nvPr>
        </p:nvSpPr>
        <p:spPr>
          <a:xfrm>
            <a:off x="1097280" y="1762883"/>
            <a:ext cx="10979623" cy="4106209"/>
          </a:xfrm>
        </p:spPr>
        <p:txBody>
          <a:bodyPr/>
          <a:lstStyle/>
          <a:p>
            <a:pPr>
              <a:buFontTx/>
              <a:buChar char="-"/>
            </a:pPr>
            <a:r>
              <a:rPr lang="en-US"/>
              <a:t>Click on the retainer needed link on the client page</a:t>
            </a:r>
          </a:p>
          <a:p>
            <a:pPr>
              <a:buFontTx/>
              <a:buChar char="-"/>
            </a:pPr>
            <a:r>
              <a:rPr lang="en-US"/>
              <a:t>A new window will pop up</a:t>
            </a:r>
          </a:p>
          <a:p>
            <a:pPr>
              <a:buFontTx/>
              <a:buChar char="-"/>
            </a:pPr>
            <a:r>
              <a:rPr lang="en-US"/>
              <a:t>Click send to client, if there is a co-client 2 emails will be sent</a:t>
            </a:r>
          </a:p>
          <a:p>
            <a:pPr>
              <a:buFontTx/>
              <a:buChar char="-"/>
            </a:pPr>
            <a:r>
              <a:rPr lang="en-US"/>
              <a:t>Confirm retainer uploaded to client files</a:t>
            </a:r>
          </a:p>
          <a:p>
            <a:pPr lvl="1">
              <a:buFontTx/>
              <a:buChar char="-"/>
            </a:pPr>
            <a:r>
              <a:rPr lang="en-US"/>
              <a:t>If not done automatically check your email for DocuSign to manually upload</a:t>
            </a:r>
          </a:p>
          <a:p>
            <a:pPr marL="0" indent="0">
              <a:buNone/>
            </a:pPr>
            <a:endParaRPr lang="en-US"/>
          </a:p>
        </p:txBody>
      </p:sp>
      <p:pic>
        <p:nvPicPr>
          <p:cNvPr id="4" name="Picture 3">
            <a:extLst>
              <a:ext uri="{FF2B5EF4-FFF2-40B4-BE49-F238E27FC236}">
                <a16:creationId xmlns:a16="http://schemas.microsoft.com/office/drawing/2014/main" id="{5224C923-024B-4EC0-92FA-3B1C24D46650}"/>
              </a:ext>
            </a:extLst>
          </p:cNvPr>
          <p:cNvPicPr>
            <a:picLocks noChangeAspect="1"/>
          </p:cNvPicPr>
          <p:nvPr/>
        </p:nvPicPr>
        <p:blipFill>
          <a:blip r:embed="rId2"/>
          <a:stretch>
            <a:fillRect/>
          </a:stretch>
        </p:blipFill>
        <p:spPr>
          <a:xfrm>
            <a:off x="8745704" y="2160890"/>
            <a:ext cx="1323975" cy="381000"/>
          </a:xfrm>
          <a:prstGeom prst="rect">
            <a:avLst/>
          </a:prstGeom>
        </p:spPr>
      </p:pic>
      <p:pic>
        <p:nvPicPr>
          <p:cNvPr id="5" name="Picture 4">
            <a:extLst>
              <a:ext uri="{FF2B5EF4-FFF2-40B4-BE49-F238E27FC236}">
                <a16:creationId xmlns:a16="http://schemas.microsoft.com/office/drawing/2014/main" id="{647F89E8-0C68-4517-AFE5-D23CB977D385}"/>
              </a:ext>
            </a:extLst>
          </p:cNvPr>
          <p:cNvPicPr>
            <a:picLocks noChangeAspect="1"/>
          </p:cNvPicPr>
          <p:nvPr/>
        </p:nvPicPr>
        <p:blipFill>
          <a:blip r:embed="rId3"/>
          <a:stretch>
            <a:fillRect/>
          </a:stretch>
        </p:blipFill>
        <p:spPr>
          <a:xfrm>
            <a:off x="8745704" y="2635651"/>
            <a:ext cx="3054567" cy="2971144"/>
          </a:xfrm>
          <a:prstGeom prst="rect">
            <a:avLst/>
          </a:prstGeom>
        </p:spPr>
      </p:pic>
    </p:spTree>
    <p:extLst>
      <p:ext uri="{BB962C8B-B14F-4D97-AF65-F5344CB8AC3E}">
        <p14:creationId xmlns:p14="http://schemas.microsoft.com/office/powerpoint/2010/main" val="1494302407"/>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a50bad3c638598752483e3e576d1490c">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f8f025033282243cc96c211b2abd8d6e"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dfbadaf6-90cf-41d3-a0ba-bbd98d259036" xsi:nil="true"/>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Props1.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2.xml><?xml version="1.0" encoding="utf-8"?>
<ds:datastoreItem xmlns:ds="http://schemas.openxmlformats.org/officeDocument/2006/customXml" ds:itemID="{27383A4B-5FDF-4DDC-A12B-3C0A94CD33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3CD65D-61A5-43C9-A837-6EC73C7DA8AB}">
  <ds:schemaRefs>
    <ds:schemaRef ds:uri="dfbadaf6-90cf-41d3-a0ba-bbd98d259036"/>
    <ds:schemaRef ds:uri="fca21091-4343-4232-a795-e59481497cb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{305EDD2F-745F-4D05-AD33-CBD2970F0630}tf11437505</Template>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RetrospectVTI</vt:lpstr>
      <vt:lpstr>Hard Creditor Retainers</vt:lpstr>
      <vt:lpstr>What is a hard creditor?</vt:lpstr>
      <vt:lpstr>What we say in the enrollment agreement</vt:lpstr>
      <vt:lpstr>Why sign a retainer?</vt:lpstr>
      <vt:lpstr>Talking Points</vt:lpstr>
      <vt:lpstr>How do we send retainers?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 Creditor Retainers</dc:title>
  <dc:creator/>
  <cp:revision>4</cp:revision>
  <dcterms:created xsi:type="dcterms:W3CDTF">2020-05-05T13:13:06Z</dcterms:created>
  <dcterms:modified xsi:type="dcterms:W3CDTF">2026-02-12T20:24:31Z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