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7"/>
  </p:notesMasterIdLst>
  <p:sldIdLst>
    <p:sldId id="1959" r:id="rId5"/>
    <p:sldId id="1958" r:id="rId6"/>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B4BE"/>
    <a:srgbClr val="FF0000"/>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69DD6C-39DE-0CAB-374E-C1EF3814FE54}" v="1" dt="2025-11-19T15:06:33.3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460" y="2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Enrollments were down to $61MM in December from $81MM in November</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 (non-affiliate) enrollments of $46MM were 23% below forecast ($60MM)</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Drivers include macro factors: holiday seasonality, </a:t>
            </a:r>
            <a:r>
              <a:rPr lang="en-US" err="1"/>
              <a:t>covid</a:t>
            </a:r>
            <a:r>
              <a:rPr lang="en-US"/>
              <a:t> increases, stimulus allowing customers to put off decisions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1</a:t>
            </a:fld>
            <a:endParaRPr lang="en-US"/>
          </a:p>
        </p:txBody>
      </p:sp>
    </p:spTree>
    <p:extLst>
      <p:ext uri="{BB962C8B-B14F-4D97-AF65-F5344CB8AC3E}">
        <p14:creationId xmlns:p14="http://schemas.microsoft.com/office/powerpoint/2010/main" val="4229939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Enrollments were down to $61MM in December from $81MM in November</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 (non-affiliate) enrollments of $46MM were 23% below forecast ($60MM)</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Drivers include macro factors: holiday seasonality, </a:t>
            </a:r>
            <a:r>
              <a:rPr lang="en-US" err="1"/>
              <a:t>covid</a:t>
            </a:r>
            <a:r>
              <a:rPr lang="en-US"/>
              <a:t> increases, stimulus allowing customers to put off decisions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2167981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012554" y="6592985"/>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889" y="17748"/>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419093"/>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1741078-43CD-B649-FAD4-7FE349F4A590}"/>
              </a:ext>
            </a:extLst>
          </p:cNvPr>
          <p:cNvSpPr txBox="1"/>
          <p:nvPr/>
        </p:nvSpPr>
        <p:spPr>
          <a:xfrm>
            <a:off x="195309" y="26966"/>
            <a:ext cx="1458348" cy="369332"/>
          </a:xfrm>
          <a:prstGeom prst="rect">
            <a:avLst/>
          </a:prstGeom>
          <a:noFill/>
        </p:spPr>
        <p:txBody>
          <a:bodyPr wrap="none" rtlCol="0">
            <a:spAutoFit/>
          </a:bodyPr>
          <a:lstStyle/>
          <a:p>
            <a:r>
              <a:rPr lang="en-US"/>
              <a:t>Talking Points</a:t>
            </a:r>
          </a:p>
        </p:txBody>
      </p:sp>
      <p:sp>
        <p:nvSpPr>
          <p:cNvPr id="5" name="Rectangle 4">
            <a:extLst>
              <a:ext uri="{FF2B5EF4-FFF2-40B4-BE49-F238E27FC236}">
                <a16:creationId xmlns:a16="http://schemas.microsoft.com/office/drawing/2014/main" id="{99F72F87-B933-1A3B-A57A-22D786EE59F0}"/>
              </a:ext>
            </a:extLst>
          </p:cNvPr>
          <p:cNvSpPr/>
          <p:nvPr/>
        </p:nvSpPr>
        <p:spPr>
          <a:xfrm>
            <a:off x="201687" y="650639"/>
            <a:ext cx="8707835" cy="602479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US" sz="1400" b="1"/>
              <a:t>Discover the need to skip, move, or reason for not being able to make up the NSF</a:t>
            </a:r>
          </a:p>
          <a:p>
            <a:pPr marL="285750" indent="-285750">
              <a:buFont typeface="Arial" panose="020B0604020202020204" pitchFamily="34" charset="0"/>
              <a:buChar char="•"/>
            </a:pPr>
            <a:r>
              <a:rPr lang="en-US" sz="1400" b="1"/>
              <a:t>Empathize with the client’s situation.</a:t>
            </a:r>
          </a:p>
          <a:p>
            <a:pPr marL="285750" indent="-285750">
              <a:buFont typeface="Arial" panose="020B0604020202020204" pitchFamily="34" charset="0"/>
              <a:buChar char="•"/>
            </a:pPr>
            <a:r>
              <a:rPr lang="en-US" sz="1400" b="1"/>
              <a:t>Provide potential resolution (reduction in draft amount) and next steps</a:t>
            </a:r>
          </a:p>
          <a:p>
            <a:pPr marL="742950" lvl="1" indent="-285750">
              <a:buFont typeface="Arial" panose="020B0604020202020204" pitchFamily="34" charset="0"/>
              <a:buChar char="•"/>
            </a:pPr>
            <a:r>
              <a:rPr lang="en-US" sz="1400"/>
              <a:t>Reduction in draft amount should start higher and work down to the bare minimum needed to cover settlement payments and fees.</a:t>
            </a:r>
          </a:p>
          <a:p>
            <a:pPr marL="1200150" lvl="2" indent="-285750">
              <a:buFont typeface="Arial" panose="020B0604020202020204" pitchFamily="34" charset="0"/>
              <a:buChar char="•"/>
            </a:pPr>
            <a:r>
              <a:rPr lang="en-US" sz="1400"/>
              <a:t>Remember if you start too low, you have nowhere to go.</a:t>
            </a:r>
          </a:p>
          <a:p>
            <a:pPr marL="285750" indent="-285750">
              <a:buFont typeface="Arial" panose="020B0604020202020204" pitchFamily="34" charset="0"/>
              <a:buChar char="•"/>
            </a:pPr>
            <a:r>
              <a:rPr lang="en-US" sz="1400" b="1"/>
              <a:t>Client requests to make a change or is unable to make up their NSF and it negatively impacts the settlement:</a:t>
            </a:r>
          </a:p>
          <a:p>
            <a:pPr marL="742950" lvl="1" indent="-285750">
              <a:buFont typeface="Arial" panose="020B0604020202020204" pitchFamily="34" charset="0"/>
              <a:buChar char="•"/>
            </a:pPr>
            <a:r>
              <a:rPr lang="en-US" sz="1400"/>
              <a:t>“I understand you need to skip your draft for Jan 5</a:t>
            </a:r>
            <a:r>
              <a:rPr lang="en-US" sz="1400" baseline="30000"/>
              <a:t>th</a:t>
            </a:r>
            <a:r>
              <a:rPr lang="en-US" sz="1400"/>
              <a:t>. May I ask the reason for needing to skip the draft?”</a:t>
            </a:r>
          </a:p>
          <a:p>
            <a:pPr marL="742950" lvl="1" indent="-285750">
              <a:buFont typeface="Arial" panose="020B0604020202020204" pitchFamily="34" charset="0"/>
              <a:buChar char="•"/>
            </a:pPr>
            <a:r>
              <a:rPr lang="en-US" sz="1400"/>
              <a:t>“I hear you and I’m so sorry that you are going through this. Car troubles are never fun and always hit at the worst time. I’d love to see if I can find a way to help you ensure you have the money for your car but also to make a draft to cover your payments on your settlement. How much do you need to pay for your car? How much do you think you </a:t>
            </a:r>
            <a:r>
              <a:rPr lang="en-US" sz="1400" i="1"/>
              <a:t>can</a:t>
            </a:r>
            <a:r>
              <a:rPr lang="en-US" sz="1400"/>
              <a:t> afford this month?”</a:t>
            </a:r>
          </a:p>
          <a:p>
            <a:pPr marL="285750" indent="-285750">
              <a:buFont typeface="Arial" panose="020B0604020202020204" pitchFamily="34" charset="0"/>
              <a:buChar char="•"/>
            </a:pPr>
            <a:r>
              <a:rPr lang="en-US" sz="1400" b="1"/>
              <a:t>Client is unable to make the necessary adjustment:</a:t>
            </a:r>
          </a:p>
          <a:p>
            <a:pPr marL="742950" lvl="1" indent="-285750">
              <a:buFont typeface="Arial" panose="020B0604020202020204" pitchFamily="34" charset="0"/>
              <a:buChar char="•"/>
            </a:pPr>
            <a:r>
              <a:rPr lang="en-US" sz="1400"/>
              <a:t>“Mr. Client, as always, the best way to ensure the success of your program is to make the agreed upon drafts on time, each month. I understand that with your hardship this month you will be unable to keep the draft as scheduled. In making this change/skip please know that the settlements you currently have with Chase and Synchrony will be lost as we don’t have the funds available in your Global Holdings account to make the payment. When funds build up again, and we have your remaining creditors in settlement, we will reach back out to these creditors to attempt to resettle.</a:t>
            </a:r>
          </a:p>
          <a:p>
            <a:pPr marL="285750" indent="-285750">
              <a:buFont typeface="Arial" panose="020B0604020202020204" pitchFamily="34" charset="0"/>
              <a:buChar char="•"/>
            </a:pPr>
            <a:r>
              <a:rPr lang="en-US" sz="1400" b="1"/>
              <a:t>If client gets upset due to funds not being available and going towards fee:</a:t>
            </a:r>
          </a:p>
          <a:p>
            <a:pPr marL="742950" lvl="1" indent="-285750">
              <a:buFont typeface="Arial" panose="020B0604020202020204" pitchFamily="34" charset="0"/>
              <a:buChar char="•"/>
            </a:pPr>
            <a:r>
              <a:rPr lang="en-US" sz="1400"/>
              <a:t>“ClearOne Advantage/Law Firm works on your behalf to negotiate, obtain and prepare settlement payments at no charge until you agree to the settlement. Once you agree and the first payment has been made, at that time, we are entitled to our fee. Rest assured your success in the program is our number one priority. We will do everything we can to get this resettled for you, later, and there will not be an additional fee charged. However, if you would like to avoid all of that from happening and you are able to make a minimum draft of $85 to cover your creditors and fees owed by the 20th, we can make these adjustment's.”</a:t>
            </a:r>
          </a:p>
        </p:txBody>
      </p:sp>
    </p:spTree>
    <p:extLst>
      <p:ext uri="{BB962C8B-B14F-4D97-AF65-F5344CB8AC3E}">
        <p14:creationId xmlns:p14="http://schemas.microsoft.com/office/powerpoint/2010/main" val="1630775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012554" y="6592985"/>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889" y="17748"/>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419093"/>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1741078-43CD-B649-FAD4-7FE349F4A590}"/>
              </a:ext>
            </a:extLst>
          </p:cNvPr>
          <p:cNvSpPr txBox="1"/>
          <p:nvPr/>
        </p:nvSpPr>
        <p:spPr>
          <a:xfrm>
            <a:off x="195309" y="26966"/>
            <a:ext cx="2754152" cy="369332"/>
          </a:xfrm>
          <a:prstGeom prst="rect">
            <a:avLst/>
          </a:prstGeom>
          <a:noFill/>
        </p:spPr>
        <p:txBody>
          <a:bodyPr wrap="none" rtlCol="0">
            <a:spAutoFit/>
          </a:bodyPr>
          <a:lstStyle/>
          <a:p>
            <a:r>
              <a:rPr lang="en-US" dirty="0"/>
              <a:t>Draft change talking points </a:t>
            </a:r>
          </a:p>
        </p:txBody>
      </p:sp>
      <p:sp>
        <p:nvSpPr>
          <p:cNvPr id="5" name="Rectangle 4">
            <a:extLst>
              <a:ext uri="{FF2B5EF4-FFF2-40B4-BE49-F238E27FC236}">
                <a16:creationId xmlns:a16="http://schemas.microsoft.com/office/drawing/2014/main" id="{99F72F87-B933-1A3B-A57A-22D786EE59F0}"/>
              </a:ext>
            </a:extLst>
          </p:cNvPr>
          <p:cNvSpPr/>
          <p:nvPr/>
        </p:nvSpPr>
        <p:spPr>
          <a:xfrm>
            <a:off x="192470" y="1033018"/>
            <a:ext cx="8717052" cy="5642419"/>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285750" indent="-285750">
              <a:buFont typeface="Arial" panose="020B0604020202020204" pitchFamily="34" charset="0"/>
              <a:buChar char="•"/>
            </a:pPr>
            <a:r>
              <a:rPr lang="en-US" b="1" dirty="0"/>
              <a:t>How can we avoid losing the settlement</a:t>
            </a:r>
          </a:p>
          <a:p>
            <a:pPr marL="742950" lvl="1" indent="-285750">
              <a:buFont typeface="Arial" panose="020B0604020202020204" pitchFamily="34" charset="0"/>
              <a:buChar char="•"/>
            </a:pPr>
            <a:r>
              <a:rPr lang="en-US" sz="1400" dirty="0"/>
              <a:t>Discourage draft changes/skips when settlements are impacted</a:t>
            </a:r>
          </a:p>
          <a:p>
            <a:pPr marL="742950" lvl="1" indent="-285750">
              <a:buFont typeface="Arial" panose="020B0604020202020204" pitchFamily="34" charset="0"/>
              <a:buChar char="•"/>
            </a:pPr>
            <a:r>
              <a:rPr lang="en-US" sz="1400" dirty="0"/>
              <a:t>If client needs to change/skip or NSFs their draft, attempt to make it up to be </a:t>
            </a:r>
            <a:r>
              <a:rPr lang="en-US" sz="1400" b="1" dirty="0"/>
              <a:t>scheduled</a:t>
            </a:r>
            <a:r>
              <a:rPr lang="en-US" sz="1400" dirty="0"/>
              <a:t> </a:t>
            </a:r>
            <a:r>
              <a:rPr lang="en-US" sz="1400" i="1" dirty="0"/>
              <a:t>and</a:t>
            </a:r>
            <a:r>
              <a:rPr lang="en-US" sz="1400" dirty="0"/>
              <a:t> </a:t>
            </a:r>
            <a:r>
              <a:rPr lang="en-US" sz="1400" b="1" dirty="0"/>
              <a:t>cleared</a:t>
            </a:r>
            <a:r>
              <a:rPr lang="en-US" sz="1400" dirty="0"/>
              <a:t> before the payment due date</a:t>
            </a:r>
          </a:p>
          <a:p>
            <a:pPr marL="742950" lvl="1" indent="-285750">
              <a:buFont typeface="Arial" panose="020B0604020202020204" pitchFamily="34" charset="0"/>
              <a:buChar char="•"/>
            </a:pPr>
            <a:r>
              <a:rPr lang="en-US" sz="1400" dirty="0"/>
              <a:t>Work with client on alternative options that will avoid losing settlements. </a:t>
            </a:r>
          </a:p>
          <a:p>
            <a:pPr marL="742950" lvl="1" indent="-285750">
              <a:buFont typeface="Arial" panose="020B0604020202020204" pitchFamily="34" charset="0"/>
              <a:buChar char="•"/>
            </a:pPr>
            <a:r>
              <a:rPr lang="en-US" sz="1400" dirty="0"/>
              <a:t>Check to see if there is a partial draft amount that would help the client through the hardship but also provide the appropriate amount of funds needed for the settlement. </a:t>
            </a:r>
            <a:r>
              <a:rPr lang="en-US" sz="1400" b="1" dirty="0">
                <a:cs typeface="Calibri"/>
              </a:rPr>
              <a:t>Additional update: PRT is no longer sending SIF In Jeopardy Letters</a:t>
            </a:r>
            <a:endParaRPr lang="en-US" dirty="0">
              <a:cs typeface="Calibri"/>
            </a:endParaRPr>
          </a:p>
          <a:p>
            <a:pPr marL="742950" lvl="1" indent="-285750">
              <a:buFont typeface="Arial" panose="020B0604020202020204" pitchFamily="34" charset="0"/>
              <a:buChar char="•"/>
            </a:pPr>
            <a:r>
              <a:rPr lang="en-US" sz="1400" dirty="0">
                <a:cs typeface="Calibri"/>
              </a:rPr>
              <a:t>SIF Lost letters will continue to be provided to clients, </a:t>
            </a:r>
          </a:p>
          <a:p>
            <a:pPr marL="285750" indent="-285750">
              <a:buFont typeface="Arial" panose="020B0604020202020204" pitchFamily="34" charset="0"/>
              <a:buChar char="•"/>
            </a:pPr>
            <a:endParaRPr lang="en-US" sz="1400" b="1" dirty="0">
              <a:cs typeface="Calibri"/>
            </a:endParaRPr>
          </a:p>
          <a:p>
            <a:pPr marL="285750" indent="-285750">
              <a:buFont typeface="Arial" panose="020B0604020202020204" pitchFamily="34" charset="0"/>
              <a:buChar char="•"/>
            </a:pPr>
            <a:r>
              <a:rPr lang="en-US" sz="1400" b="1" dirty="0">
                <a:cs typeface="Calibri"/>
              </a:rPr>
              <a:t>Reminder:</a:t>
            </a:r>
          </a:p>
          <a:p>
            <a:pPr marL="742950" lvl="1" indent="-285750">
              <a:buFont typeface="Arial" panose="020B0604020202020204" pitchFamily="34" charset="0"/>
              <a:buChar char="•"/>
            </a:pPr>
            <a:r>
              <a:rPr lang="en-US" sz="1400" dirty="0">
                <a:cs typeface="Calibri"/>
              </a:rPr>
              <a:t>Creditors deal with debt settlement companies primarily through automations</a:t>
            </a:r>
          </a:p>
          <a:p>
            <a:pPr marL="742950" lvl="1" indent="-285750">
              <a:buFont typeface="Arial" panose="020B0604020202020204" pitchFamily="34" charset="0"/>
              <a:buChar char="•"/>
            </a:pPr>
            <a:r>
              <a:rPr lang="en-US" sz="1400" dirty="0">
                <a:cs typeface="Calibri"/>
              </a:rPr>
              <a:t>Creditors are less willing to move payment dates around, once settlement is in place</a:t>
            </a:r>
          </a:p>
          <a:p>
            <a:pPr marL="742950" lvl="1" indent="-285750">
              <a:buFont typeface="Arial" panose="020B0604020202020204" pitchFamily="34" charset="0"/>
              <a:buChar char="•"/>
            </a:pPr>
            <a:r>
              <a:rPr lang="en-US" sz="1400" dirty="0">
                <a:cs typeface="Calibri"/>
              </a:rPr>
              <a:t>Draft consistency is key</a:t>
            </a:r>
          </a:p>
          <a:p>
            <a:pPr marL="742950" lvl="1" indent="-285750">
              <a:buFont typeface="Arial" panose="020B0604020202020204" pitchFamily="34" charset="0"/>
              <a:buChar char="•"/>
            </a:pPr>
            <a:r>
              <a:rPr lang="en-US" sz="1400" dirty="0">
                <a:cs typeface="Calibri"/>
              </a:rPr>
              <a:t>Whenever a draft change is made that impacts a settlement, draft notes on client page should clearly indicate, what change took place, if there was a date the draft was moved to, list all the creditor impacted in the request note, and note that the client was made aware that SIF will be lost.</a:t>
            </a:r>
          </a:p>
          <a:p>
            <a:pPr marL="1200150" lvl="2"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1052739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a50bad3c638598752483e3e576d1490c">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f8f025033282243cc96c211b2abd8d6e"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Props1.xml><?xml version="1.0" encoding="utf-8"?>
<ds:datastoreItem xmlns:ds="http://schemas.openxmlformats.org/officeDocument/2006/customXml" ds:itemID="{6CBA5092-7189-4DD9-B469-74F2EB4767BE}">
  <ds:schemaRefs>
    <ds:schemaRef ds:uri="http://schemas.microsoft.com/sharepoint/v3/contenttype/forms"/>
  </ds:schemaRefs>
</ds:datastoreItem>
</file>

<file path=customXml/itemProps2.xml><?xml version="1.0" encoding="utf-8"?>
<ds:datastoreItem xmlns:ds="http://schemas.openxmlformats.org/officeDocument/2006/customXml" ds:itemID="{0B5E21FC-568D-42BC-BB0D-19667370D0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AC1D25B-C9D7-4A85-9CA8-F1FE7C31EA43}">
  <ds:schemaRefs>
    <ds:schemaRef ds:uri="http://schemas.microsoft.com/office/2006/documentManagement/types"/>
    <ds:schemaRef ds:uri="http://schemas.microsoft.com/sharepoint/v3"/>
    <ds:schemaRef ds:uri="http://schemas.microsoft.com/office/infopath/2007/PartnerControls"/>
    <ds:schemaRef ds:uri="http://www.w3.org/XML/1998/namespace"/>
    <ds:schemaRef ds:uri="http://purl.org/dc/elements/1.1/"/>
    <ds:schemaRef ds:uri="http://purl.org/dc/terms/"/>
    <ds:schemaRef ds:uri="http://purl.org/dc/dcmitype/"/>
    <ds:schemaRef ds:uri="http://schemas.openxmlformats.org/package/2006/metadata/core-properties"/>
    <ds:schemaRef ds:uri="fca21091-4343-4232-a795-e59481497cb5"/>
    <ds:schemaRef ds:uri="dfbadaf6-90cf-41d3-a0ba-bbd98d25903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COA ppt template</Template>
  <TotalTime>9</TotalTime>
  <Words>814</Words>
  <Application>Microsoft Office PowerPoint</Application>
  <PresentationFormat>On-screen Show (4:3)</PresentationFormat>
  <Paragraphs>44</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lastModifiedBy>Katalina Sussman</cp:lastModifiedBy>
  <cp:revision>5</cp:revision>
  <cp:lastPrinted>2020-12-17T16:31:33Z</cp:lastPrinted>
  <dcterms:created xsi:type="dcterms:W3CDTF">2020-07-08T17:20:15Z</dcterms:created>
  <dcterms:modified xsi:type="dcterms:W3CDTF">2026-02-12T20:11:03Z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