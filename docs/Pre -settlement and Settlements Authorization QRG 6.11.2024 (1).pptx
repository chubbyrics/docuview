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8"/>
  </p:notesMasterIdLst>
  <p:sldIdLst>
    <p:sldId id="1953" r:id="rId5"/>
    <p:sldId id="1955" r:id="rId6"/>
    <p:sldId id="1954" r:id="rId7"/>
  </p:sldIdLst>
  <p:sldSz cx="9144000" cy="6858000" type="screen4x3"/>
  <p:notesSz cx="7086600" cy="9372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andon Homuth" initials="BH" lastIdx="1" clrIdx="0">
    <p:extLst>
      <p:ext uri="{19B8F6BF-5375-455C-9EA6-DF929625EA0E}">
        <p15:presenceInfo xmlns:p15="http://schemas.microsoft.com/office/powerpoint/2012/main" userId="S::bhomuth@finance.clearoneadvantage.com::86c609f6-c353-4116-b809-d837f34ce853" providerId="AD"/>
      </p:ext>
    </p:extLst>
  </p:cmAuthor>
  <p:cmAuthor id="2" name="Matthew Falkowski" initials="MF" lastIdx="1" clrIdx="1">
    <p:extLst>
      <p:ext uri="{19B8F6BF-5375-455C-9EA6-DF929625EA0E}">
        <p15:presenceInfo xmlns:p15="http://schemas.microsoft.com/office/powerpoint/2012/main" userId="S::mfalkowski@finance.clearoneadvantage.com::e04e5b67-bb43-4176-a3a7-5c533b516048" providerId="AD"/>
      </p:ext>
    </p:extLst>
  </p:cmAuthor>
  <p:cmAuthor id="3" name="Rick Gross" initials="RG" lastIdx="1" clrIdx="2">
    <p:extLst>
      <p:ext uri="{19B8F6BF-5375-455C-9EA6-DF929625EA0E}">
        <p15:presenceInfo xmlns:p15="http://schemas.microsoft.com/office/powerpoint/2012/main" userId="S::rgross@finance.clearoneadvantage.com::56070022-d45c-4555-8b5e-ed6b6470e084" providerId="AD"/>
      </p:ext>
    </p:extLst>
  </p:cmAuthor>
  <p:cmAuthor id="4" name="Christina Borrello" initials="CB" lastIdx="1" clrIdx="3">
    <p:extLst>
      <p:ext uri="{19B8F6BF-5375-455C-9EA6-DF929625EA0E}">
        <p15:presenceInfo xmlns:p15="http://schemas.microsoft.com/office/powerpoint/2012/main" userId="S::cborrello@clg.clearoneadvantage.com::920200ae-9917-4322-a251-f102818e0e6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D9EC"/>
    <a:srgbClr val="FF0000"/>
    <a:srgbClr val="AFB4BE"/>
    <a:srgbClr val="8C93A2"/>
    <a:srgbClr val="C415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5AFD09-7500-0996-9204-EF50D8BD6D25}" v="1" dt="2025-06-09T14:40:08.6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31" autoAdjust="0"/>
    <p:restoredTop sz="94660"/>
  </p:normalViewPr>
  <p:slideViewPr>
    <p:cSldViewPr snapToGrid="0">
      <p:cViewPr varScale="1">
        <p:scale>
          <a:sx n="103" d="100"/>
          <a:sy n="103" d="100"/>
        </p:scale>
        <p:origin x="720" y="108"/>
      </p:cViewPr>
      <p:guideLst/>
    </p:cSldViewPr>
  </p:slideViewPr>
  <p:notesTextViewPr>
    <p:cViewPr>
      <p:scale>
        <a:sx n="1" d="1"/>
        <a:sy n="1" d="1"/>
      </p:scale>
      <p:origin x="0" y="0"/>
    </p:cViewPr>
  </p:notesTextViewPr>
  <p:sorterViewPr>
    <p:cViewPr>
      <p:scale>
        <a:sx n="150" d="100"/>
        <a:sy n="150" d="100"/>
      </p:scale>
      <p:origin x="0" y="-33780"/>
    </p:cViewPr>
  </p:sorterViewPr>
  <p:notesViewPr>
    <p:cSldViewPr snapToGrid="0">
      <p:cViewPr varScale="1">
        <p:scale>
          <a:sx n="82" d="100"/>
          <a:sy n="82" d="100"/>
        </p:scale>
        <p:origin x="3816"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commentAuthors" Target="commentAuthors.xml"/><Relationship Id="rId14"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63345D3-09DA-48EE-8DE7-34CF0078F437}" type="doc">
      <dgm:prSet loTypeId="urn:microsoft.com/office/officeart/2008/layout/PictureAccentList" loCatId="list" qsTypeId="urn:microsoft.com/office/officeart/2005/8/quickstyle/3d2" qsCatId="3D" csTypeId="urn:microsoft.com/office/officeart/2005/8/colors/colorful3" csCatId="colorful" phldr="1"/>
      <dgm:spPr/>
      <dgm:t>
        <a:bodyPr/>
        <a:lstStyle/>
        <a:p>
          <a:endParaRPr lang="en-US"/>
        </a:p>
      </dgm:t>
    </dgm:pt>
    <dgm:pt modelId="{D066A314-621B-4C37-B66F-DCEC5B9F0C0A}">
      <dgm:prSet phldrT="[Text]"/>
      <dgm:spPr/>
      <dgm:t>
        <a:bodyPr/>
        <a:lstStyle/>
        <a:p>
          <a:r>
            <a:rPr lang="en-US" dirty="0"/>
            <a:t>Whenever you see this alert at the top of the page :</a:t>
          </a:r>
        </a:p>
        <a:p>
          <a:endParaRPr lang="en-US" dirty="0"/>
        </a:p>
        <a:p>
          <a:r>
            <a:rPr lang="en-US" dirty="0">
              <a:latin typeface="Calibri"/>
              <a:cs typeface="Arial"/>
            </a:rPr>
            <a:t>Click hyperlink</a:t>
          </a:r>
        </a:p>
        <a:p>
          <a:r>
            <a:rPr lang="en-US" dirty="0">
              <a:latin typeface="Calibri"/>
              <a:cs typeface="Arial"/>
            </a:rPr>
            <a:t>Click “</a:t>
          </a:r>
          <a:r>
            <a:rPr lang="en-US" i="1" dirty="0">
              <a:latin typeface="Calibri"/>
              <a:cs typeface="Arial"/>
            </a:rPr>
            <a:t>Authorization script”</a:t>
          </a:r>
          <a:endParaRPr lang="en-US" i="0" dirty="0">
            <a:latin typeface="Calibri"/>
            <a:cs typeface="Arial"/>
          </a:endParaRPr>
        </a:p>
        <a:p>
          <a:r>
            <a:rPr lang="en-US" dirty="0">
              <a:latin typeface="Calibri"/>
              <a:cs typeface="Arial"/>
            </a:rPr>
            <a:t>Review settlement with client</a:t>
          </a:r>
        </a:p>
      </dgm:t>
    </dgm:pt>
    <dgm:pt modelId="{A3A7D220-0A56-4911-ADA9-6FD891E87A1E}" type="parTrans" cxnId="{8EE00B2B-09BB-46F9-9B80-1AE5A0CEE5A2}">
      <dgm:prSet/>
      <dgm:spPr/>
      <dgm:t>
        <a:bodyPr/>
        <a:lstStyle/>
        <a:p>
          <a:endParaRPr lang="en-US"/>
        </a:p>
      </dgm:t>
    </dgm:pt>
    <dgm:pt modelId="{6ED1FA1E-ADF3-49DE-B61D-0AC7392F1B4C}" type="sibTrans" cxnId="{8EE00B2B-09BB-46F9-9B80-1AE5A0CEE5A2}">
      <dgm:prSet/>
      <dgm:spPr/>
      <dgm:t>
        <a:bodyPr/>
        <a:lstStyle/>
        <a:p>
          <a:endParaRPr lang="en-US"/>
        </a:p>
      </dgm:t>
    </dgm:pt>
    <dgm:pt modelId="{0AA785D5-FC2C-4F62-98E8-21A126D41F59}">
      <dgm:prSet phldrT="[Text]" custT="1"/>
      <dgm:spPr/>
      <dgm:t>
        <a:bodyPr/>
        <a:lstStyle/>
        <a:p>
          <a:pPr algn="l"/>
          <a:r>
            <a:rPr lang="en-US" sz="1400" b="1" dirty="0">
              <a:latin typeface="Calibri"/>
              <a:cs typeface="Arial"/>
            </a:rPr>
            <a:t>If client agrees –</a:t>
          </a:r>
        </a:p>
        <a:p>
          <a:pPr algn="l"/>
          <a:r>
            <a:rPr lang="en-US" sz="1400" dirty="0">
              <a:latin typeface="Calibri"/>
              <a:cs typeface="Arial"/>
            </a:rPr>
            <a:t>Record authorization</a:t>
          </a:r>
        </a:p>
        <a:p>
          <a:pPr algn="l" rtl="0"/>
          <a:r>
            <a:rPr lang="en-US" sz="1400" dirty="0">
              <a:latin typeface="Calibri"/>
              <a:cs typeface="Arial"/>
            </a:rPr>
            <a:t>Select which channel the authorization was completed through: Chat, Email or Voice (for calls) then click accept</a:t>
          </a:r>
        </a:p>
        <a:p>
          <a:pPr algn="l"/>
          <a:r>
            <a:rPr lang="en-US" sz="1400" dirty="0">
              <a:latin typeface="Calibri"/>
              <a:cs typeface="Arial"/>
            </a:rPr>
            <a:t>Upload REC authorization to client file; save file name with the following information.</a:t>
          </a:r>
          <a:br>
            <a:rPr lang="en-US" sz="1400" dirty="0">
              <a:latin typeface="Calibri"/>
              <a:cs typeface="Arial"/>
            </a:rPr>
          </a:br>
          <a:r>
            <a:rPr lang="en-US" sz="1400" dirty="0">
              <a:latin typeface="Calibri"/>
              <a:cs typeface="Arial"/>
            </a:rPr>
            <a:t> </a:t>
          </a:r>
          <a:r>
            <a:rPr lang="en-US" sz="1400" b="1" dirty="0">
              <a:latin typeface="Calibri"/>
              <a:cs typeface="Arial"/>
            </a:rPr>
            <a:t>Client Last Name, Global Auth, Creditor, Todays Date</a:t>
          </a:r>
          <a:endParaRPr lang="en-US" sz="1400" dirty="0">
            <a:latin typeface="Calibri"/>
            <a:cs typeface="Arial"/>
          </a:endParaRPr>
        </a:p>
        <a:p>
          <a:pPr algn="l"/>
          <a:r>
            <a:rPr lang="en-US" sz="1400" dirty="0">
              <a:latin typeface="Calibri"/>
              <a:cs typeface="Arial"/>
            </a:rPr>
            <a:t>Leave notes in comment section</a:t>
          </a:r>
        </a:p>
      </dgm:t>
    </dgm:pt>
    <dgm:pt modelId="{3FA3447F-410B-4D57-8503-79B274F8559C}" type="parTrans" cxnId="{81CA7338-AFB4-4A0C-BC74-F81C2AD0B173}">
      <dgm:prSet/>
      <dgm:spPr/>
      <dgm:t>
        <a:bodyPr/>
        <a:lstStyle/>
        <a:p>
          <a:endParaRPr lang="en-US"/>
        </a:p>
      </dgm:t>
    </dgm:pt>
    <dgm:pt modelId="{02C3D112-A3BD-4A66-8D80-563FDECDA681}" type="sibTrans" cxnId="{81CA7338-AFB4-4A0C-BC74-F81C2AD0B173}">
      <dgm:prSet/>
      <dgm:spPr/>
      <dgm:t>
        <a:bodyPr/>
        <a:lstStyle/>
        <a:p>
          <a:endParaRPr lang="en-US"/>
        </a:p>
      </dgm:t>
    </dgm:pt>
    <dgm:pt modelId="{B0D0DB0C-4F19-4D79-BBA5-606810BE4C90}">
      <dgm:prSet phldrT="[Text]" custT="1"/>
      <dgm:spPr/>
      <dgm:t>
        <a:bodyPr/>
        <a:lstStyle/>
        <a:p>
          <a:pPr rtl="0"/>
          <a:r>
            <a:rPr lang="en-US" sz="1400" b="1" dirty="0">
              <a:latin typeface="Calibri"/>
              <a:cs typeface="Arial"/>
            </a:rPr>
            <a:t>If client rejects – </a:t>
          </a:r>
        </a:p>
        <a:p>
          <a:r>
            <a:rPr lang="en-US" sz="1400" dirty="0">
              <a:latin typeface="Calibri"/>
              <a:cs typeface="Arial"/>
            </a:rPr>
            <a:t>Attempt rebuttal</a:t>
          </a:r>
        </a:p>
        <a:p>
          <a:pPr rtl="0"/>
          <a:r>
            <a:rPr lang="en-US" sz="1400" dirty="0">
              <a:latin typeface="Calibri"/>
              <a:cs typeface="Arial"/>
            </a:rPr>
            <a:t>Click reject </a:t>
          </a:r>
          <a:r>
            <a:rPr lang="en-US" sz="1400" dirty="0">
              <a:solidFill>
                <a:srgbClr val="000000"/>
              </a:solidFill>
              <a:latin typeface="Calibri"/>
              <a:cs typeface="Calibri"/>
            </a:rPr>
            <a:t>&amp; select which channel the authorization was completed: Chat, Email or Voice (for calls)</a:t>
          </a:r>
        </a:p>
        <a:p>
          <a:endParaRPr lang="en-US" sz="1400" dirty="0">
            <a:latin typeface="Calibri"/>
            <a:cs typeface="Arial"/>
          </a:endParaRPr>
        </a:p>
        <a:p>
          <a:pPr rtl="0"/>
          <a:r>
            <a:rPr lang="en-US" sz="1400" dirty="0">
              <a:latin typeface="Calibri"/>
              <a:cs typeface="Arial"/>
            </a:rPr>
            <a:t>Record clients rejection by using option 9</a:t>
          </a:r>
        </a:p>
        <a:p>
          <a:pPr rtl="0"/>
          <a:r>
            <a:rPr lang="en-US" sz="1400" dirty="0">
              <a:latin typeface="Calibri"/>
              <a:cs typeface="Arial"/>
            </a:rPr>
            <a:t>Leave notes in comment section</a:t>
          </a:r>
        </a:p>
        <a:p>
          <a:pPr rtl="0"/>
          <a:r>
            <a:rPr lang="en-US" sz="1400" dirty="0">
              <a:latin typeface="Calibri"/>
              <a:cs typeface="Arial"/>
            </a:rPr>
            <a:t>Upload recording to client files using the following info:</a:t>
          </a:r>
        </a:p>
        <a:p>
          <a:pPr algn="l" rtl="0"/>
          <a:r>
            <a:rPr lang="en-US" sz="1400" dirty="0">
              <a:solidFill>
                <a:schemeClr val="bg1"/>
              </a:solidFill>
              <a:latin typeface="Calibri"/>
              <a:cs typeface="Calibri"/>
            </a:rPr>
            <a:t> Client Last Name, Global Auth Rejection , Creditor, Todays Date</a:t>
          </a:r>
        </a:p>
      </dgm:t>
    </dgm:pt>
    <dgm:pt modelId="{C09F4C85-5F93-4CB3-8BE6-25F6DE51E2D3}" type="parTrans" cxnId="{231C96E5-3A4A-4897-A6C1-612ABCBC6A5F}">
      <dgm:prSet/>
      <dgm:spPr/>
      <dgm:t>
        <a:bodyPr/>
        <a:lstStyle/>
        <a:p>
          <a:endParaRPr lang="en-US"/>
        </a:p>
      </dgm:t>
    </dgm:pt>
    <dgm:pt modelId="{4ADF87A8-6B43-4815-89DC-62616BF0D086}" type="sibTrans" cxnId="{231C96E5-3A4A-4897-A6C1-612ABCBC6A5F}">
      <dgm:prSet/>
      <dgm:spPr/>
      <dgm:t>
        <a:bodyPr/>
        <a:lstStyle/>
        <a:p>
          <a:endParaRPr lang="en-US"/>
        </a:p>
      </dgm:t>
    </dgm:pt>
    <dgm:pt modelId="{0E0B09DD-2F9E-4CB8-A263-7905E7471CAB}" type="pres">
      <dgm:prSet presAssocID="{F63345D3-09DA-48EE-8DE7-34CF0078F437}" presName="layout" presStyleCnt="0">
        <dgm:presLayoutVars>
          <dgm:chMax/>
          <dgm:chPref/>
          <dgm:dir/>
          <dgm:animOne val="branch"/>
          <dgm:animLvl val="lvl"/>
          <dgm:resizeHandles/>
        </dgm:presLayoutVars>
      </dgm:prSet>
      <dgm:spPr/>
    </dgm:pt>
    <dgm:pt modelId="{CA6B5EB9-DEFE-4048-8525-A69A223510A0}" type="pres">
      <dgm:prSet presAssocID="{D066A314-621B-4C37-B66F-DCEC5B9F0C0A}" presName="root" presStyleCnt="0">
        <dgm:presLayoutVars>
          <dgm:chMax/>
          <dgm:chPref val="4"/>
        </dgm:presLayoutVars>
      </dgm:prSet>
      <dgm:spPr/>
    </dgm:pt>
    <dgm:pt modelId="{C63829DC-0C4D-41F3-85AF-AD16FED43906}" type="pres">
      <dgm:prSet presAssocID="{D066A314-621B-4C37-B66F-DCEC5B9F0C0A}" presName="rootComposite" presStyleCnt="0">
        <dgm:presLayoutVars/>
      </dgm:prSet>
      <dgm:spPr/>
    </dgm:pt>
    <dgm:pt modelId="{204A5F46-0714-471D-ACC7-E37E5E6F10E2}" type="pres">
      <dgm:prSet presAssocID="{D066A314-621B-4C37-B66F-DCEC5B9F0C0A}" presName="rootText" presStyleLbl="node0" presStyleIdx="0" presStyleCnt="1" custScaleY="96461" custLinFactNeighborX="0" custLinFactNeighborY="4261">
        <dgm:presLayoutVars>
          <dgm:chMax/>
          <dgm:chPref val="4"/>
        </dgm:presLayoutVars>
      </dgm:prSet>
      <dgm:spPr/>
    </dgm:pt>
    <dgm:pt modelId="{B69EAEBE-F464-4999-AF72-759F32BDBFE9}" type="pres">
      <dgm:prSet presAssocID="{D066A314-621B-4C37-B66F-DCEC5B9F0C0A}" presName="childShape" presStyleCnt="0">
        <dgm:presLayoutVars>
          <dgm:chMax val="0"/>
          <dgm:chPref val="0"/>
        </dgm:presLayoutVars>
      </dgm:prSet>
      <dgm:spPr/>
    </dgm:pt>
    <dgm:pt modelId="{EE56C0D0-EA6C-4476-9860-1CE8331DA0D4}" type="pres">
      <dgm:prSet presAssocID="{0AA785D5-FC2C-4F62-98E8-21A126D41F59}" presName="childComposite" presStyleCnt="0">
        <dgm:presLayoutVars>
          <dgm:chMax val="0"/>
          <dgm:chPref val="0"/>
        </dgm:presLayoutVars>
      </dgm:prSet>
      <dgm:spPr/>
    </dgm:pt>
    <dgm:pt modelId="{2108CCD1-3B4D-48BC-B8F6-4737903CCE92}" type="pres">
      <dgm:prSet presAssocID="{0AA785D5-FC2C-4F62-98E8-21A126D41F59}" presName="Image"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andshake"/>
        </a:ext>
      </dgm:extLst>
    </dgm:pt>
    <dgm:pt modelId="{0CA4B82D-A721-4FAC-B45A-48A806CC1BB4}" type="pres">
      <dgm:prSet presAssocID="{0AA785D5-FC2C-4F62-98E8-21A126D41F59}" presName="childText" presStyleLbl="lnNode1" presStyleIdx="0" presStyleCnt="2" custScaleX="102100" custScaleY="167505" custLinFactNeighborX="1631" custLinFactNeighborY="419">
        <dgm:presLayoutVars>
          <dgm:chMax val="0"/>
          <dgm:chPref val="0"/>
          <dgm:bulletEnabled val="1"/>
        </dgm:presLayoutVars>
      </dgm:prSet>
      <dgm:spPr/>
    </dgm:pt>
    <dgm:pt modelId="{AEA683E3-6E16-490E-87E2-45A70C986B8B}" type="pres">
      <dgm:prSet presAssocID="{B0D0DB0C-4F19-4D79-BBA5-606810BE4C90}" presName="childComposite" presStyleCnt="0">
        <dgm:presLayoutVars>
          <dgm:chMax val="0"/>
          <dgm:chPref val="0"/>
        </dgm:presLayoutVars>
      </dgm:prSet>
      <dgm:spPr/>
    </dgm:pt>
    <dgm:pt modelId="{14310435-7BDB-4C02-92DC-504A058AF623}" type="pres">
      <dgm:prSet presAssocID="{B0D0DB0C-4F19-4D79-BBA5-606810BE4C90}" presName="Image" presStyleLbl="node1" presStyleIdx="1" presStyleCnt="2" custLinFactNeighborX="-39652" custLinFactNeighborY="-196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No sign"/>
        </a:ext>
      </dgm:extLst>
    </dgm:pt>
    <dgm:pt modelId="{A3A9ABB6-048F-45D6-8A29-98360F11006A}" type="pres">
      <dgm:prSet presAssocID="{B0D0DB0C-4F19-4D79-BBA5-606810BE4C90}" presName="childText" presStyleLbl="lnNode1" presStyleIdx="1" presStyleCnt="2" custScaleX="112433" custScaleY="211685" custLinFactNeighborX="2842" custLinFactNeighborY="-264">
        <dgm:presLayoutVars>
          <dgm:chMax val="0"/>
          <dgm:chPref val="0"/>
          <dgm:bulletEnabled val="1"/>
        </dgm:presLayoutVars>
      </dgm:prSet>
      <dgm:spPr/>
    </dgm:pt>
  </dgm:ptLst>
  <dgm:cxnLst>
    <dgm:cxn modelId="{8EE00B2B-09BB-46F9-9B80-1AE5A0CEE5A2}" srcId="{F63345D3-09DA-48EE-8DE7-34CF0078F437}" destId="{D066A314-621B-4C37-B66F-DCEC5B9F0C0A}" srcOrd="0" destOrd="0" parTransId="{A3A7D220-0A56-4911-ADA9-6FD891E87A1E}" sibTransId="{6ED1FA1E-ADF3-49DE-B61D-0AC7392F1B4C}"/>
    <dgm:cxn modelId="{81CA7338-AFB4-4A0C-BC74-F81C2AD0B173}" srcId="{D066A314-621B-4C37-B66F-DCEC5B9F0C0A}" destId="{0AA785D5-FC2C-4F62-98E8-21A126D41F59}" srcOrd="0" destOrd="0" parTransId="{3FA3447F-410B-4D57-8503-79B274F8559C}" sibTransId="{02C3D112-A3BD-4A66-8D80-563FDECDA681}"/>
    <dgm:cxn modelId="{EE104A74-D79F-4237-82E4-C71AD9838339}" type="presOf" srcId="{B0D0DB0C-4F19-4D79-BBA5-606810BE4C90}" destId="{A3A9ABB6-048F-45D6-8A29-98360F11006A}" srcOrd="0" destOrd="0" presId="urn:microsoft.com/office/officeart/2008/layout/PictureAccentList"/>
    <dgm:cxn modelId="{50CD0E83-10B8-458C-8050-70C990842CE1}" type="presOf" srcId="{0AA785D5-FC2C-4F62-98E8-21A126D41F59}" destId="{0CA4B82D-A721-4FAC-B45A-48A806CC1BB4}" srcOrd="0" destOrd="0" presId="urn:microsoft.com/office/officeart/2008/layout/PictureAccentList"/>
    <dgm:cxn modelId="{2944A092-FA8B-4D9F-9424-FB7367C3EE99}" type="presOf" srcId="{D066A314-621B-4C37-B66F-DCEC5B9F0C0A}" destId="{204A5F46-0714-471D-ACC7-E37E5E6F10E2}" srcOrd="0" destOrd="0" presId="urn:microsoft.com/office/officeart/2008/layout/PictureAccentList"/>
    <dgm:cxn modelId="{231C96E5-3A4A-4897-A6C1-612ABCBC6A5F}" srcId="{D066A314-621B-4C37-B66F-DCEC5B9F0C0A}" destId="{B0D0DB0C-4F19-4D79-BBA5-606810BE4C90}" srcOrd="1" destOrd="0" parTransId="{C09F4C85-5F93-4CB3-8BE6-25F6DE51E2D3}" sibTransId="{4ADF87A8-6B43-4815-89DC-62616BF0D086}"/>
    <dgm:cxn modelId="{116C61F5-FB49-41C6-ABA9-BBEE33B6F88B}" type="presOf" srcId="{F63345D3-09DA-48EE-8DE7-34CF0078F437}" destId="{0E0B09DD-2F9E-4CB8-A263-7905E7471CAB}" srcOrd="0" destOrd="0" presId="urn:microsoft.com/office/officeart/2008/layout/PictureAccentList"/>
    <dgm:cxn modelId="{D9A16CC6-D9CC-4141-A3E7-4D5C2967D5C9}" type="presParOf" srcId="{0E0B09DD-2F9E-4CB8-A263-7905E7471CAB}" destId="{CA6B5EB9-DEFE-4048-8525-A69A223510A0}" srcOrd="0" destOrd="0" presId="urn:microsoft.com/office/officeart/2008/layout/PictureAccentList"/>
    <dgm:cxn modelId="{4D6061D9-98D3-406B-B8F7-9D470AA58316}" type="presParOf" srcId="{CA6B5EB9-DEFE-4048-8525-A69A223510A0}" destId="{C63829DC-0C4D-41F3-85AF-AD16FED43906}" srcOrd="0" destOrd="0" presId="urn:microsoft.com/office/officeart/2008/layout/PictureAccentList"/>
    <dgm:cxn modelId="{4C87835D-C9F7-4BFA-9031-76860B05C139}" type="presParOf" srcId="{C63829DC-0C4D-41F3-85AF-AD16FED43906}" destId="{204A5F46-0714-471D-ACC7-E37E5E6F10E2}" srcOrd="0" destOrd="0" presId="urn:microsoft.com/office/officeart/2008/layout/PictureAccentList"/>
    <dgm:cxn modelId="{223449E6-4535-4AB2-9D53-D2CED01535E1}" type="presParOf" srcId="{CA6B5EB9-DEFE-4048-8525-A69A223510A0}" destId="{B69EAEBE-F464-4999-AF72-759F32BDBFE9}" srcOrd="1" destOrd="0" presId="urn:microsoft.com/office/officeart/2008/layout/PictureAccentList"/>
    <dgm:cxn modelId="{027F7EAB-EFF9-439E-A989-768217DABA95}" type="presParOf" srcId="{B69EAEBE-F464-4999-AF72-759F32BDBFE9}" destId="{EE56C0D0-EA6C-4476-9860-1CE8331DA0D4}" srcOrd="0" destOrd="0" presId="urn:microsoft.com/office/officeart/2008/layout/PictureAccentList"/>
    <dgm:cxn modelId="{7EDC7CED-EFA4-43B2-AB23-F372DA8D27DB}" type="presParOf" srcId="{EE56C0D0-EA6C-4476-9860-1CE8331DA0D4}" destId="{2108CCD1-3B4D-48BC-B8F6-4737903CCE92}" srcOrd="0" destOrd="0" presId="urn:microsoft.com/office/officeart/2008/layout/PictureAccentList"/>
    <dgm:cxn modelId="{8F5D3124-7D54-4FFC-BB9D-4AFE03DEC5C6}" type="presParOf" srcId="{EE56C0D0-EA6C-4476-9860-1CE8331DA0D4}" destId="{0CA4B82D-A721-4FAC-B45A-48A806CC1BB4}" srcOrd="1" destOrd="0" presId="urn:microsoft.com/office/officeart/2008/layout/PictureAccentList"/>
    <dgm:cxn modelId="{B3E1CCD7-5185-4DB6-AF06-880E4B98A5F2}" type="presParOf" srcId="{B69EAEBE-F464-4999-AF72-759F32BDBFE9}" destId="{AEA683E3-6E16-490E-87E2-45A70C986B8B}" srcOrd="1" destOrd="0" presId="urn:microsoft.com/office/officeart/2008/layout/PictureAccentList"/>
    <dgm:cxn modelId="{D7D249A5-03CD-4114-AF19-56274DC4B603}" type="presParOf" srcId="{AEA683E3-6E16-490E-87E2-45A70C986B8B}" destId="{14310435-7BDB-4C02-92DC-504A058AF623}" srcOrd="0" destOrd="0" presId="urn:microsoft.com/office/officeart/2008/layout/PictureAccentList"/>
    <dgm:cxn modelId="{E1DD7104-7A0F-4A6F-8CFF-9F0F6F1C9B5B}" type="presParOf" srcId="{AEA683E3-6E16-490E-87E2-45A70C986B8B}" destId="{A3A9ABB6-048F-45D6-8A29-98360F11006A}" srcOrd="1" destOrd="0" presId="urn:microsoft.com/office/officeart/2008/layout/Picture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3345D3-09DA-48EE-8DE7-34CF0078F437}" type="doc">
      <dgm:prSet loTypeId="urn:microsoft.com/office/officeart/2008/layout/PictureAccentList" loCatId="list" qsTypeId="urn:microsoft.com/office/officeart/2005/8/quickstyle/3d2" qsCatId="3D" csTypeId="urn:microsoft.com/office/officeart/2005/8/colors/colorful3" csCatId="colorful" phldr="1"/>
      <dgm:spPr/>
      <dgm:t>
        <a:bodyPr/>
        <a:lstStyle/>
        <a:p>
          <a:endParaRPr lang="en-US"/>
        </a:p>
      </dgm:t>
    </dgm:pt>
    <dgm:pt modelId="{D066A314-621B-4C37-B66F-DCEC5B9F0C0A}">
      <dgm:prSet phldrT="[Text]"/>
      <dgm:spPr/>
      <dgm:t>
        <a:bodyPr/>
        <a:lstStyle/>
        <a:p>
          <a:r>
            <a:rPr lang="en-US" dirty="0"/>
            <a:t>Whenever you see this alert at the top of the page :</a:t>
          </a:r>
        </a:p>
        <a:p>
          <a:endParaRPr lang="en-US" dirty="0"/>
        </a:p>
        <a:p>
          <a:r>
            <a:rPr lang="en-US" dirty="0">
              <a:latin typeface="Calibri"/>
              <a:cs typeface="Arial"/>
            </a:rPr>
            <a:t>Click hyperlink</a:t>
          </a:r>
        </a:p>
        <a:p>
          <a:r>
            <a:rPr lang="en-US" dirty="0">
              <a:latin typeface="Calibri"/>
              <a:cs typeface="Arial"/>
            </a:rPr>
            <a:t>Click “</a:t>
          </a:r>
          <a:r>
            <a:rPr lang="en-US" i="1" dirty="0">
              <a:latin typeface="Calibri"/>
              <a:cs typeface="Arial"/>
            </a:rPr>
            <a:t>Authorization script”</a:t>
          </a:r>
          <a:endParaRPr lang="en-US" i="0" dirty="0">
            <a:latin typeface="Calibri"/>
            <a:cs typeface="Arial"/>
          </a:endParaRPr>
        </a:p>
        <a:p>
          <a:r>
            <a:rPr lang="en-US" dirty="0">
              <a:latin typeface="Calibri"/>
              <a:cs typeface="Arial"/>
            </a:rPr>
            <a:t>Review settlement with client</a:t>
          </a:r>
        </a:p>
      </dgm:t>
    </dgm:pt>
    <dgm:pt modelId="{A3A7D220-0A56-4911-ADA9-6FD891E87A1E}" type="parTrans" cxnId="{8EE00B2B-09BB-46F9-9B80-1AE5A0CEE5A2}">
      <dgm:prSet/>
      <dgm:spPr/>
      <dgm:t>
        <a:bodyPr/>
        <a:lstStyle/>
        <a:p>
          <a:endParaRPr lang="en-US"/>
        </a:p>
      </dgm:t>
    </dgm:pt>
    <dgm:pt modelId="{6ED1FA1E-ADF3-49DE-B61D-0AC7392F1B4C}" type="sibTrans" cxnId="{8EE00B2B-09BB-46F9-9B80-1AE5A0CEE5A2}">
      <dgm:prSet/>
      <dgm:spPr/>
      <dgm:t>
        <a:bodyPr/>
        <a:lstStyle/>
        <a:p>
          <a:endParaRPr lang="en-US"/>
        </a:p>
      </dgm:t>
    </dgm:pt>
    <dgm:pt modelId="{0AA785D5-FC2C-4F62-98E8-21A126D41F59}">
      <dgm:prSet phldrT="[Text]" custT="1"/>
      <dgm:spPr/>
      <dgm:t>
        <a:bodyPr/>
        <a:lstStyle/>
        <a:p>
          <a:pPr algn="l"/>
          <a:r>
            <a:rPr lang="en-US" sz="1400" b="1" dirty="0">
              <a:latin typeface="Calibri"/>
              <a:cs typeface="Arial"/>
            </a:rPr>
            <a:t>If client agrees –</a:t>
          </a:r>
        </a:p>
        <a:p>
          <a:pPr algn="l"/>
          <a:r>
            <a:rPr lang="en-US" sz="1400" dirty="0">
              <a:latin typeface="Calibri"/>
              <a:cs typeface="Arial"/>
            </a:rPr>
            <a:t>Record authorization</a:t>
          </a:r>
        </a:p>
        <a:p>
          <a:pPr algn="l" rtl="0"/>
          <a:r>
            <a:rPr lang="en-US" sz="1400" dirty="0">
              <a:latin typeface="Calibri"/>
              <a:cs typeface="Arial"/>
            </a:rPr>
            <a:t>Select which channel the authorization was completed through: Chat, Email or Voice (for calls) then click accept</a:t>
          </a:r>
        </a:p>
        <a:p>
          <a:pPr algn="l"/>
          <a:r>
            <a:rPr lang="en-US" sz="1400" dirty="0">
              <a:latin typeface="Calibri"/>
              <a:cs typeface="Arial"/>
            </a:rPr>
            <a:t>Upload REC authorization to client file; save file name with the following information.</a:t>
          </a:r>
          <a:br>
            <a:rPr lang="en-US" sz="1400" dirty="0">
              <a:latin typeface="Calibri"/>
              <a:cs typeface="Arial"/>
            </a:rPr>
          </a:br>
          <a:r>
            <a:rPr lang="en-US" sz="1400" dirty="0">
              <a:latin typeface="Calibri"/>
              <a:cs typeface="Arial"/>
            </a:rPr>
            <a:t> </a:t>
          </a:r>
          <a:r>
            <a:rPr lang="en-US" sz="1400" b="1" dirty="0">
              <a:latin typeface="Calibri"/>
              <a:cs typeface="Arial"/>
            </a:rPr>
            <a:t>Client Last Name, Global Auth, Creditor, Todays Date</a:t>
          </a:r>
          <a:endParaRPr lang="en-US" sz="1400" dirty="0">
            <a:latin typeface="Calibri"/>
            <a:cs typeface="Arial"/>
          </a:endParaRPr>
        </a:p>
        <a:p>
          <a:pPr algn="l"/>
          <a:r>
            <a:rPr lang="en-US" sz="1400" dirty="0">
              <a:latin typeface="Calibri"/>
              <a:cs typeface="Arial"/>
            </a:rPr>
            <a:t>Leave notes in comment section</a:t>
          </a:r>
        </a:p>
      </dgm:t>
    </dgm:pt>
    <dgm:pt modelId="{3FA3447F-410B-4D57-8503-79B274F8559C}" type="parTrans" cxnId="{81CA7338-AFB4-4A0C-BC74-F81C2AD0B173}">
      <dgm:prSet/>
      <dgm:spPr/>
      <dgm:t>
        <a:bodyPr/>
        <a:lstStyle/>
        <a:p>
          <a:endParaRPr lang="en-US"/>
        </a:p>
      </dgm:t>
    </dgm:pt>
    <dgm:pt modelId="{02C3D112-A3BD-4A66-8D80-563FDECDA681}" type="sibTrans" cxnId="{81CA7338-AFB4-4A0C-BC74-F81C2AD0B173}">
      <dgm:prSet/>
      <dgm:spPr/>
      <dgm:t>
        <a:bodyPr/>
        <a:lstStyle/>
        <a:p>
          <a:endParaRPr lang="en-US"/>
        </a:p>
      </dgm:t>
    </dgm:pt>
    <dgm:pt modelId="{B0D0DB0C-4F19-4D79-BBA5-606810BE4C90}">
      <dgm:prSet phldrT="[Text]" custT="1"/>
      <dgm:spPr/>
      <dgm:t>
        <a:bodyPr/>
        <a:lstStyle/>
        <a:p>
          <a:pPr rtl="0"/>
          <a:r>
            <a:rPr lang="en-US" sz="1400" b="1" dirty="0">
              <a:latin typeface="Calibri"/>
              <a:cs typeface="Arial"/>
            </a:rPr>
            <a:t>If client rejects – </a:t>
          </a:r>
        </a:p>
        <a:p>
          <a:r>
            <a:rPr lang="en-US" sz="1400" dirty="0">
              <a:latin typeface="Calibri"/>
              <a:cs typeface="Arial"/>
            </a:rPr>
            <a:t>Attempt rebuttal</a:t>
          </a:r>
        </a:p>
        <a:p>
          <a:pPr rtl="0"/>
          <a:r>
            <a:rPr lang="en-US" sz="1400" dirty="0">
              <a:latin typeface="Calibri"/>
              <a:cs typeface="Arial"/>
            </a:rPr>
            <a:t>Click reject </a:t>
          </a:r>
          <a:r>
            <a:rPr lang="en-US" sz="1400" dirty="0">
              <a:solidFill>
                <a:srgbClr val="000000"/>
              </a:solidFill>
              <a:latin typeface="Calibri"/>
              <a:cs typeface="Calibri"/>
            </a:rPr>
            <a:t>&amp; select which channel the authorization was completed: Chat, Email or Voice (for calls)</a:t>
          </a:r>
        </a:p>
        <a:p>
          <a:endParaRPr lang="en-US" sz="1400" dirty="0">
            <a:latin typeface="Calibri"/>
            <a:cs typeface="Arial"/>
          </a:endParaRPr>
        </a:p>
        <a:p>
          <a:pPr rtl="0"/>
          <a:r>
            <a:rPr lang="en-US" sz="1400" dirty="0">
              <a:latin typeface="Calibri"/>
              <a:cs typeface="Arial"/>
            </a:rPr>
            <a:t>Record clients rejection by using option 9</a:t>
          </a:r>
        </a:p>
        <a:p>
          <a:pPr rtl="0"/>
          <a:r>
            <a:rPr lang="en-US" sz="1400" dirty="0">
              <a:latin typeface="Calibri"/>
              <a:cs typeface="Arial"/>
            </a:rPr>
            <a:t>Leave notes in comment section</a:t>
          </a:r>
        </a:p>
        <a:p>
          <a:pPr rtl="0"/>
          <a:r>
            <a:rPr lang="en-US" sz="1400" dirty="0">
              <a:latin typeface="Calibri"/>
              <a:cs typeface="Arial"/>
            </a:rPr>
            <a:t>Upload recording to client files using the following info:</a:t>
          </a:r>
        </a:p>
        <a:p>
          <a:pPr algn="l" rtl="0"/>
          <a:r>
            <a:rPr lang="en-US" sz="1400" dirty="0">
              <a:solidFill>
                <a:schemeClr val="bg1"/>
              </a:solidFill>
              <a:latin typeface="Calibri"/>
              <a:cs typeface="Calibri"/>
            </a:rPr>
            <a:t> Client Last Name, Global Auth Rejection , Creditor, Todays Date</a:t>
          </a:r>
        </a:p>
      </dgm:t>
    </dgm:pt>
    <dgm:pt modelId="{C09F4C85-5F93-4CB3-8BE6-25F6DE51E2D3}" type="parTrans" cxnId="{231C96E5-3A4A-4897-A6C1-612ABCBC6A5F}">
      <dgm:prSet/>
      <dgm:spPr/>
      <dgm:t>
        <a:bodyPr/>
        <a:lstStyle/>
        <a:p>
          <a:endParaRPr lang="en-US"/>
        </a:p>
      </dgm:t>
    </dgm:pt>
    <dgm:pt modelId="{4ADF87A8-6B43-4815-89DC-62616BF0D086}" type="sibTrans" cxnId="{231C96E5-3A4A-4897-A6C1-612ABCBC6A5F}">
      <dgm:prSet/>
      <dgm:spPr/>
      <dgm:t>
        <a:bodyPr/>
        <a:lstStyle/>
        <a:p>
          <a:endParaRPr lang="en-US"/>
        </a:p>
      </dgm:t>
    </dgm:pt>
    <dgm:pt modelId="{0E0B09DD-2F9E-4CB8-A263-7905E7471CAB}" type="pres">
      <dgm:prSet presAssocID="{F63345D3-09DA-48EE-8DE7-34CF0078F437}" presName="layout" presStyleCnt="0">
        <dgm:presLayoutVars>
          <dgm:chMax/>
          <dgm:chPref/>
          <dgm:dir/>
          <dgm:animOne val="branch"/>
          <dgm:animLvl val="lvl"/>
          <dgm:resizeHandles/>
        </dgm:presLayoutVars>
      </dgm:prSet>
      <dgm:spPr/>
    </dgm:pt>
    <dgm:pt modelId="{CA6B5EB9-DEFE-4048-8525-A69A223510A0}" type="pres">
      <dgm:prSet presAssocID="{D066A314-621B-4C37-B66F-DCEC5B9F0C0A}" presName="root" presStyleCnt="0">
        <dgm:presLayoutVars>
          <dgm:chMax/>
          <dgm:chPref val="4"/>
        </dgm:presLayoutVars>
      </dgm:prSet>
      <dgm:spPr/>
    </dgm:pt>
    <dgm:pt modelId="{C63829DC-0C4D-41F3-85AF-AD16FED43906}" type="pres">
      <dgm:prSet presAssocID="{D066A314-621B-4C37-B66F-DCEC5B9F0C0A}" presName="rootComposite" presStyleCnt="0">
        <dgm:presLayoutVars/>
      </dgm:prSet>
      <dgm:spPr/>
    </dgm:pt>
    <dgm:pt modelId="{204A5F46-0714-471D-ACC7-E37E5E6F10E2}" type="pres">
      <dgm:prSet presAssocID="{D066A314-621B-4C37-B66F-DCEC5B9F0C0A}" presName="rootText" presStyleLbl="node0" presStyleIdx="0" presStyleCnt="1" custScaleY="96461" custLinFactNeighborX="0" custLinFactNeighborY="4261">
        <dgm:presLayoutVars>
          <dgm:chMax/>
          <dgm:chPref val="4"/>
        </dgm:presLayoutVars>
      </dgm:prSet>
      <dgm:spPr/>
    </dgm:pt>
    <dgm:pt modelId="{B69EAEBE-F464-4999-AF72-759F32BDBFE9}" type="pres">
      <dgm:prSet presAssocID="{D066A314-621B-4C37-B66F-DCEC5B9F0C0A}" presName="childShape" presStyleCnt="0">
        <dgm:presLayoutVars>
          <dgm:chMax val="0"/>
          <dgm:chPref val="0"/>
        </dgm:presLayoutVars>
      </dgm:prSet>
      <dgm:spPr/>
    </dgm:pt>
    <dgm:pt modelId="{EE56C0D0-EA6C-4476-9860-1CE8331DA0D4}" type="pres">
      <dgm:prSet presAssocID="{0AA785D5-FC2C-4F62-98E8-21A126D41F59}" presName="childComposite" presStyleCnt="0">
        <dgm:presLayoutVars>
          <dgm:chMax val="0"/>
          <dgm:chPref val="0"/>
        </dgm:presLayoutVars>
      </dgm:prSet>
      <dgm:spPr/>
    </dgm:pt>
    <dgm:pt modelId="{2108CCD1-3B4D-48BC-B8F6-4737903CCE92}" type="pres">
      <dgm:prSet presAssocID="{0AA785D5-FC2C-4F62-98E8-21A126D41F59}" presName="Image"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andshake"/>
        </a:ext>
      </dgm:extLst>
    </dgm:pt>
    <dgm:pt modelId="{0CA4B82D-A721-4FAC-B45A-48A806CC1BB4}" type="pres">
      <dgm:prSet presAssocID="{0AA785D5-FC2C-4F62-98E8-21A126D41F59}" presName="childText" presStyleLbl="lnNode1" presStyleIdx="0" presStyleCnt="2" custScaleX="102100" custScaleY="167505" custLinFactNeighborX="1631" custLinFactNeighborY="419">
        <dgm:presLayoutVars>
          <dgm:chMax val="0"/>
          <dgm:chPref val="0"/>
          <dgm:bulletEnabled val="1"/>
        </dgm:presLayoutVars>
      </dgm:prSet>
      <dgm:spPr/>
    </dgm:pt>
    <dgm:pt modelId="{AEA683E3-6E16-490E-87E2-45A70C986B8B}" type="pres">
      <dgm:prSet presAssocID="{B0D0DB0C-4F19-4D79-BBA5-606810BE4C90}" presName="childComposite" presStyleCnt="0">
        <dgm:presLayoutVars>
          <dgm:chMax val="0"/>
          <dgm:chPref val="0"/>
        </dgm:presLayoutVars>
      </dgm:prSet>
      <dgm:spPr/>
    </dgm:pt>
    <dgm:pt modelId="{14310435-7BDB-4C02-92DC-504A058AF623}" type="pres">
      <dgm:prSet presAssocID="{B0D0DB0C-4F19-4D79-BBA5-606810BE4C90}" presName="Image" presStyleLbl="node1" presStyleIdx="1" presStyleCnt="2" custLinFactNeighborX="-39652" custLinFactNeighborY="-1960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No sign"/>
        </a:ext>
      </dgm:extLst>
    </dgm:pt>
    <dgm:pt modelId="{A3A9ABB6-048F-45D6-8A29-98360F11006A}" type="pres">
      <dgm:prSet presAssocID="{B0D0DB0C-4F19-4D79-BBA5-606810BE4C90}" presName="childText" presStyleLbl="lnNode1" presStyleIdx="1" presStyleCnt="2" custScaleX="112433" custScaleY="211685" custLinFactNeighborX="2842" custLinFactNeighborY="-264">
        <dgm:presLayoutVars>
          <dgm:chMax val="0"/>
          <dgm:chPref val="0"/>
          <dgm:bulletEnabled val="1"/>
        </dgm:presLayoutVars>
      </dgm:prSet>
      <dgm:spPr/>
    </dgm:pt>
  </dgm:ptLst>
  <dgm:cxnLst>
    <dgm:cxn modelId="{8EE00B2B-09BB-46F9-9B80-1AE5A0CEE5A2}" srcId="{F63345D3-09DA-48EE-8DE7-34CF0078F437}" destId="{D066A314-621B-4C37-B66F-DCEC5B9F0C0A}" srcOrd="0" destOrd="0" parTransId="{A3A7D220-0A56-4911-ADA9-6FD891E87A1E}" sibTransId="{6ED1FA1E-ADF3-49DE-B61D-0AC7392F1B4C}"/>
    <dgm:cxn modelId="{81CA7338-AFB4-4A0C-BC74-F81C2AD0B173}" srcId="{D066A314-621B-4C37-B66F-DCEC5B9F0C0A}" destId="{0AA785D5-FC2C-4F62-98E8-21A126D41F59}" srcOrd="0" destOrd="0" parTransId="{3FA3447F-410B-4D57-8503-79B274F8559C}" sibTransId="{02C3D112-A3BD-4A66-8D80-563FDECDA681}"/>
    <dgm:cxn modelId="{EE104A74-D79F-4237-82E4-C71AD9838339}" type="presOf" srcId="{B0D0DB0C-4F19-4D79-BBA5-606810BE4C90}" destId="{A3A9ABB6-048F-45D6-8A29-98360F11006A}" srcOrd="0" destOrd="0" presId="urn:microsoft.com/office/officeart/2008/layout/PictureAccentList"/>
    <dgm:cxn modelId="{50CD0E83-10B8-458C-8050-70C990842CE1}" type="presOf" srcId="{0AA785D5-FC2C-4F62-98E8-21A126D41F59}" destId="{0CA4B82D-A721-4FAC-B45A-48A806CC1BB4}" srcOrd="0" destOrd="0" presId="urn:microsoft.com/office/officeart/2008/layout/PictureAccentList"/>
    <dgm:cxn modelId="{2944A092-FA8B-4D9F-9424-FB7367C3EE99}" type="presOf" srcId="{D066A314-621B-4C37-B66F-DCEC5B9F0C0A}" destId="{204A5F46-0714-471D-ACC7-E37E5E6F10E2}" srcOrd="0" destOrd="0" presId="urn:microsoft.com/office/officeart/2008/layout/PictureAccentList"/>
    <dgm:cxn modelId="{231C96E5-3A4A-4897-A6C1-612ABCBC6A5F}" srcId="{D066A314-621B-4C37-B66F-DCEC5B9F0C0A}" destId="{B0D0DB0C-4F19-4D79-BBA5-606810BE4C90}" srcOrd="1" destOrd="0" parTransId="{C09F4C85-5F93-4CB3-8BE6-25F6DE51E2D3}" sibTransId="{4ADF87A8-6B43-4815-89DC-62616BF0D086}"/>
    <dgm:cxn modelId="{116C61F5-FB49-41C6-ABA9-BBEE33B6F88B}" type="presOf" srcId="{F63345D3-09DA-48EE-8DE7-34CF0078F437}" destId="{0E0B09DD-2F9E-4CB8-A263-7905E7471CAB}" srcOrd="0" destOrd="0" presId="urn:microsoft.com/office/officeart/2008/layout/PictureAccentList"/>
    <dgm:cxn modelId="{D9A16CC6-D9CC-4141-A3E7-4D5C2967D5C9}" type="presParOf" srcId="{0E0B09DD-2F9E-4CB8-A263-7905E7471CAB}" destId="{CA6B5EB9-DEFE-4048-8525-A69A223510A0}" srcOrd="0" destOrd="0" presId="urn:microsoft.com/office/officeart/2008/layout/PictureAccentList"/>
    <dgm:cxn modelId="{4D6061D9-98D3-406B-B8F7-9D470AA58316}" type="presParOf" srcId="{CA6B5EB9-DEFE-4048-8525-A69A223510A0}" destId="{C63829DC-0C4D-41F3-85AF-AD16FED43906}" srcOrd="0" destOrd="0" presId="urn:microsoft.com/office/officeart/2008/layout/PictureAccentList"/>
    <dgm:cxn modelId="{4C87835D-C9F7-4BFA-9031-76860B05C139}" type="presParOf" srcId="{C63829DC-0C4D-41F3-85AF-AD16FED43906}" destId="{204A5F46-0714-471D-ACC7-E37E5E6F10E2}" srcOrd="0" destOrd="0" presId="urn:microsoft.com/office/officeart/2008/layout/PictureAccentList"/>
    <dgm:cxn modelId="{223449E6-4535-4AB2-9D53-D2CED01535E1}" type="presParOf" srcId="{CA6B5EB9-DEFE-4048-8525-A69A223510A0}" destId="{B69EAEBE-F464-4999-AF72-759F32BDBFE9}" srcOrd="1" destOrd="0" presId="urn:microsoft.com/office/officeart/2008/layout/PictureAccentList"/>
    <dgm:cxn modelId="{027F7EAB-EFF9-439E-A989-768217DABA95}" type="presParOf" srcId="{B69EAEBE-F464-4999-AF72-759F32BDBFE9}" destId="{EE56C0D0-EA6C-4476-9860-1CE8331DA0D4}" srcOrd="0" destOrd="0" presId="urn:microsoft.com/office/officeart/2008/layout/PictureAccentList"/>
    <dgm:cxn modelId="{7EDC7CED-EFA4-43B2-AB23-F372DA8D27DB}" type="presParOf" srcId="{EE56C0D0-EA6C-4476-9860-1CE8331DA0D4}" destId="{2108CCD1-3B4D-48BC-B8F6-4737903CCE92}" srcOrd="0" destOrd="0" presId="urn:microsoft.com/office/officeart/2008/layout/PictureAccentList"/>
    <dgm:cxn modelId="{8F5D3124-7D54-4FFC-BB9D-4AFE03DEC5C6}" type="presParOf" srcId="{EE56C0D0-EA6C-4476-9860-1CE8331DA0D4}" destId="{0CA4B82D-A721-4FAC-B45A-48A806CC1BB4}" srcOrd="1" destOrd="0" presId="urn:microsoft.com/office/officeart/2008/layout/PictureAccentList"/>
    <dgm:cxn modelId="{B3E1CCD7-5185-4DB6-AF06-880E4B98A5F2}" type="presParOf" srcId="{B69EAEBE-F464-4999-AF72-759F32BDBFE9}" destId="{AEA683E3-6E16-490E-87E2-45A70C986B8B}" srcOrd="1" destOrd="0" presId="urn:microsoft.com/office/officeart/2008/layout/PictureAccentList"/>
    <dgm:cxn modelId="{D7D249A5-03CD-4114-AF19-56274DC4B603}" type="presParOf" srcId="{AEA683E3-6E16-490E-87E2-45A70C986B8B}" destId="{14310435-7BDB-4C02-92DC-504A058AF623}" srcOrd="0" destOrd="0" presId="urn:microsoft.com/office/officeart/2008/layout/PictureAccentList"/>
    <dgm:cxn modelId="{E1DD7104-7A0F-4A6F-8CFF-9F0F6F1C9B5B}" type="presParOf" srcId="{AEA683E3-6E16-490E-87E2-45A70C986B8B}" destId="{A3A9ABB6-048F-45D6-8A29-98360F11006A}" srcOrd="1" destOrd="0" presId="urn:microsoft.com/office/officeart/2008/layout/Picture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63345D3-09DA-48EE-8DE7-34CF0078F437}" type="doc">
      <dgm:prSet loTypeId="urn:microsoft.com/office/officeart/2008/layout/PictureAccentList" loCatId="list" qsTypeId="urn:microsoft.com/office/officeart/2005/8/quickstyle/3d2" qsCatId="3D" csTypeId="urn:microsoft.com/office/officeart/2005/8/colors/colorful3" csCatId="colorful" phldr="1"/>
      <dgm:spPr/>
      <dgm:t>
        <a:bodyPr/>
        <a:lstStyle/>
        <a:p>
          <a:endParaRPr lang="en-US"/>
        </a:p>
      </dgm:t>
    </dgm:pt>
    <dgm:pt modelId="{D066A314-621B-4C37-B66F-DCEC5B9F0C0A}">
      <dgm:prSet phldrT="[Text]"/>
      <dgm:spPr/>
      <dgm:t>
        <a:bodyPr/>
        <a:lstStyle/>
        <a:p>
          <a:r>
            <a:rPr lang="en-US" b="0" i="0" dirty="0"/>
            <a:t>Text message communications are sent to clients who have received a settlement offer and are currently awaiting the settlement letter. Clients can now pre-authorize the settlement using a link sent to them via text. We will not see the settlement as pending; instead, direct them back to the original text message they received and ask them to click on the link and follow the instructions to authorize the pre-settlement. </a:t>
          </a:r>
          <a:endParaRPr lang="en-US" dirty="0">
            <a:latin typeface="Calibri"/>
            <a:cs typeface="Arial"/>
          </a:endParaRPr>
        </a:p>
      </dgm:t>
    </dgm:pt>
    <dgm:pt modelId="{A3A7D220-0A56-4911-ADA9-6FD891E87A1E}" type="parTrans" cxnId="{8EE00B2B-09BB-46F9-9B80-1AE5A0CEE5A2}">
      <dgm:prSet/>
      <dgm:spPr/>
      <dgm:t>
        <a:bodyPr/>
        <a:lstStyle/>
        <a:p>
          <a:endParaRPr lang="en-US"/>
        </a:p>
      </dgm:t>
    </dgm:pt>
    <dgm:pt modelId="{6ED1FA1E-ADF3-49DE-B61D-0AC7392F1B4C}" type="sibTrans" cxnId="{8EE00B2B-09BB-46F9-9B80-1AE5A0CEE5A2}">
      <dgm:prSet/>
      <dgm:spPr/>
      <dgm:t>
        <a:bodyPr/>
        <a:lstStyle/>
        <a:p>
          <a:endParaRPr lang="en-US"/>
        </a:p>
      </dgm:t>
    </dgm:pt>
    <dgm:pt modelId="{0AA785D5-FC2C-4F62-98E8-21A126D41F59}">
      <dgm:prSet phldrT="[Text]" custT="1"/>
      <dgm:spPr/>
      <dgm:t>
        <a:bodyPr/>
        <a:lstStyle/>
        <a:p>
          <a:pPr algn="l"/>
          <a:r>
            <a:rPr lang="en-US" sz="1400" b="1" i="0" dirty="0"/>
            <a:t>Talking Points: </a:t>
          </a:r>
          <a:r>
            <a:rPr lang="en-US" sz="1400" b="0" i="0" dirty="0"/>
            <a:t>"(client name) I see that we have sent you a text message to advise you of a settlement offer that needs your approval. At this time in order to approve your settlement offer, we will need you to click on the link within the message and it will provide you the details of the settlement we have in place for you."   </a:t>
          </a:r>
          <a:endParaRPr lang="en-US" sz="1400" dirty="0">
            <a:latin typeface="Calibri"/>
            <a:cs typeface="Arial"/>
          </a:endParaRPr>
        </a:p>
      </dgm:t>
    </dgm:pt>
    <dgm:pt modelId="{3FA3447F-410B-4D57-8503-79B274F8559C}" type="parTrans" cxnId="{81CA7338-AFB4-4A0C-BC74-F81C2AD0B173}">
      <dgm:prSet/>
      <dgm:spPr/>
      <dgm:t>
        <a:bodyPr/>
        <a:lstStyle/>
        <a:p>
          <a:endParaRPr lang="en-US"/>
        </a:p>
      </dgm:t>
    </dgm:pt>
    <dgm:pt modelId="{02C3D112-A3BD-4A66-8D80-563FDECDA681}" type="sibTrans" cxnId="{81CA7338-AFB4-4A0C-BC74-F81C2AD0B173}">
      <dgm:prSet/>
      <dgm:spPr/>
      <dgm:t>
        <a:bodyPr/>
        <a:lstStyle/>
        <a:p>
          <a:endParaRPr lang="en-US"/>
        </a:p>
      </dgm:t>
    </dgm:pt>
    <dgm:pt modelId="{B0D0DB0C-4F19-4D79-BBA5-606810BE4C90}">
      <dgm:prSet phldrT="[Text]" custT="1"/>
      <dgm:spPr/>
      <dgm:t>
        <a:bodyPr/>
        <a:lstStyle/>
        <a:p>
          <a:pPr rtl="0"/>
          <a:r>
            <a:rPr lang="en-US" sz="1400" b="1" i="0" u="sng" dirty="0"/>
            <a:t>Agent Steps to take action: </a:t>
          </a:r>
          <a:r>
            <a:rPr lang="en-US" sz="1400" b="0" i="0" dirty="0"/>
            <a:t> </a:t>
          </a:r>
        </a:p>
        <a:p>
          <a:r>
            <a:rPr lang="en-US" sz="1400" b="0" i="0" dirty="0"/>
            <a:t>1) Always look in the contact history &gt;Client page &lt; Comment tab| Scroll down and you will see the </a:t>
          </a:r>
          <a:r>
            <a:rPr lang="en-US" sz="1400" b="1" i="1" dirty="0"/>
            <a:t>contact history </a:t>
          </a:r>
          <a:r>
            <a:rPr lang="en-US" sz="1400" b="0" i="0" dirty="0"/>
            <a:t> </a:t>
          </a:r>
        </a:p>
        <a:p>
          <a:r>
            <a:rPr lang="en-US" sz="1400" b="0" i="0" dirty="0"/>
            <a:t>2) Under text history see if you see </a:t>
          </a:r>
          <a:r>
            <a:rPr lang="en-US" sz="1400" b="1" i="1" dirty="0"/>
            <a:t>"</a:t>
          </a:r>
          <a:r>
            <a:rPr lang="en-US" sz="1400" b="1" i="1" dirty="0" err="1"/>
            <a:t>SASASettlementAuth</a:t>
          </a:r>
          <a:r>
            <a:rPr lang="en-US" sz="1400" b="1" i="1" dirty="0"/>
            <a:t>" </a:t>
          </a:r>
          <a:r>
            <a:rPr lang="en-US" sz="1400" b="0" i="0" dirty="0"/>
            <a:t>- we need to ask the client to follow the link in order to see auth details and accept. </a:t>
          </a:r>
        </a:p>
        <a:p>
          <a:endParaRPr lang="en-US" sz="1400" b="0" i="0" dirty="0"/>
        </a:p>
        <a:p>
          <a:r>
            <a:rPr lang="en-US" sz="1400" b="0" i="0" dirty="0"/>
            <a:t>3) Direct the client back to the text message and asked them to click on the link to authorize the settlement.  </a:t>
          </a:r>
          <a:endParaRPr lang="en-US" sz="1400" dirty="0">
            <a:solidFill>
              <a:schemeClr val="bg1"/>
            </a:solidFill>
            <a:latin typeface="Calibri"/>
            <a:cs typeface="Calibri"/>
          </a:endParaRPr>
        </a:p>
      </dgm:t>
    </dgm:pt>
    <dgm:pt modelId="{C09F4C85-5F93-4CB3-8BE6-25F6DE51E2D3}" type="parTrans" cxnId="{231C96E5-3A4A-4897-A6C1-612ABCBC6A5F}">
      <dgm:prSet/>
      <dgm:spPr/>
      <dgm:t>
        <a:bodyPr/>
        <a:lstStyle/>
        <a:p>
          <a:endParaRPr lang="en-US"/>
        </a:p>
      </dgm:t>
    </dgm:pt>
    <dgm:pt modelId="{4ADF87A8-6B43-4815-89DC-62616BF0D086}" type="sibTrans" cxnId="{231C96E5-3A4A-4897-A6C1-612ABCBC6A5F}">
      <dgm:prSet/>
      <dgm:spPr/>
      <dgm:t>
        <a:bodyPr/>
        <a:lstStyle/>
        <a:p>
          <a:endParaRPr lang="en-US"/>
        </a:p>
      </dgm:t>
    </dgm:pt>
    <dgm:pt modelId="{0E0B09DD-2F9E-4CB8-A263-7905E7471CAB}" type="pres">
      <dgm:prSet presAssocID="{F63345D3-09DA-48EE-8DE7-34CF0078F437}" presName="layout" presStyleCnt="0">
        <dgm:presLayoutVars>
          <dgm:chMax/>
          <dgm:chPref/>
          <dgm:dir/>
          <dgm:animOne val="branch"/>
          <dgm:animLvl val="lvl"/>
          <dgm:resizeHandles/>
        </dgm:presLayoutVars>
      </dgm:prSet>
      <dgm:spPr/>
    </dgm:pt>
    <dgm:pt modelId="{CA6B5EB9-DEFE-4048-8525-A69A223510A0}" type="pres">
      <dgm:prSet presAssocID="{D066A314-621B-4C37-B66F-DCEC5B9F0C0A}" presName="root" presStyleCnt="0">
        <dgm:presLayoutVars>
          <dgm:chMax/>
          <dgm:chPref val="4"/>
        </dgm:presLayoutVars>
      </dgm:prSet>
      <dgm:spPr/>
    </dgm:pt>
    <dgm:pt modelId="{C63829DC-0C4D-41F3-85AF-AD16FED43906}" type="pres">
      <dgm:prSet presAssocID="{D066A314-621B-4C37-B66F-DCEC5B9F0C0A}" presName="rootComposite" presStyleCnt="0">
        <dgm:presLayoutVars/>
      </dgm:prSet>
      <dgm:spPr/>
    </dgm:pt>
    <dgm:pt modelId="{204A5F46-0714-471D-ACC7-E37E5E6F10E2}" type="pres">
      <dgm:prSet presAssocID="{D066A314-621B-4C37-B66F-DCEC5B9F0C0A}" presName="rootText" presStyleLbl="node0" presStyleIdx="0" presStyleCnt="1" custScaleY="96461" custLinFactNeighborX="1188" custLinFactNeighborY="-36097">
        <dgm:presLayoutVars>
          <dgm:chMax/>
          <dgm:chPref val="4"/>
        </dgm:presLayoutVars>
      </dgm:prSet>
      <dgm:spPr/>
    </dgm:pt>
    <dgm:pt modelId="{B69EAEBE-F464-4999-AF72-759F32BDBFE9}" type="pres">
      <dgm:prSet presAssocID="{D066A314-621B-4C37-B66F-DCEC5B9F0C0A}" presName="childShape" presStyleCnt="0">
        <dgm:presLayoutVars>
          <dgm:chMax val="0"/>
          <dgm:chPref val="0"/>
        </dgm:presLayoutVars>
      </dgm:prSet>
      <dgm:spPr/>
    </dgm:pt>
    <dgm:pt modelId="{EE56C0D0-EA6C-4476-9860-1CE8331DA0D4}" type="pres">
      <dgm:prSet presAssocID="{0AA785D5-FC2C-4F62-98E8-21A126D41F59}" presName="childComposite" presStyleCnt="0">
        <dgm:presLayoutVars>
          <dgm:chMax val="0"/>
          <dgm:chPref val="0"/>
        </dgm:presLayoutVars>
      </dgm:prSet>
      <dgm:spPr/>
    </dgm:pt>
    <dgm:pt modelId="{2108CCD1-3B4D-48BC-B8F6-4737903CCE92}" type="pres">
      <dgm:prSet presAssocID="{0AA785D5-FC2C-4F62-98E8-21A126D41F59}" presName="Image"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Handshake"/>
        </a:ext>
      </dgm:extLst>
    </dgm:pt>
    <dgm:pt modelId="{0CA4B82D-A721-4FAC-B45A-48A806CC1BB4}" type="pres">
      <dgm:prSet presAssocID="{0AA785D5-FC2C-4F62-98E8-21A126D41F59}" presName="childText" presStyleLbl="lnNode1" presStyleIdx="0" presStyleCnt="2" custScaleX="128870" custScaleY="94859" custLinFactY="81232" custLinFactNeighborX="-5491" custLinFactNeighborY="100000">
        <dgm:presLayoutVars>
          <dgm:chMax val="0"/>
          <dgm:chPref val="0"/>
          <dgm:bulletEnabled val="1"/>
        </dgm:presLayoutVars>
      </dgm:prSet>
      <dgm:spPr/>
    </dgm:pt>
    <dgm:pt modelId="{AEA683E3-6E16-490E-87E2-45A70C986B8B}" type="pres">
      <dgm:prSet presAssocID="{B0D0DB0C-4F19-4D79-BBA5-606810BE4C90}" presName="childComposite" presStyleCnt="0">
        <dgm:presLayoutVars>
          <dgm:chMax val="0"/>
          <dgm:chPref val="0"/>
        </dgm:presLayoutVars>
      </dgm:prSet>
      <dgm:spPr/>
    </dgm:pt>
    <dgm:pt modelId="{14310435-7BDB-4C02-92DC-504A058AF623}" type="pres">
      <dgm:prSet presAssocID="{B0D0DB0C-4F19-4D79-BBA5-606810BE4C90}" presName="Image" presStyleLbl="node1" presStyleIdx="1" presStyleCnt="2" custLinFactY="-100000" custLinFactNeighborX="-5098" custLinFactNeighborY="-109683"/>
      <dgm:spPr>
        <a:noFill/>
      </dgm:spPr>
    </dgm:pt>
    <dgm:pt modelId="{A3A9ABB6-048F-45D6-8A29-98360F11006A}" type="pres">
      <dgm:prSet presAssocID="{B0D0DB0C-4F19-4D79-BBA5-606810BE4C90}" presName="childText" presStyleLbl="lnNode1" presStyleIdx="1" presStyleCnt="2" custScaleX="138314" custScaleY="136209" custLinFactY="-60340" custLinFactNeighborX="-1944" custLinFactNeighborY="-100000">
        <dgm:presLayoutVars>
          <dgm:chMax val="0"/>
          <dgm:chPref val="0"/>
          <dgm:bulletEnabled val="1"/>
        </dgm:presLayoutVars>
      </dgm:prSet>
      <dgm:spPr/>
    </dgm:pt>
  </dgm:ptLst>
  <dgm:cxnLst>
    <dgm:cxn modelId="{8EE00B2B-09BB-46F9-9B80-1AE5A0CEE5A2}" srcId="{F63345D3-09DA-48EE-8DE7-34CF0078F437}" destId="{D066A314-621B-4C37-B66F-DCEC5B9F0C0A}" srcOrd="0" destOrd="0" parTransId="{A3A7D220-0A56-4911-ADA9-6FD891E87A1E}" sibTransId="{6ED1FA1E-ADF3-49DE-B61D-0AC7392F1B4C}"/>
    <dgm:cxn modelId="{81CA7338-AFB4-4A0C-BC74-F81C2AD0B173}" srcId="{D066A314-621B-4C37-B66F-DCEC5B9F0C0A}" destId="{0AA785D5-FC2C-4F62-98E8-21A126D41F59}" srcOrd="0" destOrd="0" parTransId="{3FA3447F-410B-4D57-8503-79B274F8559C}" sibTransId="{02C3D112-A3BD-4A66-8D80-563FDECDA681}"/>
    <dgm:cxn modelId="{EE104A74-D79F-4237-82E4-C71AD9838339}" type="presOf" srcId="{B0D0DB0C-4F19-4D79-BBA5-606810BE4C90}" destId="{A3A9ABB6-048F-45D6-8A29-98360F11006A}" srcOrd="0" destOrd="0" presId="urn:microsoft.com/office/officeart/2008/layout/PictureAccentList"/>
    <dgm:cxn modelId="{50CD0E83-10B8-458C-8050-70C990842CE1}" type="presOf" srcId="{0AA785D5-FC2C-4F62-98E8-21A126D41F59}" destId="{0CA4B82D-A721-4FAC-B45A-48A806CC1BB4}" srcOrd="0" destOrd="0" presId="urn:microsoft.com/office/officeart/2008/layout/PictureAccentList"/>
    <dgm:cxn modelId="{2944A092-FA8B-4D9F-9424-FB7367C3EE99}" type="presOf" srcId="{D066A314-621B-4C37-B66F-DCEC5B9F0C0A}" destId="{204A5F46-0714-471D-ACC7-E37E5E6F10E2}" srcOrd="0" destOrd="0" presId="urn:microsoft.com/office/officeart/2008/layout/PictureAccentList"/>
    <dgm:cxn modelId="{231C96E5-3A4A-4897-A6C1-612ABCBC6A5F}" srcId="{D066A314-621B-4C37-B66F-DCEC5B9F0C0A}" destId="{B0D0DB0C-4F19-4D79-BBA5-606810BE4C90}" srcOrd="1" destOrd="0" parTransId="{C09F4C85-5F93-4CB3-8BE6-25F6DE51E2D3}" sibTransId="{4ADF87A8-6B43-4815-89DC-62616BF0D086}"/>
    <dgm:cxn modelId="{116C61F5-FB49-41C6-ABA9-BBEE33B6F88B}" type="presOf" srcId="{F63345D3-09DA-48EE-8DE7-34CF0078F437}" destId="{0E0B09DD-2F9E-4CB8-A263-7905E7471CAB}" srcOrd="0" destOrd="0" presId="urn:microsoft.com/office/officeart/2008/layout/PictureAccentList"/>
    <dgm:cxn modelId="{D9A16CC6-D9CC-4141-A3E7-4D5C2967D5C9}" type="presParOf" srcId="{0E0B09DD-2F9E-4CB8-A263-7905E7471CAB}" destId="{CA6B5EB9-DEFE-4048-8525-A69A223510A0}" srcOrd="0" destOrd="0" presId="urn:microsoft.com/office/officeart/2008/layout/PictureAccentList"/>
    <dgm:cxn modelId="{4D6061D9-98D3-406B-B8F7-9D470AA58316}" type="presParOf" srcId="{CA6B5EB9-DEFE-4048-8525-A69A223510A0}" destId="{C63829DC-0C4D-41F3-85AF-AD16FED43906}" srcOrd="0" destOrd="0" presId="urn:microsoft.com/office/officeart/2008/layout/PictureAccentList"/>
    <dgm:cxn modelId="{4C87835D-C9F7-4BFA-9031-76860B05C139}" type="presParOf" srcId="{C63829DC-0C4D-41F3-85AF-AD16FED43906}" destId="{204A5F46-0714-471D-ACC7-E37E5E6F10E2}" srcOrd="0" destOrd="0" presId="urn:microsoft.com/office/officeart/2008/layout/PictureAccentList"/>
    <dgm:cxn modelId="{223449E6-4535-4AB2-9D53-D2CED01535E1}" type="presParOf" srcId="{CA6B5EB9-DEFE-4048-8525-A69A223510A0}" destId="{B69EAEBE-F464-4999-AF72-759F32BDBFE9}" srcOrd="1" destOrd="0" presId="urn:microsoft.com/office/officeart/2008/layout/PictureAccentList"/>
    <dgm:cxn modelId="{027F7EAB-EFF9-439E-A989-768217DABA95}" type="presParOf" srcId="{B69EAEBE-F464-4999-AF72-759F32BDBFE9}" destId="{EE56C0D0-EA6C-4476-9860-1CE8331DA0D4}" srcOrd="0" destOrd="0" presId="urn:microsoft.com/office/officeart/2008/layout/PictureAccentList"/>
    <dgm:cxn modelId="{7EDC7CED-EFA4-43B2-AB23-F372DA8D27DB}" type="presParOf" srcId="{EE56C0D0-EA6C-4476-9860-1CE8331DA0D4}" destId="{2108CCD1-3B4D-48BC-B8F6-4737903CCE92}" srcOrd="0" destOrd="0" presId="urn:microsoft.com/office/officeart/2008/layout/PictureAccentList"/>
    <dgm:cxn modelId="{8F5D3124-7D54-4FFC-BB9D-4AFE03DEC5C6}" type="presParOf" srcId="{EE56C0D0-EA6C-4476-9860-1CE8331DA0D4}" destId="{0CA4B82D-A721-4FAC-B45A-48A806CC1BB4}" srcOrd="1" destOrd="0" presId="urn:microsoft.com/office/officeart/2008/layout/PictureAccentList"/>
    <dgm:cxn modelId="{B3E1CCD7-5185-4DB6-AF06-880E4B98A5F2}" type="presParOf" srcId="{B69EAEBE-F464-4999-AF72-759F32BDBFE9}" destId="{AEA683E3-6E16-490E-87E2-45A70C986B8B}" srcOrd="1" destOrd="0" presId="urn:microsoft.com/office/officeart/2008/layout/PictureAccentList"/>
    <dgm:cxn modelId="{D7D249A5-03CD-4114-AF19-56274DC4B603}" type="presParOf" srcId="{AEA683E3-6E16-490E-87E2-45A70C986B8B}" destId="{14310435-7BDB-4C02-92DC-504A058AF623}" srcOrd="0" destOrd="0" presId="urn:microsoft.com/office/officeart/2008/layout/PictureAccentList"/>
    <dgm:cxn modelId="{E1DD7104-7A0F-4A6F-8CFF-9F0F6F1C9B5B}" type="presParOf" srcId="{AEA683E3-6E16-490E-87E2-45A70C986B8B}" destId="{A3A9ABB6-048F-45D6-8A29-98360F11006A}" srcOrd="1" destOrd="0" presId="urn:microsoft.com/office/officeart/2008/layout/PictureAccent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A5F46-0714-471D-ACC7-E37E5E6F10E2}">
      <dsp:nvSpPr>
        <dsp:cNvPr id="0" name=""/>
        <dsp:cNvSpPr/>
      </dsp:nvSpPr>
      <dsp:spPr>
        <a:xfrm>
          <a:off x="895866" y="53594"/>
          <a:ext cx="6781796" cy="120929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Whenever you see this alert at the top of the page :</a:t>
          </a:r>
        </a:p>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r>
            <a:rPr lang="en-US" sz="1200" kern="1200" dirty="0">
              <a:latin typeface="Calibri"/>
              <a:cs typeface="Arial"/>
            </a:rPr>
            <a:t>Click hyperlink</a:t>
          </a:r>
        </a:p>
        <a:p>
          <a:pPr marL="0" lvl="0" indent="0" algn="ctr" defTabSz="533400">
            <a:lnSpc>
              <a:spcPct val="90000"/>
            </a:lnSpc>
            <a:spcBef>
              <a:spcPct val="0"/>
            </a:spcBef>
            <a:spcAft>
              <a:spcPct val="35000"/>
            </a:spcAft>
            <a:buNone/>
          </a:pPr>
          <a:r>
            <a:rPr lang="en-US" sz="1200" kern="1200" dirty="0">
              <a:latin typeface="Calibri"/>
              <a:cs typeface="Arial"/>
            </a:rPr>
            <a:t>Click “</a:t>
          </a:r>
          <a:r>
            <a:rPr lang="en-US" sz="1200" i="1" kern="1200" dirty="0">
              <a:latin typeface="Calibri"/>
              <a:cs typeface="Arial"/>
            </a:rPr>
            <a:t>Authorization script”</a:t>
          </a:r>
          <a:endParaRPr lang="en-US" sz="1200" i="0" kern="1200" dirty="0">
            <a:latin typeface="Calibri"/>
            <a:cs typeface="Arial"/>
          </a:endParaRPr>
        </a:p>
        <a:p>
          <a:pPr marL="0" lvl="0" indent="0" algn="ctr" defTabSz="533400">
            <a:lnSpc>
              <a:spcPct val="90000"/>
            </a:lnSpc>
            <a:spcBef>
              <a:spcPct val="0"/>
            </a:spcBef>
            <a:spcAft>
              <a:spcPct val="35000"/>
            </a:spcAft>
            <a:buNone/>
          </a:pPr>
          <a:r>
            <a:rPr lang="en-US" sz="1200" kern="1200" dirty="0">
              <a:latin typeface="Calibri"/>
              <a:cs typeface="Arial"/>
            </a:rPr>
            <a:t>Review settlement with client</a:t>
          </a:r>
        </a:p>
      </dsp:txBody>
      <dsp:txXfrm>
        <a:off x="931285" y="89013"/>
        <a:ext cx="6710958" cy="1138455"/>
      </dsp:txXfrm>
    </dsp:sp>
    <dsp:sp modelId="{2108CCD1-3B4D-48BC-B8F6-4737903CCE92}">
      <dsp:nvSpPr>
        <dsp:cNvPr id="0" name=""/>
        <dsp:cNvSpPr/>
      </dsp:nvSpPr>
      <dsp:spPr>
        <a:xfrm>
          <a:off x="1008101" y="1858269"/>
          <a:ext cx="1253660" cy="1253660"/>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CA4B82D-A721-4FAC-B45A-48A806CC1BB4}">
      <dsp:nvSpPr>
        <dsp:cNvPr id="0" name=""/>
        <dsp:cNvSpPr/>
      </dsp:nvSpPr>
      <dsp:spPr>
        <a:xfrm>
          <a:off x="2368663" y="1440380"/>
          <a:ext cx="5567427" cy="2099944"/>
        </a:xfrm>
        <a:prstGeom prst="roundRect">
          <a:avLst>
            <a:gd name="adj" fmla="val 166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a:cs typeface="Arial"/>
            </a:rPr>
            <a:t>If client agrees –</a:t>
          </a:r>
        </a:p>
        <a:p>
          <a:pPr marL="0" lvl="0" indent="0" algn="l" defTabSz="622300">
            <a:lnSpc>
              <a:spcPct val="90000"/>
            </a:lnSpc>
            <a:spcBef>
              <a:spcPct val="0"/>
            </a:spcBef>
            <a:spcAft>
              <a:spcPct val="35000"/>
            </a:spcAft>
            <a:buNone/>
          </a:pPr>
          <a:r>
            <a:rPr lang="en-US" sz="1400" kern="1200" dirty="0">
              <a:latin typeface="Calibri"/>
              <a:cs typeface="Arial"/>
            </a:rPr>
            <a:t>Record authorization</a:t>
          </a:r>
        </a:p>
        <a:p>
          <a:pPr marL="0" lvl="0" indent="0" algn="l" defTabSz="622300" rtl="0">
            <a:lnSpc>
              <a:spcPct val="90000"/>
            </a:lnSpc>
            <a:spcBef>
              <a:spcPct val="0"/>
            </a:spcBef>
            <a:spcAft>
              <a:spcPct val="35000"/>
            </a:spcAft>
            <a:buNone/>
          </a:pPr>
          <a:r>
            <a:rPr lang="en-US" sz="1400" kern="1200" dirty="0">
              <a:latin typeface="Calibri"/>
              <a:cs typeface="Arial"/>
            </a:rPr>
            <a:t>Select which channel the authorization was completed through: Chat, Email or Voice (for calls) then click accept</a:t>
          </a:r>
        </a:p>
        <a:p>
          <a:pPr marL="0" lvl="0" indent="0" algn="l" defTabSz="622300">
            <a:lnSpc>
              <a:spcPct val="90000"/>
            </a:lnSpc>
            <a:spcBef>
              <a:spcPct val="0"/>
            </a:spcBef>
            <a:spcAft>
              <a:spcPct val="35000"/>
            </a:spcAft>
            <a:buNone/>
          </a:pPr>
          <a:r>
            <a:rPr lang="en-US" sz="1400" kern="1200" dirty="0">
              <a:latin typeface="Calibri"/>
              <a:cs typeface="Arial"/>
            </a:rPr>
            <a:t>Upload REC authorization to client file; save file name with the following information.</a:t>
          </a:r>
          <a:br>
            <a:rPr lang="en-US" sz="1400" kern="1200" dirty="0">
              <a:latin typeface="Calibri"/>
              <a:cs typeface="Arial"/>
            </a:rPr>
          </a:br>
          <a:r>
            <a:rPr lang="en-US" sz="1400" kern="1200" dirty="0">
              <a:latin typeface="Calibri"/>
              <a:cs typeface="Arial"/>
            </a:rPr>
            <a:t> </a:t>
          </a:r>
          <a:r>
            <a:rPr lang="en-US" sz="1400" b="1" kern="1200" dirty="0">
              <a:latin typeface="Calibri"/>
              <a:cs typeface="Arial"/>
            </a:rPr>
            <a:t>Client Last Name, Global Auth, Creditor, Todays Date</a:t>
          </a:r>
          <a:endParaRPr lang="en-US" sz="1400" kern="1200" dirty="0">
            <a:latin typeface="Calibri"/>
            <a:cs typeface="Arial"/>
          </a:endParaRPr>
        </a:p>
        <a:p>
          <a:pPr marL="0" lvl="0" indent="0" algn="l" defTabSz="622300">
            <a:lnSpc>
              <a:spcPct val="90000"/>
            </a:lnSpc>
            <a:spcBef>
              <a:spcPct val="0"/>
            </a:spcBef>
            <a:spcAft>
              <a:spcPct val="35000"/>
            </a:spcAft>
            <a:buNone/>
          </a:pPr>
          <a:r>
            <a:rPr lang="en-US" sz="1400" kern="1200" dirty="0">
              <a:latin typeface="Calibri"/>
              <a:cs typeface="Arial"/>
            </a:rPr>
            <a:t>Leave notes in comment section</a:t>
          </a:r>
        </a:p>
      </dsp:txBody>
      <dsp:txXfrm>
        <a:off x="2471192" y="1542909"/>
        <a:ext cx="5362369" cy="1894886"/>
      </dsp:txXfrm>
    </dsp:sp>
    <dsp:sp modelId="{14310435-7BDB-4C02-92DC-504A058AF623}">
      <dsp:nvSpPr>
        <dsp:cNvPr id="0" name=""/>
        <dsp:cNvSpPr/>
      </dsp:nvSpPr>
      <dsp:spPr>
        <a:xfrm>
          <a:off x="229275" y="4139869"/>
          <a:ext cx="1253660" cy="1253660"/>
        </a:xfrm>
        <a:prstGeom prst="roundRect">
          <a:avLst>
            <a:gd name="adj" fmla="val 1667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3A9ABB6-048F-45D6-8A29-98360F11006A}">
      <dsp:nvSpPr>
        <dsp:cNvPr id="0" name=""/>
        <dsp:cNvSpPr/>
      </dsp:nvSpPr>
      <dsp:spPr>
        <a:xfrm>
          <a:off x="1871248" y="3682201"/>
          <a:ext cx="6130877" cy="2653811"/>
        </a:xfrm>
        <a:prstGeom prst="roundRect">
          <a:avLst>
            <a:gd name="adj" fmla="val 1667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defTabSz="622300" rtl="0">
            <a:lnSpc>
              <a:spcPct val="90000"/>
            </a:lnSpc>
            <a:spcBef>
              <a:spcPct val="0"/>
            </a:spcBef>
            <a:spcAft>
              <a:spcPct val="35000"/>
            </a:spcAft>
            <a:buNone/>
          </a:pPr>
          <a:r>
            <a:rPr lang="en-US" sz="1400" b="1" kern="1200" dirty="0">
              <a:latin typeface="Calibri"/>
              <a:cs typeface="Arial"/>
            </a:rPr>
            <a:t>If client rejects – </a:t>
          </a:r>
        </a:p>
        <a:p>
          <a:pPr marL="0" lvl="0" indent="0" defTabSz="622300">
            <a:lnSpc>
              <a:spcPct val="90000"/>
            </a:lnSpc>
            <a:spcBef>
              <a:spcPct val="0"/>
            </a:spcBef>
            <a:spcAft>
              <a:spcPct val="35000"/>
            </a:spcAft>
            <a:buNone/>
          </a:pPr>
          <a:r>
            <a:rPr lang="en-US" sz="1400" kern="1200" dirty="0">
              <a:latin typeface="Calibri"/>
              <a:cs typeface="Arial"/>
            </a:rPr>
            <a:t>Attempt rebuttal</a:t>
          </a:r>
        </a:p>
        <a:p>
          <a:pPr marL="0" lvl="0" indent="0" defTabSz="622300" rtl="0">
            <a:lnSpc>
              <a:spcPct val="90000"/>
            </a:lnSpc>
            <a:spcBef>
              <a:spcPct val="0"/>
            </a:spcBef>
            <a:spcAft>
              <a:spcPct val="35000"/>
            </a:spcAft>
            <a:buNone/>
          </a:pPr>
          <a:r>
            <a:rPr lang="en-US" sz="1400" kern="1200" dirty="0">
              <a:latin typeface="Calibri"/>
              <a:cs typeface="Arial"/>
            </a:rPr>
            <a:t>Click reject </a:t>
          </a:r>
          <a:r>
            <a:rPr lang="en-US" sz="1400" kern="1200" dirty="0">
              <a:solidFill>
                <a:srgbClr val="000000"/>
              </a:solidFill>
              <a:latin typeface="Calibri"/>
              <a:cs typeface="Calibri"/>
            </a:rPr>
            <a:t>&amp; select which channel the authorization was completed: Chat, Email or Voice (for calls)</a:t>
          </a:r>
        </a:p>
        <a:p>
          <a:pPr marL="0" lvl="0" indent="0" defTabSz="622300">
            <a:lnSpc>
              <a:spcPct val="90000"/>
            </a:lnSpc>
            <a:spcBef>
              <a:spcPct val="0"/>
            </a:spcBef>
            <a:spcAft>
              <a:spcPct val="35000"/>
            </a:spcAft>
            <a:buNone/>
          </a:pPr>
          <a:endParaRPr lang="en-US" sz="1400" kern="1200" dirty="0">
            <a:latin typeface="Calibri"/>
            <a:cs typeface="Arial"/>
          </a:endParaRPr>
        </a:p>
        <a:p>
          <a:pPr marL="0" lvl="0" indent="0" defTabSz="622300" rtl="0">
            <a:lnSpc>
              <a:spcPct val="90000"/>
            </a:lnSpc>
            <a:spcBef>
              <a:spcPct val="0"/>
            </a:spcBef>
            <a:spcAft>
              <a:spcPct val="35000"/>
            </a:spcAft>
            <a:buNone/>
          </a:pPr>
          <a:r>
            <a:rPr lang="en-US" sz="1400" kern="1200" dirty="0">
              <a:latin typeface="Calibri"/>
              <a:cs typeface="Arial"/>
            </a:rPr>
            <a:t>Record clients rejection by using option 9</a:t>
          </a:r>
        </a:p>
        <a:p>
          <a:pPr marL="0" lvl="0" indent="0" defTabSz="622300" rtl="0">
            <a:lnSpc>
              <a:spcPct val="90000"/>
            </a:lnSpc>
            <a:spcBef>
              <a:spcPct val="0"/>
            </a:spcBef>
            <a:spcAft>
              <a:spcPct val="35000"/>
            </a:spcAft>
            <a:buNone/>
          </a:pPr>
          <a:r>
            <a:rPr lang="en-US" sz="1400" kern="1200" dirty="0">
              <a:latin typeface="Calibri"/>
              <a:cs typeface="Arial"/>
            </a:rPr>
            <a:t>Leave notes in comment section</a:t>
          </a:r>
        </a:p>
        <a:p>
          <a:pPr marL="0" lvl="0" indent="0" defTabSz="622300" rtl="0">
            <a:lnSpc>
              <a:spcPct val="90000"/>
            </a:lnSpc>
            <a:spcBef>
              <a:spcPct val="0"/>
            </a:spcBef>
            <a:spcAft>
              <a:spcPct val="35000"/>
            </a:spcAft>
            <a:buNone/>
          </a:pPr>
          <a:r>
            <a:rPr lang="en-US" sz="1400" kern="1200" dirty="0">
              <a:latin typeface="Calibri"/>
              <a:cs typeface="Arial"/>
            </a:rPr>
            <a:t>Upload recording to client files using the following info:</a:t>
          </a:r>
        </a:p>
        <a:p>
          <a:pPr marL="0" lvl="0" indent="0" algn="l" defTabSz="622300" rtl="0">
            <a:lnSpc>
              <a:spcPct val="90000"/>
            </a:lnSpc>
            <a:spcBef>
              <a:spcPct val="0"/>
            </a:spcBef>
            <a:spcAft>
              <a:spcPct val="35000"/>
            </a:spcAft>
            <a:buNone/>
          </a:pPr>
          <a:r>
            <a:rPr lang="en-US" sz="1400" kern="1200" dirty="0">
              <a:solidFill>
                <a:schemeClr val="bg1"/>
              </a:solidFill>
              <a:latin typeface="Calibri"/>
              <a:cs typeface="Calibri"/>
            </a:rPr>
            <a:t> Client Last Name, Global Auth Rejection , Creditor, Todays Date</a:t>
          </a:r>
        </a:p>
      </dsp:txBody>
      <dsp:txXfrm>
        <a:off x="2000820" y="3811773"/>
        <a:ext cx="5871733" cy="239466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A5F46-0714-471D-ACC7-E37E5E6F10E2}">
      <dsp:nvSpPr>
        <dsp:cNvPr id="0" name=""/>
        <dsp:cNvSpPr/>
      </dsp:nvSpPr>
      <dsp:spPr>
        <a:xfrm>
          <a:off x="895866" y="53594"/>
          <a:ext cx="6781796" cy="1209293"/>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kern="1200" dirty="0"/>
            <a:t>Whenever you see this alert at the top of the page :</a:t>
          </a:r>
        </a:p>
        <a:p>
          <a:pPr marL="0" lvl="0" indent="0" algn="ctr" defTabSz="533400">
            <a:lnSpc>
              <a:spcPct val="90000"/>
            </a:lnSpc>
            <a:spcBef>
              <a:spcPct val="0"/>
            </a:spcBef>
            <a:spcAft>
              <a:spcPct val="35000"/>
            </a:spcAft>
            <a:buNone/>
          </a:pPr>
          <a:endParaRPr lang="en-US" sz="1200" kern="1200" dirty="0"/>
        </a:p>
        <a:p>
          <a:pPr marL="0" lvl="0" indent="0" algn="ctr" defTabSz="533400">
            <a:lnSpc>
              <a:spcPct val="90000"/>
            </a:lnSpc>
            <a:spcBef>
              <a:spcPct val="0"/>
            </a:spcBef>
            <a:spcAft>
              <a:spcPct val="35000"/>
            </a:spcAft>
            <a:buNone/>
          </a:pPr>
          <a:r>
            <a:rPr lang="en-US" sz="1200" kern="1200" dirty="0">
              <a:latin typeface="Calibri"/>
              <a:cs typeface="Arial"/>
            </a:rPr>
            <a:t>Click hyperlink</a:t>
          </a:r>
        </a:p>
        <a:p>
          <a:pPr marL="0" lvl="0" indent="0" algn="ctr" defTabSz="533400">
            <a:lnSpc>
              <a:spcPct val="90000"/>
            </a:lnSpc>
            <a:spcBef>
              <a:spcPct val="0"/>
            </a:spcBef>
            <a:spcAft>
              <a:spcPct val="35000"/>
            </a:spcAft>
            <a:buNone/>
          </a:pPr>
          <a:r>
            <a:rPr lang="en-US" sz="1200" kern="1200" dirty="0">
              <a:latin typeface="Calibri"/>
              <a:cs typeface="Arial"/>
            </a:rPr>
            <a:t>Click “</a:t>
          </a:r>
          <a:r>
            <a:rPr lang="en-US" sz="1200" i="1" kern="1200" dirty="0">
              <a:latin typeface="Calibri"/>
              <a:cs typeface="Arial"/>
            </a:rPr>
            <a:t>Authorization script”</a:t>
          </a:r>
          <a:endParaRPr lang="en-US" sz="1200" i="0" kern="1200" dirty="0">
            <a:latin typeface="Calibri"/>
            <a:cs typeface="Arial"/>
          </a:endParaRPr>
        </a:p>
        <a:p>
          <a:pPr marL="0" lvl="0" indent="0" algn="ctr" defTabSz="533400">
            <a:lnSpc>
              <a:spcPct val="90000"/>
            </a:lnSpc>
            <a:spcBef>
              <a:spcPct val="0"/>
            </a:spcBef>
            <a:spcAft>
              <a:spcPct val="35000"/>
            </a:spcAft>
            <a:buNone/>
          </a:pPr>
          <a:r>
            <a:rPr lang="en-US" sz="1200" kern="1200" dirty="0">
              <a:latin typeface="Calibri"/>
              <a:cs typeface="Arial"/>
            </a:rPr>
            <a:t>Review settlement with client</a:t>
          </a:r>
        </a:p>
      </dsp:txBody>
      <dsp:txXfrm>
        <a:off x="931285" y="89013"/>
        <a:ext cx="6710958" cy="1138455"/>
      </dsp:txXfrm>
    </dsp:sp>
    <dsp:sp modelId="{2108CCD1-3B4D-48BC-B8F6-4737903CCE92}">
      <dsp:nvSpPr>
        <dsp:cNvPr id="0" name=""/>
        <dsp:cNvSpPr/>
      </dsp:nvSpPr>
      <dsp:spPr>
        <a:xfrm>
          <a:off x="1008101" y="1858269"/>
          <a:ext cx="1253660" cy="1253660"/>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CA4B82D-A721-4FAC-B45A-48A806CC1BB4}">
      <dsp:nvSpPr>
        <dsp:cNvPr id="0" name=""/>
        <dsp:cNvSpPr/>
      </dsp:nvSpPr>
      <dsp:spPr>
        <a:xfrm>
          <a:off x="2368663" y="1440380"/>
          <a:ext cx="5567427" cy="2099944"/>
        </a:xfrm>
        <a:prstGeom prst="roundRect">
          <a:avLst>
            <a:gd name="adj" fmla="val 166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kern="1200" dirty="0">
              <a:latin typeface="Calibri"/>
              <a:cs typeface="Arial"/>
            </a:rPr>
            <a:t>If client agrees –</a:t>
          </a:r>
        </a:p>
        <a:p>
          <a:pPr marL="0" lvl="0" indent="0" algn="l" defTabSz="622300">
            <a:lnSpc>
              <a:spcPct val="90000"/>
            </a:lnSpc>
            <a:spcBef>
              <a:spcPct val="0"/>
            </a:spcBef>
            <a:spcAft>
              <a:spcPct val="35000"/>
            </a:spcAft>
            <a:buNone/>
          </a:pPr>
          <a:r>
            <a:rPr lang="en-US" sz="1400" kern="1200" dirty="0">
              <a:latin typeface="Calibri"/>
              <a:cs typeface="Arial"/>
            </a:rPr>
            <a:t>Record authorization</a:t>
          </a:r>
        </a:p>
        <a:p>
          <a:pPr marL="0" lvl="0" indent="0" algn="l" defTabSz="622300" rtl="0">
            <a:lnSpc>
              <a:spcPct val="90000"/>
            </a:lnSpc>
            <a:spcBef>
              <a:spcPct val="0"/>
            </a:spcBef>
            <a:spcAft>
              <a:spcPct val="35000"/>
            </a:spcAft>
            <a:buNone/>
          </a:pPr>
          <a:r>
            <a:rPr lang="en-US" sz="1400" kern="1200" dirty="0">
              <a:latin typeface="Calibri"/>
              <a:cs typeface="Arial"/>
            </a:rPr>
            <a:t>Select which channel the authorization was completed through: Chat, Email or Voice (for calls) then click accept</a:t>
          </a:r>
        </a:p>
        <a:p>
          <a:pPr marL="0" lvl="0" indent="0" algn="l" defTabSz="622300">
            <a:lnSpc>
              <a:spcPct val="90000"/>
            </a:lnSpc>
            <a:spcBef>
              <a:spcPct val="0"/>
            </a:spcBef>
            <a:spcAft>
              <a:spcPct val="35000"/>
            </a:spcAft>
            <a:buNone/>
          </a:pPr>
          <a:r>
            <a:rPr lang="en-US" sz="1400" kern="1200" dirty="0">
              <a:latin typeface="Calibri"/>
              <a:cs typeface="Arial"/>
            </a:rPr>
            <a:t>Upload REC authorization to client file; save file name with the following information.</a:t>
          </a:r>
          <a:br>
            <a:rPr lang="en-US" sz="1400" kern="1200" dirty="0">
              <a:latin typeface="Calibri"/>
              <a:cs typeface="Arial"/>
            </a:rPr>
          </a:br>
          <a:r>
            <a:rPr lang="en-US" sz="1400" kern="1200" dirty="0">
              <a:latin typeface="Calibri"/>
              <a:cs typeface="Arial"/>
            </a:rPr>
            <a:t> </a:t>
          </a:r>
          <a:r>
            <a:rPr lang="en-US" sz="1400" b="1" kern="1200" dirty="0">
              <a:latin typeface="Calibri"/>
              <a:cs typeface="Arial"/>
            </a:rPr>
            <a:t>Client Last Name, Global Auth, Creditor, Todays Date</a:t>
          </a:r>
          <a:endParaRPr lang="en-US" sz="1400" kern="1200" dirty="0">
            <a:latin typeface="Calibri"/>
            <a:cs typeface="Arial"/>
          </a:endParaRPr>
        </a:p>
        <a:p>
          <a:pPr marL="0" lvl="0" indent="0" algn="l" defTabSz="622300">
            <a:lnSpc>
              <a:spcPct val="90000"/>
            </a:lnSpc>
            <a:spcBef>
              <a:spcPct val="0"/>
            </a:spcBef>
            <a:spcAft>
              <a:spcPct val="35000"/>
            </a:spcAft>
            <a:buNone/>
          </a:pPr>
          <a:r>
            <a:rPr lang="en-US" sz="1400" kern="1200" dirty="0">
              <a:latin typeface="Calibri"/>
              <a:cs typeface="Arial"/>
            </a:rPr>
            <a:t>Leave notes in comment section</a:t>
          </a:r>
        </a:p>
      </dsp:txBody>
      <dsp:txXfrm>
        <a:off x="2471192" y="1542909"/>
        <a:ext cx="5362369" cy="1894886"/>
      </dsp:txXfrm>
    </dsp:sp>
    <dsp:sp modelId="{14310435-7BDB-4C02-92DC-504A058AF623}">
      <dsp:nvSpPr>
        <dsp:cNvPr id="0" name=""/>
        <dsp:cNvSpPr/>
      </dsp:nvSpPr>
      <dsp:spPr>
        <a:xfrm>
          <a:off x="229275" y="4139869"/>
          <a:ext cx="1253660" cy="1253660"/>
        </a:xfrm>
        <a:prstGeom prst="roundRect">
          <a:avLst>
            <a:gd name="adj" fmla="val 16670"/>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3A9ABB6-048F-45D6-8A29-98360F11006A}">
      <dsp:nvSpPr>
        <dsp:cNvPr id="0" name=""/>
        <dsp:cNvSpPr/>
      </dsp:nvSpPr>
      <dsp:spPr>
        <a:xfrm>
          <a:off x="1871248" y="3682201"/>
          <a:ext cx="6130877" cy="2653811"/>
        </a:xfrm>
        <a:prstGeom prst="roundRect">
          <a:avLst>
            <a:gd name="adj" fmla="val 1667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defTabSz="622300" rtl="0">
            <a:lnSpc>
              <a:spcPct val="90000"/>
            </a:lnSpc>
            <a:spcBef>
              <a:spcPct val="0"/>
            </a:spcBef>
            <a:spcAft>
              <a:spcPct val="35000"/>
            </a:spcAft>
            <a:buNone/>
          </a:pPr>
          <a:r>
            <a:rPr lang="en-US" sz="1400" b="1" kern="1200" dirty="0">
              <a:latin typeface="Calibri"/>
              <a:cs typeface="Arial"/>
            </a:rPr>
            <a:t>If client rejects – </a:t>
          </a:r>
        </a:p>
        <a:p>
          <a:pPr marL="0" lvl="0" indent="0" defTabSz="622300">
            <a:lnSpc>
              <a:spcPct val="90000"/>
            </a:lnSpc>
            <a:spcBef>
              <a:spcPct val="0"/>
            </a:spcBef>
            <a:spcAft>
              <a:spcPct val="35000"/>
            </a:spcAft>
            <a:buNone/>
          </a:pPr>
          <a:r>
            <a:rPr lang="en-US" sz="1400" kern="1200" dirty="0">
              <a:latin typeface="Calibri"/>
              <a:cs typeface="Arial"/>
            </a:rPr>
            <a:t>Attempt rebuttal</a:t>
          </a:r>
        </a:p>
        <a:p>
          <a:pPr marL="0" lvl="0" indent="0" defTabSz="622300" rtl="0">
            <a:lnSpc>
              <a:spcPct val="90000"/>
            </a:lnSpc>
            <a:spcBef>
              <a:spcPct val="0"/>
            </a:spcBef>
            <a:spcAft>
              <a:spcPct val="35000"/>
            </a:spcAft>
            <a:buNone/>
          </a:pPr>
          <a:r>
            <a:rPr lang="en-US" sz="1400" kern="1200" dirty="0">
              <a:latin typeface="Calibri"/>
              <a:cs typeface="Arial"/>
            </a:rPr>
            <a:t>Click reject </a:t>
          </a:r>
          <a:r>
            <a:rPr lang="en-US" sz="1400" kern="1200" dirty="0">
              <a:solidFill>
                <a:srgbClr val="000000"/>
              </a:solidFill>
              <a:latin typeface="Calibri"/>
              <a:cs typeface="Calibri"/>
            </a:rPr>
            <a:t>&amp; select which channel the authorization was completed: Chat, Email or Voice (for calls)</a:t>
          </a:r>
        </a:p>
        <a:p>
          <a:pPr marL="0" lvl="0" indent="0" defTabSz="622300">
            <a:lnSpc>
              <a:spcPct val="90000"/>
            </a:lnSpc>
            <a:spcBef>
              <a:spcPct val="0"/>
            </a:spcBef>
            <a:spcAft>
              <a:spcPct val="35000"/>
            </a:spcAft>
            <a:buNone/>
          </a:pPr>
          <a:endParaRPr lang="en-US" sz="1400" kern="1200" dirty="0">
            <a:latin typeface="Calibri"/>
            <a:cs typeface="Arial"/>
          </a:endParaRPr>
        </a:p>
        <a:p>
          <a:pPr marL="0" lvl="0" indent="0" defTabSz="622300" rtl="0">
            <a:lnSpc>
              <a:spcPct val="90000"/>
            </a:lnSpc>
            <a:spcBef>
              <a:spcPct val="0"/>
            </a:spcBef>
            <a:spcAft>
              <a:spcPct val="35000"/>
            </a:spcAft>
            <a:buNone/>
          </a:pPr>
          <a:r>
            <a:rPr lang="en-US" sz="1400" kern="1200" dirty="0">
              <a:latin typeface="Calibri"/>
              <a:cs typeface="Arial"/>
            </a:rPr>
            <a:t>Record clients rejection by using option 9</a:t>
          </a:r>
        </a:p>
        <a:p>
          <a:pPr marL="0" lvl="0" indent="0" defTabSz="622300" rtl="0">
            <a:lnSpc>
              <a:spcPct val="90000"/>
            </a:lnSpc>
            <a:spcBef>
              <a:spcPct val="0"/>
            </a:spcBef>
            <a:spcAft>
              <a:spcPct val="35000"/>
            </a:spcAft>
            <a:buNone/>
          </a:pPr>
          <a:r>
            <a:rPr lang="en-US" sz="1400" kern="1200" dirty="0">
              <a:latin typeface="Calibri"/>
              <a:cs typeface="Arial"/>
            </a:rPr>
            <a:t>Leave notes in comment section</a:t>
          </a:r>
        </a:p>
        <a:p>
          <a:pPr marL="0" lvl="0" indent="0" defTabSz="622300" rtl="0">
            <a:lnSpc>
              <a:spcPct val="90000"/>
            </a:lnSpc>
            <a:spcBef>
              <a:spcPct val="0"/>
            </a:spcBef>
            <a:spcAft>
              <a:spcPct val="35000"/>
            </a:spcAft>
            <a:buNone/>
          </a:pPr>
          <a:r>
            <a:rPr lang="en-US" sz="1400" kern="1200" dirty="0">
              <a:latin typeface="Calibri"/>
              <a:cs typeface="Arial"/>
            </a:rPr>
            <a:t>Upload recording to client files using the following info:</a:t>
          </a:r>
        </a:p>
        <a:p>
          <a:pPr marL="0" lvl="0" indent="0" algn="l" defTabSz="622300" rtl="0">
            <a:lnSpc>
              <a:spcPct val="90000"/>
            </a:lnSpc>
            <a:spcBef>
              <a:spcPct val="0"/>
            </a:spcBef>
            <a:spcAft>
              <a:spcPct val="35000"/>
            </a:spcAft>
            <a:buNone/>
          </a:pPr>
          <a:r>
            <a:rPr lang="en-US" sz="1400" kern="1200" dirty="0">
              <a:solidFill>
                <a:schemeClr val="bg1"/>
              </a:solidFill>
              <a:latin typeface="Calibri"/>
              <a:cs typeface="Calibri"/>
            </a:rPr>
            <a:t> Client Last Name, Global Auth Rejection , Creditor, Todays Date</a:t>
          </a:r>
        </a:p>
      </dsp:txBody>
      <dsp:txXfrm>
        <a:off x="2000820" y="3811773"/>
        <a:ext cx="5871733" cy="23946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4A5F46-0714-471D-ACC7-E37E5E6F10E2}">
      <dsp:nvSpPr>
        <dsp:cNvPr id="0" name=""/>
        <dsp:cNvSpPr/>
      </dsp:nvSpPr>
      <dsp:spPr>
        <a:xfrm>
          <a:off x="661748" y="184031"/>
          <a:ext cx="7426485" cy="1318992"/>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en-US" sz="1600" b="0" i="0" kern="1200" dirty="0"/>
            <a:t>Text message communications are sent to clients who have received a settlement offer and are currently awaiting the settlement letter. Clients can now pre-authorize the settlement using a link sent to them via text. We will not see the settlement as pending; instead, direct them back to the original text message they received and ask them to click on the link and follow the instructions to authorize the pre-settlement. </a:t>
          </a:r>
          <a:endParaRPr lang="en-US" sz="1600" kern="1200" dirty="0">
            <a:latin typeface="Calibri"/>
            <a:cs typeface="Arial"/>
          </a:endParaRPr>
        </a:p>
      </dsp:txBody>
      <dsp:txXfrm>
        <a:off x="700380" y="222663"/>
        <a:ext cx="7349221" cy="1241728"/>
      </dsp:txXfrm>
    </dsp:sp>
    <dsp:sp modelId="{2108CCD1-3B4D-48BC-B8F6-4737903CCE92}">
      <dsp:nvSpPr>
        <dsp:cNvPr id="0" name=""/>
        <dsp:cNvSpPr/>
      </dsp:nvSpPr>
      <dsp:spPr>
        <a:xfrm>
          <a:off x="283246" y="2242737"/>
          <a:ext cx="1367384" cy="1367384"/>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CA4B82D-A721-4FAC-B45A-48A806CC1BB4}">
      <dsp:nvSpPr>
        <dsp:cNvPr id="0" name=""/>
        <dsp:cNvSpPr/>
      </dsp:nvSpPr>
      <dsp:spPr>
        <a:xfrm>
          <a:off x="541684" y="4756023"/>
          <a:ext cx="7702635" cy="1297086"/>
        </a:xfrm>
        <a:prstGeom prst="roundRect">
          <a:avLst>
            <a:gd name="adj" fmla="val 166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l" defTabSz="622300">
            <a:lnSpc>
              <a:spcPct val="90000"/>
            </a:lnSpc>
            <a:spcBef>
              <a:spcPct val="0"/>
            </a:spcBef>
            <a:spcAft>
              <a:spcPct val="35000"/>
            </a:spcAft>
            <a:buNone/>
          </a:pPr>
          <a:r>
            <a:rPr lang="en-US" sz="1400" b="1" i="0" kern="1200" dirty="0"/>
            <a:t>Talking Points: </a:t>
          </a:r>
          <a:r>
            <a:rPr lang="en-US" sz="1400" b="0" i="0" kern="1200" dirty="0"/>
            <a:t>"(client name) I see that we have sent you a text message to advise you of a settlement offer that needs your approval. At this time in order to approve your settlement offer, we will need you to click on the link within the message and it will provide you the details of the settlement we have in place for you."   </a:t>
          </a:r>
          <a:endParaRPr lang="en-US" sz="1400" kern="1200" dirty="0">
            <a:latin typeface="Calibri"/>
            <a:cs typeface="Arial"/>
          </a:endParaRPr>
        </a:p>
      </dsp:txBody>
      <dsp:txXfrm>
        <a:off x="605014" y="4819353"/>
        <a:ext cx="7575975" cy="1170426"/>
      </dsp:txXfrm>
    </dsp:sp>
    <dsp:sp modelId="{14310435-7BDB-4C02-92DC-504A058AF623}">
      <dsp:nvSpPr>
        <dsp:cNvPr id="0" name=""/>
        <dsp:cNvSpPr/>
      </dsp:nvSpPr>
      <dsp:spPr>
        <a:xfrm>
          <a:off x="0" y="1154593"/>
          <a:ext cx="1367384" cy="1367384"/>
        </a:xfrm>
        <a:prstGeom prst="roundRect">
          <a:avLst>
            <a:gd name="adj" fmla="val 16670"/>
          </a:avLst>
        </a:prstGeom>
        <a:no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3A9ABB6-048F-45D6-8A29-98360F11006A}">
      <dsp:nvSpPr>
        <dsp:cNvPr id="0" name=""/>
        <dsp:cNvSpPr/>
      </dsp:nvSpPr>
      <dsp:spPr>
        <a:xfrm>
          <a:off x="189217" y="1581744"/>
          <a:ext cx="8267108" cy="1862500"/>
        </a:xfrm>
        <a:prstGeom prst="roundRect">
          <a:avLst>
            <a:gd name="adj" fmla="val 1667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w="6350" cap="flat" cmpd="sng" algn="ctr">
          <a:solidFill>
            <a:schemeClr val="lt1">
              <a:hueOff val="0"/>
              <a:satOff val="0"/>
              <a:lumOff val="0"/>
              <a:alphaOff val="0"/>
            </a:schemeClr>
          </a:solidFill>
          <a:prstDash val="solid"/>
          <a:miter lim="800000"/>
        </a:ln>
        <a:effectLst/>
        <a:scene3d>
          <a:camera prst="orthographicFront"/>
          <a:lightRig rig="threePt" dir="t">
            <a:rot lat="0" lon="0" rev="7500000"/>
          </a:lightRig>
        </a:scene3d>
        <a:sp3d prstMaterial="plastic">
          <a:bevelT w="127000" h="25400" prst="relaxedInset"/>
        </a:sp3d>
      </dsp:spPr>
      <dsp:style>
        <a:lnRef idx="1">
          <a:scrgbClr r="0" g="0" b="0"/>
        </a:lnRef>
        <a:fillRef idx="3">
          <a:scrgbClr r="0" g="0" b="0"/>
        </a:fillRef>
        <a:effectRef idx="2">
          <a:scrgbClr r="0" g="0" b="0"/>
        </a:effectRef>
        <a:fontRef idx="minor">
          <a:schemeClr val="lt1"/>
        </a:fontRef>
      </dsp:style>
      <dsp:txBody>
        <a:bodyPr spcFirstLastPara="0" vert="horz" wrap="square" lIns="99568" tIns="99568" rIns="99568" bIns="99568" numCol="1" spcCol="1270" anchor="ctr" anchorCtr="0">
          <a:noAutofit/>
        </a:bodyPr>
        <a:lstStyle/>
        <a:p>
          <a:pPr marL="0" lvl="0" indent="0" algn="ctr" defTabSz="622300" rtl="0">
            <a:lnSpc>
              <a:spcPct val="90000"/>
            </a:lnSpc>
            <a:spcBef>
              <a:spcPct val="0"/>
            </a:spcBef>
            <a:spcAft>
              <a:spcPct val="35000"/>
            </a:spcAft>
            <a:buNone/>
          </a:pPr>
          <a:r>
            <a:rPr lang="en-US" sz="1400" b="1" i="0" u="sng" kern="1200" dirty="0"/>
            <a:t>Agent Steps to take action: </a:t>
          </a:r>
          <a:r>
            <a:rPr lang="en-US" sz="1400" b="0" i="0" kern="1200" dirty="0"/>
            <a:t> </a:t>
          </a:r>
        </a:p>
        <a:p>
          <a:pPr marL="0" lvl="0" indent="0" algn="ctr" defTabSz="622300">
            <a:lnSpc>
              <a:spcPct val="90000"/>
            </a:lnSpc>
            <a:spcBef>
              <a:spcPct val="0"/>
            </a:spcBef>
            <a:spcAft>
              <a:spcPct val="35000"/>
            </a:spcAft>
            <a:buNone/>
          </a:pPr>
          <a:r>
            <a:rPr lang="en-US" sz="1400" b="0" i="0" kern="1200" dirty="0"/>
            <a:t>1) Always look in the contact history &gt;Client page &lt; Comment tab| Scroll down and you will see the </a:t>
          </a:r>
          <a:r>
            <a:rPr lang="en-US" sz="1400" b="1" i="1" kern="1200" dirty="0"/>
            <a:t>contact history </a:t>
          </a:r>
          <a:r>
            <a:rPr lang="en-US" sz="1400" b="0" i="0" kern="1200" dirty="0"/>
            <a:t> </a:t>
          </a:r>
        </a:p>
        <a:p>
          <a:pPr marL="0" lvl="0" indent="0" algn="ctr" defTabSz="622300">
            <a:lnSpc>
              <a:spcPct val="90000"/>
            </a:lnSpc>
            <a:spcBef>
              <a:spcPct val="0"/>
            </a:spcBef>
            <a:spcAft>
              <a:spcPct val="35000"/>
            </a:spcAft>
            <a:buNone/>
          </a:pPr>
          <a:r>
            <a:rPr lang="en-US" sz="1400" b="0" i="0" kern="1200" dirty="0"/>
            <a:t>2) Under text history see if you see </a:t>
          </a:r>
          <a:r>
            <a:rPr lang="en-US" sz="1400" b="1" i="1" kern="1200" dirty="0"/>
            <a:t>"</a:t>
          </a:r>
          <a:r>
            <a:rPr lang="en-US" sz="1400" b="1" i="1" kern="1200" dirty="0" err="1"/>
            <a:t>SASASettlementAuth</a:t>
          </a:r>
          <a:r>
            <a:rPr lang="en-US" sz="1400" b="1" i="1" kern="1200" dirty="0"/>
            <a:t>" </a:t>
          </a:r>
          <a:r>
            <a:rPr lang="en-US" sz="1400" b="0" i="0" kern="1200" dirty="0"/>
            <a:t>- we need to ask the client to follow the link in order to see auth details and accept. </a:t>
          </a:r>
        </a:p>
        <a:p>
          <a:pPr marL="0" lvl="0" indent="0" algn="ctr" defTabSz="622300">
            <a:lnSpc>
              <a:spcPct val="90000"/>
            </a:lnSpc>
            <a:spcBef>
              <a:spcPct val="0"/>
            </a:spcBef>
            <a:spcAft>
              <a:spcPct val="35000"/>
            </a:spcAft>
            <a:buNone/>
          </a:pPr>
          <a:endParaRPr lang="en-US" sz="1400" b="0" i="0" kern="1200" dirty="0"/>
        </a:p>
        <a:p>
          <a:pPr marL="0" lvl="0" indent="0" algn="ctr" defTabSz="622300">
            <a:lnSpc>
              <a:spcPct val="90000"/>
            </a:lnSpc>
            <a:spcBef>
              <a:spcPct val="0"/>
            </a:spcBef>
            <a:spcAft>
              <a:spcPct val="35000"/>
            </a:spcAft>
            <a:buNone/>
          </a:pPr>
          <a:r>
            <a:rPr lang="en-US" sz="1400" b="0" i="0" kern="1200" dirty="0"/>
            <a:t>3) Direct the client back to the text message and asked them to click on the link to authorize the settlement.  </a:t>
          </a:r>
          <a:endParaRPr lang="en-US" sz="1400" kern="1200" dirty="0">
            <a:solidFill>
              <a:schemeClr val="bg1"/>
            </a:solidFill>
            <a:latin typeface="Calibri"/>
            <a:cs typeface="Calibri"/>
          </a:endParaRPr>
        </a:p>
      </dsp:txBody>
      <dsp:txXfrm>
        <a:off x="280153" y="1672680"/>
        <a:ext cx="8085236" cy="1680628"/>
      </dsp:txXfrm>
    </dsp:sp>
  </dsp:spTree>
</dsp:drawing>
</file>

<file path=ppt/diagrams/layout1.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0860" cy="470258"/>
          </a:xfrm>
          <a:prstGeom prst="rect">
            <a:avLst/>
          </a:prstGeom>
        </p:spPr>
        <p:txBody>
          <a:bodyPr vert="horz" lIns="94046" tIns="47023" rIns="94046" bIns="47023" rtlCol="0"/>
          <a:lstStyle>
            <a:lvl1pPr algn="l">
              <a:defRPr sz="1200"/>
            </a:lvl1pPr>
          </a:lstStyle>
          <a:p>
            <a:endParaRPr lang="en-US"/>
          </a:p>
        </p:txBody>
      </p:sp>
      <p:sp>
        <p:nvSpPr>
          <p:cNvPr id="3" name="Date Placeholder 2"/>
          <p:cNvSpPr>
            <a:spLocks noGrp="1"/>
          </p:cNvSpPr>
          <p:nvPr>
            <p:ph type="dt" idx="1"/>
          </p:nvPr>
        </p:nvSpPr>
        <p:spPr>
          <a:xfrm>
            <a:off x="4014100" y="1"/>
            <a:ext cx="3070860" cy="470258"/>
          </a:xfrm>
          <a:prstGeom prst="rect">
            <a:avLst/>
          </a:prstGeom>
        </p:spPr>
        <p:txBody>
          <a:bodyPr vert="horz" lIns="94046" tIns="47023" rIns="94046" bIns="47023" rtlCol="0"/>
          <a:lstStyle>
            <a:lvl1pPr algn="r">
              <a:defRPr sz="1200"/>
            </a:lvl1pPr>
          </a:lstStyle>
          <a:p>
            <a:fld id="{F9FBA1EC-A60A-495A-B477-8D73E8948888}" type="datetimeFigureOut">
              <a:rPr lang="en-US" smtClean="0"/>
              <a:t>2/12/2026</a:t>
            </a:fld>
            <a:endParaRPr lang="en-US"/>
          </a:p>
        </p:txBody>
      </p:sp>
      <p:sp>
        <p:nvSpPr>
          <p:cNvPr id="4" name="Slide Image Placeholder 3"/>
          <p:cNvSpPr>
            <a:spLocks noGrp="1" noRot="1" noChangeAspect="1"/>
          </p:cNvSpPr>
          <p:nvPr>
            <p:ph type="sldImg" idx="2"/>
          </p:nvPr>
        </p:nvSpPr>
        <p:spPr>
          <a:xfrm>
            <a:off x="1435100" y="1171575"/>
            <a:ext cx="4216400" cy="3163888"/>
          </a:xfrm>
          <a:prstGeom prst="rect">
            <a:avLst/>
          </a:prstGeom>
          <a:noFill/>
          <a:ln w="12700">
            <a:solidFill>
              <a:prstClr val="black"/>
            </a:solidFill>
          </a:ln>
        </p:spPr>
        <p:txBody>
          <a:bodyPr vert="horz" lIns="94046" tIns="47023" rIns="94046" bIns="47023" rtlCol="0" anchor="ctr"/>
          <a:lstStyle/>
          <a:p>
            <a:endParaRPr lang="en-US"/>
          </a:p>
        </p:txBody>
      </p:sp>
      <p:sp>
        <p:nvSpPr>
          <p:cNvPr id="5" name="Notes Placeholder 4"/>
          <p:cNvSpPr>
            <a:spLocks noGrp="1"/>
          </p:cNvSpPr>
          <p:nvPr>
            <p:ph type="body" sz="quarter" idx="3"/>
          </p:nvPr>
        </p:nvSpPr>
        <p:spPr>
          <a:xfrm>
            <a:off x="708660" y="4510565"/>
            <a:ext cx="5669280" cy="3690461"/>
          </a:xfrm>
          <a:prstGeom prst="rect">
            <a:avLst/>
          </a:prstGeom>
        </p:spPr>
        <p:txBody>
          <a:bodyPr vert="horz" lIns="94046" tIns="47023" rIns="94046" bIns="470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02344"/>
            <a:ext cx="3070860" cy="470257"/>
          </a:xfrm>
          <a:prstGeom prst="rect">
            <a:avLst/>
          </a:prstGeom>
        </p:spPr>
        <p:txBody>
          <a:bodyPr vert="horz" lIns="94046" tIns="47023" rIns="94046" bIns="47023" rtlCol="0" anchor="b"/>
          <a:lstStyle>
            <a:lvl1pPr algn="l">
              <a:defRPr sz="1200"/>
            </a:lvl1pPr>
          </a:lstStyle>
          <a:p>
            <a:endParaRPr lang="en-US"/>
          </a:p>
        </p:txBody>
      </p:sp>
      <p:sp>
        <p:nvSpPr>
          <p:cNvPr id="7" name="Slide Number Placeholder 6"/>
          <p:cNvSpPr>
            <a:spLocks noGrp="1"/>
          </p:cNvSpPr>
          <p:nvPr>
            <p:ph type="sldNum" sz="quarter" idx="5"/>
          </p:nvPr>
        </p:nvSpPr>
        <p:spPr>
          <a:xfrm>
            <a:off x="4014100" y="8902344"/>
            <a:ext cx="3070860" cy="470257"/>
          </a:xfrm>
          <a:prstGeom prst="rect">
            <a:avLst/>
          </a:prstGeom>
        </p:spPr>
        <p:txBody>
          <a:bodyPr vert="horz" lIns="94046" tIns="47023" rIns="94046" bIns="47023" rtlCol="0" anchor="b"/>
          <a:lstStyle>
            <a:lvl1pPr algn="r">
              <a:defRPr sz="1200"/>
            </a:lvl1pPr>
          </a:lstStyle>
          <a:p>
            <a:fld id="{56818EA0-D2EF-4C38-A8B1-0D8C28DF25EC}" type="slidenum">
              <a:rPr lang="en-US" smtClean="0"/>
              <a:t>‹#›</a:t>
            </a:fld>
            <a:endParaRPr lang="en-US"/>
          </a:p>
        </p:txBody>
      </p:sp>
    </p:spTree>
    <p:extLst>
      <p:ext uri="{BB962C8B-B14F-4D97-AF65-F5344CB8AC3E}">
        <p14:creationId xmlns:p14="http://schemas.microsoft.com/office/powerpoint/2010/main" val="2096202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Enrollments were down to $61MM in December from $81MM in November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 (non-affiliate) enrollments of $46MM were 23% below forecast ($60MM)</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Drivers include macro factors: holiday seasonality, </a:t>
            </a:r>
            <a:r>
              <a:rPr lang="en-US" dirty="0" err="1"/>
              <a:t>covid</a:t>
            </a:r>
            <a:r>
              <a:rPr lang="en-US" dirty="0"/>
              <a:t> increases, stimulus allowing customers to put off decisions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1</a:t>
            </a:fld>
            <a:endParaRPr lang="en-US"/>
          </a:p>
        </p:txBody>
      </p:sp>
    </p:spTree>
    <p:extLst>
      <p:ext uri="{BB962C8B-B14F-4D97-AF65-F5344CB8AC3E}">
        <p14:creationId xmlns:p14="http://schemas.microsoft.com/office/powerpoint/2010/main" val="1116327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6EB50-C637-EE06-E240-79CCC2BAD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89A93-B016-8C2C-DEAA-6DB23E8F7A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D814E6-9F36-F5BF-D79C-27F8EB932156}"/>
              </a:ext>
            </a:extLst>
          </p:cNvPr>
          <p:cNvSpPr>
            <a:spLocks noGrp="1"/>
          </p:cNvSpPr>
          <p:nvPr>
            <p:ph type="body" idx="1"/>
          </p:nvPr>
        </p:nvSpPr>
        <p:spPr/>
        <p:txBody>
          <a:bodyPr/>
          <a:lstStyle/>
          <a:p>
            <a:pPr marL="171450" indent="-171450">
              <a:buFont typeface="Arial" panose="020B0604020202020204" pitchFamily="34" charset="0"/>
              <a:buChar char="•"/>
            </a:pPr>
            <a:r>
              <a:rPr lang="en-US" dirty="0"/>
              <a:t>Enrollments were down to $61MM in December from $81MM in November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 (non-affiliate) enrollments of $46MM were 23% below forecast ($60MM)</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Drivers include macro factors: holiday seasonality, </a:t>
            </a:r>
            <a:r>
              <a:rPr lang="en-US" dirty="0" err="1"/>
              <a:t>covid</a:t>
            </a:r>
            <a:r>
              <a:rPr lang="en-US" dirty="0"/>
              <a:t> increases, stimulus allowing customers to put off decisions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Internally we are observing it is harder to reach customers, lower P2 rates, and lower close rates</a:t>
            </a:r>
          </a:p>
        </p:txBody>
      </p:sp>
      <p:sp>
        <p:nvSpPr>
          <p:cNvPr id="4" name="Slide Number Placeholder 3">
            <a:extLst>
              <a:ext uri="{FF2B5EF4-FFF2-40B4-BE49-F238E27FC236}">
                <a16:creationId xmlns:a16="http://schemas.microsoft.com/office/drawing/2014/main" id="{BC68E208-F579-B2BC-6F5C-DA36C6339F73}"/>
              </a:ext>
            </a:extLst>
          </p:cNvPr>
          <p:cNvSpPr>
            <a:spLocks noGrp="1"/>
          </p:cNvSpPr>
          <p:nvPr>
            <p:ph type="sldNum" sz="quarter" idx="5"/>
          </p:nvPr>
        </p:nvSpPr>
        <p:spPr/>
        <p:txBody>
          <a:bodyPr/>
          <a:lstStyle/>
          <a:p>
            <a:fld id="{56818EA0-D2EF-4C38-A8B1-0D8C28DF25EC}" type="slidenum">
              <a:rPr lang="en-US" smtClean="0"/>
              <a:t>2</a:t>
            </a:fld>
            <a:endParaRPr lang="en-US"/>
          </a:p>
        </p:txBody>
      </p:sp>
    </p:spTree>
    <p:extLst>
      <p:ext uri="{BB962C8B-B14F-4D97-AF65-F5344CB8AC3E}">
        <p14:creationId xmlns:p14="http://schemas.microsoft.com/office/powerpoint/2010/main" val="13792953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Enrollments were down to $61MM in December from $81MM in November</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 (non-affiliate) enrollments of $46MM were 23% below forecast ($60MM)</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Drivers include macro factors: holiday seasonality, </a:t>
            </a:r>
            <a:r>
              <a:rPr lang="en-US" dirty="0" err="1"/>
              <a:t>covid</a:t>
            </a:r>
            <a:r>
              <a:rPr lang="en-US" dirty="0"/>
              <a:t> increases, stimulus allowing customers to put off decisions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Internally we are observing it is harder to reach customers, lower P2 rates, and lower close rates</a:t>
            </a:r>
          </a:p>
        </p:txBody>
      </p:sp>
      <p:sp>
        <p:nvSpPr>
          <p:cNvPr id="4" name="Slide Number Placeholder 3"/>
          <p:cNvSpPr>
            <a:spLocks noGrp="1"/>
          </p:cNvSpPr>
          <p:nvPr>
            <p:ph type="sldNum" sz="quarter" idx="5"/>
          </p:nvPr>
        </p:nvSpPr>
        <p:spPr/>
        <p:txBody>
          <a:bodyPr/>
          <a:lstStyle/>
          <a:p>
            <a:fld id="{56818EA0-D2EF-4C38-A8B1-0D8C28DF25EC}" type="slidenum">
              <a:rPr lang="en-US" smtClean="0"/>
              <a:t>3</a:t>
            </a:fld>
            <a:endParaRPr lang="en-US"/>
          </a:p>
        </p:txBody>
      </p:sp>
    </p:spTree>
    <p:extLst>
      <p:ext uri="{BB962C8B-B14F-4D97-AF65-F5344CB8AC3E}">
        <p14:creationId xmlns:p14="http://schemas.microsoft.com/office/powerpoint/2010/main" val="721535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A1F91-5DAF-4308-8CD1-103E6D52D74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E8C9D70A-3474-4171-B199-95A7785332F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F0CA482-2466-4B34-B5F0-68952F622156}"/>
              </a:ext>
            </a:extLst>
          </p:cNvPr>
          <p:cNvSpPr>
            <a:spLocks noGrp="1"/>
          </p:cNvSpPr>
          <p:nvPr>
            <p:ph type="dt" sz="half" idx="10"/>
          </p:nvPr>
        </p:nvSpPr>
        <p:spPr/>
        <p:txBody>
          <a:bodyPr/>
          <a:lstStyle/>
          <a:p>
            <a:fld id="{B202E932-A71F-4C87-8F29-F42C899ED4BE}" type="datetime1">
              <a:rPr lang="en-US" smtClean="0"/>
              <a:t>2/12/2026</a:t>
            </a:fld>
            <a:endParaRPr lang="en-US"/>
          </a:p>
        </p:txBody>
      </p:sp>
      <p:sp>
        <p:nvSpPr>
          <p:cNvPr id="5" name="Footer Placeholder 4">
            <a:extLst>
              <a:ext uri="{FF2B5EF4-FFF2-40B4-BE49-F238E27FC236}">
                <a16:creationId xmlns:a16="http://schemas.microsoft.com/office/drawing/2014/main" id="{CA64685A-6E3E-4417-9863-4F2A54DAB06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0946F1FC-F314-455E-89ED-44D601039748}"/>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351649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47936-FF79-4BAD-9467-808480C37ED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01E9D8-3E19-4E1C-8437-CFC470EFE8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7E1A8-58BC-40F9-A6E9-C2EA9C48BBF1}"/>
              </a:ext>
            </a:extLst>
          </p:cNvPr>
          <p:cNvSpPr>
            <a:spLocks noGrp="1"/>
          </p:cNvSpPr>
          <p:nvPr>
            <p:ph type="dt" sz="half" idx="10"/>
          </p:nvPr>
        </p:nvSpPr>
        <p:spPr/>
        <p:txBody>
          <a:bodyPr/>
          <a:lstStyle/>
          <a:p>
            <a:fld id="{A8742F31-02C1-498D-9CC2-B92C2CDF434E}" type="datetime1">
              <a:rPr lang="en-US" smtClean="0"/>
              <a:t>2/12/2026</a:t>
            </a:fld>
            <a:endParaRPr lang="en-US"/>
          </a:p>
        </p:txBody>
      </p:sp>
      <p:sp>
        <p:nvSpPr>
          <p:cNvPr id="5" name="Footer Placeholder 4">
            <a:extLst>
              <a:ext uri="{FF2B5EF4-FFF2-40B4-BE49-F238E27FC236}">
                <a16:creationId xmlns:a16="http://schemas.microsoft.com/office/drawing/2014/main" id="{47323A46-7D43-4A54-93C9-9EF0E81BAA9E}"/>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1B07370E-CEFD-4DE4-A0FC-6F069EA2A37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9389979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6B35C-AE0D-47A6-9D58-2B81B44D71F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EC171A32-793D-441B-AD68-4238442E166B}"/>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2011632-D9DF-4A7B-BF50-F25DCA778EA2}"/>
              </a:ext>
            </a:extLst>
          </p:cNvPr>
          <p:cNvSpPr>
            <a:spLocks noGrp="1"/>
          </p:cNvSpPr>
          <p:nvPr>
            <p:ph type="dt" sz="half" idx="10"/>
          </p:nvPr>
        </p:nvSpPr>
        <p:spPr/>
        <p:txBody>
          <a:bodyPr/>
          <a:lstStyle/>
          <a:p>
            <a:fld id="{257A7864-DF79-4588-8239-29C6AE689228}" type="datetime1">
              <a:rPr lang="en-US" smtClean="0"/>
              <a:t>2/12/2026</a:t>
            </a:fld>
            <a:endParaRPr lang="en-US"/>
          </a:p>
        </p:txBody>
      </p:sp>
      <p:sp>
        <p:nvSpPr>
          <p:cNvPr id="5" name="Footer Placeholder 4">
            <a:extLst>
              <a:ext uri="{FF2B5EF4-FFF2-40B4-BE49-F238E27FC236}">
                <a16:creationId xmlns:a16="http://schemas.microsoft.com/office/drawing/2014/main" id="{CFA3D7EE-09FD-4EC1-91CB-5868F9A4EFCA}"/>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A59428E-60CF-473F-90FC-33845451FC6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654445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6AAB0-7FF6-4933-9E22-F868C19253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B08B35-4553-47E2-9C69-248E2027A1F4}"/>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AF70A51-07F6-4B4E-AC1B-00C92A5F9E1D}"/>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B59BD2-1DA7-47C2-927E-1EDAB02E4829}"/>
              </a:ext>
            </a:extLst>
          </p:cNvPr>
          <p:cNvSpPr>
            <a:spLocks noGrp="1"/>
          </p:cNvSpPr>
          <p:nvPr>
            <p:ph type="dt" sz="half" idx="10"/>
          </p:nvPr>
        </p:nvSpPr>
        <p:spPr/>
        <p:txBody>
          <a:bodyPr/>
          <a:lstStyle/>
          <a:p>
            <a:fld id="{5AA8FAA2-19A9-44AB-B8FA-E5869F238D47}" type="datetime1">
              <a:rPr lang="en-US" smtClean="0"/>
              <a:t>2/12/2026</a:t>
            </a:fld>
            <a:endParaRPr lang="en-US"/>
          </a:p>
        </p:txBody>
      </p:sp>
      <p:sp>
        <p:nvSpPr>
          <p:cNvPr id="6" name="Footer Placeholder 5">
            <a:extLst>
              <a:ext uri="{FF2B5EF4-FFF2-40B4-BE49-F238E27FC236}">
                <a16:creationId xmlns:a16="http://schemas.microsoft.com/office/drawing/2014/main" id="{F00BB89C-01D5-4C85-B148-89F7B797D350}"/>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D0D56DD1-999E-4E85-80AF-C5D57619E24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828772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2E3C4-28DC-4891-B961-D5AC5549E4D1}"/>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439514-3694-4568-AA95-82CF0B69D20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3DA333A6-5E74-4ACD-8AC0-FAB6C7E080F8}"/>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9B50B8-823E-4597-A8E8-6A9638DD921B}"/>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73E8A5CD-818C-4AC2-9FF0-0375B10D2C56}"/>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147E56-F9CA-448D-BF16-285FBDD66A3B}"/>
              </a:ext>
            </a:extLst>
          </p:cNvPr>
          <p:cNvSpPr>
            <a:spLocks noGrp="1"/>
          </p:cNvSpPr>
          <p:nvPr>
            <p:ph type="dt" sz="half" idx="10"/>
          </p:nvPr>
        </p:nvSpPr>
        <p:spPr/>
        <p:txBody>
          <a:bodyPr/>
          <a:lstStyle/>
          <a:p>
            <a:fld id="{D8D6C686-7BE9-4586-A687-B2D1E9405BF2}" type="datetime1">
              <a:rPr lang="en-US" smtClean="0"/>
              <a:t>2/12/2026</a:t>
            </a:fld>
            <a:endParaRPr lang="en-US"/>
          </a:p>
        </p:txBody>
      </p:sp>
      <p:sp>
        <p:nvSpPr>
          <p:cNvPr id="8" name="Footer Placeholder 7">
            <a:extLst>
              <a:ext uri="{FF2B5EF4-FFF2-40B4-BE49-F238E27FC236}">
                <a16:creationId xmlns:a16="http://schemas.microsoft.com/office/drawing/2014/main" id="{9151C511-854E-4BC2-B903-8E577EE9A9CB}"/>
              </a:ext>
            </a:extLst>
          </p:cNvPr>
          <p:cNvSpPr>
            <a:spLocks noGrp="1"/>
          </p:cNvSpPr>
          <p:nvPr>
            <p:ph type="ftr" sz="quarter" idx="11"/>
          </p:nvPr>
        </p:nvSpPr>
        <p:spPr/>
        <p:txBody>
          <a:bodyPr/>
          <a:lstStyle/>
          <a:p>
            <a:r>
              <a:rPr lang="en-US"/>
              <a:t>Confidential</a:t>
            </a:r>
          </a:p>
        </p:txBody>
      </p:sp>
      <p:sp>
        <p:nvSpPr>
          <p:cNvPr id="9" name="Slide Number Placeholder 8">
            <a:extLst>
              <a:ext uri="{FF2B5EF4-FFF2-40B4-BE49-F238E27FC236}">
                <a16:creationId xmlns:a16="http://schemas.microsoft.com/office/drawing/2014/main" id="{20CA9210-8AFB-4D59-BF25-4EFD379E7791}"/>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812281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B0A4E-7214-4395-B4A9-683862A1792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1BA23A-F6DD-474E-874D-71837CECE2D0}"/>
              </a:ext>
            </a:extLst>
          </p:cNvPr>
          <p:cNvSpPr>
            <a:spLocks noGrp="1"/>
          </p:cNvSpPr>
          <p:nvPr>
            <p:ph type="dt" sz="half" idx="10"/>
          </p:nvPr>
        </p:nvSpPr>
        <p:spPr/>
        <p:txBody>
          <a:bodyPr/>
          <a:lstStyle/>
          <a:p>
            <a:fld id="{A407A63C-776B-4C75-811A-901240DE072E}" type="datetime1">
              <a:rPr lang="en-US" smtClean="0"/>
              <a:t>2/12/2026</a:t>
            </a:fld>
            <a:endParaRPr lang="en-US"/>
          </a:p>
        </p:txBody>
      </p:sp>
      <p:sp>
        <p:nvSpPr>
          <p:cNvPr id="4" name="Footer Placeholder 3">
            <a:extLst>
              <a:ext uri="{FF2B5EF4-FFF2-40B4-BE49-F238E27FC236}">
                <a16:creationId xmlns:a16="http://schemas.microsoft.com/office/drawing/2014/main" id="{168EEFDA-3E42-47C0-93DC-C1219B95B61A}"/>
              </a:ext>
            </a:extLst>
          </p:cNvPr>
          <p:cNvSpPr>
            <a:spLocks noGrp="1"/>
          </p:cNvSpPr>
          <p:nvPr>
            <p:ph type="ftr" sz="quarter" idx="11"/>
          </p:nvPr>
        </p:nvSpPr>
        <p:spPr/>
        <p:txBody>
          <a:bodyPr/>
          <a:lstStyle/>
          <a:p>
            <a:r>
              <a:rPr lang="en-US"/>
              <a:t>Confidential</a:t>
            </a:r>
          </a:p>
        </p:txBody>
      </p:sp>
      <p:sp>
        <p:nvSpPr>
          <p:cNvPr id="5" name="Slide Number Placeholder 4">
            <a:extLst>
              <a:ext uri="{FF2B5EF4-FFF2-40B4-BE49-F238E27FC236}">
                <a16:creationId xmlns:a16="http://schemas.microsoft.com/office/drawing/2014/main" id="{2311EABA-4C8C-473F-B711-E494A05F4495}"/>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542098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E834C0-0139-4568-8744-EE8A5CE98791}"/>
              </a:ext>
            </a:extLst>
          </p:cNvPr>
          <p:cNvSpPr>
            <a:spLocks noGrp="1"/>
          </p:cNvSpPr>
          <p:nvPr>
            <p:ph type="dt" sz="half" idx="10"/>
          </p:nvPr>
        </p:nvSpPr>
        <p:spPr/>
        <p:txBody>
          <a:bodyPr/>
          <a:lstStyle/>
          <a:p>
            <a:fld id="{656B8578-255A-4EAB-AB9D-DF676188B002}" type="datetime1">
              <a:rPr lang="en-US" smtClean="0"/>
              <a:t>2/12/2026</a:t>
            </a:fld>
            <a:endParaRPr lang="en-US"/>
          </a:p>
        </p:txBody>
      </p:sp>
      <p:sp>
        <p:nvSpPr>
          <p:cNvPr id="3" name="Footer Placeholder 2">
            <a:extLst>
              <a:ext uri="{FF2B5EF4-FFF2-40B4-BE49-F238E27FC236}">
                <a16:creationId xmlns:a16="http://schemas.microsoft.com/office/drawing/2014/main" id="{ED01E73B-DCCE-4735-81B5-1825A15AD9DC}"/>
              </a:ext>
            </a:extLst>
          </p:cNvPr>
          <p:cNvSpPr>
            <a:spLocks noGrp="1"/>
          </p:cNvSpPr>
          <p:nvPr>
            <p:ph type="ftr" sz="quarter" idx="11"/>
          </p:nvPr>
        </p:nvSpPr>
        <p:spPr/>
        <p:txBody>
          <a:bodyPr/>
          <a:lstStyle/>
          <a:p>
            <a:r>
              <a:rPr lang="en-US"/>
              <a:t>Confidential</a:t>
            </a:r>
          </a:p>
        </p:txBody>
      </p:sp>
      <p:sp>
        <p:nvSpPr>
          <p:cNvPr id="4" name="Slide Number Placeholder 3">
            <a:extLst>
              <a:ext uri="{FF2B5EF4-FFF2-40B4-BE49-F238E27FC236}">
                <a16:creationId xmlns:a16="http://schemas.microsoft.com/office/drawing/2014/main" id="{B049F196-8163-4B75-8CAC-61E1C785D81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471722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8E244-A061-4E80-BC9C-E6AB7DBD185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93C428FE-F029-409E-B569-681CD14E9DD9}"/>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8A74DE-FA8C-4583-9E68-BF0214191D87}"/>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1EE68F3A-DC58-4F1A-923E-357CDF901CEC}"/>
              </a:ext>
            </a:extLst>
          </p:cNvPr>
          <p:cNvSpPr>
            <a:spLocks noGrp="1"/>
          </p:cNvSpPr>
          <p:nvPr>
            <p:ph type="dt" sz="half" idx="10"/>
          </p:nvPr>
        </p:nvSpPr>
        <p:spPr/>
        <p:txBody>
          <a:bodyPr/>
          <a:lstStyle/>
          <a:p>
            <a:fld id="{ABAE85B3-C4AE-4BB1-B021-68841BA35016}" type="datetime1">
              <a:rPr lang="en-US" smtClean="0"/>
              <a:t>2/12/2026</a:t>
            </a:fld>
            <a:endParaRPr lang="en-US"/>
          </a:p>
        </p:txBody>
      </p:sp>
      <p:sp>
        <p:nvSpPr>
          <p:cNvPr id="6" name="Footer Placeholder 5">
            <a:extLst>
              <a:ext uri="{FF2B5EF4-FFF2-40B4-BE49-F238E27FC236}">
                <a16:creationId xmlns:a16="http://schemas.microsoft.com/office/drawing/2014/main" id="{12D46901-5A47-40C9-BF0C-854E9818E46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0FF1F09E-1A7A-4217-88C3-C6FCE58F00CF}"/>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700598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130C2-9AC3-40D2-82EA-7358BE3F3FC6}"/>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ED3CFF1-6F5E-4EDE-9591-B88623C670E0}"/>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8D14FF47-9845-4311-A900-C88BE6D7512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9FEED47-9E30-48B0-BD7D-5D140FE87D54}"/>
              </a:ext>
            </a:extLst>
          </p:cNvPr>
          <p:cNvSpPr>
            <a:spLocks noGrp="1"/>
          </p:cNvSpPr>
          <p:nvPr>
            <p:ph type="dt" sz="half" idx="10"/>
          </p:nvPr>
        </p:nvSpPr>
        <p:spPr/>
        <p:txBody>
          <a:bodyPr/>
          <a:lstStyle/>
          <a:p>
            <a:fld id="{8BEE9113-9AB1-4051-924D-DF3D9AA7B385}" type="datetime1">
              <a:rPr lang="en-US" smtClean="0"/>
              <a:t>2/12/2026</a:t>
            </a:fld>
            <a:endParaRPr lang="en-US"/>
          </a:p>
        </p:txBody>
      </p:sp>
      <p:sp>
        <p:nvSpPr>
          <p:cNvPr id="6" name="Footer Placeholder 5">
            <a:extLst>
              <a:ext uri="{FF2B5EF4-FFF2-40B4-BE49-F238E27FC236}">
                <a16:creationId xmlns:a16="http://schemas.microsoft.com/office/drawing/2014/main" id="{4DDE5465-F8EA-489B-B0CE-6D03E7A74ED2}"/>
              </a:ext>
            </a:extLst>
          </p:cNvPr>
          <p:cNvSpPr>
            <a:spLocks noGrp="1"/>
          </p:cNvSpPr>
          <p:nvPr>
            <p:ph type="ftr" sz="quarter" idx="11"/>
          </p:nvPr>
        </p:nvSpPr>
        <p:spPr/>
        <p:txBody>
          <a:bodyPr/>
          <a:lstStyle/>
          <a:p>
            <a:r>
              <a:rPr lang="en-US"/>
              <a:t>Confidential</a:t>
            </a:r>
          </a:p>
        </p:txBody>
      </p:sp>
      <p:sp>
        <p:nvSpPr>
          <p:cNvPr id="7" name="Slide Number Placeholder 6">
            <a:extLst>
              <a:ext uri="{FF2B5EF4-FFF2-40B4-BE49-F238E27FC236}">
                <a16:creationId xmlns:a16="http://schemas.microsoft.com/office/drawing/2014/main" id="{C1EB23C1-C907-4F63-83FE-12326EA9ADA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66181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1A720-C411-4ED2-9590-91859DC2535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AC8D4A-1E59-44F0-B9D5-55F4EF518A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2D2062-E7CF-4226-ABBC-7FAB80D53B72}"/>
              </a:ext>
            </a:extLst>
          </p:cNvPr>
          <p:cNvSpPr>
            <a:spLocks noGrp="1"/>
          </p:cNvSpPr>
          <p:nvPr>
            <p:ph type="dt" sz="half" idx="10"/>
          </p:nvPr>
        </p:nvSpPr>
        <p:spPr/>
        <p:txBody>
          <a:bodyPr/>
          <a:lstStyle/>
          <a:p>
            <a:fld id="{00EE5AC6-156C-4CB5-BA0A-41EEB99F2C31}" type="datetime1">
              <a:rPr lang="en-US" smtClean="0"/>
              <a:t>2/12/2026</a:t>
            </a:fld>
            <a:endParaRPr lang="en-US"/>
          </a:p>
        </p:txBody>
      </p:sp>
      <p:sp>
        <p:nvSpPr>
          <p:cNvPr id="5" name="Footer Placeholder 4">
            <a:extLst>
              <a:ext uri="{FF2B5EF4-FFF2-40B4-BE49-F238E27FC236}">
                <a16:creationId xmlns:a16="http://schemas.microsoft.com/office/drawing/2014/main" id="{2FDE2C07-11CD-4FCA-9EF9-DBCB439607F9}"/>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57EF8289-ACCF-49F8-B239-9BC52C1BA584}"/>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2943466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1DD16A-B6EA-4F1C-B1D6-276E8C388D64}"/>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3C60F-2B01-4456-A9C9-E40F68052A87}"/>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3CACA6-C1E6-45CC-987A-36AA89D2CB9A}"/>
              </a:ext>
            </a:extLst>
          </p:cNvPr>
          <p:cNvSpPr>
            <a:spLocks noGrp="1"/>
          </p:cNvSpPr>
          <p:nvPr>
            <p:ph type="dt" sz="half" idx="10"/>
          </p:nvPr>
        </p:nvSpPr>
        <p:spPr/>
        <p:txBody>
          <a:bodyPr/>
          <a:lstStyle/>
          <a:p>
            <a:fld id="{EC721CCD-7326-4A57-A1EF-8B0B37DF77B7}" type="datetime1">
              <a:rPr lang="en-US" smtClean="0"/>
              <a:t>2/12/2026</a:t>
            </a:fld>
            <a:endParaRPr lang="en-US"/>
          </a:p>
        </p:txBody>
      </p:sp>
      <p:sp>
        <p:nvSpPr>
          <p:cNvPr id="5" name="Footer Placeholder 4">
            <a:extLst>
              <a:ext uri="{FF2B5EF4-FFF2-40B4-BE49-F238E27FC236}">
                <a16:creationId xmlns:a16="http://schemas.microsoft.com/office/drawing/2014/main" id="{55DBCBA4-F9B0-4FFA-8023-E056B2BF9DB4}"/>
              </a:ext>
            </a:extLst>
          </p:cNvPr>
          <p:cNvSpPr>
            <a:spLocks noGrp="1"/>
          </p:cNvSpPr>
          <p:nvPr>
            <p:ph type="ftr" sz="quarter" idx="11"/>
          </p:nvPr>
        </p:nvSpPr>
        <p:spPr/>
        <p:txBody>
          <a:bodyPr/>
          <a:lstStyle/>
          <a:p>
            <a:r>
              <a:rPr lang="en-US"/>
              <a:t>Confidential</a:t>
            </a:r>
          </a:p>
        </p:txBody>
      </p:sp>
      <p:sp>
        <p:nvSpPr>
          <p:cNvPr id="6" name="Slide Number Placeholder 5">
            <a:extLst>
              <a:ext uri="{FF2B5EF4-FFF2-40B4-BE49-F238E27FC236}">
                <a16:creationId xmlns:a16="http://schemas.microsoft.com/office/drawing/2014/main" id="{83991EB5-9BD0-4358-9027-51E6836959E2}"/>
              </a:ext>
            </a:extLst>
          </p:cNvPr>
          <p:cNvSpPr>
            <a:spLocks noGrp="1"/>
          </p:cNvSpPr>
          <p:nvPr>
            <p:ph type="sldNum" sz="quarter" idx="12"/>
          </p:nvPr>
        </p:nvSpPr>
        <p:spPr/>
        <p:txBody>
          <a:bodyPr/>
          <a:lstStyle/>
          <a:p>
            <a:fld id="{AAB8DC1C-CF51-4F7D-8E83-F954D2933D5A}" type="slidenum">
              <a:rPr lang="en-US" smtClean="0"/>
              <a:t>‹#›</a:t>
            </a:fld>
            <a:endParaRPr lang="en-US"/>
          </a:p>
        </p:txBody>
      </p:sp>
    </p:spTree>
    <p:extLst>
      <p:ext uri="{BB962C8B-B14F-4D97-AF65-F5344CB8AC3E}">
        <p14:creationId xmlns:p14="http://schemas.microsoft.com/office/powerpoint/2010/main" val="3514456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EBC77-63D1-42E8-A976-F7270279F9EC}"/>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A64DF2-E1A1-406E-AEE5-0CF1A3C73FD1}"/>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03C1D8-9EE9-42E3-A226-76CF87AC6E61}"/>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974C46C-9D8A-450F-A7A1-8B8352E02805}" type="datetime1">
              <a:rPr lang="en-US" smtClean="0"/>
              <a:t>2/12/2026</a:t>
            </a:fld>
            <a:endParaRPr lang="en-US"/>
          </a:p>
        </p:txBody>
      </p:sp>
      <p:sp>
        <p:nvSpPr>
          <p:cNvPr id="5" name="Footer Placeholder 4">
            <a:extLst>
              <a:ext uri="{FF2B5EF4-FFF2-40B4-BE49-F238E27FC236}">
                <a16:creationId xmlns:a16="http://schemas.microsoft.com/office/drawing/2014/main" id="{6386C20A-ED86-43E7-BD47-C0407000FDCC}"/>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Confidential</a:t>
            </a:r>
          </a:p>
        </p:txBody>
      </p:sp>
      <p:sp>
        <p:nvSpPr>
          <p:cNvPr id="6" name="Slide Number Placeholder 5">
            <a:extLst>
              <a:ext uri="{FF2B5EF4-FFF2-40B4-BE49-F238E27FC236}">
                <a16:creationId xmlns:a16="http://schemas.microsoft.com/office/drawing/2014/main" id="{27EB9E82-8B6D-4553-B4F9-228C6E8BF23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AAB8DC1C-CF51-4F7D-8E83-F954D2933D5A}" type="slidenum">
              <a:rPr lang="en-US" smtClean="0"/>
              <a:t>‹#›</a:t>
            </a:fld>
            <a:endParaRPr lang="en-US"/>
          </a:p>
        </p:txBody>
      </p:sp>
    </p:spTree>
    <p:extLst>
      <p:ext uri="{BB962C8B-B14F-4D97-AF65-F5344CB8AC3E}">
        <p14:creationId xmlns:p14="http://schemas.microsoft.com/office/powerpoint/2010/main" val="16802740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7.png"/><Relationship Id="rId4" Type="http://schemas.openxmlformats.org/officeDocument/2006/relationships/diagramData" Target="../diagrams/data1.xm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7.png"/><Relationship Id="rId4" Type="http://schemas.openxmlformats.org/officeDocument/2006/relationships/diagramData" Target="../diagrams/data2.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png"/><Relationship Id="rId7" Type="http://schemas.openxmlformats.org/officeDocument/2006/relationships/diagramColors" Target="../diagrams/colors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Authorizing Settlements (updated 7/27/23)</a:t>
            </a:r>
            <a:endParaRPr lang="en-US" sz="2000" dirty="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a:xfrm>
            <a:off x="-1008021" y="6473797"/>
            <a:ext cx="3086100" cy="365125"/>
          </a:xfrm>
        </p:spPr>
        <p:txBody>
          <a:bodyPr/>
          <a:lstStyle/>
          <a:p>
            <a:r>
              <a:rPr lang="en-US" dirty="0"/>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451" y="9701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 4">
            <a:extLst>
              <a:ext uri="{FF2B5EF4-FFF2-40B4-BE49-F238E27FC236}">
                <a16:creationId xmlns:a16="http://schemas.microsoft.com/office/drawing/2014/main" id="{24D85AFC-719A-451E-B156-749FDAEAAB93}"/>
              </a:ext>
            </a:extLst>
          </p:cNvPr>
          <p:cNvGraphicFramePr/>
          <p:nvPr>
            <p:extLst>
              <p:ext uri="{D42A27DB-BD31-4B8C-83A1-F6EECF244321}">
                <p14:modId xmlns:p14="http://schemas.microsoft.com/office/powerpoint/2010/main" val="1675965808"/>
              </p:ext>
            </p:extLst>
          </p:nvPr>
        </p:nvGraphicFramePr>
        <p:xfrm>
          <a:off x="345826" y="503154"/>
          <a:ext cx="8573530" cy="6339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35323BD3-70ED-4FAD-8C0D-036BAA0522C3}"/>
              </a:ext>
            </a:extLst>
          </p:cNvPr>
          <p:cNvPicPr>
            <a:picLocks noChangeAspect="1"/>
          </p:cNvPicPr>
          <p:nvPr/>
        </p:nvPicPr>
        <p:blipFill>
          <a:blip r:embed="rId9"/>
          <a:stretch>
            <a:fillRect/>
          </a:stretch>
        </p:blipFill>
        <p:spPr>
          <a:xfrm>
            <a:off x="2492051" y="934301"/>
            <a:ext cx="4319904" cy="212303"/>
          </a:xfrm>
          <a:prstGeom prst="rect">
            <a:avLst/>
          </a:prstGeom>
        </p:spPr>
      </p:pic>
      <p:pic>
        <p:nvPicPr>
          <p:cNvPr id="266" name="Picture 266" descr="image">
            <a:extLst>
              <a:ext uri="{FF2B5EF4-FFF2-40B4-BE49-F238E27FC236}">
                <a16:creationId xmlns:a16="http://schemas.microsoft.com/office/drawing/2014/main" id="{5AB2E9FA-3D5F-55EC-BD3E-3D478F10A820}"/>
              </a:ext>
            </a:extLst>
          </p:cNvPr>
          <p:cNvPicPr>
            <a:picLocks noChangeAspect="1"/>
          </p:cNvPicPr>
          <p:nvPr/>
        </p:nvPicPr>
        <p:blipFill>
          <a:blip r:embed="rId10"/>
          <a:stretch>
            <a:fillRect/>
          </a:stretch>
        </p:blipFill>
        <p:spPr>
          <a:xfrm>
            <a:off x="121182" y="2157276"/>
            <a:ext cx="2552496" cy="1460500"/>
          </a:xfrm>
          <a:prstGeom prst="rect">
            <a:avLst/>
          </a:prstGeom>
        </p:spPr>
      </p:pic>
    </p:spTree>
    <p:extLst>
      <p:ext uri="{BB962C8B-B14F-4D97-AF65-F5344CB8AC3E}">
        <p14:creationId xmlns:p14="http://schemas.microsoft.com/office/powerpoint/2010/main" val="2080539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6078D-F90F-64F2-055E-D5C6CD664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4DFD5-21D3-E68A-BA47-616A3CFEF4EC}"/>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Authorizing Settlements (updated 7/27/23)</a:t>
            </a:r>
            <a:endParaRPr lang="en-US" sz="2000" dirty="0">
              <a:latin typeface="Arial" panose="020B0604020202020204" pitchFamily="34" charset="0"/>
              <a:cs typeface="Arial" panose="020B0604020202020204" pitchFamily="34" charset="0"/>
            </a:endParaRPr>
          </a:p>
        </p:txBody>
      </p:sp>
      <p:sp>
        <p:nvSpPr>
          <p:cNvPr id="3" name="Footer Placeholder 2">
            <a:extLst>
              <a:ext uri="{FF2B5EF4-FFF2-40B4-BE49-F238E27FC236}">
                <a16:creationId xmlns:a16="http://schemas.microsoft.com/office/drawing/2014/main" id="{2C4A7665-A7B6-A912-A94F-351C5496A4B6}"/>
              </a:ext>
            </a:extLst>
          </p:cNvPr>
          <p:cNvSpPr>
            <a:spLocks noGrp="1"/>
          </p:cNvSpPr>
          <p:nvPr>
            <p:ph type="ftr" sz="quarter" idx="11"/>
          </p:nvPr>
        </p:nvSpPr>
        <p:spPr>
          <a:xfrm>
            <a:off x="-1008021" y="6473797"/>
            <a:ext cx="3086100" cy="365125"/>
          </a:xfrm>
        </p:spPr>
        <p:txBody>
          <a:bodyPr/>
          <a:lstStyle/>
          <a:p>
            <a:r>
              <a:rPr lang="en-US" dirty="0"/>
              <a:t>Confidential</a:t>
            </a:r>
          </a:p>
        </p:txBody>
      </p:sp>
      <p:pic>
        <p:nvPicPr>
          <p:cNvPr id="4" name="Picture 2" descr="ClearOne Advantage">
            <a:extLst>
              <a:ext uri="{FF2B5EF4-FFF2-40B4-BE49-F238E27FC236}">
                <a16:creationId xmlns:a16="http://schemas.microsoft.com/office/drawing/2014/main" id="{04064B35-C5C5-041A-A1DE-B6BF7FB81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451" y="9701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582708E4-CAE0-2E77-7058-A2D182CE3891}"/>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 4">
            <a:extLst>
              <a:ext uri="{FF2B5EF4-FFF2-40B4-BE49-F238E27FC236}">
                <a16:creationId xmlns:a16="http://schemas.microsoft.com/office/drawing/2014/main" id="{BF69B036-17FA-C19A-71F1-85BFF77E466A}"/>
              </a:ext>
            </a:extLst>
          </p:cNvPr>
          <p:cNvGraphicFramePr/>
          <p:nvPr/>
        </p:nvGraphicFramePr>
        <p:xfrm>
          <a:off x="345826" y="503154"/>
          <a:ext cx="8573530" cy="63394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Picture 5">
            <a:extLst>
              <a:ext uri="{FF2B5EF4-FFF2-40B4-BE49-F238E27FC236}">
                <a16:creationId xmlns:a16="http://schemas.microsoft.com/office/drawing/2014/main" id="{1E288658-7038-18A0-0864-3D777A51BEDA}"/>
              </a:ext>
            </a:extLst>
          </p:cNvPr>
          <p:cNvPicPr>
            <a:picLocks noChangeAspect="1"/>
          </p:cNvPicPr>
          <p:nvPr/>
        </p:nvPicPr>
        <p:blipFill>
          <a:blip r:embed="rId9"/>
          <a:stretch>
            <a:fillRect/>
          </a:stretch>
        </p:blipFill>
        <p:spPr>
          <a:xfrm>
            <a:off x="2492051" y="934301"/>
            <a:ext cx="4319904" cy="212303"/>
          </a:xfrm>
          <a:prstGeom prst="rect">
            <a:avLst/>
          </a:prstGeom>
        </p:spPr>
      </p:pic>
      <p:pic>
        <p:nvPicPr>
          <p:cNvPr id="266" name="Picture 266" descr="image">
            <a:extLst>
              <a:ext uri="{FF2B5EF4-FFF2-40B4-BE49-F238E27FC236}">
                <a16:creationId xmlns:a16="http://schemas.microsoft.com/office/drawing/2014/main" id="{9626061D-25E7-0B9E-F2F0-5E7160E3B62B}"/>
              </a:ext>
            </a:extLst>
          </p:cNvPr>
          <p:cNvPicPr>
            <a:picLocks noChangeAspect="1"/>
          </p:cNvPicPr>
          <p:nvPr/>
        </p:nvPicPr>
        <p:blipFill>
          <a:blip r:embed="rId10"/>
          <a:stretch>
            <a:fillRect/>
          </a:stretch>
        </p:blipFill>
        <p:spPr>
          <a:xfrm>
            <a:off x="121182" y="2157276"/>
            <a:ext cx="2552496" cy="1460500"/>
          </a:xfrm>
          <a:prstGeom prst="rect">
            <a:avLst/>
          </a:prstGeom>
        </p:spPr>
      </p:pic>
    </p:spTree>
    <p:extLst>
      <p:ext uri="{BB962C8B-B14F-4D97-AF65-F5344CB8AC3E}">
        <p14:creationId xmlns:p14="http://schemas.microsoft.com/office/powerpoint/2010/main" val="351092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177C8-003C-49AC-9E7A-B4F3742C3347}"/>
              </a:ext>
            </a:extLst>
          </p:cNvPr>
          <p:cNvSpPr>
            <a:spLocks noGrp="1"/>
          </p:cNvSpPr>
          <p:nvPr>
            <p:ph type="title"/>
          </p:nvPr>
        </p:nvSpPr>
        <p:spPr>
          <a:xfrm>
            <a:off x="64726" y="40522"/>
            <a:ext cx="8854631" cy="431654"/>
          </a:xfrm>
        </p:spPr>
        <p:txBody>
          <a:bodyPr>
            <a:normAutofit/>
          </a:bodyPr>
          <a:lstStyle/>
          <a:p>
            <a:r>
              <a:rPr lang="en-US" sz="2000" dirty="0">
                <a:latin typeface="Arial"/>
                <a:cs typeface="Arial"/>
              </a:rPr>
              <a:t>Pre - Settlements (updated 06/11/24)</a:t>
            </a:r>
            <a:endParaRPr lang="en-US" sz="2000" dirty="0">
              <a:latin typeface="Arial" panose="020B0604020202020204" pitchFamily="34" charset="0"/>
              <a:cs typeface="Arial" panose="020B0604020202020204" pitchFamily="34" charset="0"/>
            </a:endParaRPr>
          </a:p>
        </p:txBody>
      </p:sp>
      <p:sp>
        <p:nvSpPr>
          <p:cNvPr id="3" name="Footer Placeholder 2"/>
          <p:cNvSpPr>
            <a:spLocks noGrp="1"/>
          </p:cNvSpPr>
          <p:nvPr>
            <p:ph type="ftr" sz="quarter" idx="11"/>
          </p:nvPr>
        </p:nvSpPr>
        <p:spPr>
          <a:xfrm>
            <a:off x="-1008021" y="6473797"/>
            <a:ext cx="3086100" cy="365125"/>
          </a:xfrm>
        </p:spPr>
        <p:txBody>
          <a:bodyPr/>
          <a:lstStyle/>
          <a:p>
            <a:r>
              <a:rPr lang="en-US" dirty="0"/>
              <a:t>Confidential</a:t>
            </a:r>
          </a:p>
        </p:txBody>
      </p:sp>
      <p:pic>
        <p:nvPicPr>
          <p:cNvPr id="4" name="Picture 2" descr="ClearOne Advantage">
            <a:extLst>
              <a:ext uri="{FF2B5EF4-FFF2-40B4-BE49-F238E27FC236}">
                <a16:creationId xmlns:a16="http://schemas.microsoft.com/office/drawing/2014/main" id="{9E7A9EBC-4E6F-49FE-9AB3-E487E8E2A7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9451" y="97011"/>
            <a:ext cx="1395194" cy="390654"/>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20115940-8E32-4E7D-86BE-414C54C86E36}"/>
              </a:ext>
            </a:extLst>
          </p:cNvPr>
          <p:cNvSpPr/>
          <p:nvPr/>
        </p:nvSpPr>
        <p:spPr>
          <a:xfrm>
            <a:off x="0" y="507847"/>
            <a:ext cx="9144000" cy="45719"/>
          </a:xfrm>
          <a:prstGeom prst="rect">
            <a:avLst/>
          </a:prstGeom>
          <a:solidFill>
            <a:srgbClr val="8C93A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 4">
            <a:extLst>
              <a:ext uri="{FF2B5EF4-FFF2-40B4-BE49-F238E27FC236}">
                <a16:creationId xmlns:a16="http://schemas.microsoft.com/office/drawing/2014/main" id="{24D85AFC-719A-451E-B156-749FDAEAAB93}"/>
              </a:ext>
            </a:extLst>
          </p:cNvPr>
          <p:cNvGraphicFramePr/>
          <p:nvPr>
            <p:extLst>
              <p:ext uri="{D42A27DB-BD31-4B8C-83A1-F6EECF244321}">
                <p14:modId xmlns:p14="http://schemas.microsoft.com/office/powerpoint/2010/main" val="3435669678"/>
              </p:ext>
            </p:extLst>
          </p:nvPr>
        </p:nvGraphicFramePr>
        <p:xfrm>
          <a:off x="345826" y="503154"/>
          <a:ext cx="8573530" cy="63143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28" name="Picture 4" descr="image">
            <a:extLst>
              <a:ext uri="{FF2B5EF4-FFF2-40B4-BE49-F238E27FC236}">
                <a16:creationId xmlns:a16="http://schemas.microsoft.com/office/drawing/2014/main" id="{937BBDB3-7C7C-BEA5-0ACE-743BA2D3ADE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48612" y="4028785"/>
            <a:ext cx="7620000" cy="111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0160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99DC55F4-8034-4279-A768-3BC59612D256}" vid="{D2D9A7DC-B5CD-4C3A-A780-7E5258CB9C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AC1D25B-C9D7-4A85-9CA8-F1FE7C31EA43}">
  <ds:schemaRefs>
    <ds:schemaRef ds:uri="http://schemas.microsoft.com/office/2006/metadata/properties"/>
    <ds:schemaRef ds:uri="http://purl.org/dc/dcmitype/"/>
    <ds:schemaRef ds:uri="http://schemas.microsoft.com/office/2006/documentManagement/types"/>
    <ds:schemaRef ds:uri="http://schemas.openxmlformats.org/package/2006/metadata/core-properties"/>
    <ds:schemaRef ds:uri="http://schemas.microsoft.com/office/infopath/2007/PartnerControls"/>
    <ds:schemaRef ds:uri="http://purl.org/dc/elements/1.1/"/>
    <ds:schemaRef ds:uri="fca21091-4343-4232-a795-e59481497cb5"/>
    <ds:schemaRef ds:uri="http://purl.org/dc/terms/"/>
    <ds:schemaRef ds:uri="dfbadaf6-90cf-41d3-a0ba-bbd98d259036"/>
    <ds:schemaRef ds:uri="http://schemas.microsoft.com/sharepoint/v3"/>
    <ds:schemaRef ds:uri="http://www.w3.org/XML/1998/namespace"/>
  </ds:schemaRefs>
</ds:datastoreItem>
</file>

<file path=customXml/itemProps2.xml><?xml version="1.0" encoding="utf-8"?>
<ds:datastoreItem xmlns:ds="http://schemas.openxmlformats.org/officeDocument/2006/customXml" ds:itemID="{476D01F2-DD45-4AF8-85BC-6CC604D5D7F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CBA5092-7189-4DD9-B469-74F2EB4767B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COA ppt template</Template>
  <TotalTime>36242</TotalTime>
  <Words>521</Words>
  <Application>Microsoft Office PowerPoint</Application>
  <PresentationFormat>On-screen Show (4:3)</PresentationFormat>
  <Paragraphs>45</Paragraphs>
  <Slides>3</Slides>
  <Notes>3</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Authorizing Settlements (updated 7/27/23)</vt:lpstr>
      <vt:lpstr>Authorizing Settlements (updated 7/27/23)</vt:lpstr>
      <vt:lpstr>Pre - Settlements (updated 06/11/24)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Lending Tree Insights</dc:title>
  <dc:creator>Brandon Homuth</dc:creator>
  <cp:lastModifiedBy>Katalina Sussman</cp:lastModifiedBy>
  <cp:revision>603</cp:revision>
  <cp:lastPrinted>2020-12-17T16:31:33Z</cp:lastPrinted>
  <dcterms:created xsi:type="dcterms:W3CDTF">2020-07-08T17:20:15Z</dcterms:created>
  <dcterms:modified xsi:type="dcterms:W3CDTF">2026-02-12T20:21:26Z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