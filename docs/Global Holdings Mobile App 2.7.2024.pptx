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00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CF60EE-5E81-7AEF-8A3D-749B00367459}" v="85" dt="2024-02-07T18:35:57.9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85F84-884E-40D3-9C98-9F92EB6E0B47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176FA7-8ED9-491B-98C4-478C08D2A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802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Enrollments were down to $61MM in December from $81MM in November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Internal (non-affiliate) enrollments of $46MM were 23% below forecast ($60MM)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Drivers include macro factors: holiday seasonality, </a:t>
            </a:r>
            <a:r>
              <a:rPr lang="en-US" dirty="0" err="1"/>
              <a:t>covid</a:t>
            </a:r>
            <a:r>
              <a:rPr lang="en-US" dirty="0"/>
              <a:t> increases, stimulus allowing customers to put off decisions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Internally we are observing it is harder to reach customers, lower P2 rates, and lower close rates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818EA0-D2EF-4C38-A8B1-0D8C28DF25E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3723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209E2-F31B-4105-AC16-AF2EEE3834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A5F566-007A-4AEA-AB55-72AC738019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96DD5-666E-4D4B-98E7-6F2A5B539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66EAE-61E5-426E-BBBE-D5EC20F81078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806AC-ABA3-4E25-89C0-37AD39CB9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03807-DB12-4150-83BF-B15507058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0C187-0D9D-408F-BF88-E3B004903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113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774CF-1524-4BF7-8820-E8DCD9C9B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0118F-D713-405E-AF3C-414E4438D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A96ED0-3459-409E-AD6F-7318EE7BE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66EAE-61E5-426E-BBBE-D5EC20F81078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6A72BD-6BE2-4A2E-B672-A3A7C5A79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CE4EF-D2E8-4C73-B20E-C2A3678AE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0C187-0D9D-408F-BF88-E3B004903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832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316B2-7161-4D45-9C88-554A38F8A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BD324D-4BE3-41CC-BED0-E1DBC4204C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94D06F-1916-486F-8A37-0673BD0EE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66EAE-61E5-426E-BBBE-D5EC20F81078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B77D7-4368-418C-8779-9FC2FBBB3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D0CB0-343F-46DB-8143-008D9490C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0C187-0D9D-408F-BF88-E3B004903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564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9B55A-7678-4A83-B94E-102D94225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CE996-5DCA-4238-8886-83A1DF3E81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8EC331-5B75-4698-A2A2-F6307B3126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2FE12C-3795-4FB0-AA92-5457BB9B3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66EAE-61E5-426E-BBBE-D5EC20F81078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BB0026-8625-4591-852E-F7AFB5983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912517-2405-45DD-A9BA-9F2CCD729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0C187-0D9D-408F-BF88-E3B004903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897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966F1-8D89-48DD-8474-5EE1FD19F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F557E8-9A2B-4B96-B1BF-5F623F8A0B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F9943C-16D0-463B-957D-870BED722C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7009AD-5F73-4D7C-B108-60F0E3CA7D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82A3A-FC4A-4D93-BC58-3D6D587EC0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AC55B0-A320-418A-A7C4-BD472B294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66EAE-61E5-426E-BBBE-D5EC20F81078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0A2446-78DD-4C9B-B848-C2E31C707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C02A7C-C027-4337-957A-9F61A5226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0C187-0D9D-408F-BF88-E3B004903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3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12361-7A75-4999-9206-7CF004499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53D819-FD3C-4A1D-AA55-951521B0C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66EAE-61E5-426E-BBBE-D5EC20F81078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33DDA9-C412-4C3D-A252-C29ED3BD0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7E5E37-BB73-4696-80AA-88F29FDC5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0C187-0D9D-408F-BF88-E3B004903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692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CA24B5-3C61-4210-974C-039F97EE2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66EAE-61E5-426E-BBBE-D5EC20F81078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315084-9286-4D1B-A1E3-C9193C8A2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AE61B3-FFF8-48CC-A7DC-1AF0A2AAD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0C187-0D9D-408F-BF88-E3B004903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447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1CD9D-E5E1-47D8-8E97-0C9720273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1B501-970C-411E-AF8E-959AF53F6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160894-FF08-4ED1-AAAD-49BC943559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80306F-50F9-41DE-BCA5-F91D182C1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66EAE-61E5-426E-BBBE-D5EC20F81078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B181FD-8873-4DE9-9C7D-E379E6123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D1E089-359E-45B1-893F-7718E69FF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0C187-0D9D-408F-BF88-E3B004903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720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4F93C-28F4-4715-B157-A53DA76BF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5A5805-1BFF-4BD8-BA46-4879D8F150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A89D91-E64B-4A53-A320-A3170AA2DD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2EEEB6-CDDA-4312-96FD-207E5D8F5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66EAE-61E5-426E-BBBE-D5EC20F81078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885F69-7ACD-42DE-A902-EDF10BE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194D96-FFF6-4375-9514-9D281CD09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0C187-0D9D-408F-BF88-E3B004903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663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A3C50-AFD6-4F26-A397-D5AD8ACE9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0BAA12-8DF5-40DE-A9B6-F64797965D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BFD375-6FF4-419A-A8F3-F1B572B51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66EAE-61E5-426E-BBBE-D5EC20F81078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312F6-11C6-4594-B708-462CD12A9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0DF12-2367-4B6E-A8B3-FC4AF499E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0C187-0D9D-408F-BF88-E3B004903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156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E40B15-8681-4319-8159-1F5E6497B9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CEC90B-182D-470B-BFBD-1FC5A1A7B1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243E03-D8CC-4E70-AA6C-7A81D8C31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66EAE-61E5-426E-BBBE-D5EC20F81078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C20272-0625-4BDD-923D-9930F24C5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A7500-214F-4906-AAE7-6CAB7AEFA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0C187-0D9D-408F-BF88-E3B004903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480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947C99-7119-428E-ABC9-DBD23380D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490069-1A44-4F50-9B35-43E220329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859CBC-EA31-470B-A221-86B047A025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366EAE-61E5-426E-BBBE-D5EC20F81078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1710C-6EEB-49D6-BAA0-86061A77D6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BE8AE-EF8A-4369-91FB-823C45BC58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80C187-0D9D-408F-BF88-E3B004903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66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177C8-003C-49AC-9E7A-B4F3742C3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8727" y="40522"/>
            <a:ext cx="8854631" cy="431654"/>
          </a:xfrm>
        </p:spPr>
        <p:txBody>
          <a:bodyPr>
            <a:normAutofit/>
          </a:bodyPr>
          <a:lstStyle/>
          <a:p>
            <a:r>
              <a:rPr lang="en-US" sz="2000" dirty="0"/>
              <a:t>Global Holdings Mobile App!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Confidential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115940-8E32-4E7D-86BE-414C54C86E36}"/>
              </a:ext>
            </a:extLst>
          </p:cNvPr>
          <p:cNvSpPr/>
          <p:nvPr/>
        </p:nvSpPr>
        <p:spPr>
          <a:xfrm>
            <a:off x="1524000" y="507848"/>
            <a:ext cx="9144000" cy="45719"/>
          </a:xfrm>
          <a:prstGeom prst="rect">
            <a:avLst/>
          </a:prstGeom>
          <a:solidFill>
            <a:srgbClr val="8C93A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2" descr="ClearOne Advantage">
            <a:extLst>
              <a:ext uri="{FF2B5EF4-FFF2-40B4-BE49-F238E27FC236}">
                <a16:creationId xmlns:a16="http://schemas.microsoft.com/office/drawing/2014/main" id="{781961BE-D267-4CE3-AD50-2822B66573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1257" y="47186"/>
            <a:ext cx="1395194" cy="390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73A8030-A46B-4B26-9F0F-9B846FF4AF5C}"/>
              </a:ext>
            </a:extLst>
          </p:cNvPr>
          <p:cNvSpPr txBox="1"/>
          <p:nvPr/>
        </p:nvSpPr>
        <p:spPr>
          <a:xfrm>
            <a:off x="5196007" y="744265"/>
            <a:ext cx="4114800" cy="38779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Available in both the Apple App Store (for iOS) and Google Play Store (for Android)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Requires Global Account ID# to set up secure access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Account balance access, transaction monitoring and statement downloads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Suitable replacement for Attorney Model clients with no portal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Calibri"/>
              </a:rPr>
              <a:t>Multi-factor Authentication required </a:t>
            </a:r>
            <a:endParaRPr lang="en-US" dirty="0">
              <a:solidFill>
                <a:srgbClr val="000000"/>
              </a:solidFill>
              <a:latin typeface="Calibri"/>
              <a:cs typeface="Calibri"/>
            </a:endParaRP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sz="1200">
                <a:solidFill>
                  <a:srgbClr val="374151"/>
                </a:solidFill>
                <a:latin typeface="Arial"/>
                <a:cs typeface="Arial"/>
              </a:rPr>
              <a:t>Clients are required to input their existing password and a unique verification code, sent via text or email, when accessing the Global Mobile App.</a:t>
            </a:r>
            <a:endParaRPr lang="en-US" dirty="0">
              <a:cs typeface="Calibri"/>
            </a:endParaRPr>
          </a:p>
          <a:p>
            <a:pPr marL="742950" lvl="1" indent="-285750">
              <a:buFont typeface="Courier New" panose="020B0604020202020204" pitchFamily="34" charset="0"/>
              <a:buChar char="o"/>
            </a:pPr>
            <a:endParaRPr lang="en-US" dirty="0">
              <a:cs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0E603A-E13E-4710-94B8-30CCEDB735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88727" y="744265"/>
            <a:ext cx="2725271" cy="58924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69AC864-6559-625D-0FB9-59E8727E5DFE}"/>
              </a:ext>
            </a:extLst>
          </p:cNvPr>
          <p:cNvSpPr txBox="1"/>
          <p:nvPr/>
        </p:nvSpPr>
        <p:spPr>
          <a:xfrm>
            <a:off x="10064786" y="530707"/>
            <a:ext cx="215784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/>
              <a:t>Reviewed 2/7/2024</a:t>
            </a:r>
          </a:p>
        </p:txBody>
      </p:sp>
    </p:spTree>
    <p:extLst>
      <p:ext uri="{BB962C8B-B14F-4D97-AF65-F5344CB8AC3E}">
        <p14:creationId xmlns:p14="http://schemas.microsoft.com/office/powerpoint/2010/main" val="1254880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fca21091-4343-4232-a795-e59481497cb5" xsi:nil="true"/>
    <lcf76f155ced4ddcb4097134ff3c332f xmlns="dfbadaf6-90cf-41d3-a0ba-bbd98d259036">
      <Terms xmlns="http://schemas.microsoft.com/office/infopath/2007/PartnerControls"/>
    </lcf76f155ced4ddcb4097134ff3c332f>
    <_Flow_SignoffStatus xmlns="dfbadaf6-90cf-41d3-a0ba-bbd98d259036" xsi:nil="true"/>
    <SharedWithUsers xmlns="fca21091-4343-4232-a795-e59481497cb5">
      <UserInfo>
        <DisplayName>Cody Critzer</DisplayName>
        <AccountId>590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63EA4EAC53434282EAA3F21CEC1BE7" ma:contentTypeVersion="29" ma:contentTypeDescription="Create a new document." ma:contentTypeScope="" ma:versionID="d1e6db6382f9bf0a238767834c1ba2e8">
  <xsd:schema xmlns:xsd="http://www.w3.org/2001/XMLSchema" xmlns:xs="http://www.w3.org/2001/XMLSchema" xmlns:p="http://schemas.microsoft.com/office/2006/metadata/properties" xmlns:ns1="http://schemas.microsoft.com/sharepoint/v3" xmlns:ns2="dfbadaf6-90cf-41d3-a0ba-bbd98d259036" xmlns:ns3="fca21091-4343-4232-a795-e59481497cb5" targetNamespace="http://schemas.microsoft.com/office/2006/metadata/properties" ma:root="true" ma:fieldsID="0d55a77fe706b52e8d7bff5f40b8e9f5" ns1:_="" ns2:_="" ns3:_="">
    <xsd:import namespace="http://schemas.microsoft.com/sharepoint/v3"/>
    <xsd:import namespace="dfbadaf6-90cf-41d3-a0ba-bbd98d259036"/>
    <xsd:import namespace="fca21091-4343-4232-a795-e59481497c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Tags" minOccurs="0"/>
                <xsd:element ref="ns1:_ip_UnifiedCompliancePolicyProperties" minOccurs="0"/>
                <xsd:element ref="ns1:_ip_UnifiedCompliancePolicyUIAc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_Flow_SignoffStatu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7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8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badaf6-90cf-41d3-a0ba-bbd98d2590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f4aff2b-04e6-48f0-83c9-56fafe2014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Flow_SignoffStatus" ma:index="26" nillable="true" ma:displayName="Sign-off status" ma:internalName="Sign_x002d_off_x0020_status">
      <xsd:simpleType>
        <xsd:restriction base="dms:Text"/>
      </xsd:simpleType>
    </xsd:element>
    <xsd:element name="MediaServiceLocation" ma:index="27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a21091-4343-4232-a795-e59481497cb5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d36b9b6e-086a-4dd3-8773-df145aa506ae}" ma:internalName="TaxCatchAll" ma:showField="CatchAllData" ma:web="fca21091-4343-4232-a795-e59481497c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FF50734-F3F3-4D68-95C0-198388410DA7}">
  <ds:schemaRefs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purl.org/dc/terms/"/>
    <ds:schemaRef ds:uri="fca21091-4343-4232-a795-e59481497cb5"/>
    <ds:schemaRef ds:uri="dfbadaf6-90cf-41d3-a0ba-bbd98d259036"/>
    <ds:schemaRef ds:uri="http://schemas.microsoft.com/sharepoint/v3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520B87C-25B0-4326-8CBD-71C0B01961E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96418E9-C72D-4F88-8990-1EE23BD99B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dfbadaf6-90cf-41d3-a0ba-bbd98d259036"/>
    <ds:schemaRef ds:uri="fca21091-4343-4232-a795-e59481497c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3709</TotalTime>
  <Words>122</Words>
  <Application>Microsoft Office PowerPoint</Application>
  <PresentationFormat>Widescreen</PresentationFormat>
  <Paragraphs>15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Global Holdings Mobile App!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CLG Leadership</dc:title>
  <dc:creator>Matt Harlan</dc:creator>
  <cp:lastModifiedBy>Heather Sellers</cp:lastModifiedBy>
  <cp:revision>418</cp:revision>
  <cp:lastPrinted>2022-01-26T22:32:58Z</cp:lastPrinted>
  <dcterms:created xsi:type="dcterms:W3CDTF">2021-03-10T13:42:43Z</dcterms:created>
  <dcterms:modified xsi:type="dcterms:W3CDTF">2026-02-12T20:10:57Z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0x010100E563EA4EAC53434282EAA3F21CEC1BE7</vt:lpwstr>
  </property>
  <property fmtid="{D5CDD505-2E9C-101B-9397-08002B2CF9AE}" pid="3" name="MediaServiceImageTags">
    <vt:lpwstr/>
  </property>
</Properties>
</file>