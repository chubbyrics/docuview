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4" r:id="rId6"/>
    <p:sldId id="257" r:id="rId7"/>
    <p:sldId id="267" r:id="rId8"/>
    <p:sldId id="268" r:id="rId9"/>
    <p:sldId id="269" r:id="rId10"/>
    <p:sldId id="270" r:id="rId11"/>
    <p:sldId id="271" r:id="rId12"/>
    <p:sldId id="265"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70" d="100"/>
          <a:sy n="70" d="100"/>
        </p:scale>
        <p:origin x="133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534C4D-1F7C-4A36-9656-43CC507E439C}"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6927C83F-3D65-4A97-B444-50E70EDFDDAA}">
      <dgm:prSet custT="1"/>
      <dgm:spPr>
        <a:solidFill>
          <a:schemeClr val="accent2">
            <a:lumMod val="75000"/>
          </a:schemeClr>
        </a:solidFill>
      </dgm:spPr>
      <dgm:t>
        <a:bodyPr/>
        <a:lstStyle/>
        <a:p>
          <a:r>
            <a:rPr lang="en-US" sz="2400"/>
            <a:t>Why Legal?</a:t>
          </a:r>
          <a:endParaRPr lang="en-US" sz="2400" dirty="0"/>
        </a:p>
      </dgm:t>
    </dgm:pt>
    <dgm:pt modelId="{B5E00BB2-AF0E-498D-932D-E53CDC39C15F}" type="parTrans" cxnId="{F639A9A3-E19C-4F67-B0EA-C258A04A3FC2}">
      <dgm:prSet/>
      <dgm:spPr/>
      <dgm:t>
        <a:bodyPr/>
        <a:lstStyle/>
        <a:p>
          <a:endParaRPr lang="en-US"/>
        </a:p>
      </dgm:t>
    </dgm:pt>
    <dgm:pt modelId="{541CE43A-58DC-479C-B6EA-A3C4424D1C90}" type="sibTrans" cxnId="{F639A9A3-E19C-4F67-B0EA-C258A04A3FC2}">
      <dgm:prSet/>
      <dgm:spPr/>
      <dgm:t>
        <a:bodyPr/>
        <a:lstStyle/>
        <a:p>
          <a:endParaRPr lang="en-US"/>
        </a:p>
      </dgm:t>
    </dgm:pt>
    <dgm:pt modelId="{65F32A0A-0CFE-4B32-AB92-F4F2BB5609A2}">
      <dgm:prSet custT="1"/>
      <dgm:spPr>
        <a:solidFill>
          <a:schemeClr val="accent2">
            <a:lumMod val="75000"/>
          </a:schemeClr>
        </a:solidFill>
      </dgm:spPr>
      <dgm:t>
        <a:bodyPr/>
        <a:lstStyle/>
        <a:p>
          <a:pPr rtl="0"/>
          <a:r>
            <a:rPr lang="en-US" sz="2400" b="0"/>
            <a:t>Practice</a:t>
          </a:r>
          <a:endParaRPr lang="en-US" sz="2400" b="0" dirty="0"/>
        </a:p>
      </dgm:t>
    </dgm:pt>
    <dgm:pt modelId="{71AE0E67-0EBE-4B04-9E8B-89DBD11E29F9}" type="parTrans" cxnId="{C6481721-C824-4B87-9062-9738AA9BB371}">
      <dgm:prSet/>
      <dgm:spPr/>
      <dgm:t>
        <a:bodyPr/>
        <a:lstStyle/>
        <a:p>
          <a:endParaRPr lang="en-US"/>
        </a:p>
      </dgm:t>
    </dgm:pt>
    <dgm:pt modelId="{0F9E1541-B965-4B87-B788-931063206103}" type="sibTrans" cxnId="{C6481721-C824-4B87-9062-9738AA9BB371}">
      <dgm:prSet/>
      <dgm:spPr/>
      <dgm:t>
        <a:bodyPr/>
        <a:lstStyle/>
        <a:p>
          <a:endParaRPr lang="en-US"/>
        </a:p>
      </dgm:t>
    </dgm:pt>
    <dgm:pt modelId="{5CF01A9A-32F3-4B33-B99F-1A8F1CEFB2FE}">
      <dgm:prSet phldr="0" custT="1"/>
      <dgm:spPr>
        <a:solidFill>
          <a:schemeClr val="accent2">
            <a:lumMod val="75000"/>
          </a:schemeClr>
        </a:solidFill>
      </dgm:spPr>
      <dgm:t>
        <a:bodyPr/>
        <a:lstStyle/>
        <a:p>
          <a:pPr rtl="0"/>
          <a:r>
            <a:rPr lang="en-US" sz="2400" b="0">
              <a:latin typeface="Calibri Light" panose="020F0302020204030204"/>
            </a:rPr>
            <a:t>Special</a:t>
          </a:r>
          <a:r>
            <a:rPr lang="en-US" sz="2400" b="0" baseline="0">
              <a:latin typeface="Calibri Light" panose="020F0302020204030204"/>
            </a:rPr>
            <a:t> Draft</a:t>
          </a:r>
          <a:endParaRPr lang="en-US" sz="2400" b="0" dirty="0">
            <a:latin typeface="Calibri Light" panose="020F0302020204030204"/>
          </a:endParaRPr>
        </a:p>
      </dgm:t>
    </dgm:pt>
    <dgm:pt modelId="{F118C3AD-3DB3-468E-BD5B-6E8AC05122E6}" type="parTrans" cxnId="{32A4BD74-B31F-4549-96B9-E281022EA9E0}">
      <dgm:prSet/>
      <dgm:spPr/>
      <dgm:t>
        <a:bodyPr/>
        <a:lstStyle/>
        <a:p>
          <a:endParaRPr lang="en-US"/>
        </a:p>
      </dgm:t>
    </dgm:pt>
    <dgm:pt modelId="{22790984-7B93-4F9F-AD7C-C1578F735471}" type="sibTrans" cxnId="{32A4BD74-B31F-4549-96B9-E281022EA9E0}">
      <dgm:prSet/>
      <dgm:spPr/>
      <dgm:t>
        <a:bodyPr/>
        <a:lstStyle/>
        <a:p>
          <a:endParaRPr lang="en-US"/>
        </a:p>
      </dgm:t>
    </dgm:pt>
    <dgm:pt modelId="{A0F919E6-8FDC-445E-85FC-0A260EFFCCB1}">
      <dgm:prSet phldr="0" custT="1"/>
      <dgm:spPr>
        <a:solidFill>
          <a:schemeClr val="accent2">
            <a:lumMod val="75000"/>
          </a:schemeClr>
        </a:solidFill>
      </dgm:spPr>
      <dgm:t>
        <a:bodyPr/>
        <a:lstStyle/>
        <a:p>
          <a:r>
            <a:rPr lang="en-US" sz="2400" b="0">
              <a:latin typeface="Calibri Light" panose="020F0302020204030204"/>
            </a:rPr>
            <a:t>Talking Points/Steps </a:t>
          </a:r>
          <a:endParaRPr lang="en-US" sz="2400" dirty="0">
            <a:latin typeface="Calibri Light" panose="020F0302020204030204"/>
          </a:endParaRPr>
        </a:p>
      </dgm:t>
    </dgm:pt>
    <dgm:pt modelId="{48603717-28D0-453C-990F-7D504B95AE29}" type="parTrans" cxnId="{0025D629-88EA-4152-A3F5-5E9ACE7EAECA}">
      <dgm:prSet/>
      <dgm:spPr/>
      <dgm:t>
        <a:bodyPr/>
        <a:lstStyle/>
        <a:p>
          <a:endParaRPr lang="en-US"/>
        </a:p>
      </dgm:t>
    </dgm:pt>
    <dgm:pt modelId="{9A0DAE7E-E67F-4FF8-90B2-B0E7E7751735}" type="sibTrans" cxnId="{0025D629-88EA-4152-A3F5-5E9ACE7EAECA}">
      <dgm:prSet/>
      <dgm:spPr/>
      <dgm:t>
        <a:bodyPr/>
        <a:lstStyle/>
        <a:p>
          <a:endParaRPr lang="en-US"/>
        </a:p>
      </dgm:t>
    </dgm:pt>
    <dgm:pt modelId="{8181C8E4-8AC4-4286-877D-C843D3A09BFC}">
      <dgm:prSet custT="1"/>
      <dgm:spPr>
        <a:solidFill>
          <a:schemeClr val="accent2">
            <a:lumMod val="75000"/>
          </a:schemeClr>
        </a:solidFill>
      </dgm:spPr>
      <dgm:t>
        <a:bodyPr/>
        <a:lstStyle/>
        <a:p>
          <a:pPr rtl="0"/>
          <a:r>
            <a:rPr lang="en-US" sz="2400"/>
            <a:t>Call Listening</a:t>
          </a:r>
          <a:endParaRPr lang="en-US" sz="2400" dirty="0"/>
        </a:p>
      </dgm:t>
    </dgm:pt>
    <dgm:pt modelId="{3B548429-3D1C-4103-9EB7-3775C32FD3B3}" type="parTrans" cxnId="{292D8B26-6C82-4635-BB0E-5D738E851EDC}">
      <dgm:prSet/>
      <dgm:spPr/>
      <dgm:t>
        <a:bodyPr/>
        <a:lstStyle/>
        <a:p>
          <a:endParaRPr lang="en-US"/>
        </a:p>
      </dgm:t>
    </dgm:pt>
    <dgm:pt modelId="{ED704C2A-EDF7-4432-B3A3-CA22CBCFFAAD}" type="sibTrans" cxnId="{292D8B26-6C82-4635-BB0E-5D738E851EDC}">
      <dgm:prSet/>
      <dgm:spPr/>
      <dgm:t>
        <a:bodyPr/>
        <a:lstStyle/>
        <a:p>
          <a:endParaRPr lang="en-US"/>
        </a:p>
      </dgm:t>
    </dgm:pt>
    <dgm:pt modelId="{0DE7AE52-2E7F-44B3-B35E-14D5C2045247}">
      <dgm:prSet custT="1"/>
      <dgm:spPr>
        <a:solidFill>
          <a:schemeClr val="accent2">
            <a:lumMod val="75000"/>
          </a:schemeClr>
        </a:solidFill>
      </dgm:spPr>
      <dgm:t>
        <a:bodyPr/>
        <a:lstStyle/>
        <a:p>
          <a:r>
            <a:rPr lang="en-US" sz="2400"/>
            <a:t>Review of Legal Documents </a:t>
          </a:r>
          <a:endParaRPr lang="en-US" sz="2400" dirty="0"/>
        </a:p>
      </dgm:t>
    </dgm:pt>
    <dgm:pt modelId="{BE75CDE8-1626-437E-953C-45F1E643520E}" type="parTrans" cxnId="{28B63568-1540-485F-8044-81D8DEC0E364}">
      <dgm:prSet/>
      <dgm:spPr/>
      <dgm:t>
        <a:bodyPr/>
        <a:lstStyle/>
        <a:p>
          <a:endParaRPr lang="en-US"/>
        </a:p>
      </dgm:t>
    </dgm:pt>
    <dgm:pt modelId="{099607A5-1F8F-4407-8F3F-3627228516A4}" type="sibTrans" cxnId="{28B63568-1540-485F-8044-81D8DEC0E364}">
      <dgm:prSet/>
      <dgm:spPr/>
      <dgm:t>
        <a:bodyPr/>
        <a:lstStyle/>
        <a:p>
          <a:endParaRPr lang="en-US"/>
        </a:p>
      </dgm:t>
    </dgm:pt>
    <dgm:pt modelId="{DBCD464A-C8A8-4F71-9A31-8B5C32DD6828}">
      <dgm:prSet phldr="0" custT="1"/>
      <dgm:spPr>
        <a:solidFill>
          <a:schemeClr val="accent2">
            <a:lumMod val="75000"/>
          </a:schemeClr>
        </a:solidFill>
      </dgm:spPr>
      <dgm:t>
        <a:bodyPr/>
        <a:lstStyle/>
        <a:p>
          <a:r>
            <a:rPr lang="en-US" sz="2400">
              <a:latin typeface="Calibri Light" panose="020F0302020204030204"/>
            </a:rPr>
            <a:t>Intake Form</a:t>
          </a:r>
          <a:endParaRPr lang="en-US" sz="2400" dirty="0">
            <a:latin typeface="Calibri Light" panose="020F0302020204030204"/>
          </a:endParaRPr>
        </a:p>
      </dgm:t>
    </dgm:pt>
    <dgm:pt modelId="{662347C8-E7AC-424B-8409-A8A951E791AC}" type="parTrans" cxnId="{18F4CEA7-A254-4A66-8510-6753ACD17195}">
      <dgm:prSet/>
      <dgm:spPr/>
      <dgm:t>
        <a:bodyPr/>
        <a:lstStyle/>
        <a:p>
          <a:endParaRPr lang="en-US"/>
        </a:p>
      </dgm:t>
    </dgm:pt>
    <dgm:pt modelId="{1F27C840-A977-4114-979A-A3DE4D82E725}" type="sibTrans" cxnId="{18F4CEA7-A254-4A66-8510-6753ACD17195}">
      <dgm:prSet/>
      <dgm:spPr/>
      <dgm:t>
        <a:bodyPr/>
        <a:lstStyle/>
        <a:p>
          <a:endParaRPr lang="en-US"/>
        </a:p>
      </dgm:t>
    </dgm:pt>
    <dgm:pt modelId="{990F169E-7B42-4706-AA57-512BD34473D4}" type="pres">
      <dgm:prSet presAssocID="{CE534C4D-1F7C-4A36-9656-43CC507E439C}" presName="diagram" presStyleCnt="0">
        <dgm:presLayoutVars>
          <dgm:dir/>
          <dgm:resizeHandles val="exact"/>
        </dgm:presLayoutVars>
      </dgm:prSet>
      <dgm:spPr/>
    </dgm:pt>
    <dgm:pt modelId="{EA2081F0-A6E8-4272-9D83-CF8BABFA517E}" type="pres">
      <dgm:prSet presAssocID="{6927C83F-3D65-4A97-B444-50E70EDFDDAA}" presName="node" presStyleLbl="node1" presStyleIdx="0" presStyleCnt="7" custLinFactNeighborX="16355" custLinFactNeighborY="-24339">
        <dgm:presLayoutVars>
          <dgm:bulletEnabled val="1"/>
        </dgm:presLayoutVars>
      </dgm:prSet>
      <dgm:spPr/>
    </dgm:pt>
    <dgm:pt modelId="{0DB39336-5C8A-4D4E-9817-5869B5A9E45F}" type="pres">
      <dgm:prSet presAssocID="{541CE43A-58DC-479C-B6EA-A3C4424D1C90}" presName="sibTrans" presStyleLbl="sibTrans2D1" presStyleIdx="0" presStyleCnt="6"/>
      <dgm:spPr/>
    </dgm:pt>
    <dgm:pt modelId="{D72FEF84-DB79-4502-9A24-1CBBEA76D763}" type="pres">
      <dgm:prSet presAssocID="{541CE43A-58DC-479C-B6EA-A3C4424D1C90}" presName="connectorText" presStyleLbl="sibTrans2D1" presStyleIdx="0" presStyleCnt="6"/>
      <dgm:spPr/>
    </dgm:pt>
    <dgm:pt modelId="{27AF68A2-8695-4155-A4AA-CD0D7755275A}" type="pres">
      <dgm:prSet presAssocID="{0DE7AE52-2E7F-44B3-B35E-14D5C2045247}" presName="node" presStyleLbl="node1" presStyleIdx="1" presStyleCnt="7" custLinFactNeighborX="8762" custLinFactNeighborY="-25312">
        <dgm:presLayoutVars>
          <dgm:bulletEnabled val="1"/>
        </dgm:presLayoutVars>
      </dgm:prSet>
      <dgm:spPr/>
    </dgm:pt>
    <dgm:pt modelId="{1C9356E2-94BF-416F-979E-73283F9DD3E4}" type="pres">
      <dgm:prSet presAssocID="{099607A5-1F8F-4407-8F3F-3627228516A4}" presName="sibTrans" presStyleLbl="sibTrans2D1" presStyleIdx="1" presStyleCnt="6"/>
      <dgm:spPr/>
    </dgm:pt>
    <dgm:pt modelId="{0238C21C-86A4-493F-BE95-B890958EFE06}" type="pres">
      <dgm:prSet presAssocID="{099607A5-1F8F-4407-8F3F-3627228516A4}" presName="connectorText" presStyleLbl="sibTrans2D1" presStyleIdx="1" presStyleCnt="6"/>
      <dgm:spPr/>
    </dgm:pt>
    <dgm:pt modelId="{318E90E5-E456-44CC-80A3-3885C6AB053F}" type="pres">
      <dgm:prSet presAssocID="{8181C8E4-8AC4-4286-877D-C843D3A09BFC}" presName="node" presStyleLbl="node1" presStyleIdx="2" presStyleCnt="7" custLinFactNeighborX="-2921" custLinFactNeighborY="-27259">
        <dgm:presLayoutVars>
          <dgm:bulletEnabled val="1"/>
        </dgm:presLayoutVars>
      </dgm:prSet>
      <dgm:spPr/>
    </dgm:pt>
    <dgm:pt modelId="{A6BA4E51-A3F0-4BAB-B9AB-671FCCD88F82}" type="pres">
      <dgm:prSet presAssocID="{ED704C2A-EDF7-4432-B3A3-CA22CBCFFAAD}" presName="sibTrans" presStyleLbl="sibTrans2D1" presStyleIdx="2" presStyleCnt="6"/>
      <dgm:spPr/>
    </dgm:pt>
    <dgm:pt modelId="{783CE646-7F13-46BD-9E57-591D8F213471}" type="pres">
      <dgm:prSet presAssocID="{ED704C2A-EDF7-4432-B3A3-CA22CBCFFAAD}" presName="connectorText" presStyleLbl="sibTrans2D1" presStyleIdx="2" presStyleCnt="6"/>
      <dgm:spPr/>
    </dgm:pt>
    <dgm:pt modelId="{B5F1A5BF-BEDB-471F-B2BA-A58D3BCB6015}" type="pres">
      <dgm:prSet presAssocID="{DBCD464A-C8A8-4F71-9A31-8B5C32DD6828}" presName="node" presStyleLbl="node1" presStyleIdx="3" presStyleCnt="7" custLinFactNeighborX="-14019" custLinFactNeighborY="-25312">
        <dgm:presLayoutVars>
          <dgm:bulletEnabled val="1"/>
        </dgm:presLayoutVars>
      </dgm:prSet>
      <dgm:spPr/>
    </dgm:pt>
    <dgm:pt modelId="{5DF156A7-981F-4ED3-A705-2DF7356AF2A3}" type="pres">
      <dgm:prSet presAssocID="{1F27C840-A977-4114-979A-A3DE4D82E725}" presName="sibTrans" presStyleLbl="sibTrans2D1" presStyleIdx="3" presStyleCnt="6" custAng="19577541" custLinFactNeighborX="10368" custLinFactNeighborY="4987"/>
      <dgm:spPr/>
    </dgm:pt>
    <dgm:pt modelId="{C8A662C8-B04A-4981-B14B-FDE0C566CA38}" type="pres">
      <dgm:prSet presAssocID="{1F27C840-A977-4114-979A-A3DE4D82E725}" presName="connectorText" presStyleLbl="sibTrans2D1" presStyleIdx="3" presStyleCnt="6"/>
      <dgm:spPr/>
    </dgm:pt>
    <dgm:pt modelId="{22AE6EA4-1057-4AA8-BDAE-4A57900DDB12}" type="pres">
      <dgm:prSet presAssocID="{5CF01A9A-32F3-4B33-B99F-1A8F1CEFB2FE}" presName="node" presStyleLbl="node1" presStyleIdx="4" presStyleCnt="7" custLinFactNeighborX="-75936" custLinFactNeighborY="-37289">
        <dgm:presLayoutVars>
          <dgm:bulletEnabled val="1"/>
        </dgm:presLayoutVars>
      </dgm:prSet>
      <dgm:spPr/>
    </dgm:pt>
    <dgm:pt modelId="{E346B961-1EC4-4A94-B6C9-B7F3C72FA99A}" type="pres">
      <dgm:prSet presAssocID="{22790984-7B93-4F9F-AD7C-C1578F735471}" presName="sibTrans" presStyleLbl="sibTrans2D1" presStyleIdx="4" presStyleCnt="6"/>
      <dgm:spPr/>
    </dgm:pt>
    <dgm:pt modelId="{36EF98BD-7444-4C8E-811C-B3C1B3094265}" type="pres">
      <dgm:prSet presAssocID="{22790984-7B93-4F9F-AD7C-C1578F735471}" presName="connectorText" presStyleLbl="sibTrans2D1" presStyleIdx="4" presStyleCnt="6"/>
      <dgm:spPr/>
    </dgm:pt>
    <dgm:pt modelId="{B1322E32-802A-4AA8-95BD-4F6C8BB6E543}" type="pres">
      <dgm:prSet presAssocID="{A0F919E6-8FDC-445E-85FC-0A260EFFCCB1}" presName="node" presStyleLbl="node1" presStyleIdx="5" presStyleCnt="7" custLinFactNeighborX="-71561" custLinFactNeighborY="-37289">
        <dgm:presLayoutVars>
          <dgm:bulletEnabled val="1"/>
        </dgm:presLayoutVars>
      </dgm:prSet>
      <dgm:spPr/>
    </dgm:pt>
    <dgm:pt modelId="{A41790D2-EFAD-4164-9ACF-95D1485C9D36}" type="pres">
      <dgm:prSet presAssocID="{9A0DAE7E-E67F-4FF8-90B2-B0E7E7751735}" presName="sibTrans" presStyleLbl="sibTrans2D1" presStyleIdx="5" presStyleCnt="6"/>
      <dgm:spPr/>
    </dgm:pt>
    <dgm:pt modelId="{FBC4126D-868F-4CB1-B210-ADB443BB7AD9}" type="pres">
      <dgm:prSet presAssocID="{9A0DAE7E-E67F-4FF8-90B2-B0E7E7751735}" presName="connectorText" presStyleLbl="sibTrans2D1" presStyleIdx="5" presStyleCnt="6"/>
      <dgm:spPr/>
    </dgm:pt>
    <dgm:pt modelId="{4F0A93AF-82FD-429B-833A-E6A5214981DA}" type="pres">
      <dgm:prSet presAssocID="{65F32A0A-0CFE-4B32-AB92-F4F2BB5609A2}" presName="node" presStyleLbl="node1" presStyleIdx="6" presStyleCnt="7" custLinFactNeighborX="-73016" custLinFactNeighborY="-37289">
        <dgm:presLayoutVars>
          <dgm:bulletEnabled val="1"/>
        </dgm:presLayoutVars>
      </dgm:prSet>
      <dgm:spPr/>
    </dgm:pt>
  </dgm:ptLst>
  <dgm:cxnLst>
    <dgm:cxn modelId="{ECDD4A01-2BD8-4DE8-B617-599B5FF250FE}" type="presOf" srcId="{ED704C2A-EDF7-4432-B3A3-CA22CBCFFAAD}" destId="{A6BA4E51-A3F0-4BAB-B9AB-671FCCD88F82}" srcOrd="0" destOrd="0" presId="urn:microsoft.com/office/officeart/2005/8/layout/process5"/>
    <dgm:cxn modelId="{19A9F509-711C-4BDF-8024-29134AE7A4E6}" type="presOf" srcId="{541CE43A-58DC-479C-B6EA-A3C4424D1C90}" destId="{0DB39336-5C8A-4D4E-9817-5869B5A9E45F}" srcOrd="0" destOrd="0" presId="urn:microsoft.com/office/officeart/2005/8/layout/process5"/>
    <dgm:cxn modelId="{017DA30F-FF5F-4685-A256-6AAA30C68C51}" type="presOf" srcId="{CE534C4D-1F7C-4A36-9656-43CC507E439C}" destId="{990F169E-7B42-4706-AA57-512BD34473D4}" srcOrd="0" destOrd="0" presId="urn:microsoft.com/office/officeart/2005/8/layout/process5"/>
    <dgm:cxn modelId="{B43F6818-564B-41AE-80B4-F3A4184CC412}" type="presOf" srcId="{A0F919E6-8FDC-445E-85FC-0A260EFFCCB1}" destId="{B1322E32-802A-4AA8-95BD-4F6C8BB6E543}" srcOrd="0" destOrd="0" presId="urn:microsoft.com/office/officeart/2005/8/layout/process5"/>
    <dgm:cxn modelId="{47ACE618-0275-44D5-BC0D-5AB3D4D5A66A}" type="presOf" srcId="{099607A5-1F8F-4407-8F3F-3627228516A4}" destId="{1C9356E2-94BF-416F-979E-73283F9DD3E4}" srcOrd="0" destOrd="0" presId="urn:microsoft.com/office/officeart/2005/8/layout/process5"/>
    <dgm:cxn modelId="{C6481721-C824-4B87-9062-9738AA9BB371}" srcId="{CE534C4D-1F7C-4A36-9656-43CC507E439C}" destId="{65F32A0A-0CFE-4B32-AB92-F4F2BB5609A2}" srcOrd="6" destOrd="0" parTransId="{71AE0E67-0EBE-4B04-9E8B-89DBD11E29F9}" sibTransId="{0F9E1541-B965-4B87-B788-931063206103}"/>
    <dgm:cxn modelId="{292D8B26-6C82-4635-BB0E-5D738E851EDC}" srcId="{CE534C4D-1F7C-4A36-9656-43CC507E439C}" destId="{8181C8E4-8AC4-4286-877D-C843D3A09BFC}" srcOrd="2" destOrd="0" parTransId="{3B548429-3D1C-4103-9EB7-3775C32FD3B3}" sibTransId="{ED704C2A-EDF7-4432-B3A3-CA22CBCFFAAD}"/>
    <dgm:cxn modelId="{0025D629-88EA-4152-A3F5-5E9ACE7EAECA}" srcId="{CE534C4D-1F7C-4A36-9656-43CC507E439C}" destId="{A0F919E6-8FDC-445E-85FC-0A260EFFCCB1}" srcOrd="5" destOrd="0" parTransId="{48603717-28D0-453C-990F-7D504B95AE29}" sibTransId="{9A0DAE7E-E67F-4FF8-90B2-B0E7E7751735}"/>
    <dgm:cxn modelId="{2EBA2832-E7D4-481A-AB1D-3EED6D12660B}" type="presOf" srcId="{22790984-7B93-4F9F-AD7C-C1578F735471}" destId="{E346B961-1EC4-4A94-B6C9-B7F3C72FA99A}" srcOrd="0" destOrd="0" presId="urn:microsoft.com/office/officeart/2005/8/layout/process5"/>
    <dgm:cxn modelId="{2CBF7937-C194-43DF-9F76-C751FE300E58}" type="presOf" srcId="{1F27C840-A977-4114-979A-A3DE4D82E725}" destId="{C8A662C8-B04A-4981-B14B-FDE0C566CA38}" srcOrd="1" destOrd="0" presId="urn:microsoft.com/office/officeart/2005/8/layout/process5"/>
    <dgm:cxn modelId="{E906D95E-C9A0-4BC3-A5E8-D075CDEC5982}" type="presOf" srcId="{65F32A0A-0CFE-4B32-AB92-F4F2BB5609A2}" destId="{4F0A93AF-82FD-429B-833A-E6A5214981DA}" srcOrd="0" destOrd="0" presId="urn:microsoft.com/office/officeart/2005/8/layout/process5"/>
    <dgm:cxn modelId="{28B63568-1540-485F-8044-81D8DEC0E364}" srcId="{CE534C4D-1F7C-4A36-9656-43CC507E439C}" destId="{0DE7AE52-2E7F-44B3-B35E-14D5C2045247}" srcOrd="1" destOrd="0" parTransId="{BE75CDE8-1626-437E-953C-45F1E643520E}" sibTransId="{099607A5-1F8F-4407-8F3F-3627228516A4}"/>
    <dgm:cxn modelId="{6AC93F69-CE54-4620-B401-B00B2E5E2722}" type="presOf" srcId="{541CE43A-58DC-479C-B6EA-A3C4424D1C90}" destId="{D72FEF84-DB79-4502-9A24-1CBBEA76D763}" srcOrd="1" destOrd="0" presId="urn:microsoft.com/office/officeart/2005/8/layout/process5"/>
    <dgm:cxn modelId="{F7FE2E4C-48B3-4D91-86B3-6313805D7F2F}" type="presOf" srcId="{099607A5-1F8F-4407-8F3F-3627228516A4}" destId="{0238C21C-86A4-493F-BE95-B890958EFE06}" srcOrd="1" destOrd="0" presId="urn:microsoft.com/office/officeart/2005/8/layout/process5"/>
    <dgm:cxn modelId="{32A4BD74-B31F-4549-96B9-E281022EA9E0}" srcId="{CE534C4D-1F7C-4A36-9656-43CC507E439C}" destId="{5CF01A9A-32F3-4B33-B99F-1A8F1CEFB2FE}" srcOrd="4" destOrd="0" parTransId="{F118C3AD-3DB3-468E-BD5B-6E8AC05122E6}" sibTransId="{22790984-7B93-4F9F-AD7C-C1578F735471}"/>
    <dgm:cxn modelId="{D216369E-9D6F-4CCA-8E4C-134B3A40F91B}" type="presOf" srcId="{22790984-7B93-4F9F-AD7C-C1578F735471}" destId="{36EF98BD-7444-4C8E-811C-B3C1B3094265}" srcOrd="1" destOrd="0" presId="urn:microsoft.com/office/officeart/2005/8/layout/process5"/>
    <dgm:cxn modelId="{E1FDF9A2-BD66-46C9-A5D7-1D2B2AB7D022}" type="presOf" srcId="{ED704C2A-EDF7-4432-B3A3-CA22CBCFFAAD}" destId="{783CE646-7F13-46BD-9E57-591D8F213471}" srcOrd="1" destOrd="0" presId="urn:microsoft.com/office/officeart/2005/8/layout/process5"/>
    <dgm:cxn modelId="{F639A9A3-E19C-4F67-B0EA-C258A04A3FC2}" srcId="{CE534C4D-1F7C-4A36-9656-43CC507E439C}" destId="{6927C83F-3D65-4A97-B444-50E70EDFDDAA}" srcOrd="0" destOrd="0" parTransId="{B5E00BB2-AF0E-498D-932D-E53CDC39C15F}" sibTransId="{541CE43A-58DC-479C-B6EA-A3C4424D1C90}"/>
    <dgm:cxn modelId="{18F4CEA7-A254-4A66-8510-6753ACD17195}" srcId="{CE534C4D-1F7C-4A36-9656-43CC507E439C}" destId="{DBCD464A-C8A8-4F71-9A31-8B5C32DD6828}" srcOrd="3" destOrd="0" parTransId="{662347C8-E7AC-424B-8409-A8A951E791AC}" sibTransId="{1F27C840-A977-4114-979A-A3DE4D82E725}"/>
    <dgm:cxn modelId="{E8A74BA9-2A1C-4771-96DE-34CC7EAFEB64}" type="presOf" srcId="{8181C8E4-8AC4-4286-877D-C843D3A09BFC}" destId="{318E90E5-E456-44CC-80A3-3885C6AB053F}" srcOrd="0" destOrd="0" presId="urn:microsoft.com/office/officeart/2005/8/layout/process5"/>
    <dgm:cxn modelId="{282824BB-9DDE-4B22-98BA-5445FC0A1877}" type="presOf" srcId="{DBCD464A-C8A8-4F71-9A31-8B5C32DD6828}" destId="{B5F1A5BF-BEDB-471F-B2BA-A58D3BCB6015}" srcOrd="0" destOrd="0" presId="urn:microsoft.com/office/officeart/2005/8/layout/process5"/>
    <dgm:cxn modelId="{597757C3-A828-4050-BFF4-2E755D523940}" type="presOf" srcId="{1F27C840-A977-4114-979A-A3DE4D82E725}" destId="{5DF156A7-981F-4ED3-A705-2DF7356AF2A3}" srcOrd="0" destOrd="0" presId="urn:microsoft.com/office/officeart/2005/8/layout/process5"/>
    <dgm:cxn modelId="{865430C4-2AEF-4282-92E2-88C3D3414E8C}" type="presOf" srcId="{6927C83F-3D65-4A97-B444-50E70EDFDDAA}" destId="{EA2081F0-A6E8-4272-9D83-CF8BABFA517E}" srcOrd="0" destOrd="0" presId="urn:microsoft.com/office/officeart/2005/8/layout/process5"/>
    <dgm:cxn modelId="{71E37BD3-69A5-4B0E-AD1A-1DFF6BFD3C80}" type="presOf" srcId="{9A0DAE7E-E67F-4FF8-90B2-B0E7E7751735}" destId="{FBC4126D-868F-4CB1-B210-ADB443BB7AD9}" srcOrd="1" destOrd="0" presId="urn:microsoft.com/office/officeart/2005/8/layout/process5"/>
    <dgm:cxn modelId="{43840EE4-BDBD-4F8F-8F41-C605FDEF8968}" type="presOf" srcId="{5CF01A9A-32F3-4B33-B99F-1A8F1CEFB2FE}" destId="{22AE6EA4-1057-4AA8-BDAE-4A57900DDB12}" srcOrd="0" destOrd="0" presId="urn:microsoft.com/office/officeart/2005/8/layout/process5"/>
    <dgm:cxn modelId="{F08DF2F1-E032-4C29-825D-746E33E9A2F7}" type="presOf" srcId="{0DE7AE52-2E7F-44B3-B35E-14D5C2045247}" destId="{27AF68A2-8695-4155-A4AA-CD0D7755275A}" srcOrd="0" destOrd="0" presId="urn:microsoft.com/office/officeart/2005/8/layout/process5"/>
    <dgm:cxn modelId="{94358FF2-298E-469F-9BCF-6A45E170F2CB}" type="presOf" srcId="{9A0DAE7E-E67F-4FF8-90B2-B0E7E7751735}" destId="{A41790D2-EFAD-4164-9ACF-95D1485C9D36}" srcOrd="0" destOrd="0" presId="urn:microsoft.com/office/officeart/2005/8/layout/process5"/>
    <dgm:cxn modelId="{B828CD02-F651-42F4-B090-A5D9371056ED}" type="presParOf" srcId="{990F169E-7B42-4706-AA57-512BD34473D4}" destId="{EA2081F0-A6E8-4272-9D83-CF8BABFA517E}" srcOrd="0" destOrd="0" presId="urn:microsoft.com/office/officeart/2005/8/layout/process5"/>
    <dgm:cxn modelId="{9ACE41F5-BA9D-4792-939E-2177FCF3BC3E}" type="presParOf" srcId="{990F169E-7B42-4706-AA57-512BD34473D4}" destId="{0DB39336-5C8A-4D4E-9817-5869B5A9E45F}" srcOrd="1" destOrd="0" presId="urn:microsoft.com/office/officeart/2005/8/layout/process5"/>
    <dgm:cxn modelId="{74F37926-CE5A-42F8-A72C-8190679EBCF2}" type="presParOf" srcId="{0DB39336-5C8A-4D4E-9817-5869B5A9E45F}" destId="{D72FEF84-DB79-4502-9A24-1CBBEA76D763}" srcOrd="0" destOrd="0" presId="urn:microsoft.com/office/officeart/2005/8/layout/process5"/>
    <dgm:cxn modelId="{ED3D15BE-5B17-43FE-8AE0-D958C63F96B3}" type="presParOf" srcId="{990F169E-7B42-4706-AA57-512BD34473D4}" destId="{27AF68A2-8695-4155-A4AA-CD0D7755275A}" srcOrd="2" destOrd="0" presId="urn:microsoft.com/office/officeart/2005/8/layout/process5"/>
    <dgm:cxn modelId="{E9E427E1-96EC-4AAF-9E20-48214C204CB3}" type="presParOf" srcId="{990F169E-7B42-4706-AA57-512BD34473D4}" destId="{1C9356E2-94BF-416F-979E-73283F9DD3E4}" srcOrd="3" destOrd="0" presId="urn:microsoft.com/office/officeart/2005/8/layout/process5"/>
    <dgm:cxn modelId="{469214C4-6E36-4A35-BF3D-0DA739AB7508}" type="presParOf" srcId="{1C9356E2-94BF-416F-979E-73283F9DD3E4}" destId="{0238C21C-86A4-493F-BE95-B890958EFE06}" srcOrd="0" destOrd="0" presId="urn:microsoft.com/office/officeart/2005/8/layout/process5"/>
    <dgm:cxn modelId="{6477DFF9-56AC-48C6-9854-F2E80C8B27B6}" type="presParOf" srcId="{990F169E-7B42-4706-AA57-512BD34473D4}" destId="{318E90E5-E456-44CC-80A3-3885C6AB053F}" srcOrd="4" destOrd="0" presId="urn:microsoft.com/office/officeart/2005/8/layout/process5"/>
    <dgm:cxn modelId="{1BCA7833-E1AB-4704-B62E-EF11F76216FC}" type="presParOf" srcId="{990F169E-7B42-4706-AA57-512BD34473D4}" destId="{A6BA4E51-A3F0-4BAB-B9AB-671FCCD88F82}" srcOrd="5" destOrd="0" presId="urn:microsoft.com/office/officeart/2005/8/layout/process5"/>
    <dgm:cxn modelId="{695400A4-E017-426C-A876-50DA417047D6}" type="presParOf" srcId="{A6BA4E51-A3F0-4BAB-B9AB-671FCCD88F82}" destId="{783CE646-7F13-46BD-9E57-591D8F213471}" srcOrd="0" destOrd="0" presId="urn:microsoft.com/office/officeart/2005/8/layout/process5"/>
    <dgm:cxn modelId="{BDC85987-232D-477F-925A-79D7AE584C17}" type="presParOf" srcId="{990F169E-7B42-4706-AA57-512BD34473D4}" destId="{B5F1A5BF-BEDB-471F-B2BA-A58D3BCB6015}" srcOrd="6" destOrd="0" presId="urn:microsoft.com/office/officeart/2005/8/layout/process5"/>
    <dgm:cxn modelId="{D20F3437-F2D0-4AF2-A77A-FB4DE78B12D8}" type="presParOf" srcId="{990F169E-7B42-4706-AA57-512BD34473D4}" destId="{5DF156A7-981F-4ED3-A705-2DF7356AF2A3}" srcOrd="7" destOrd="0" presId="urn:microsoft.com/office/officeart/2005/8/layout/process5"/>
    <dgm:cxn modelId="{F8F6E3F8-B7E2-4D4B-BC0B-E205366F3D81}" type="presParOf" srcId="{5DF156A7-981F-4ED3-A705-2DF7356AF2A3}" destId="{C8A662C8-B04A-4981-B14B-FDE0C566CA38}" srcOrd="0" destOrd="0" presId="urn:microsoft.com/office/officeart/2005/8/layout/process5"/>
    <dgm:cxn modelId="{2C8A6CD3-C891-4F7C-97DC-7FB8D692AB13}" type="presParOf" srcId="{990F169E-7B42-4706-AA57-512BD34473D4}" destId="{22AE6EA4-1057-4AA8-BDAE-4A57900DDB12}" srcOrd="8" destOrd="0" presId="urn:microsoft.com/office/officeart/2005/8/layout/process5"/>
    <dgm:cxn modelId="{514B9C36-1A5E-4B07-B436-F4CB786196E7}" type="presParOf" srcId="{990F169E-7B42-4706-AA57-512BD34473D4}" destId="{E346B961-1EC4-4A94-B6C9-B7F3C72FA99A}" srcOrd="9" destOrd="0" presId="urn:microsoft.com/office/officeart/2005/8/layout/process5"/>
    <dgm:cxn modelId="{2DCCB9D3-060C-45D3-8456-FDB08EF25D2B}" type="presParOf" srcId="{E346B961-1EC4-4A94-B6C9-B7F3C72FA99A}" destId="{36EF98BD-7444-4C8E-811C-B3C1B3094265}" srcOrd="0" destOrd="0" presId="urn:microsoft.com/office/officeart/2005/8/layout/process5"/>
    <dgm:cxn modelId="{2CD6103B-CB2C-41DA-B814-D759A2887D8B}" type="presParOf" srcId="{990F169E-7B42-4706-AA57-512BD34473D4}" destId="{B1322E32-802A-4AA8-95BD-4F6C8BB6E543}" srcOrd="10" destOrd="0" presId="urn:microsoft.com/office/officeart/2005/8/layout/process5"/>
    <dgm:cxn modelId="{CA5FF847-42B5-47FF-979B-4ADBDC144F34}" type="presParOf" srcId="{990F169E-7B42-4706-AA57-512BD34473D4}" destId="{A41790D2-EFAD-4164-9ACF-95D1485C9D36}" srcOrd="11" destOrd="0" presId="urn:microsoft.com/office/officeart/2005/8/layout/process5"/>
    <dgm:cxn modelId="{BCC70BB9-D0D6-4D2C-96D1-B1D22B14DEBD}" type="presParOf" srcId="{A41790D2-EFAD-4164-9ACF-95D1485C9D36}" destId="{FBC4126D-868F-4CB1-B210-ADB443BB7AD9}" srcOrd="0" destOrd="0" presId="urn:microsoft.com/office/officeart/2005/8/layout/process5"/>
    <dgm:cxn modelId="{0CCADFD1-D866-45BC-8F1C-B75477799B53}" type="presParOf" srcId="{990F169E-7B42-4706-AA57-512BD34473D4}" destId="{4F0A93AF-82FD-429B-833A-E6A5214981DA}"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F96506-BE11-43F1-97FC-308CB5F4EBE1}"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EB25219F-1725-49D3-B81E-D368DE7B5F2B}">
      <dgm:prSet/>
      <dgm:spPr/>
      <dgm:t>
        <a:bodyPr/>
        <a:lstStyle/>
        <a:p>
          <a:r>
            <a:rPr lang="en-US"/>
            <a:t>Creditors still have the right to continue collections attempts in ways to collect the amount owe. </a:t>
          </a:r>
        </a:p>
      </dgm:t>
    </dgm:pt>
    <dgm:pt modelId="{CBBABF4D-54D0-4AF9-B17A-09DA16A17F19}" type="parTrans" cxnId="{88A05B1A-19CC-4CD8-9605-C734A31F41A6}">
      <dgm:prSet/>
      <dgm:spPr/>
      <dgm:t>
        <a:bodyPr/>
        <a:lstStyle/>
        <a:p>
          <a:endParaRPr lang="en-US"/>
        </a:p>
      </dgm:t>
    </dgm:pt>
    <dgm:pt modelId="{FBF4D505-69F0-4D0C-8C5D-1981E716AFEC}" type="sibTrans" cxnId="{88A05B1A-19CC-4CD8-9605-C734A31F41A6}">
      <dgm:prSet/>
      <dgm:spPr/>
      <dgm:t>
        <a:bodyPr/>
        <a:lstStyle/>
        <a:p>
          <a:endParaRPr lang="en-US"/>
        </a:p>
      </dgm:t>
    </dgm:pt>
    <dgm:pt modelId="{140BB284-4243-4CE2-AF1F-F36388B3B65C}">
      <dgm:prSet/>
      <dgm:spPr/>
      <dgm:t>
        <a:bodyPr/>
        <a:lstStyle/>
        <a:p>
          <a:r>
            <a:rPr lang="en-US"/>
            <a:t>Some creditors may proceed to transmit this by Law Offices for legal way to collect the debt. </a:t>
          </a:r>
        </a:p>
      </dgm:t>
    </dgm:pt>
    <dgm:pt modelId="{06D021A6-A382-47EE-B39C-4971DE1626A5}" type="parTrans" cxnId="{F6BF03AA-3285-4580-A5B6-CB2D8BFB6EB4}">
      <dgm:prSet/>
      <dgm:spPr/>
      <dgm:t>
        <a:bodyPr/>
        <a:lstStyle/>
        <a:p>
          <a:endParaRPr lang="en-US"/>
        </a:p>
      </dgm:t>
    </dgm:pt>
    <dgm:pt modelId="{36A0EA15-DCFC-4D71-945D-C015E9966C52}" type="sibTrans" cxnId="{F6BF03AA-3285-4580-A5B6-CB2D8BFB6EB4}">
      <dgm:prSet/>
      <dgm:spPr/>
      <dgm:t>
        <a:bodyPr/>
        <a:lstStyle/>
        <a:p>
          <a:endParaRPr lang="en-US"/>
        </a:p>
      </dgm:t>
    </dgm:pt>
    <dgm:pt modelId="{94771A6B-DC44-4597-B8AC-3109D55FCD03}" type="pres">
      <dgm:prSet presAssocID="{71F96506-BE11-43F1-97FC-308CB5F4EBE1}" presName="outerComposite" presStyleCnt="0">
        <dgm:presLayoutVars>
          <dgm:chMax val="5"/>
          <dgm:dir/>
          <dgm:resizeHandles val="exact"/>
        </dgm:presLayoutVars>
      </dgm:prSet>
      <dgm:spPr/>
    </dgm:pt>
    <dgm:pt modelId="{CCC00D00-9A97-4C28-861A-24193F817384}" type="pres">
      <dgm:prSet presAssocID="{71F96506-BE11-43F1-97FC-308CB5F4EBE1}" presName="dummyMaxCanvas" presStyleCnt="0">
        <dgm:presLayoutVars/>
      </dgm:prSet>
      <dgm:spPr/>
    </dgm:pt>
    <dgm:pt modelId="{EA80C70E-03D7-4D3F-AA4F-B04A2071AC83}" type="pres">
      <dgm:prSet presAssocID="{71F96506-BE11-43F1-97FC-308CB5F4EBE1}" presName="TwoNodes_1" presStyleLbl="node1" presStyleIdx="0" presStyleCnt="2">
        <dgm:presLayoutVars>
          <dgm:bulletEnabled val="1"/>
        </dgm:presLayoutVars>
      </dgm:prSet>
      <dgm:spPr/>
    </dgm:pt>
    <dgm:pt modelId="{2AF26831-34D1-4193-93A1-6AD56A1A673F}" type="pres">
      <dgm:prSet presAssocID="{71F96506-BE11-43F1-97FC-308CB5F4EBE1}" presName="TwoNodes_2" presStyleLbl="node1" presStyleIdx="1" presStyleCnt="2">
        <dgm:presLayoutVars>
          <dgm:bulletEnabled val="1"/>
        </dgm:presLayoutVars>
      </dgm:prSet>
      <dgm:spPr/>
    </dgm:pt>
    <dgm:pt modelId="{903A5903-FAC7-4BB9-9C7F-6AB0C5121DC9}" type="pres">
      <dgm:prSet presAssocID="{71F96506-BE11-43F1-97FC-308CB5F4EBE1}" presName="TwoConn_1-2" presStyleLbl="fgAccFollowNode1" presStyleIdx="0" presStyleCnt="1">
        <dgm:presLayoutVars>
          <dgm:bulletEnabled val="1"/>
        </dgm:presLayoutVars>
      </dgm:prSet>
      <dgm:spPr/>
    </dgm:pt>
    <dgm:pt modelId="{5D15719D-EA93-46E1-8B98-38D656263277}" type="pres">
      <dgm:prSet presAssocID="{71F96506-BE11-43F1-97FC-308CB5F4EBE1}" presName="TwoNodes_1_text" presStyleLbl="node1" presStyleIdx="1" presStyleCnt="2">
        <dgm:presLayoutVars>
          <dgm:bulletEnabled val="1"/>
        </dgm:presLayoutVars>
      </dgm:prSet>
      <dgm:spPr/>
    </dgm:pt>
    <dgm:pt modelId="{01298357-47B3-45EB-8EDE-79E2E5D6B063}" type="pres">
      <dgm:prSet presAssocID="{71F96506-BE11-43F1-97FC-308CB5F4EBE1}" presName="TwoNodes_2_text" presStyleLbl="node1" presStyleIdx="1" presStyleCnt="2">
        <dgm:presLayoutVars>
          <dgm:bulletEnabled val="1"/>
        </dgm:presLayoutVars>
      </dgm:prSet>
      <dgm:spPr/>
    </dgm:pt>
  </dgm:ptLst>
  <dgm:cxnLst>
    <dgm:cxn modelId="{23572A16-ED2A-447D-8133-912E56C91173}" type="presOf" srcId="{EB25219F-1725-49D3-B81E-D368DE7B5F2B}" destId="{5D15719D-EA93-46E1-8B98-38D656263277}" srcOrd="1" destOrd="0" presId="urn:microsoft.com/office/officeart/2005/8/layout/vProcess5"/>
    <dgm:cxn modelId="{88A05B1A-19CC-4CD8-9605-C734A31F41A6}" srcId="{71F96506-BE11-43F1-97FC-308CB5F4EBE1}" destId="{EB25219F-1725-49D3-B81E-D368DE7B5F2B}" srcOrd="0" destOrd="0" parTransId="{CBBABF4D-54D0-4AF9-B17A-09DA16A17F19}" sibTransId="{FBF4D505-69F0-4D0C-8C5D-1981E716AFEC}"/>
    <dgm:cxn modelId="{E5C2F726-61A7-42C4-AE94-1EE51A582417}" type="presOf" srcId="{71F96506-BE11-43F1-97FC-308CB5F4EBE1}" destId="{94771A6B-DC44-4597-B8AC-3109D55FCD03}" srcOrd="0" destOrd="0" presId="urn:microsoft.com/office/officeart/2005/8/layout/vProcess5"/>
    <dgm:cxn modelId="{0FD30455-6A19-4379-94AB-F12395316B1F}" type="presOf" srcId="{140BB284-4243-4CE2-AF1F-F36388B3B65C}" destId="{01298357-47B3-45EB-8EDE-79E2E5D6B063}" srcOrd="1" destOrd="0" presId="urn:microsoft.com/office/officeart/2005/8/layout/vProcess5"/>
    <dgm:cxn modelId="{1A48017B-DF4B-4233-B45F-D238A758DCB6}" type="presOf" srcId="{FBF4D505-69F0-4D0C-8C5D-1981E716AFEC}" destId="{903A5903-FAC7-4BB9-9C7F-6AB0C5121DC9}" srcOrd="0" destOrd="0" presId="urn:microsoft.com/office/officeart/2005/8/layout/vProcess5"/>
    <dgm:cxn modelId="{80C5AB90-BF3E-4974-BABB-A613FC396D94}" type="presOf" srcId="{140BB284-4243-4CE2-AF1F-F36388B3B65C}" destId="{2AF26831-34D1-4193-93A1-6AD56A1A673F}" srcOrd="0" destOrd="0" presId="urn:microsoft.com/office/officeart/2005/8/layout/vProcess5"/>
    <dgm:cxn modelId="{F6BF03AA-3285-4580-A5B6-CB2D8BFB6EB4}" srcId="{71F96506-BE11-43F1-97FC-308CB5F4EBE1}" destId="{140BB284-4243-4CE2-AF1F-F36388B3B65C}" srcOrd="1" destOrd="0" parTransId="{06D021A6-A382-47EE-B39C-4971DE1626A5}" sibTransId="{36A0EA15-DCFC-4D71-945D-C015E9966C52}"/>
    <dgm:cxn modelId="{36864AB2-8BD1-48DA-A70E-982A26F43F39}" type="presOf" srcId="{EB25219F-1725-49D3-B81E-D368DE7B5F2B}" destId="{EA80C70E-03D7-4D3F-AA4F-B04A2071AC83}" srcOrd="0" destOrd="0" presId="urn:microsoft.com/office/officeart/2005/8/layout/vProcess5"/>
    <dgm:cxn modelId="{EDF11A20-E3E3-40D8-AEC4-090F85C47F42}" type="presParOf" srcId="{94771A6B-DC44-4597-B8AC-3109D55FCD03}" destId="{CCC00D00-9A97-4C28-861A-24193F817384}" srcOrd="0" destOrd="0" presId="urn:microsoft.com/office/officeart/2005/8/layout/vProcess5"/>
    <dgm:cxn modelId="{408FD6D8-E32D-4E69-95A6-4C9FE26E9905}" type="presParOf" srcId="{94771A6B-DC44-4597-B8AC-3109D55FCD03}" destId="{EA80C70E-03D7-4D3F-AA4F-B04A2071AC83}" srcOrd="1" destOrd="0" presId="urn:microsoft.com/office/officeart/2005/8/layout/vProcess5"/>
    <dgm:cxn modelId="{8B21C081-F7EC-4793-9F0E-24CB2730B2C6}" type="presParOf" srcId="{94771A6B-DC44-4597-B8AC-3109D55FCD03}" destId="{2AF26831-34D1-4193-93A1-6AD56A1A673F}" srcOrd="2" destOrd="0" presId="urn:microsoft.com/office/officeart/2005/8/layout/vProcess5"/>
    <dgm:cxn modelId="{D91BE5D8-C881-41CA-AF73-ADE15262A16D}" type="presParOf" srcId="{94771A6B-DC44-4597-B8AC-3109D55FCD03}" destId="{903A5903-FAC7-4BB9-9C7F-6AB0C5121DC9}" srcOrd="3" destOrd="0" presId="urn:microsoft.com/office/officeart/2005/8/layout/vProcess5"/>
    <dgm:cxn modelId="{D6679A89-E11A-43F3-B19A-91903A49DF15}" type="presParOf" srcId="{94771A6B-DC44-4597-B8AC-3109D55FCD03}" destId="{5D15719D-EA93-46E1-8B98-38D656263277}" srcOrd="4" destOrd="0" presId="urn:microsoft.com/office/officeart/2005/8/layout/vProcess5"/>
    <dgm:cxn modelId="{B405A73B-10F7-4ED8-BEB3-5D309DD0871C}" type="presParOf" srcId="{94771A6B-DC44-4597-B8AC-3109D55FCD03}" destId="{01298357-47B3-45EB-8EDE-79E2E5D6B063}"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908CC0-42D1-4AD2-9200-E3C0B15B08F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77F1E2E-AC7A-41A9-B9E9-D5CE01A6745F}">
      <dgm:prSet/>
      <dgm:spPr>
        <a:solidFill>
          <a:schemeClr val="accent2">
            <a:lumMod val="75000"/>
          </a:schemeClr>
        </a:solidFill>
      </dgm:spPr>
      <dgm:t>
        <a:bodyPr/>
        <a:lstStyle/>
        <a:p>
          <a:r>
            <a:rPr lang="en-US"/>
            <a:t>Creditor Information/Law Office Associated with</a:t>
          </a:r>
        </a:p>
      </dgm:t>
    </dgm:pt>
    <dgm:pt modelId="{EA5A21A8-1FA4-4C26-A24E-C718096B5960}" type="parTrans" cxnId="{8C64E87F-940D-46BF-BB8F-4F85ACE075D7}">
      <dgm:prSet/>
      <dgm:spPr/>
      <dgm:t>
        <a:bodyPr/>
        <a:lstStyle/>
        <a:p>
          <a:endParaRPr lang="en-US"/>
        </a:p>
      </dgm:t>
    </dgm:pt>
    <dgm:pt modelId="{29F3CC7A-E361-4423-B794-302C908EE2A0}" type="sibTrans" cxnId="{8C64E87F-940D-46BF-BB8F-4F85ACE075D7}">
      <dgm:prSet/>
      <dgm:spPr/>
      <dgm:t>
        <a:bodyPr/>
        <a:lstStyle/>
        <a:p>
          <a:endParaRPr lang="en-US"/>
        </a:p>
      </dgm:t>
    </dgm:pt>
    <dgm:pt modelId="{BC3A1CD3-3506-4986-8E08-62C1A6EF46DE}">
      <dgm:prSet/>
      <dgm:spPr>
        <a:solidFill>
          <a:schemeClr val="accent2">
            <a:lumMod val="75000"/>
          </a:schemeClr>
        </a:solidFill>
      </dgm:spPr>
      <dgm:t>
        <a:bodyPr/>
        <a:lstStyle/>
        <a:p>
          <a:r>
            <a:rPr lang="en-US" dirty="0"/>
            <a:t>Make sure the previous agent who transferred the call updated </a:t>
          </a:r>
          <a:r>
            <a:rPr lang="en-US" u="sng" dirty="0"/>
            <a:t>Current Creditor Name</a:t>
          </a:r>
          <a:endParaRPr lang="en-US" dirty="0"/>
        </a:p>
      </dgm:t>
    </dgm:pt>
    <dgm:pt modelId="{20946AF2-D91B-4294-968B-923A0C6A506E}" type="parTrans" cxnId="{B71933A2-946E-4408-9352-697C749AE62F}">
      <dgm:prSet/>
      <dgm:spPr/>
      <dgm:t>
        <a:bodyPr/>
        <a:lstStyle/>
        <a:p>
          <a:endParaRPr lang="en-US"/>
        </a:p>
      </dgm:t>
    </dgm:pt>
    <dgm:pt modelId="{4BD8727E-B177-4D90-94FA-D167541AFC8F}" type="sibTrans" cxnId="{B71933A2-946E-4408-9352-697C749AE62F}">
      <dgm:prSet/>
      <dgm:spPr/>
      <dgm:t>
        <a:bodyPr/>
        <a:lstStyle/>
        <a:p>
          <a:endParaRPr lang="en-US"/>
        </a:p>
      </dgm:t>
    </dgm:pt>
    <dgm:pt modelId="{49992048-AFBD-4FEE-BFE2-E47C6E8B81D5}">
      <dgm:prSet/>
      <dgm:spPr>
        <a:solidFill>
          <a:schemeClr val="accent2">
            <a:lumMod val="75000"/>
          </a:schemeClr>
        </a:solidFill>
      </dgm:spPr>
      <dgm:t>
        <a:bodyPr/>
        <a:lstStyle/>
        <a:p>
          <a:r>
            <a:rPr lang="en-US"/>
            <a:t>Court Date/Response Back Date</a:t>
          </a:r>
        </a:p>
      </dgm:t>
    </dgm:pt>
    <dgm:pt modelId="{EBA7DA42-5B0C-4DC5-B48F-506F869A7256}" type="parTrans" cxnId="{600B5CEB-00A9-40F6-A0B4-FD801D71CED7}">
      <dgm:prSet/>
      <dgm:spPr/>
      <dgm:t>
        <a:bodyPr/>
        <a:lstStyle/>
        <a:p>
          <a:endParaRPr lang="en-US"/>
        </a:p>
      </dgm:t>
    </dgm:pt>
    <dgm:pt modelId="{4D849A5B-D9E4-421A-8E1D-803EFE8C46B9}" type="sibTrans" cxnId="{600B5CEB-00A9-40F6-A0B4-FD801D71CED7}">
      <dgm:prSet/>
      <dgm:spPr/>
      <dgm:t>
        <a:bodyPr/>
        <a:lstStyle/>
        <a:p>
          <a:endParaRPr lang="en-US"/>
        </a:p>
      </dgm:t>
    </dgm:pt>
    <dgm:pt modelId="{3532B9EA-1762-492C-BC9B-886BB8A4E7E0}" type="pres">
      <dgm:prSet presAssocID="{84908CC0-42D1-4AD2-9200-E3C0B15B08F7}" presName="linear" presStyleCnt="0">
        <dgm:presLayoutVars>
          <dgm:animLvl val="lvl"/>
          <dgm:resizeHandles val="exact"/>
        </dgm:presLayoutVars>
      </dgm:prSet>
      <dgm:spPr/>
    </dgm:pt>
    <dgm:pt modelId="{9AA3F1FE-666A-4BFC-BC58-8670C554DA4E}" type="pres">
      <dgm:prSet presAssocID="{377F1E2E-AC7A-41A9-B9E9-D5CE01A6745F}" presName="parentText" presStyleLbl="node1" presStyleIdx="0" presStyleCnt="3">
        <dgm:presLayoutVars>
          <dgm:chMax val="0"/>
          <dgm:bulletEnabled val="1"/>
        </dgm:presLayoutVars>
      </dgm:prSet>
      <dgm:spPr/>
    </dgm:pt>
    <dgm:pt modelId="{1AD12BC4-3D8C-4FDA-83AF-AAA7C1FB6064}" type="pres">
      <dgm:prSet presAssocID="{29F3CC7A-E361-4423-B794-302C908EE2A0}" presName="spacer" presStyleCnt="0"/>
      <dgm:spPr/>
    </dgm:pt>
    <dgm:pt modelId="{F18A8F94-2A24-4D00-B22C-2E2E3F1C98F1}" type="pres">
      <dgm:prSet presAssocID="{BC3A1CD3-3506-4986-8E08-62C1A6EF46DE}" presName="parentText" presStyleLbl="node1" presStyleIdx="1" presStyleCnt="3">
        <dgm:presLayoutVars>
          <dgm:chMax val="0"/>
          <dgm:bulletEnabled val="1"/>
        </dgm:presLayoutVars>
      </dgm:prSet>
      <dgm:spPr/>
    </dgm:pt>
    <dgm:pt modelId="{2CB565F9-F049-4F8D-976D-15719B62C165}" type="pres">
      <dgm:prSet presAssocID="{4BD8727E-B177-4D90-94FA-D167541AFC8F}" presName="spacer" presStyleCnt="0"/>
      <dgm:spPr/>
    </dgm:pt>
    <dgm:pt modelId="{E84D0DAD-473C-4AC5-A82A-1228849807EA}" type="pres">
      <dgm:prSet presAssocID="{49992048-AFBD-4FEE-BFE2-E47C6E8B81D5}" presName="parentText" presStyleLbl="node1" presStyleIdx="2" presStyleCnt="3">
        <dgm:presLayoutVars>
          <dgm:chMax val="0"/>
          <dgm:bulletEnabled val="1"/>
        </dgm:presLayoutVars>
      </dgm:prSet>
      <dgm:spPr/>
    </dgm:pt>
  </dgm:ptLst>
  <dgm:cxnLst>
    <dgm:cxn modelId="{BE482B0D-D8F8-47EA-AB0D-FC777A5412AB}" type="presOf" srcId="{84908CC0-42D1-4AD2-9200-E3C0B15B08F7}" destId="{3532B9EA-1762-492C-BC9B-886BB8A4E7E0}" srcOrd="0" destOrd="0" presId="urn:microsoft.com/office/officeart/2005/8/layout/vList2"/>
    <dgm:cxn modelId="{F1E5224F-150A-4103-92DE-815EDC6A4EE2}" type="presOf" srcId="{49992048-AFBD-4FEE-BFE2-E47C6E8B81D5}" destId="{E84D0DAD-473C-4AC5-A82A-1228849807EA}" srcOrd="0" destOrd="0" presId="urn:microsoft.com/office/officeart/2005/8/layout/vList2"/>
    <dgm:cxn modelId="{8C64E87F-940D-46BF-BB8F-4F85ACE075D7}" srcId="{84908CC0-42D1-4AD2-9200-E3C0B15B08F7}" destId="{377F1E2E-AC7A-41A9-B9E9-D5CE01A6745F}" srcOrd="0" destOrd="0" parTransId="{EA5A21A8-1FA4-4C26-A24E-C718096B5960}" sibTransId="{29F3CC7A-E361-4423-B794-302C908EE2A0}"/>
    <dgm:cxn modelId="{B71933A2-946E-4408-9352-697C749AE62F}" srcId="{84908CC0-42D1-4AD2-9200-E3C0B15B08F7}" destId="{BC3A1CD3-3506-4986-8E08-62C1A6EF46DE}" srcOrd="1" destOrd="0" parTransId="{20946AF2-D91B-4294-968B-923A0C6A506E}" sibTransId="{4BD8727E-B177-4D90-94FA-D167541AFC8F}"/>
    <dgm:cxn modelId="{798B51C6-E9FF-4EF2-BAC6-DFC0CC3F0426}" type="presOf" srcId="{BC3A1CD3-3506-4986-8E08-62C1A6EF46DE}" destId="{F18A8F94-2A24-4D00-B22C-2E2E3F1C98F1}" srcOrd="0" destOrd="0" presId="urn:microsoft.com/office/officeart/2005/8/layout/vList2"/>
    <dgm:cxn modelId="{600B5CEB-00A9-40F6-A0B4-FD801D71CED7}" srcId="{84908CC0-42D1-4AD2-9200-E3C0B15B08F7}" destId="{49992048-AFBD-4FEE-BFE2-E47C6E8B81D5}" srcOrd="2" destOrd="0" parTransId="{EBA7DA42-5B0C-4DC5-B48F-506F869A7256}" sibTransId="{4D849A5B-D9E4-421A-8E1D-803EFE8C46B9}"/>
    <dgm:cxn modelId="{AD12AEF8-2C45-49D9-8D2C-283E001CBF19}" type="presOf" srcId="{377F1E2E-AC7A-41A9-B9E9-D5CE01A6745F}" destId="{9AA3F1FE-666A-4BFC-BC58-8670C554DA4E}" srcOrd="0" destOrd="0" presId="urn:microsoft.com/office/officeart/2005/8/layout/vList2"/>
    <dgm:cxn modelId="{11DE6D97-C0CC-49E2-AF44-713B3E175282}" type="presParOf" srcId="{3532B9EA-1762-492C-BC9B-886BB8A4E7E0}" destId="{9AA3F1FE-666A-4BFC-BC58-8670C554DA4E}" srcOrd="0" destOrd="0" presId="urn:microsoft.com/office/officeart/2005/8/layout/vList2"/>
    <dgm:cxn modelId="{2A1B00A1-F250-403C-85D0-2281087E1C76}" type="presParOf" srcId="{3532B9EA-1762-492C-BC9B-886BB8A4E7E0}" destId="{1AD12BC4-3D8C-4FDA-83AF-AAA7C1FB6064}" srcOrd="1" destOrd="0" presId="urn:microsoft.com/office/officeart/2005/8/layout/vList2"/>
    <dgm:cxn modelId="{293E3309-75EF-4E82-B91A-70D106479393}" type="presParOf" srcId="{3532B9EA-1762-492C-BC9B-886BB8A4E7E0}" destId="{F18A8F94-2A24-4D00-B22C-2E2E3F1C98F1}" srcOrd="2" destOrd="0" presId="urn:microsoft.com/office/officeart/2005/8/layout/vList2"/>
    <dgm:cxn modelId="{224D097A-973E-4ECE-BACE-9C33470388C4}" type="presParOf" srcId="{3532B9EA-1762-492C-BC9B-886BB8A4E7E0}" destId="{2CB565F9-F049-4F8D-976D-15719B62C165}" srcOrd="3" destOrd="0" presId="urn:microsoft.com/office/officeart/2005/8/layout/vList2"/>
    <dgm:cxn modelId="{F8D5823D-0D44-476F-AAB9-1504D33CC5A1}" type="presParOf" srcId="{3532B9EA-1762-492C-BC9B-886BB8A4E7E0}" destId="{E84D0DAD-473C-4AC5-A82A-1228849807E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081F0-A6E8-4272-9D83-CF8BABFA517E}">
      <dsp:nvSpPr>
        <dsp:cNvPr id="0" name=""/>
        <dsp:cNvSpPr/>
      </dsp:nvSpPr>
      <dsp:spPr>
        <a:xfrm>
          <a:off x="320498" y="80118"/>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Why Legal?</a:t>
          </a:r>
          <a:endParaRPr lang="en-US" sz="2400" kern="1200" dirty="0"/>
        </a:p>
      </dsp:txBody>
      <dsp:txXfrm>
        <a:off x="354460" y="114080"/>
        <a:ext cx="1864683" cy="1091640"/>
      </dsp:txXfrm>
    </dsp:sp>
    <dsp:sp modelId="{0DB39336-5C8A-4D4E-9817-5869B5A9E45F}">
      <dsp:nvSpPr>
        <dsp:cNvPr id="0" name=""/>
        <dsp:cNvSpPr/>
      </dsp:nvSpPr>
      <dsp:spPr>
        <a:xfrm rot="21584843">
          <a:off x="2390890" y="414657"/>
          <a:ext cx="331942" cy="4792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390890" y="510734"/>
        <a:ext cx="232359" cy="287572"/>
      </dsp:txXfrm>
    </dsp:sp>
    <dsp:sp modelId="{27AF68A2-8695-4155-A4AA-CD0D7755275A}">
      <dsp:nvSpPr>
        <dsp:cNvPr id="0" name=""/>
        <dsp:cNvSpPr/>
      </dsp:nvSpPr>
      <dsp:spPr>
        <a:xfrm>
          <a:off x="2879406" y="68836"/>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Review of Legal Documents </a:t>
          </a:r>
          <a:endParaRPr lang="en-US" sz="2400" kern="1200" dirty="0"/>
        </a:p>
      </dsp:txBody>
      <dsp:txXfrm>
        <a:off x="2913368" y="102798"/>
        <a:ext cx="1864683" cy="1091640"/>
      </dsp:txXfrm>
    </dsp:sp>
    <dsp:sp modelId="{1C9356E2-94BF-416F-979E-73283F9DD3E4}">
      <dsp:nvSpPr>
        <dsp:cNvPr id="0" name=""/>
        <dsp:cNvSpPr/>
      </dsp:nvSpPr>
      <dsp:spPr>
        <a:xfrm rot="21568704">
          <a:off x="4932404" y="397761"/>
          <a:ext cx="290057" cy="4792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32406" y="494014"/>
        <a:ext cx="203040" cy="287572"/>
      </dsp:txXfrm>
    </dsp:sp>
    <dsp:sp modelId="{318E90E5-E456-44CC-80A3-3885C6AB053F}">
      <dsp:nvSpPr>
        <dsp:cNvPr id="0" name=""/>
        <dsp:cNvSpPr/>
      </dsp:nvSpPr>
      <dsp:spPr>
        <a:xfrm>
          <a:off x="5359270" y="46259"/>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a:t>Call Listening</a:t>
          </a:r>
          <a:endParaRPr lang="en-US" sz="2400" kern="1200" dirty="0"/>
        </a:p>
      </dsp:txBody>
      <dsp:txXfrm>
        <a:off x="5393232" y="80221"/>
        <a:ext cx="1864683" cy="1091640"/>
      </dsp:txXfrm>
    </dsp:sp>
    <dsp:sp modelId="{A6BA4E51-A3F0-4BAB-B9AB-671FCCD88F82}">
      <dsp:nvSpPr>
        <dsp:cNvPr id="0" name=""/>
        <dsp:cNvSpPr/>
      </dsp:nvSpPr>
      <dsp:spPr>
        <a:xfrm rot="31154">
          <a:off x="7414756" y="397610"/>
          <a:ext cx="296050" cy="4792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7414758" y="493065"/>
        <a:ext cx="207235" cy="287572"/>
      </dsp:txXfrm>
    </dsp:sp>
    <dsp:sp modelId="{B5F1A5BF-BEDB-471F-B2BA-A58D3BCB6015}">
      <dsp:nvSpPr>
        <dsp:cNvPr id="0" name=""/>
        <dsp:cNvSpPr/>
      </dsp:nvSpPr>
      <dsp:spPr>
        <a:xfrm>
          <a:off x="7850440" y="68836"/>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Calibri Light" panose="020F0302020204030204"/>
            </a:rPr>
            <a:t>Intake Form</a:t>
          </a:r>
          <a:endParaRPr lang="en-US" sz="2400" kern="1200" dirty="0">
            <a:latin typeface="Calibri Light" panose="020F0302020204030204"/>
          </a:endParaRPr>
        </a:p>
      </dsp:txBody>
      <dsp:txXfrm>
        <a:off x="7884402" y="102798"/>
        <a:ext cx="1864683" cy="1091640"/>
      </dsp:txXfrm>
    </dsp:sp>
    <dsp:sp modelId="{5DF156A7-981F-4ED3-A705-2DF7356AF2A3}">
      <dsp:nvSpPr>
        <dsp:cNvPr id="0" name=""/>
        <dsp:cNvSpPr/>
      </dsp:nvSpPr>
      <dsp:spPr>
        <a:xfrm rot="5400000">
          <a:off x="8064658" y="1320228"/>
          <a:ext cx="404031" cy="4792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5400000">
        <a:off x="8122888" y="1357856"/>
        <a:ext cx="287572" cy="282822"/>
      </dsp:txXfrm>
    </dsp:sp>
    <dsp:sp modelId="{22AE6EA4-1057-4AA8-BDAE-4A57900DDB12}">
      <dsp:nvSpPr>
        <dsp:cNvPr id="0" name=""/>
        <dsp:cNvSpPr/>
      </dsp:nvSpPr>
      <dsp:spPr>
        <a:xfrm>
          <a:off x="6653827" y="1862562"/>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0" kern="1200">
              <a:latin typeface="Calibri Light" panose="020F0302020204030204"/>
            </a:rPr>
            <a:t>Special</a:t>
          </a:r>
          <a:r>
            <a:rPr lang="en-US" sz="2400" b="0" kern="1200" baseline="0">
              <a:latin typeface="Calibri Light" panose="020F0302020204030204"/>
            </a:rPr>
            <a:t> Draft</a:t>
          </a:r>
          <a:endParaRPr lang="en-US" sz="2400" b="0" kern="1200" dirty="0">
            <a:latin typeface="Calibri Light" panose="020F0302020204030204"/>
          </a:endParaRPr>
        </a:p>
      </dsp:txBody>
      <dsp:txXfrm>
        <a:off x="6687789" y="1896524"/>
        <a:ext cx="1864683" cy="1091640"/>
      </dsp:txXfrm>
    </dsp:sp>
    <dsp:sp modelId="{E346B961-1EC4-4A94-B6C9-B7F3C72FA99A}">
      <dsp:nvSpPr>
        <dsp:cNvPr id="0" name=""/>
        <dsp:cNvSpPr/>
      </dsp:nvSpPr>
      <dsp:spPr>
        <a:xfrm rot="10800000">
          <a:off x="6137459" y="2202701"/>
          <a:ext cx="364900" cy="4792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6246929" y="2298558"/>
        <a:ext cx="255430" cy="287572"/>
      </dsp:txXfrm>
    </dsp:sp>
    <dsp:sp modelId="{B1322E32-802A-4AA8-95BD-4F6C8BB6E543}">
      <dsp:nvSpPr>
        <dsp:cNvPr id="0" name=""/>
        <dsp:cNvSpPr/>
      </dsp:nvSpPr>
      <dsp:spPr>
        <a:xfrm>
          <a:off x="4032728" y="1862562"/>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kern="1200">
              <a:latin typeface="Calibri Light" panose="020F0302020204030204"/>
            </a:rPr>
            <a:t>Talking Points/Steps </a:t>
          </a:r>
          <a:endParaRPr lang="en-US" sz="2400" kern="1200" dirty="0">
            <a:latin typeface="Calibri Light" panose="020F0302020204030204"/>
          </a:endParaRPr>
        </a:p>
      </dsp:txBody>
      <dsp:txXfrm>
        <a:off x="4066690" y="1896524"/>
        <a:ext cx="1864683" cy="1091640"/>
      </dsp:txXfrm>
    </dsp:sp>
    <dsp:sp modelId="{A41790D2-EFAD-4164-9ACF-95D1485C9D36}">
      <dsp:nvSpPr>
        <dsp:cNvPr id="0" name=""/>
        <dsp:cNvSpPr/>
      </dsp:nvSpPr>
      <dsp:spPr>
        <a:xfrm rot="10800000">
          <a:off x="3431856" y="2202701"/>
          <a:ext cx="424616" cy="47928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59241" y="2298558"/>
        <a:ext cx="297231" cy="287572"/>
      </dsp:txXfrm>
    </dsp:sp>
    <dsp:sp modelId="{4F0A93AF-82FD-429B-833A-E6A5214981DA}">
      <dsp:nvSpPr>
        <dsp:cNvPr id="0" name=""/>
        <dsp:cNvSpPr/>
      </dsp:nvSpPr>
      <dsp:spPr>
        <a:xfrm>
          <a:off x="1298958" y="1862562"/>
          <a:ext cx="1932607" cy="1159564"/>
        </a:xfrm>
        <a:prstGeom prst="roundRect">
          <a:avLst>
            <a:gd name="adj" fmla="val 10000"/>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0" kern="1200"/>
            <a:t>Practice</a:t>
          </a:r>
          <a:endParaRPr lang="en-US" sz="2400" b="0" kern="1200" dirty="0"/>
        </a:p>
      </dsp:txBody>
      <dsp:txXfrm>
        <a:off x="1332920" y="1896524"/>
        <a:ext cx="1864683" cy="1091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0C70E-03D7-4D3F-AA4F-B04A2071AC83}">
      <dsp:nvSpPr>
        <dsp:cNvPr id="0" name=""/>
        <dsp:cNvSpPr/>
      </dsp:nvSpPr>
      <dsp:spPr>
        <a:xfrm>
          <a:off x="0" y="0"/>
          <a:ext cx="8938260" cy="195810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Creditors still have the right to continue collections attempts in ways to collect the amount owe. </a:t>
          </a:r>
        </a:p>
      </dsp:txBody>
      <dsp:txXfrm>
        <a:off x="57351" y="57351"/>
        <a:ext cx="6914408" cy="1843400"/>
      </dsp:txXfrm>
    </dsp:sp>
    <dsp:sp modelId="{2AF26831-34D1-4193-93A1-6AD56A1A673F}">
      <dsp:nvSpPr>
        <dsp:cNvPr id="0" name=""/>
        <dsp:cNvSpPr/>
      </dsp:nvSpPr>
      <dsp:spPr>
        <a:xfrm>
          <a:off x="1577339" y="2393235"/>
          <a:ext cx="8938260" cy="195810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Some creditors may proceed to transmit this by Law Offices for legal way to collect the debt. </a:t>
          </a:r>
        </a:p>
      </dsp:txBody>
      <dsp:txXfrm>
        <a:off x="1634690" y="2450586"/>
        <a:ext cx="5973451" cy="1843400"/>
      </dsp:txXfrm>
    </dsp:sp>
    <dsp:sp modelId="{903A5903-FAC7-4BB9-9C7F-6AB0C5121DC9}">
      <dsp:nvSpPr>
        <dsp:cNvPr id="0" name=""/>
        <dsp:cNvSpPr/>
      </dsp:nvSpPr>
      <dsp:spPr>
        <a:xfrm>
          <a:off x="7665493" y="1539285"/>
          <a:ext cx="1272766" cy="1272766"/>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951865" y="1539285"/>
        <a:ext cx="700022" cy="9577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A3F1FE-666A-4BFC-BC58-8670C554DA4E}">
      <dsp:nvSpPr>
        <dsp:cNvPr id="0" name=""/>
        <dsp:cNvSpPr/>
      </dsp:nvSpPr>
      <dsp:spPr>
        <a:xfrm>
          <a:off x="0" y="20942"/>
          <a:ext cx="4210003" cy="950990"/>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Creditor Information/Law Office Associated with</a:t>
          </a:r>
        </a:p>
      </dsp:txBody>
      <dsp:txXfrm>
        <a:off x="46424" y="67366"/>
        <a:ext cx="4117155" cy="858142"/>
      </dsp:txXfrm>
    </dsp:sp>
    <dsp:sp modelId="{F18A8F94-2A24-4D00-B22C-2E2E3F1C98F1}">
      <dsp:nvSpPr>
        <dsp:cNvPr id="0" name=""/>
        <dsp:cNvSpPr/>
      </dsp:nvSpPr>
      <dsp:spPr>
        <a:xfrm>
          <a:off x="0" y="1020893"/>
          <a:ext cx="4210003" cy="950990"/>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Make sure the previous agent who transferred the call updated </a:t>
          </a:r>
          <a:r>
            <a:rPr lang="en-US" sz="1700" u="sng" kern="1200" dirty="0"/>
            <a:t>Current Creditor Name</a:t>
          </a:r>
          <a:endParaRPr lang="en-US" sz="1700" kern="1200" dirty="0"/>
        </a:p>
      </dsp:txBody>
      <dsp:txXfrm>
        <a:off x="46424" y="1067317"/>
        <a:ext cx="4117155" cy="858142"/>
      </dsp:txXfrm>
    </dsp:sp>
    <dsp:sp modelId="{E84D0DAD-473C-4AC5-A82A-1228849807EA}">
      <dsp:nvSpPr>
        <dsp:cNvPr id="0" name=""/>
        <dsp:cNvSpPr/>
      </dsp:nvSpPr>
      <dsp:spPr>
        <a:xfrm>
          <a:off x="0" y="2020843"/>
          <a:ext cx="4210003" cy="950990"/>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Court Date/Response Back Date</a:t>
          </a:r>
        </a:p>
      </dsp:txBody>
      <dsp:txXfrm>
        <a:off x="46424" y="2067267"/>
        <a:ext cx="4117155" cy="858142"/>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6F75D-2B8A-59CE-25B0-A6509C7254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B1F9D9-FFDA-03C4-40ED-DF9D41E9B0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D21002-DB5C-44D1-637F-9B15313787E2}"/>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5" name="Footer Placeholder 4">
            <a:extLst>
              <a:ext uri="{FF2B5EF4-FFF2-40B4-BE49-F238E27FC236}">
                <a16:creationId xmlns:a16="http://schemas.microsoft.com/office/drawing/2014/main" id="{FE937848-3883-EFE9-D9E1-F5F0226E6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8CE9C-3743-8A22-AD36-E8F082D0502E}"/>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1383457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A29D4-B3A7-1C45-C9F4-680302A702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7B8C18-047D-9BEC-15F2-FE521537FE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365708-0C71-0A3A-5A8F-F24EBB9E2CD7}"/>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5" name="Footer Placeholder 4">
            <a:extLst>
              <a:ext uri="{FF2B5EF4-FFF2-40B4-BE49-F238E27FC236}">
                <a16:creationId xmlns:a16="http://schemas.microsoft.com/office/drawing/2014/main" id="{5DAED8BC-2CCE-15CB-7733-434B883753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90D062-DEBC-1090-5FF5-3A9389802AF4}"/>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88295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C7D6-3D7D-E5E0-E51D-E6FB7995DB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56922A-1EF3-2D73-CA02-212BCEAD3F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53CC69-466C-6F09-750E-35006F142FD6}"/>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5" name="Footer Placeholder 4">
            <a:extLst>
              <a:ext uri="{FF2B5EF4-FFF2-40B4-BE49-F238E27FC236}">
                <a16:creationId xmlns:a16="http://schemas.microsoft.com/office/drawing/2014/main" id="{987C6119-ABC9-5FF3-CA83-376DDC5E0A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D66900-CEB8-CD1B-08C9-59E837362EAA}"/>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2245697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35019-B044-5CDB-851F-728D599E65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A176E-79E0-9FED-C200-E87E5762B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89CF9B-C6AE-B3EB-2E07-3E85EB2AD1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C79F66-BE30-910C-1B51-7056AE5F7181}"/>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6" name="Footer Placeholder 5">
            <a:extLst>
              <a:ext uri="{FF2B5EF4-FFF2-40B4-BE49-F238E27FC236}">
                <a16:creationId xmlns:a16="http://schemas.microsoft.com/office/drawing/2014/main" id="{6FEDC27B-91D3-95A0-4222-DFCB034F65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95B27A-B861-8348-D866-F79A1B058785}"/>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100756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9030-9D6B-B4E2-9367-E50C985209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3CAE41-FDC5-3D0D-B82A-59A1E16394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AF4459-328A-432C-11B5-D8E78D7F47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0D1920-1366-D2D8-166D-937D2A8F14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47085-BF86-0574-10FA-DA998C9BD7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1CE422-FD03-44AA-F989-95B5C4E465C6}"/>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8" name="Footer Placeholder 7">
            <a:extLst>
              <a:ext uri="{FF2B5EF4-FFF2-40B4-BE49-F238E27FC236}">
                <a16:creationId xmlns:a16="http://schemas.microsoft.com/office/drawing/2014/main" id="{266799E2-4B7D-BF01-3C2D-779466BF79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6D4A6D-448B-2DD3-02E0-7AEFF8DC1F19}"/>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2450189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A509-1E4F-9200-7DE8-1212748ECF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90CCA2-C32A-F22A-0C93-0BC48FC59857}"/>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4" name="Footer Placeholder 3">
            <a:extLst>
              <a:ext uri="{FF2B5EF4-FFF2-40B4-BE49-F238E27FC236}">
                <a16:creationId xmlns:a16="http://schemas.microsoft.com/office/drawing/2014/main" id="{5A96F095-CA2D-ED1B-9FDB-0B678E750A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791194-43BB-FE05-D2B5-E1C8B74685D8}"/>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1281204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A59EC9-0DB5-785C-EDF4-7C899D103BC9}"/>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3" name="Footer Placeholder 2">
            <a:extLst>
              <a:ext uri="{FF2B5EF4-FFF2-40B4-BE49-F238E27FC236}">
                <a16:creationId xmlns:a16="http://schemas.microsoft.com/office/drawing/2014/main" id="{5D33FB92-D471-A9C4-A88C-467A1A49DB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5E4475-D1E7-13FE-36B6-1D83FC10C09D}"/>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295800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CB82E-A53B-6772-682E-F54256365E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39FEF6-C697-6C54-60C4-F839ECEBA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EE5E53-1921-09E9-4D3E-C4CD5704B3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4D6D0-92C0-2816-DCBB-AD55D08A0449}"/>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6" name="Footer Placeholder 5">
            <a:extLst>
              <a:ext uri="{FF2B5EF4-FFF2-40B4-BE49-F238E27FC236}">
                <a16:creationId xmlns:a16="http://schemas.microsoft.com/office/drawing/2014/main" id="{2204310E-A961-C281-9063-2B4611E375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266369-262C-FE52-4054-27B6982575AD}"/>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195910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75F93-A454-9BDD-D009-07A48DD722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A7F67D-7B73-42D5-3C75-BCCF3D1986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CE573B-97E0-A519-5BBC-98CAC3C1EB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4180A7-3420-C68E-3ACA-4D17CBD18A2C}"/>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6" name="Footer Placeholder 5">
            <a:extLst>
              <a:ext uri="{FF2B5EF4-FFF2-40B4-BE49-F238E27FC236}">
                <a16:creationId xmlns:a16="http://schemas.microsoft.com/office/drawing/2014/main" id="{B4E2C666-2556-F3EB-4CC1-42E052EAC8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F503CF-19FD-71E5-3E25-1F364DBE89E6}"/>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429834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B5710-5768-BA60-438A-70C4A88A08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4D8A47-4693-CB84-5524-E2725CFCD6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3F1AD2-82F1-3909-A5E4-23E4970E94BF}"/>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5" name="Footer Placeholder 4">
            <a:extLst>
              <a:ext uri="{FF2B5EF4-FFF2-40B4-BE49-F238E27FC236}">
                <a16:creationId xmlns:a16="http://schemas.microsoft.com/office/drawing/2014/main" id="{DE7923D1-18BF-BBBF-96E9-58ABCF852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9B4D7-8207-504A-1A85-F6D504E9AE12}"/>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1325040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C106D5-4A6F-2815-C4BC-D57345A664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6AD6EA-332A-1858-EBE7-0C55081A90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669087-7023-E8B3-0220-98FB857CFB55}"/>
              </a:ext>
            </a:extLst>
          </p:cNvPr>
          <p:cNvSpPr>
            <a:spLocks noGrp="1"/>
          </p:cNvSpPr>
          <p:nvPr>
            <p:ph type="dt" sz="half" idx="10"/>
          </p:nvPr>
        </p:nvSpPr>
        <p:spPr/>
        <p:txBody>
          <a:bodyPr/>
          <a:lstStyle/>
          <a:p>
            <a:fld id="{F20DE316-ECE6-41C3-8537-9C4A0DA67174}" type="datetimeFigureOut">
              <a:rPr lang="en-US" smtClean="0"/>
              <a:t>2/12/2026</a:t>
            </a:fld>
            <a:endParaRPr lang="en-US"/>
          </a:p>
        </p:txBody>
      </p:sp>
      <p:sp>
        <p:nvSpPr>
          <p:cNvPr id="5" name="Footer Placeholder 4">
            <a:extLst>
              <a:ext uri="{FF2B5EF4-FFF2-40B4-BE49-F238E27FC236}">
                <a16:creationId xmlns:a16="http://schemas.microsoft.com/office/drawing/2014/main" id="{8FA63F57-5294-E51C-0AD1-69CC5794C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4A15D-EF62-4E51-B5E5-AAE02D4F94BD}"/>
              </a:ext>
            </a:extLst>
          </p:cNvPr>
          <p:cNvSpPr>
            <a:spLocks noGrp="1"/>
          </p:cNvSpPr>
          <p:nvPr>
            <p:ph type="sldNum" sz="quarter" idx="12"/>
          </p:nvPr>
        </p:nvSpPr>
        <p:spPr/>
        <p:txBody>
          <a:bodyPr/>
          <a:lstStyle/>
          <a:p>
            <a:fld id="{F5079CC1-E20C-44F3-910E-08CBC235C48B}" type="slidenum">
              <a:rPr lang="en-US" smtClean="0"/>
              <a:t>‹#›</a:t>
            </a:fld>
            <a:endParaRPr lang="en-US"/>
          </a:p>
        </p:txBody>
      </p:sp>
    </p:spTree>
    <p:extLst>
      <p:ext uri="{BB962C8B-B14F-4D97-AF65-F5344CB8AC3E}">
        <p14:creationId xmlns:p14="http://schemas.microsoft.com/office/powerpoint/2010/main" val="260123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C0F76E-C781-94C6-E6F1-B598F4C44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68BAE2-2621-A94A-FACF-382D609EE5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25C5CD-B129-12CD-D535-92ECB345D2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0DE316-ECE6-41C3-8537-9C4A0DA67174}" type="datetimeFigureOut">
              <a:rPr lang="en-US" smtClean="0"/>
              <a:t>2/12/2026</a:t>
            </a:fld>
            <a:endParaRPr lang="en-US"/>
          </a:p>
        </p:txBody>
      </p:sp>
      <p:sp>
        <p:nvSpPr>
          <p:cNvPr id="5" name="Footer Placeholder 4">
            <a:extLst>
              <a:ext uri="{FF2B5EF4-FFF2-40B4-BE49-F238E27FC236}">
                <a16:creationId xmlns:a16="http://schemas.microsoft.com/office/drawing/2014/main" id="{C9840B87-D6DB-E1F7-1AF3-028C94919F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1A4B15-6925-9979-C4B9-A4A4823505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079CC1-E20C-44F3-910E-08CBC235C48B}" type="slidenum">
              <a:rPr lang="en-US" smtClean="0"/>
              <a:t>‹#›</a:t>
            </a:fld>
            <a:endParaRPr lang="en-US"/>
          </a:p>
        </p:txBody>
      </p:sp>
    </p:spTree>
    <p:extLst>
      <p:ext uri="{BB962C8B-B14F-4D97-AF65-F5344CB8AC3E}">
        <p14:creationId xmlns:p14="http://schemas.microsoft.com/office/powerpoint/2010/main" val="938833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2D61E8-0A2C-2948-B581-1FEB999AD885}"/>
              </a:ext>
            </a:extLst>
          </p:cNvPr>
          <p:cNvSpPr>
            <a:spLocks noGrp="1"/>
          </p:cNvSpPr>
          <p:nvPr>
            <p:ph type="ctrTitle"/>
          </p:nvPr>
        </p:nvSpPr>
        <p:spPr>
          <a:xfrm>
            <a:off x="890338" y="640080"/>
            <a:ext cx="3734014" cy="3566160"/>
          </a:xfrm>
        </p:spPr>
        <p:txBody>
          <a:bodyPr anchor="b">
            <a:normAutofit/>
          </a:bodyPr>
          <a:lstStyle/>
          <a:p>
            <a:pPr algn="l"/>
            <a:r>
              <a:rPr lang="en-US" sz="5400"/>
              <a:t>Legal Training</a:t>
            </a:r>
          </a:p>
        </p:txBody>
      </p:sp>
      <p:sp>
        <p:nvSpPr>
          <p:cNvPr id="103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roducer prices in the legal services industry after the Great Recession :  Monthly Labor Review: U.S. Bureau of Labor Statistics">
            <a:extLst>
              <a:ext uri="{FF2B5EF4-FFF2-40B4-BE49-F238E27FC236}">
                <a16:creationId xmlns:a16="http://schemas.microsoft.com/office/drawing/2014/main" id="{EE08420E-CE9B-BB2B-E2E7-0EB49B072A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53" r="13960" b="-2"/>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pic>
        <p:nvPicPr>
          <p:cNvPr id="4" name="Picture 2" descr="ClearOne Advantage">
            <a:extLst>
              <a:ext uri="{FF2B5EF4-FFF2-40B4-BE49-F238E27FC236}">
                <a16:creationId xmlns:a16="http://schemas.microsoft.com/office/drawing/2014/main" id="{778C5317-A4E0-A842-2525-2E78751D3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4133" y="178067"/>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7789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7B3E0-A42A-9633-9C58-321ADBDF1EE1}"/>
              </a:ext>
            </a:extLst>
          </p:cNvPr>
          <p:cNvSpPr>
            <a:spLocks noGrp="1"/>
          </p:cNvSpPr>
          <p:nvPr>
            <p:ph type="title"/>
          </p:nvPr>
        </p:nvSpPr>
        <p:spPr>
          <a:xfrm>
            <a:off x="1097280" y="286603"/>
            <a:ext cx="10058400" cy="1450757"/>
          </a:xfrm>
        </p:spPr>
        <p:txBody>
          <a:bodyPr>
            <a:normAutofit/>
          </a:bodyPr>
          <a:lstStyle/>
          <a:p>
            <a:pPr algn="ctr"/>
            <a:r>
              <a:rPr lang="en-US"/>
              <a:t>Agenda</a:t>
            </a:r>
            <a:endParaRPr lang="en-US" dirty="0"/>
          </a:p>
        </p:txBody>
      </p:sp>
      <p:sp>
        <p:nvSpPr>
          <p:cNvPr id="5" name="Footer Placeholder 2">
            <a:extLst>
              <a:ext uri="{FF2B5EF4-FFF2-40B4-BE49-F238E27FC236}">
                <a16:creationId xmlns:a16="http://schemas.microsoft.com/office/drawing/2014/main" id="{2311DCA4-1208-7424-932C-FF7A386ABCF5}"/>
              </a:ext>
            </a:extLst>
          </p:cNvPr>
          <p:cNvSpPr>
            <a:spLocks noGrp="1"/>
          </p:cNvSpPr>
          <p:nvPr>
            <p:ph type="ftr" sz="quarter" idx="11"/>
          </p:nvPr>
        </p:nvSpPr>
        <p:spPr>
          <a:xfrm>
            <a:off x="3686185" y="6459785"/>
            <a:ext cx="4822804" cy="365125"/>
          </a:xfrm>
        </p:spPr>
        <p:txBody>
          <a:bodyPr>
            <a:normAutofit/>
          </a:bodyPr>
          <a:lstStyle/>
          <a:p>
            <a:pPr>
              <a:spcAft>
                <a:spcPts val="600"/>
              </a:spcAft>
            </a:pPr>
            <a:r>
              <a:rPr lang="en-US"/>
              <a:t>Confidential</a:t>
            </a:r>
          </a:p>
        </p:txBody>
      </p:sp>
      <p:pic>
        <p:nvPicPr>
          <p:cNvPr id="4" name="Picture 2" descr="ClearOne Advantage">
            <a:extLst>
              <a:ext uri="{FF2B5EF4-FFF2-40B4-BE49-F238E27FC236}">
                <a16:creationId xmlns:a16="http://schemas.microsoft.com/office/drawing/2014/main" id="{F14D48CF-5587-A784-5219-2CD3A3568C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Content Placeholder 2">
            <a:extLst>
              <a:ext uri="{FF2B5EF4-FFF2-40B4-BE49-F238E27FC236}">
                <a16:creationId xmlns:a16="http://schemas.microsoft.com/office/drawing/2014/main" id="{99CD6134-2DA1-D8E6-8EA7-9C0E5203FD23}"/>
              </a:ext>
            </a:extLst>
          </p:cNvPr>
          <p:cNvGraphicFramePr>
            <a:graphicFrameLocks noGrp="1"/>
          </p:cNvGraphicFramePr>
          <p:nvPr>
            <p:ph idx="1"/>
            <p:extLst>
              <p:ext uri="{D42A27DB-BD31-4B8C-83A1-F6EECF244321}">
                <p14:modId xmlns:p14="http://schemas.microsoft.com/office/powerpoint/2010/main" val="2067128189"/>
              </p:ext>
            </p:extLst>
          </p:nvPr>
        </p:nvGraphicFramePr>
        <p:xfrm>
          <a:off x="1096962" y="2098514"/>
          <a:ext cx="10058401" cy="3816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1205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F309806-AE0C-02A4-2A34-D667AEAA15D1}"/>
              </a:ext>
            </a:extLst>
          </p:cNvPr>
          <p:cNvPicPr>
            <a:picLocks noChangeAspect="1"/>
          </p:cNvPicPr>
          <p:nvPr/>
        </p:nvPicPr>
        <p:blipFill rotWithShape="1">
          <a:blip r:embed="rId2">
            <a:duotone>
              <a:schemeClr val="bg2">
                <a:shade val="45000"/>
                <a:satMod val="135000"/>
              </a:schemeClr>
              <a:prstClr val="white"/>
            </a:duotone>
          </a:blip>
          <a:srcRect t="15537" b="2046"/>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CEBFFB-1B8B-6B0C-423B-577AA5CDF21D}"/>
              </a:ext>
            </a:extLst>
          </p:cNvPr>
          <p:cNvSpPr>
            <a:spLocks noGrp="1"/>
          </p:cNvSpPr>
          <p:nvPr>
            <p:ph type="title"/>
          </p:nvPr>
        </p:nvSpPr>
        <p:spPr>
          <a:xfrm>
            <a:off x="838200" y="365125"/>
            <a:ext cx="10515600" cy="1325563"/>
          </a:xfrm>
        </p:spPr>
        <p:txBody>
          <a:bodyPr>
            <a:normAutofit/>
          </a:bodyPr>
          <a:lstStyle/>
          <a:p>
            <a:r>
              <a:rPr lang="en-US" dirty="0"/>
              <a:t>Why is the Client Receiving Legal Docs? </a:t>
            </a:r>
            <a:endParaRPr lang="en-US"/>
          </a:p>
        </p:txBody>
      </p:sp>
      <p:graphicFrame>
        <p:nvGraphicFramePr>
          <p:cNvPr id="5" name="Content Placeholder 2">
            <a:extLst>
              <a:ext uri="{FF2B5EF4-FFF2-40B4-BE49-F238E27FC236}">
                <a16:creationId xmlns:a16="http://schemas.microsoft.com/office/drawing/2014/main" id="{5C01682B-5D17-42E4-E001-DD9C581B16C3}"/>
              </a:ext>
            </a:extLst>
          </p:cNvPr>
          <p:cNvGraphicFramePr>
            <a:graphicFrameLocks noGrp="1"/>
          </p:cNvGraphicFramePr>
          <p:nvPr>
            <p:ph idx="1"/>
            <p:extLst>
              <p:ext uri="{D42A27DB-BD31-4B8C-83A1-F6EECF244321}">
                <p14:modId xmlns:p14="http://schemas.microsoft.com/office/powerpoint/2010/main" val="290460371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2" descr="ClearOne Advantage">
            <a:extLst>
              <a:ext uri="{FF2B5EF4-FFF2-40B4-BE49-F238E27FC236}">
                <a16:creationId xmlns:a16="http://schemas.microsoft.com/office/drawing/2014/main" id="{F80CD416-3171-EB40-A6B3-DDF7ECA105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02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8945-5284-F3A5-D684-7BE789EACF8C}"/>
              </a:ext>
            </a:extLst>
          </p:cNvPr>
          <p:cNvSpPr>
            <a:spLocks noGrp="1"/>
          </p:cNvSpPr>
          <p:nvPr>
            <p:ph type="title"/>
          </p:nvPr>
        </p:nvSpPr>
        <p:spPr>
          <a:xfrm>
            <a:off x="762000" y="1138266"/>
            <a:ext cx="9738257" cy="1107126"/>
          </a:xfrm>
        </p:spPr>
        <p:txBody>
          <a:bodyPr vert="horz" lIns="91440" tIns="45720" rIns="91440" bIns="45720" rtlCol="0" anchor="t">
            <a:normAutofit/>
          </a:bodyPr>
          <a:lstStyle/>
          <a:p>
            <a:r>
              <a:rPr lang="en-US" sz="3200" kern="1200">
                <a:solidFill>
                  <a:schemeClr val="tx1"/>
                </a:solidFill>
                <a:latin typeface="+mj-lt"/>
                <a:ea typeface="+mj-ea"/>
                <a:cs typeface="+mj-cs"/>
              </a:rPr>
              <a:t>Legal Documents Review</a:t>
            </a:r>
          </a:p>
        </p:txBody>
      </p:sp>
      <p:cxnSp>
        <p:nvCxnSpPr>
          <p:cNvPr id="13" name="Straight Connector 12">
            <a:extLst>
              <a:ext uri="{FF2B5EF4-FFF2-40B4-BE49-F238E27FC236}">
                <a16:creationId xmlns:a16="http://schemas.microsoft.com/office/drawing/2014/main" id="{D2C4353C-C927-1758-0BEF-21E9E0D816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853D2ED-7D3B-0EF8-8A18-0D4FE76498C4}"/>
              </a:ext>
            </a:extLst>
          </p:cNvPr>
          <p:cNvSpPr>
            <a:spLocks/>
          </p:cNvSpPr>
          <p:nvPr/>
        </p:nvSpPr>
        <p:spPr>
          <a:xfrm>
            <a:off x="1825394" y="2400300"/>
            <a:ext cx="4189371" cy="669216"/>
          </a:xfrm>
          <a:prstGeom prst="rect">
            <a:avLst/>
          </a:prstGeom>
        </p:spPr>
        <p:txBody>
          <a:bodyPr/>
          <a:lstStyle/>
          <a:p>
            <a:pPr defTabSz="740664">
              <a:spcAft>
                <a:spcPts val="600"/>
              </a:spcAft>
            </a:pPr>
            <a:r>
              <a:rPr lang="en-US" sz="1458" kern="1200">
                <a:solidFill>
                  <a:schemeClr val="tx1"/>
                </a:solidFill>
                <a:latin typeface="+mn-lt"/>
                <a:ea typeface="+mn-ea"/>
                <a:cs typeface="+mn-cs"/>
              </a:rPr>
              <a:t>Client’s Quickbase</a:t>
            </a:r>
            <a:endParaRPr lang="en-US"/>
          </a:p>
        </p:txBody>
      </p:sp>
      <p:sp>
        <p:nvSpPr>
          <p:cNvPr id="4" name="Content Placeholder 3">
            <a:extLst>
              <a:ext uri="{FF2B5EF4-FFF2-40B4-BE49-F238E27FC236}">
                <a16:creationId xmlns:a16="http://schemas.microsoft.com/office/drawing/2014/main" id="{5ADC6C74-044E-5A23-A06B-BC66D083A80C}"/>
              </a:ext>
            </a:extLst>
          </p:cNvPr>
          <p:cNvSpPr>
            <a:spLocks/>
          </p:cNvSpPr>
          <p:nvPr/>
        </p:nvSpPr>
        <p:spPr>
          <a:xfrm>
            <a:off x="1825394" y="3069516"/>
            <a:ext cx="4189371" cy="2992777"/>
          </a:xfrm>
          <a:prstGeom prst="rect">
            <a:avLst/>
          </a:prstGeom>
        </p:spPr>
        <p:txBody>
          <a:bodyPr/>
          <a:lstStyle/>
          <a:p>
            <a:pPr defTabSz="740664">
              <a:spcAft>
                <a:spcPts val="600"/>
              </a:spcAft>
            </a:pPr>
            <a:r>
              <a:rPr lang="en-US" sz="2268" kern="1200">
                <a:solidFill>
                  <a:schemeClr val="tx1"/>
                </a:solidFill>
                <a:latin typeface="+mn-lt"/>
                <a:ea typeface="+mn-ea"/>
                <a:cs typeface="+mn-cs"/>
              </a:rPr>
              <a:t>https://clearonedebt.quickbase.com/db/bdp9uwef7?a=dr&amp;rid=236562</a:t>
            </a:r>
          </a:p>
          <a:p>
            <a:pPr>
              <a:spcAft>
                <a:spcPts val="600"/>
              </a:spcAft>
            </a:pPr>
            <a:endParaRPr lang="en-US"/>
          </a:p>
        </p:txBody>
      </p:sp>
      <p:sp>
        <p:nvSpPr>
          <p:cNvPr id="5" name="Text Placeholder 4">
            <a:extLst>
              <a:ext uri="{FF2B5EF4-FFF2-40B4-BE49-F238E27FC236}">
                <a16:creationId xmlns:a16="http://schemas.microsoft.com/office/drawing/2014/main" id="{21138C97-AD98-7C8B-8AF9-E6BFCF3A65D7}"/>
              </a:ext>
            </a:extLst>
          </p:cNvPr>
          <p:cNvSpPr>
            <a:spLocks/>
          </p:cNvSpPr>
          <p:nvPr/>
        </p:nvSpPr>
        <p:spPr>
          <a:xfrm>
            <a:off x="6156603" y="2400300"/>
            <a:ext cx="4210003" cy="669216"/>
          </a:xfrm>
          <a:prstGeom prst="rect">
            <a:avLst/>
          </a:prstGeom>
        </p:spPr>
        <p:txBody>
          <a:bodyPr/>
          <a:lstStyle/>
          <a:p>
            <a:pPr defTabSz="740664">
              <a:spcAft>
                <a:spcPts val="600"/>
              </a:spcAft>
            </a:pPr>
            <a:r>
              <a:rPr lang="en-US" sz="1458" kern="1200">
                <a:solidFill>
                  <a:schemeClr val="tx1"/>
                </a:solidFill>
                <a:latin typeface="+mn-lt"/>
                <a:ea typeface="+mn-ea"/>
                <a:cs typeface="+mn-cs"/>
              </a:rPr>
              <a:t>What to look for?</a:t>
            </a:r>
            <a:endParaRPr lang="en-US"/>
          </a:p>
        </p:txBody>
      </p:sp>
      <p:graphicFrame>
        <p:nvGraphicFramePr>
          <p:cNvPr id="8" name="Content Placeholder 5">
            <a:extLst>
              <a:ext uri="{FF2B5EF4-FFF2-40B4-BE49-F238E27FC236}">
                <a16:creationId xmlns:a16="http://schemas.microsoft.com/office/drawing/2014/main" id="{80D670BA-4842-25E6-D0AC-CDE05978528A}"/>
              </a:ext>
            </a:extLst>
          </p:cNvPr>
          <p:cNvGraphicFramePr>
            <a:graphicFrameLocks/>
          </p:cNvGraphicFramePr>
          <p:nvPr>
            <p:extLst>
              <p:ext uri="{D42A27DB-BD31-4B8C-83A1-F6EECF244321}">
                <p14:modId xmlns:p14="http://schemas.microsoft.com/office/powerpoint/2010/main" val="2405273127"/>
              </p:ext>
            </p:extLst>
          </p:nvPr>
        </p:nvGraphicFramePr>
        <p:xfrm>
          <a:off x="6156603" y="3069516"/>
          <a:ext cx="4210003" cy="29927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descr="ClearOne Advantage">
            <a:extLst>
              <a:ext uri="{FF2B5EF4-FFF2-40B4-BE49-F238E27FC236}">
                <a16:creationId xmlns:a16="http://schemas.microsoft.com/office/drawing/2014/main" id="{5AFA1C4A-17B3-B3A1-A019-B553505D35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694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4577FA-72FC-B0AF-E73D-972D141F8E4C}"/>
              </a:ext>
            </a:extLst>
          </p:cNvPr>
          <p:cNvSpPr>
            <a:spLocks noGrp="1"/>
          </p:cNvSpPr>
          <p:nvPr>
            <p:ph type="title"/>
          </p:nvPr>
        </p:nvSpPr>
        <p:spPr>
          <a:xfrm>
            <a:off x="411480" y="991443"/>
            <a:ext cx="4443154" cy="1087819"/>
          </a:xfrm>
        </p:spPr>
        <p:txBody>
          <a:bodyPr anchor="b">
            <a:normAutofit/>
          </a:bodyPr>
          <a:lstStyle/>
          <a:p>
            <a:r>
              <a:rPr lang="en-US" sz="3400"/>
              <a:t>Intake Form </a:t>
            </a:r>
          </a:p>
        </p:txBody>
      </p:sp>
      <p:sp>
        <p:nvSpPr>
          <p:cNvPr id="26" name="Rectangle 25">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DA07C0D-887A-BACB-9126-BA3D7C6506E5}"/>
              </a:ext>
            </a:extLst>
          </p:cNvPr>
          <p:cNvSpPr>
            <a:spLocks noGrp="1"/>
          </p:cNvSpPr>
          <p:nvPr>
            <p:ph idx="1"/>
          </p:nvPr>
        </p:nvSpPr>
        <p:spPr>
          <a:xfrm>
            <a:off x="411480" y="2684095"/>
            <a:ext cx="4443154" cy="3492868"/>
          </a:xfrm>
        </p:spPr>
        <p:txBody>
          <a:bodyPr>
            <a:normAutofit/>
          </a:bodyPr>
          <a:lstStyle/>
          <a:p>
            <a:pPr marL="0" indent="0">
              <a:buNone/>
            </a:pPr>
            <a:r>
              <a:rPr lang="en-US" sz="2400" dirty="0"/>
              <a:t>Intake form is need for clients requesting to have specific or Legal accounts to be settled by negotiations. </a:t>
            </a:r>
          </a:p>
          <a:p>
            <a:pPr marL="0" indent="0">
              <a:buNone/>
            </a:pPr>
            <a:endParaRPr lang="en-US" sz="1800" dirty="0"/>
          </a:p>
          <a:p>
            <a:pPr marL="0" indent="0">
              <a:buNone/>
            </a:pPr>
            <a:endParaRPr lang="en-US" sz="1800" dirty="0"/>
          </a:p>
        </p:txBody>
      </p:sp>
      <p:pic>
        <p:nvPicPr>
          <p:cNvPr id="5" name="Picture 4">
            <a:extLst>
              <a:ext uri="{FF2B5EF4-FFF2-40B4-BE49-F238E27FC236}">
                <a16:creationId xmlns:a16="http://schemas.microsoft.com/office/drawing/2014/main" id="{0DD5C8E3-2896-5EF6-B58E-AC3549CE251C}"/>
              </a:ext>
            </a:extLst>
          </p:cNvPr>
          <p:cNvPicPr>
            <a:picLocks noChangeAspect="1"/>
          </p:cNvPicPr>
          <p:nvPr/>
        </p:nvPicPr>
        <p:blipFill>
          <a:blip r:embed="rId2"/>
          <a:stretch>
            <a:fillRect/>
          </a:stretch>
        </p:blipFill>
        <p:spPr>
          <a:xfrm>
            <a:off x="4986985" y="1535352"/>
            <a:ext cx="6964595" cy="3343004"/>
          </a:xfrm>
          <a:prstGeom prst="rect">
            <a:avLst/>
          </a:prstGeom>
        </p:spPr>
      </p:pic>
      <p:pic>
        <p:nvPicPr>
          <p:cNvPr id="6" name="Picture 2" descr="ClearOne Advantage">
            <a:extLst>
              <a:ext uri="{FF2B5EF4-FFF2-40B4-BE49-F238E27FC236}">
                <a16:creationId xmlns:a16="http://schemas.microsoft.com/office/drawing/2014/main" id="{5D5C39D1-A249-8C09-A9EA-F7E8E55DBA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019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CA98B-FDC0-638D-20ED-0B4A053FE08A}"/>
              </a:ext>
            </a:extLst>
          </p:cNvPr>
          <p:cNvSpPr>
            <a:spLocks noGrp="1"/>
          </p:cNvSpPr>
          <p:nvPr>
            <p:ph type="title"/>
          </p:nvPr>
        </p:nvSpPr>
        <p:spPr>
          <a:xfrm>
            <a:off x="742505" y="146354"/>
            <a:ext cx="10515600" cy="1325563"/>
          </a:xfrm>
        </p:spPr>
        <p:txBody>
          <a:bodyPr/>
          <a:lstStyle/>
          <a:p>
            <a:r>
              <a:rPr lang="en-US" dirty="0"/>
              <a:t>Intake Form Serving Process</a:t>
            </a:r>
          </a:p>
        </p:txBody>
      </p:sp>
      <p:sp>
        <p:nvSpPr>
          <p:cNvPr id="9" name="Content Placeholder 8">
            <a:extLst>
              <a:ext uri="{FF2B5EF4-FFF2-40B4-BE49-F238E27FC236}">
                <a16:creationId xmlns:a16="http://schemas.microsoft.com/office/drawing/2014/main" id="{9412E592-EEB8-4FA3-31B6-9F17BE761AF3}"/>
              </a:ext>
            </a:extLst>
          </p:cNvPr>
          <p:cNvSpPr>
            <a:spLocks noGrp="1"/>
          </p:cNvSpPr>
          <p:nvPr>
            <p:ph idx="1"/>
          </p:nvPr>
        </p:nvSpPr>
        <p:spPr>
          <a:xfrm>
            <a:off x="742505" y="1339701"/>
            <a:ext cx="10868247" cy="5199321"/>
          </a:xfrm>
        </p:spPr>
        <p:txBody>
          <a:bodyPr/>
          <a:lstStyle/>
          <a:p>
            <a:pPr marL="0" indent="0">
              <a:buNone/>
            </a:pPr>
            <a:r>
              <a:rPr lang="en-US" sz="1800" dirty="0"/>
              <a:t>Scenario:</a:t>
            </a:r>
          </a:p>
          <a:p>
            <a:pPr marL="0" indent="0">
              <a:buNone/>
            </a:pPr>
            <a:r>
              <a:rPr lang="en-US" sz="1800" dirty="0"/>
              <a:t>The client calls in because they want us to settle a specific account. If client has an account that has received a summons or gone legal, please follow the Escalation process. </a:t>
            </a:r>
          </a:p>
          <a:p>
            <a:pPr marL="0" indent="0">
              <a:buNone/>
            </a:pPr>
            <a:endParaRPr lang="en-US" dirty="0"/>
          </a:p>
        </p:txBody>
      </p:sp>
      <p:sp>
        <p:nvSpPr>
          <p:cNvPr id="10" name="TextBox 9">
            <a:extLst>
              <a:ext uri="{FF2B5EF4-FFF2-40B4-BE49-F238E27FC236}">
                <a16:creationId xmlns:a16="http://schemas.microsoft.com/office/drawing/2014/main" id="{68EC6BCB-3A6B-8F3D-F21B-3D81315B7153}"/>
              </a:ext>
            </a:extLst>
          </p:cNvPr>
          <p:cNvSpPr txBox="1"/>
          <p:nvPr/>
        </p:nvSpPr>
        <p:spPr>
          <a:xfrm>
            <a:off x="838200" y="2519917"/>
            <a:ext cx="4127205" cy="4031873"/>
          </a:xfrm>
          <a:prstGeom prst="rect">
            <a:avLst/>
          </a:prstGeom>
          <a:noFill/>
          <a:ln>
            <a:solidFill>
              <a:schemeClr val="accent1"/>
            </a:solidFill>
          </a:ln>
        </p:spPr>
        <p:txBody>
          <a:bodyPr wrap="square" lIns="91440" tIns="45720" rIns="91440" bIns="45720" rtlCol="0" anchor="t">
            <a:spAutoFit/>
          </a:bodyPr>
          <a:lstStyle/>
          <a:p>
            <a:r>
              <a:rPr lang="en-US" sz="1600" dirty="0"/>
              <a:t>Step 1: Determine if</a:t>
            </a:r>
          </a:p>
          <a:p>
            <a:pPr marL="285750" indent="-285750">
              <a:buFont typeface="Arial" panose="020B0604020202020204" pitchFamily="34" charset="0"/>
              <a:buChar char="•"/>
            </a:pPr>
            <a:r>
              <a:rPr lang="en-US" sz="1600" dirty="0"/>
              <a:t>One of the following are true:</a:t>
            </a:r>
            <a:endParaRPr lang="en-US" sz="1600" dirty="0">
              <a:cs typeface="Calibri"/>
            </a:endParaRPr>
          </a:p>
          <a:p>
            <a:pPr marL="742950" lvl="1" indent="-285750">
              <a:buFont typeface="Arial" panose="020B0604020202020204" pitchFamily="34" charset="0"/>
              <a:buChar char="•"/>
            </a:pPr>
            <a:r>
              <a:rPr lang="en-US" sz="1600" dirty="0"/>
              <a:t>The client has received a summons, stop and follow </a:t>
            </a:r>
            <a:r>
              <a:rPr lang="en-US" sz="1600" b="1" dirty="0">
                <a:highlight>
                  <a:srgbClr val="FFFF00"/>
                </a:highlight>
              </a:rPr>
              <a:t>steps for legal accounts</a:t>
            </a:r>
            <a:endParaRPr lang="en-US" sz="1600" b="1" dirty="0">
              <a:highlight>
                <a:srgbClr val="FFFF00"/>
              </a:highlight>
              <a:cs typeface="Calibri"/>
            </a:endParaRPr>
          </a:p>
          <a:p>
            <a:pPr marL="742950" lvl="1" indent="-285750">
              <a:buFont typeface="Arial" panose="020B0604020202020204" pitchFamily="34" charset="0"/>
              <a:buChar char="•"/>
            </a:pPr>
            <a:r>
              <a:rPr lang="en-US" sz="1600" dirty="0"/>
              <a:t>The client is requesting to settle or resettle (</a:t>
            </a:r>
            <a:r>
              <a:rPr lang="en-US" sz="1600" dirty="0">
                <a:ea typeface="+mn-lt"/>
                <a:cs typeface="+mn-lt"/>
              </a:rPr>
              <a:t>We do not charge a resettle fee. If fees have already been paid, nothing else will be charged</a:t>
            </a:r>
            <a:r>
              <a:rPr lang="en-US" sz="1600" dirty="0"/>
              <a:t>) the</a:t>
            </a:r>
            <a:r>
              <a:rPr lang="en-US" sz="1600" b="1" u="sng" dirty="0"/>
              <a:t> last account</a:t>
            </a:r>
            <a:r>
              <a:rPr lang="en-US" sz="1600" dirty="0"/>
              <a:t> in the program</a:t>
            </a:r>
            <a:endParaRPr lang="en-US" sz="1600" dirty="0">
              <a:cs typeface="Calibri"/>
            </a:endParaRPr>
          </a:p>
          <a:p>
            <a:pPr marL="742950" lvl="1" indent="-285750">
              <a:buFont typeface="Arial" panose="020B0604020202020204" pitchFamily="34" charset="0"/>
              <a:buChar char="•"/>
            </a:pPr>
            <a:r>
              <a:rPr lang="en-US" sz="1600" dirty="0"/>
              <a:t>The client is threatening to file a formal complaint if we do not settle specific account.</a:t>
            </a:r>
            <a:endParaRPr lang="en-US" sz="1600" b="1" dirty="0">
              <a:cs typeface="Calibri"/>
            </a:endParaRPr>
          </a:p>
          <a:p>
            <a:pPr lvl="1"/>
            <a:endParaRPr lang="en-US" sz="1600" dirty="0"/>
          </a:p>
          <a:p>
            <a:r>
              <a:rPr lang="en-US" sz="1600" dirty="0"/>
              <a:t>If NONE of these are true, </a:t>
            </a:r>
            <a:r>
              <a:rPr lang="en-US" sz="1600" b="1" dirty="0">
                <a:solidFill>
                  <a:srgbClr val="FF0000"/>
                </a:solidFill>
              </a:rPr>
              <a:t>STOP</a:t>
            </a:r>
            <a:endParaRPr lang="en-US" sz="1600" b="1" dirty="0">
              <a:solidFill>
                <a:srgbClr val="FF0000"/>
              </a:solidFill>
              <a:cs typeface="Calibri"/>
            </a:endParaRPr>
          </a:p>
          <a:p>
            <a:r>
              <a:rPr lang="en-US" sz="1600" dirty="0"/>
              <a:t>If one or more is true, </a:t>
            </a:r>
            <a:r>
              <a:rPr lang="en-US" sz="1600" b="1" dirty="0"/>
              <a:t>Continue to Step 2</a:t>
            </a:r>
            <a:endParaRPr lang="en-US" sz="1600" b="1" dirty="0">
              <a:cs typeface="Calibri"/>
            </a:endParaRPr>
          </a:p>
        </p:txBody>
      </p:sp>
      <p:sp>
        <p:nvSpPr>
          <p:cNvPr id="11" name="TextBox 10">
            <a:extLst>
              <a:ext uri="{FF2B5EF4-FFF2-40B4-BE49-F238E27FC236}">
                <a16:creationId xmlns:a16="http://schemas.microsoft.com/office/drawing/2014/main" id="{D4B4B2F4-46D2-AD83-6385-82EA83A8540B}"/>
              </a:ext>
            </a:extLst>
          </p:cNvPr>
          <p:cNvSpPr txBox="1"/>
          <p:nvPr/>
        </p:nvSpPr>
        <p:spPr>
          <a:xfrm>
            <a:off x="5383618" y="2519915"/>
            <a:ext cx="5206409" cy="4031872"/>
          </a:xfrm>
          <a:prstGeom prst="rect">
            <a:avLst/>
          </a:prstGeom>
          <a:noFill/>
          <a:ln>
            <a:solidFill>
              <a:schemeClr val="accent1"/>
            </a:solidFill>
          </a:ln>
        </p:spPr>
        <p:txBody>
          <a:bodyPr wrap="square" lIns="91440" tIns="45720" rIns="91440" bIns="45720" rtlCol="0" anchor="t">
            <a:spAutoFit/>
          </a:bodyPr>
          <a:lstStyle/>
          <a:p>
            <a:r>
              <a:rPr lang="en-US" dirty="0"/>
              <a:t>Step 2: Determine if</a:t>
            </a:r>
          </a:p>
          <a:p>
            <a:pPr marL="285750" indent="-285750">
              <a:buFont typeface="Arial" panose="020B0604020202020204" pitchFamily="34" charset="0"/>
              <a:buChar char="•"/>
            </a:pPr>
            <a:r>
              <a:rPr lang="en-US" dirty="0"/>
              <a:t>The client is able to add funds </a:t>
            </a:r>
            <a:endParaRPr lang="en-US" dirty="0">
              <a:cs typeface="Calibri"/>
            </a:endParaRPr>
          </a:p>
          <a:p>
            <a:pPr lvl="1"/>
            <a:endParaRPr lang="en-US" dirty="0">
              <a:cs typeface="Calibri"/>
            </a:endParaRPr>
          </a:p>
          <a:p>
            <a:r>
              <a:rPr lang="en-US" dirty="0"/>
              <a:t>If this is not true, </a:t>
            </a:r>
            <a:r>
              <a:rPr lang="en-US" b="1" dirty="0">
                <a:solidFill>
                  <a:srgbClr val="FF0000"/>
                </a:solidFill>
              </a:rPr>
              <a:t>STOP</a:t>
            </a:r>
            <a:r>
              <a:rPr lang="en-US" dirty="0"/>
              <a:t>, advise the client that we will need to wait for funds to build up in the program before being able to negotiate.</a:t>
            </a:r>
          </a:p>
          <a:p>
            <a:endParaRPr lang="en-US" dirty="0"/>
          </a:p>
          <a:p>
            <a:r>
              <a:rPr lang="en-US" dirty="0"/>
              <a:t>Step 3: Complete Intake form with requested information.</a:t>
            </a:r>
          </a:p>
          <a:p>
            <a:endParaRPr lang="en-US" dirty="0"/>
          </a:p>
          <a:p>
            <a:endParaRPr lang="en-US" dirty="0"/>
          </a:p>
          <a:p>
            <a:r>
              <a:rPr lang="en-US" dirty="0"/>
              <a:t>All scripting and steps covered in the remainder of the course will be available in SOPs and QRGs on SharePoint</a:t>
            </a:r>
          </a:p>
        </p:txBody>
      </p:sp>
      <p:pic>
        <p:nvPicPr>
          <p:cNvPr id="13" name="Picture 2" descr="ClearOne Advantage">
            <a:extLst>
              <a:ext uri="{FF2B5EF4-FFF2-40B4-BE49-F238E27FC236}">
                <a16:creationId xmlns:a16="http://schemas.microsoft.com/office/drawing/2014/main" id="{A3FD56CE-573C-F16D-72D4-FE3EAEAB8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204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EAF9-CA93-8B66-40C6-01A209E7BEAE}"/>
              </a:ext>
            </a:extLst>
          </p:cNvPr>
          <p:cNvSpPr>
            <a:spLocks noGrp="1"/>
          </p:cNvSpPr>
          <p:nvPr>
            <p:ph type="title"/>
          </p:nvPr>
        </p:nvSpPr>
        <p:spPr/>
        <p:txBody>
          <a:bodyPr/>
          <a:lstStyle/>
          <a:p>
            <a:pPr algn="ctr"/>
            <a:r>
              <a:rPr lang="en-US" dirty="0"/>
              <a:t>Special Draft</a:t>
            </a:r>
          </a:p>
        </p:txBody>
      </p:sp>
      <p:sp>
        <p:nvSpPr>
          <p:cNvPr id="3" name="Content Placeholder 2">
            <a:extLst>
              <a:ext uri="{FF2B5EF4-FFF2-40B4-BE49-F238E27FC236}">
                <a16:creationId xmlns:a16="http://schemas.microsoft.com/office/drawing/2014/main" id="{1F1B0D27-506E-9970-978D-3180BABAE1F2}"/>
              </a:ext>
            </a:extLst>
          </p:cNvPr>
          <p:cNvSpPr>
            <a:spLocks noGrp="1"/>
          </p:cNvSpPr>
          <p:nvPr>
            <p:ph idx="1"/>
          </p:nvPr>
        </p:nvSpPr>
        <p:spPr>
          <a:xfrm>
            <a:off x="838200" y="1520456"/>
            <a:ext cx="10515600" cy="4656507"/>
          </a:xfrm>
        </p:spPr>
        <p:txBody>
          <a:bodyPr/>
          <a:lstStyle/>
          <a:p>
            <a:pPr marL="0" indent="0">
              <a:buNone/>
            </a:pPr>
            <a:r>
              <a:rPr lang="en-US" dirty="0"/>
              <a:t>Why?</a:t>
            </a:r>
          </a:p>
          <a:p>
            <a:pPr>
              <a:buFont typeface="Wingdings" panose="05000000000000000000" pitchFamily="2" charset="2"/>
              <a:buChar char="Ø"/>
            </a:pPr>
            <a:r>
              <a:rPr lang="en-US" dirty="0"/>
              <a:t>For us to assist on negotiations, we estimate the amount in need for us to expedite the process for negotiations. </a:t>
            </a:r>
          </a:p>
          <a:p>
            <a:pPr marL="0" indent="0">
              <a:buNone/>
            </a:pPr>
            <a:r>
              <a:rPr lang="en-US" dirty="0"/>
              <a:t>Where can we check for the estimate amount needed?</a:t>
            </a:r>
          </a:p>
        </p:txBody>
      </p:sp>
      <p:pic>
        <p:nvPicPr>
          <p:cNvPr id="5" name="Picture 4">
            <a:extLst>
              <a:ext uri="{FF2B5EF4-FFF2-40B4-BE49-F238E27FC236}">
                <a16:creationId xmlns:a16="http://schemas.microsoft.com/office/drawing/2014/main" id="{EE6EFACA-903A-E489-AD63-CFE93FF538AA}"/>
              </a:ext>
            </a:extLst>
          </p:cNvPr>
          <p:cNvPicPr>
            <a:picLocks noChangeAspect="1"/>
          </p:cNvPicPr>
          <p:nvPr/>
        </p:nvPicPr>
        <p:blipFill>
          <a:blip r:embed="rId2"/>
          <a:stretch>
            <a:fillRect/>
          </a:stretch>
        </p:blipFill>
        <p:spPr>
          <a:xfrm>
            <a:off x="1061767" y="3530847"/>
            <a:ext cx="10292033" cy="2754206"/>
          </a:xfrm>
          <a:prstGeom prst="rect">
            <a:avLst/>
          </a:prstGeom>
        </p:spPr>
      </p:pic>
      <p:pic>
        <p:nvPicPr>
          <p:cNvPr id="6" name="Picture 2" descr="ClearOne Advantage">
            <a:extLst>
              <a:ext uri="{FF2B5EF4-FFF2-40B4-BE49-F238E27FC236}">
                <a16:creationId xmlns:a16="http://schemas.microsoft.com/office/drawing/2014/main" id="{2B00929A-595C-FCD2-FEA3-67FF7CFD66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749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8464D-D492-6A95-6605-D5EC25C28BEB}"/>
              </a:ext>
            </a:extLst>
          </p:cNvPr>
          <p:cNvSpPr>
            <a:spLocks noGrp="1"/>
          </p:cNvSpPr>
          <p:nvPr>
            <p:ph type="title"/>
          </p:nvPr>
        </p:nvSpPr>
        <p:spPr/>
        <p:txBody>
          <a:bodyPr/>
          <a:lstStyle/>
          <a:p>
            <a:r>
              <a:rPr lang="en-US" dirty="0"/>
              <a:t>Account Eligible/Ineligible and Funds Needed</a:t>
            </a:r>
          </a:p>
        </p:txBody>
      </p:sp>
      <p:sp>
        <p:nvSpPr>
          <p:cNvPr id="3" name="Content Placeholder 2">
            <a:extLst>
              <a:ext uri="{FF2B5EF4-FFF2-40B4-BE49-F238E27FC236}">
                <a16:creationId xmlns:a16="http://schemas.microsoft.com/office/drawing/2014/main" id="{F7F617EF-3860-8805-311B-6EB1BC8E709F}"/>
              </a:ext>
            </a:extLst>
          </p:cNvPr>
          <p:cNvSpPr>
            <a:spLocks noGrp="1"/>
          </p:cNvSpPr>
          <p:nvPr>
            <p:ph idx="1"/>
          </p:nvPr>
        </p:nvSpPr>
        <p:spPr>
          <a:xfrm>
            <a:off x="838200" y="1412111"/>
            <a:ext cx="10515600" cy="4764852"/>
          </a:xfrm>
        </p:spPr>
        <p:txBody>
          <a:bodyPr>
            <a:normAutofit/>
          </a:bodyPr>
          <a:lstStyle/>
          <a:p>
            <a:r>
              <a:rPr lang="en-US" sz="1600" b="1" u="sng" dirty="0"/>
              <a:t>Creditor eligible to settle status </a:t>
            </a:r>
          </a:p>
          <a:p>
            <a:pPr marL="0" indent="0">
              <a:buNone/>
            </a:pPr>
            <a:r>
              <a:rPr lang="en-US" sz="1600" dirty="0"/>
              <a:t>Green check mark - Negotiations team can settle the  account can be settled with the creditor</a:t>
            </a:r>
            <a:endParaRPr lang="en-US" sz="1600" dirty="0">
              <a:ea typeface="Calibri"/>
              <a:cs typeface="Calibri"/>
            </a:endParaRPr>
          </a:p>
          <a:p>
            <a:pPr marL="0" indent="0">
              <a:buNone/>
            </a:pPr>
            <a:r>
              <a:rPr lang="en-US" sz="1600" dirty="0"/>
              <a:t>Red X – Negotiations will not be able to work with the creditor to reach the best settlement. To find reasons why, please review negotiations notes and eligibility dates in client creditor list</a:t>
            </a:r>
            <a:endParaRPr lang="en-US" sz="1600" dirty="0">
              <a:ea typeface="Calibri"/>
              <a:cs typeface="Calibri"/>
            </a:endParaRPr>
          </a:p>
          <a:p>
            <a:endParaRPr lang="en-US" sz="1600" dirty="0"/>
          </a:p>
          <a:p>
            <a:r>
              <a:rPr lang="en-US" sz="1600" b="1" u="sng" dirty="0"/>
              <a:t>Estimated Funds needed </a:t>
            </a:r>
          </a:p>
          <a:p>
            <a:pPr marL="0" indent="0">
              <a:buNone/>
            </a:pPr>
            <a:r>
              <a:rPr lang="en-US" sz="1600" dirty="0"/>
              <a:t>Form will provide an estimate of the funds needed to settle along with estimated SD breakdown . If there are not enough funds in the calculator, advise the client how much they are willing to add.</a:t>
            </a:r>
            <a:endParaRPr lang="en-US" sz="1600" dirty="0">
              <a:ea typeface="Calibri"/>
              <a:cs typeface="Calibri"/>
            </a:endParaRPr>
          </a:p>
          <a:p>
            <a:pPr marL="0" indent="0">
              <a:buNone/>
            </a:pPr>
            <a:r>
              <a:rPr lang="en-US" sz="1600" b="1" dirty="0">
                <a:ea typeface="Calibri"/>
                <a:cs typeface="Calibri"/>
              </a:rPr>
              <a:t>If no funds needed, $1.00 in the "Contributions" box to be able to submit the form</a:t>
            </a:r>
          </a:p>
          <a:p>
            <a:pPr marL="0" indent="0">
              <a:buNone/>
            </a:pPr>
            <a:endParaRPr lang="en-US" dirty="0"/>
          </a:p>
        </p:txBody>
      </p:sp>
      <p:sp>
        <p:nvSpPr>
          <p:cNvPr id="4" name="Rectangle 3">
            <a:extLst>
              <a:ext uri="{FF2B5EF4-FFF2-40B4-BE49-F238E27FC236}">
                <a16:creationId xmlns:a16="http://schemas.microsoft.com/office/drawing/2014/main" id="{FBC7938E-5E01-59BC-376F-2022F62BDFF6}"/>
              </a:ext>
            </a:extLst>
          </p:cNvPr>
          <p:cNvSpPr/>
          <p:nvPr/>
        </p:nvSpPr>
        <p:spPr>
          <a:xfrm>
            <a:off x="496374" y="4433777"/>
            <a:ext cx="5404873" cy="2171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8CC138B-8A40-6B45-3124-5BBE1F92D8D9}"/>
              </a:ext>
            </a:extLst>
          </p:cNvPr>
          <p:cNvPicPr>
            <a:picLocks noChangeAspect="1"/>
          </p:cNvPicPr>
          <p:nvPr/>
        </p:nvPicPr>
        <p:blipFill>
          <a:blip r:embed="rId2"/>
          <a:stretch>
            <a:fillRect/>
          </a:stretch>
        </p:blipFill>
        <p:spPr>
          <a:xfrm>
            <a:off x="699887" y="4650730"/>
            <a:ext cx="2599451" cy="1750651"/>
          </a:xfrm>
          <a:prstGeom prst="rect">
            <a:avLst/>
          </a:prstGeom>
        </p:spPr>
      </p:pic>
      <p:pic>
        <p:nvPicPr>
          <p:cNvPr id="7" name="Graphic 6" descr="Checkmark with solid fill">
            <a:extLst>
              <a:ext uri="{FF2B5EF4-FFF2-40B4-BE49-F238E27FC236}">
                <a16:creationId xmlns:a16="http://schemas.microsoft.com/office/drawing/2014/main" id="{ECB2E67C-429B-9E6E-3737-EF2EAD1936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7829" y="6026087"/>
            <a:ext cx="301752" cy="301752"/>
          </a:xfrm>
          <a:prstGeom prst="rect">
            <a:avLst/>
          </a:prstGeom>
        </p:spPr>
      </p:pic>
      <p:sp>
        <p:nvSpPr>
          <p:cNvPr id="8" name="TextBox 7">
            <a:extLst>
              <a:ext uri="{FF2B5EF4-FFF2-40B4-BE49-F238E27FC236}">
                <a16:creationId xmlns:a16="http://schemas.microsoft.com/office/drawing/2014/main" id="{6D1BCAFF-7F3A-9828-6E98-DA2B258F6F0E}"/>
              </a:ext>
            </a:extLst>
          </p:cNvPr>
          <p:cNvSpPr txBox="1"/>
          <p:nvPr/>
        </p:nvSpPr>
        <p:spPr>
          <a:xfrm>
            <a:off x="1319581" y="6032050"/>
            <a:ext cx="1124712" cy="369332"/>
          </a:xfrm>
          <a:prstGeom prst="rect">
            <a:avLst/>
          </a:prstGeom>
          <a:noFill/>
        </p:spPr>
        <p:txBody>
          <a:bodyPr wrap="square" rtlCol="0">
            <a:spAutoFit/>
          </a:bodyPr>
          <a:lstStyle/>
          <a:p>
            <a:r>
              <a:rPr lang="en-US" dirty="0"/>
              <a:t>= Eligible </a:t>
            </a:r>
          </a:p>
        </p:txBody>
      </p:sp>
      <p:pic>
        <p:nvPicPr>
          <p:cNvPr id="9" name="Picture 8">
            <a:extLst>
              <a:ext uri="{FF2B5EF4-FFF2-40B4-BE49-F238E27FC236}">
                <a16:creationId xmlns:a16="http://schemas.microsoft.com/office/drawing/2014/main" id="{4E69107E-8310-7045-C069-36007C63FEF0}"/>
              </a:ext>
            </a:extLst>
          </p:cNvPr>
          <p:cNvPicPr>
            <a:picLocks noChangeAspect="1"/>
          </p:cNvPicPr>
          <p:nvPr/>
        </p:nvPicPr>
        <p:blipFill>
          <a:blip r:embed="rId5"/>
          <a:stretch>
            <a:fillRect/>
          </a:stretch>
        </p:blipFill>
        <p:spPr>
          <a:xfrm>
            <a:off x="3329977" y="4701713"/>
            <a:ext cx="2571269" cy="1750651"/>
          </a:xfrm>
          <a:prstGeom prst="rect">
            <a:avLst/>
          </a:prstGeom>
        </p:spPr>
      </p:pic>
      <p:pic>
        <p:nvPicPr>
          <p:cNvPr id="10" name="Graphic 9" descr="Close with solid fill">
            <a:extLst>
              <a:ext uri="{FF2B5EF4-FFF2-40B4-BE49-F238E27FC236}">
                <a16:creationId xmlns:a16="http://schemas.microsoft.com/office/drawing/2014/main" id="{73900744-A231-1A80-1591-43E76DA1583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8192" y="5547623"/>
            <a:ext cx="395621" cy="369332"/>
          </a:xfrm>
          <a:prstGeom prst="rect">
            <a:avLst/>
          </a:prstGeom>
        </p:spPr>
      </p:pic>
      <p:sp>
        <p:nvSpPr>
          <p:cNvPr id="11" name="TextBox 10">
            <a:extLst>
              <a:ext uri="{FF2B5EF4-FFF2-40B4-BE49-F238E27FC236}">
                <a16:creationId xmlns:a16="http://schemas.microsoft.com/office/drawing/2014/main" id="{0A46465F-FEB5-3649-36E1-749356114591}"/>
              </a:ext>
            </a:extLst>
          </p:cNvPr>
          <p:cNvSpPr txBox="1"/>
          <p:nvPr/>
        </p:nvSpPr>
        <p:spPr>
          <a:xfrm>
            <a:off x="3673813" y="5547623"/>
            <a:ext cx="1333090" cy="369332"/>
          </a:xfrm>
          <a:prstGeom prst="rect">
            <a:avLst/>
          </a:prstGeom>
          <a:noFill/>
        </p:spPr>
        <p:txBody>
          <a:bodyPr wrap="square" lIns="91440" tIns="45720" rIns="91440" bIns="45720" rtlCol="0" anchor="t">
            <a:spAutoFit/>
          </a:bodyPr>
          <a:lstStyle/>
          <a:p>
            <a:r>
              <a:rPr lang="en-US" dirty="0"/>
              <a:t>= Ineligible </a:t>
            </a:r>
          </a:p>
        </p:txBody>
      </p:sp>
      <p:sp>
        <p:nvSpPr>
          <p:cNvPr id="12" name="Rectangle 11">
            <a:extLst>
              <a:ext uri="{FF2B5EF4-FFF2-40B4-BE49-F238E27FC236}">
                <a16:creationId xmlns:a16="http://schemas.microsoft.com/office/drawing/2014/main" id="{8F61C869-FA0B-52BE-1A99-49442A97CC22}"/>
              </a:ext>
            </a:extLst>
          </p:cNvPr>
          <p:cNvSpPr/>
          <p:nvPr/>
        </p:nvSpPr>
        <p:spPr>
          <a:xfrm>
            <a:off x="6165590" y="4433777"/>
            <a:ext cx="5530036" cy="21711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3" descr="A picture containing table&#10;&#10;Description automatically generated">
            <a:extLst>
              <a:ext uri="{FF2B5EF4-FFF2-40B4-BE49-F238E27FC236}">
                <a16:creationId xmlns:a16="http://schemas.microsoft.com/office/drawing/2014/main" id="{DED27B92-CD7F-32DA-B489-215495C1719D}"/>
              </a:ext>
            </a:extLst>
          </p:cNvPr>
          <p:cNvPicPr>
            <a:picLocks noChangeAspect="1"/>
          </p:cNvPicPr>
          <p:nvPr/>
        </p:nvPicPr>
        <p:blipFill>
          <a:blip r:embed="rId8"/>
          <a:stretch>
            <a:fillRect/>
          </a:stretch>
        </p:blipFill>
        <p:spPr>
          <a:xfrm>
            <a:off x="6290753" y="5171456"/>
            <a:ext cx="5201360" cy="752333"/>
          </a:xfrm>
          <a:prstGeom prst="rect">
            <a:avLst/>
          </a:prstGeom>
        </p:spPr>
      </p:pic>
      <p:sp>
        <p:nvSpPr>
          <p:cNvPr id="14" name="TextBox 13">
            <a:extLst>
              <a:ext uri="{FF2B5EF4-FFF2-40B4-BE49-F238E27FC236}">
                <a16:creationId xmlns:a16="http://schemas.microsoft.com/office/drawing/2014/main" id="{2678FC8F-8775-AFA6-B3BA-5E1A9C951D10}"/>
              </a:ext>
            </a:extLst>
          </p:cNvPr>
          <p:cNvSpPr txBox="1"/>
          <p:nvPr/>
        </p:nvSpPr>
        <p:spPr>
          <a:xfrm>
            <a:off x="6290753" y="4674415"/>
            <a:ext cx="2626824" cy="523220"/>
          </a:xfrm>
          <a:prstGeom prst="rect">
            <a:avLst/>
          </a:prstGeom>
          <a:noFill/>
        </p:spPr>
        <p:txBody>
          <a:bodyPr wrap="square" rtlCol="0">
            <a:spAutoFit/>
          </a:bodyPr>
          <a:lstStyle/>
          <a:p>
            <a:r>
              <a:rPr lang="en-US" sz="1400" dirty="0"/>
              <a:t>Amount of funds needed to settle </a:t>
            </a:r>
          </a:p>
        </p:txBody>
      </p:sp>
      <p:sp>
        <p:nvSpPr>
          <p:cNvPr id="16" name="TextBox 15">
            <a:extLst>
              <a:ext uri="{FF2B5EF4-FFF2-40B4-BE49-F238E27FC236}">
                <a16:creationId xmlns:a16="http://schemas.microsoft.com/office/drawing/2014/main" id="{F9B18D7F-C4CC-3444-A3C0-1C6401AD91B2}"/>
              </a:ext>
            </a:extLst>
          </p:cNvPr>
          <p:cNvSpPr txBox="1"/>
          <p:nvPr/>
        </p:nvSpPr>
        <p:spPr>
          <a:xfrm>
            <a:off x="9181921" y="4712923"/>
            <a:ext cx="2005381" cy="523220"/>
          </a:xfrm>
          <a:prstGeom prst="rect">
            <a:avLst/>
          </a:prstGeom>
          <a:noFill/>
        </p:spPr>
        <p:txBody>
          <a:bodyPr wrap="square" rtlCol="0">
            <a:spAutoFit/>
          </a:bodyPr>
          <a:lstStyle/>
          <a:p>
            <a:r>
              <a:rPr lang="en-US" sz="1400" dirty="0"/>
              <a:t>Amount of funds the client can add </a:t>
            </a:r>
          </a:p>
        </p:txBody>
      </p:sp>
      <p:pic>
        <p:nvPicPr>
          <p:cNvPr id="19" name="Picture 2" descr="ClearOne Advantage">
            <a:extLst>
              <a:ext uri="{FF2B5EF4-FFF2-40B4-BE49-F238E27FC236}">
                <a16:creationId xmlns:a16="http://schemas.microsoft.com/office/drawing/2014/main" id="{EBC4B433-7A5E-004A-8AA1-8C023E69CD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6689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7F7D-3F80-4B7A-42B0-CB189CE01FB7}"/>
              </a:ext>
            </a:extLst>
          </p:cNvPr>
          <p:cNvSpPr>
            <a:spLocks noGrp="1"/>
          </p:cNvSpPr>
          <p:nvPr>
            <p:ph type="title"/>
          </p:nvPr>
        </p:nvSpPr>
        <p:spPr/>
        <p:txBody>
          <a:bodyPr/>
          <a:lstStyle/>
          <a:p>
            <a:pPr algn="ctr"/>
            <a:r>
              <a:rPr lang="en-US" dirty="0"/>
              <a:t>Talking Points/Steps</a:t>
            </a:r>
          </a:p>
        </p:txBody>
      </p:sp>
      <p:sp>
        <p:nvSpPr>
          <p:cNvPr id="3" name="Content Placeholder 2">
            <a:extLst>
              <a:ext uri="{FF2B5EF4-FFF2-40B4-BE49-F238E27FC236}">
                <a16:creationId xmlns:a16="http://schemas.microsoft.com/office/drawing/2014/main" id="{03FA2A58-E14B-E9D2-F03F-B8AE7C73A758}"/>
              </a:ext>
            </a:extLst>
          </p:cNvPr>
          <p:cNvSpPr>
            <a:spLocks noGrp="1"/>
          </p:cNvSpPr>
          <p:nvPr>
            <p:ph idx="1"/>
          </p:nvPr>
        </p:nvSpPr>
        <p:spPr/>
        <p:txBody>
          <a:bodyPr/>
          <a:lstStyle/>
          <a:p>
            <a:pPr>
              <a:buFont typeface="Wingdings" panose="05000000000000000000" pitchFamily="2" charset="2"/>
              <a:buChar char="Ø"/>
            </a:pPr>
            <a:r>
              <a:rPr lang="en-US" dirty="0"/>
              <a:t>Make the client comfortable with the conversation. Place the client’s mind an ease.</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Review Legal Documents. </a:t>
            </a:r>
          </a:p>
          <a:p>
            <a:pPr>
              <a:buFont typeface="Wingdings" panose="05000000000000000000" pitchFamily="2" charset="2"/>
              <a:buChar char="Ø"/>
            </a:pPr>
            <a:r>
              <a:rPr lang="en-US" dirty="0"/>
              <a:t>Ask questions for the client.  </a:t>
            </a:r>
          </a:p>
          <a:p>
            <a:pPr>
              <a:buFont typeface="Wingdings" panose="05000000000000000000" pitchFamily="2" charset="2"/>
              <a:buChar char="Ø"/>
            </a:pPr>
            <a:endParaRPr lang="en-US" dirty="0"/>
          </a:p>
          <a:p>
            <a:pPr>
              <a:buFont typeface="Wingdings" panose="05000000000000000000" pitchFamily="2" charset="2"/>
              <a:buChar char="Ø"/>
            </a:pPr>
            <a:r>
              <a:rPr lang="en-US" dirty="0"/>
              <a:t>Open Intake Form and filled the information in need. (Date Received, Court Date, Legal Notes, </a:t>
            </a:r>
            <a:r>
              <a:rPr lang="en-US" dirty="0" err="1"/>
              <a:t>etc</a:t>
            </a:r>
            <a:r>
              <a:rPr lang="en-US" dirty="0"/>
              <a:t>) </a:t>
            </a:r>
          </a:p>
        </p:txBody>
      </p:sp>
      <p:sp>
        <p:nvSpPr>
          <p:cNvPr id="4" name="TextBox 3">
            <a:extLst>
              <a:ext uri="{FF2B5EF4-FFF2-40B4-BE49-F238E27FC236}">
                <a16:creationId xmlns:a16="http://schemas.microsoft.com/office/drawing/2014/main" id="{6DDACDD7-A9DB-28A6-BEC2-1773CA4B7692}"/>
              </a:ext>
            </a:extLst>
          </p:cNvPr>
          <p:cNvSpPr txBox="1"/>
          <p:nvPr/>
        </p:nvSpPr>
        <p:spPr>
          <a:xfrm>
            <a:off x="1116418" y="2892057"/>
            <a:ext cx="9664996" cy="646331"/>
          </a:xfrm>
          <a:prstGeom prst="rect">
            <a:avLst/>
          </a:prstGeom>
          <a:solidFill>
            <a:schemeClr val="accent2">
              <a:lumMod val="60000"/>
              <a:lumOff val="40000"/>
            </a:schemeClr>
          </a:solidFill>
        </p:spPr>
        <p:txBody>
          <a:bodyPr wrap="square" rtlCol="0">
            <a:spAutoFit/>
          </a:bodyPr>
          <a:lstStyle/>
          <a:p>
            <a:r>
              <a:rPr lang="en-US" dirty="0"/>
              <a:t>“I understand Mr./Ms. Client this can be an overwhelming situation. Bare with me while I review the documents” </a:t>
            </a:r>
          </a:p>
        </p:txBody>
      </p:sp>
      <p:sp>
        <p:nvSpPr>
          <p:cNvPr id="5" name="TextBox 4">
            <a:extLst>
              <a:ext uri="{FF2B5EF4-FFF2-40B4-BE49-F238E27FC236}">
                <a16:creationId xmlns:a16="http://schemas.microsoft.com/office/drawing/2014/main" id="{BA069A5A-C5A6-B10C-DF07-76946879D6FB}"/>
              </a:ext>
            </a:extLst>
          </p:cNvPr>
          <p:cNvSpPr txBox="1"/>
          <p:nvPr/>
        </p:nvSpPr>
        <p:spPr>
          <a:xfrm>
            <a:off x="1116418" y="4816549"/>
            <a:ext cx="9739424" cy="369332"/>
          </a:xfrm>
          <a:prstGeom prst="rect">
            <a:avLst/>
          </a:prstGeom>
          <a:solidFill>
            <a:schemeClr val="accent2">
              <a:lumMod val="60000"/>
              <a:lumOff val="40000"/>
            </a:schemeClr>
          </a:solidFill>
        </p:spPr>
        <p:txBody>
          <a:bodyPr wrap="square" rtlCol="0">
            <a:spAutoFit/>
          </a:bodyPr>
          <a:lstStyle/>
          <a:p>
            <a:r>
              <a:rPr lang="en-US" dirty="0"/>
              <a:t>“When did you receive the documents?” </a:t>
            </a:r>
          </a:p>
        </p:txBody>
      </p:sp>
      <p:pic>
        <p:nvPicPr>
          <p:cNvPr id="6" name="Picture 2" descr="ClearOne Advantage">
            <a:extLst>
              <a:ext uri="{FF2B5EF4-FFF2-40B4-BE49-F238E27FC236}">
                <a16:creationId xmlns:a16="http://schemas.microsoft.com/office/drawing/2014/main" id="{36A24CBF-829C-E264-B729-EBC280DF1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94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7F7D-3F80-4B7A-42B0-CB189CE01FB7}"/>
              </a:ext>
            </a:extLst>
          </p:cNvPr>
          <p:cNvSpPr>
            <a:spLocks noGrp="1"/>
          </p:cNvSpPr>
          <p:nvPr>
            <p:ph type="title"/>
          </p:nvPr>
        </p:nvSpPr>
        <p:spPr/>
        <p:txBody>
          <a:bodyPr/>
          <a:lstStyle/>
          <a:p>
            <a:pPr algn="ctr"/>
            <a:r>
              <a:rPr lang="en-US" dirty="0"/>
              <a:t>Talking Points/Steps</a:t>
            </a:r>
          </a:p>
        </p:txBody>
      </p:sp>
      <p:sp>
        <p:nvSpPr>
          <p:cNvPr id="3" name="Content Placeholder 2">
            <a:extLst>
              <a:ext uri="{FF2B5EF4-FFF2-40B4-BE49-F238E27FC236}">
                <a16:creationId xmlns:a16="http://schemas.microsoft.com/office/drawing/2014/main" id="{03FA2A58-E14B-E9D2-F03F-B8AE7C73A758}"/>
              </a:ext>
            </a:extLst>
          </p:cNvPr>
          <p:cNvSpPr>
            <a:spLocks noGrp="1"/>
          </p:cNvSpPr>
          <p:nvPr>
            <p:ph idx="1"/>
          </p:nvPr>
        </p:nvSpPr>
        <p:spPr>
          <a:xfrm>
            <a:off x="838200" y="1446663"/>
            <a:ext cx="10721454" cy="4730300"/>
          </a:xfrm>
        </p:spPr>
        <p:txBody>
          <a:bodyPr/>
          <a:lstStyle/>
          <a:p>
            <a:pPr>
              <a:buFont typeface="Wingdings" panose="05000000000000000000" pitchFamily="2" charset="2"/>
              <a:buChar char="Ø"/>
            </a:pPr>
            <a:r>
              <a:rPr lang="en-US" dirty="0"/>
              <a:t>Ask client Special Draft. (Stressed the Importance of this)</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Go based the “Estimated Fund Needed” Box</a:t>
            </a:r>
          </a:p>
          <a:p>
            <a:pPr>
              <a:buFont typeface="Wingdings" panose="05000000000000000000" pitchFamily="2" charset="2"/>
              <a:buChar char="Ø"/>
            </a:pPr>
            <a:r>
              <a:rPr lang="en-US" dirty="0"/>
              <a:t>If the client agrees. Finalize any changes and complete Intake. </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r>
              <a:rPr lang="en-US" dirty="0"/>
              <a:t>If the client denies or is unable to add additional</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sp>
        <p:nvSpPr>
          <p:cNvPr id="4" name="TextBox 3">
            <a:extLst>
              <a:ext uri="{FF2B5EF4-FFF2-40B4-BE49-F238E27FC236}">
                <a16:creationId xmlns:a16="http://schemas.microsoft.com/office/drawing/2014/main" id="{6DDACDD7-A9DB-28A6-BEC2-1773CA4B7692}"/>
              </a:ext>
            </a:extLst>
          </p:cNvPr>
          <p:cNvSpPr txBox="1"/>
          <p:nvPr/>
        </p:nvSpPr>
        <p:spPr>
          <a:xfrm>
            <a:off x="838200" y="2056539"/>
            <a:ext cx="9664996" cy="646331"/>
          </a:xfrm>
          <a:prstGeom prst="rect">
            <a:avLst/>
          </a:prstGeom>
          <a:solidFill>
            <a:schemeClr val="accent2">
              <a:lumMod val="60000"/>
              <a:lumOff val="40000"/>
            </a:schemeClr>
          </a:solidFill>
        </p:spPr>
        <p:txBody>
          <a:bodyPr wrap="square" rtlCol="0">
            <a:spAutoFit/>
          </a:bodyPr>
          <a:lstStyle/>
          <a:p>
            <a:r>
              <a:rPr lang="en-US" dirty="0"/>
              <a:t>“As I checked, currently your funds are being utilized for current settlements, we need additional funds to set a payment arrangement with “x” creditor. Are you able to add additional funds? </a:t>
            </a:r>
          </a:p>
        </p:txBody>
      </p:sp>
      <p:sp>
        <p:nvSpPr>
          <p:cNvPr id="5" name="TextBox 4">
            <a:extLst>
              <a:ext uri="{FF2B5EF4-FFF2-40B4-BE49-F238E27FC236}">
                <a16:creationId xmlns:a16="http://schemas.microsoft.com/office/drawing/2014/main" id="{BA069A5A-C5A6-B10C-DF07-76946879D6FB}"/>
              </a:ext>
            </a:extLst>
          </p:cNvPr>
          <p:cNvSpPr txBox="1"/>
          <p:nvPr/>
        </p:nvSpPr>
        <p:spPr>
          <a:xfrm>
            <a:off x="838200" y="4070584"/>
            <a:ext cx="9739424" cy="923330"/>
          </a:xfrm>
          <a:prstGeom prst="rect">
            <a:avLst/>
          </a:prstGeom>
          <a:solidFill>
            <a:schemeClr val="accent2">
              <a:lumMod val="60000"/>
              <a:lumOff val="40000"/>
            </a:schemeClr>
          </a:solidFill>
        </p:spPr>
        <p:txBody>
          <a:bodyPr wrap="square" rtlCol="0">
            <a:spAutoFit/>
          </a:bodyPr>
          <a:lstStyle/>
          <a:p>
            <a:r>
              <a:rPr lang="en-US" dirty="0"/>
              <a:t>“We will follow up once we have negotiated and have a settlement in place, our negotiator will follow up if anything else is needed from you. In addition, establish the additional funds once negotiations are done” </a:t>
            </a:r>
          </a:p>
        </p:txBody>
      </p:sp>
      <p:pic>
        <p:nvPicPr>
          <p:cNvPr id="6" name="Picture 2" descr="ClearOne Advantage">
            <a:extLst>
              <a:ext uri="{FF2B5EF4-FFF2-40B4-BE49-F238E27FC236}">
                <a16:creationId xmlns:a16="http://schemas.microsoft.com/office/drawing/2014/main" id="{36A24CBF-829C-E264-B729-EBC280DF1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BCA2EAC-6290-7A02-D645-0487C380328D}"/>
              </a:ext>
            </a:extLst>
          </p:cNvPr>
          <p:cNvSpPr txBox="1"/>
          <p:nvPr/>
        </p:nvSpPr>
        <p:spPr>
          <a:xfrm>
            <a:off x="838200" y="5475825"/>
            <a:ext cx="9739424" cy="646331"/>
          </a:xfrm>
          <a:prstGeom prst="rect">
            <a:avLst/>
          </a:prstGeom>
          <a:solidFill>
            <a:schemeClr val="accent2">
              <a:lumMod val="60000"/>
              <a:lumOff val="40000"/>
            </a:schemeClr>
          </a:solidFill>
        </p:spPr>
        <p:txBody>
          <a:bodyPr wrap="square" rtlCol="0">
            <a:spAutoFit/>
          </a:bodyPr>
          <a:lstStyle/>
          <a:p>
            <a:r>
              <a:rPr lang="en-US" dirty="0"/>
              <a:t>“We understand, if you change your mind please reach us as soon as possible, keep in mind this is time-sensitive.  Fund are needed for us to secure the settlement. </a:t>
            </a:r>
          </a:p>
        </p:txBody>
      </p:sp>
    </p:spTree>
    <p:extLst>
      <p:ext uri="{BB962C8B-B14F-4D97-AF65-F5344CB8AC3E}">
        <p14:creationId xmlns:p14="http://schemas.microsoft.com/office/powerpoint/2010/main" val="2074963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7F7D-3F80-4B7A-42B0-CB189CE01FB7}"/>
              </a:ext>
            </a:extLst>
          </p:cNvPr>
          <p:cNvSpPr>
            <a:spLocks noGrp="1"/>
          </p:cNvSpPr>
          <p:nvPr>
            <p:ph type="title"/>
          </p:nvPr>
        </p:nvSpPr>
        <p:spPr/>
        <p:txBody>
          <a:bodyPr/>
          <a:lstStyle/>
          <a:p>
            <a:pPr algn="ctr"/>
            <a:r>
              <a:rPr lang="en-US" dirty="0"/>
              <a:t>Talking Points/Steps</a:t>
            </a:r>
          </a:p>
        </p:txBody>
      </p:sp>
      <p:sp>
        <p:nvSpPr>
          <p:cNvPr id="3" name="Content Placeholder 2">
            <a:extLst>
              <a:ext uri="{FF2B5EF4-FFF2-40B4-BE49-F238E27FC236}">
                <a16:creationId xmlns:a16="http://schemas.microsoft.com/office/drawing/2014/main" id="{03FA2A58-E14B-E9D2-F03F-B8AE7C73A758}"/>
              </a:ext>
            </a:extLst>
          </p:cNvPr>
          <p:cNvSpPr>
            <a:spLocks noGrp="1"/>
          </p:cNvSpPr>
          <p:nvPr>
            <p:ph idx="1"/>
          </p:nvPr>
        </p:nvSpPr>
        <p:spPr>
          <a:xfrm>
            <a:off x="838200" y="1446663"/>
            <a:ext cx="10721454" cy="4730300"/>
          </a:xfrm>
        </p:spPr>
        <p:txBody>
          <a:bodyPr/>
          <a:lstStyle/>
          <a:p>
            <a:pPr marL="0" indent="0">
              <a:buNone/>
            </a:pPr>
            <a:r>
              <a:rPr lang="en-US" dirty="0"/>
              <a:t>Legal Advice</a:t>
            </a:r>
          </a:p>
          <a:p>
            <a:pPr>
              <a:buFont typeface="Wingdings" panose="05000000000000000000" pitchFamily="2" charset="2"/>
              <a:buChar char="Ø"/>
            </a:pPr>
            <a:r>
              <a:rPr lang="en-US" dirty="0"/>
              <a:t>If enroll in Legal Protection</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If not enroll in Legal Protection</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sp>
        <p:nvSpPr>
          <p:cNvPr id="4" name="TextBox 3">
            <a:extLst>
              <a:ext uri="{FF2B5EF4-FFF2-40B4-BE49-F238E27FC236}">
                <a16:creationId xmlns:a16="http://schemas.microsoft.com/office/drawing/2014/main" id="{6DDACDD7-A9DB-28A6-BEC2-1773CA4B7692}"/>
              </a:ext>
            </a:extLst>
          </p:cNvPr>
          <p:cNvSpPr txBox="1"/>
          <p:nvPr/>
        </p:nvSpPr>
        <p:spPr>
          <a:xfrm>
            <a:off x="838200" y="2580867"/>
            <a:ext cx="10080009" cy="646331"/>
          </a:xfrm>
          <a:prstGeom prst="rect">
            <a:avLst/>
          </a:prstGeom>
          <a:solidFill>
            <a:schemeClr val="accent2">
              <a:lumMod val="60000"/>
              <a:lumOff val="40000"/>
            </a:schemeClr>
          </a:solidFill>
        </p:spPr>
        <p:txBody>
          <a:bodyPr wrap="square" rtlCol="0">
            <a:spAutoFit/>
          </a:bodyPr>
          <a:lstStyle/>
          <a:p>
            <a:r>
              <a:rPr lang="en-US" dirty="0"/>
              <a:t>“You are enroll in our Legal Protection BLP/American Legal Club will follow up with you to provide the next steps and answer any questions you may have”</a:t>
            </a:r>
          </a:p>
        </p:txBody>
      </p:sp>
      <p:pic>
        <p:nvPicPr>
          <p:cNvPr id="6" name="Picture 2" descr="ClearOne Advantage">
            <a:extLst>
              <a:ext uri="{FF2B5EF4-FFF2-40B4-BE49-F238E27FC236}">
                <a16:creationId xmlns:a16="http://schemas.microsoft.com/office/drawing/2014/main" id="{36A24CBF-829C-E264-B729-EBC280DF1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6203" y="165830"/>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461A3DA-8914-CE69-5889-2C85387C9817}"/>
              </a:ext>
            </a:extLst>
          </p:cNvPr>
          <p:cNvSpPr txBox="1"/>
          <p:nvPr/>
        </p:nvSpPr>
        <p:spPr>
          <a:xfrm>
            <a:off x="838200" y="3932711"/>
            <a:ext cx="10080009" cy="1754326"/>
          </a:xfrm>
          <a:prstGeom prst="rect">
            <a:avLst/>
          </a:prstGeom>
          <a:solidFill>
            <a:schemeClr val="accent2">
              <a:lumMod val="60000"/>
              <a:lumOff val="40000"/>
            </a:schemeClr>
          </a:solidFill>
        </p:spPr>
        <p:txBody>
          <a:bodyPr wrap="square" rtlCol="0">
            <a:spAutoFit/>
          </a:bodyPr>
          <a:lstStyle/>
          <a:p>
            <a:r>
              <a:rPr lang="en-US" dirty="0"/>
              <a:t>“Unfortunately, we are not educated enough to provide or answer any question on what you can do next. We are not attorneys neither we can provide legal advice. Our best advice is to reach our to a local attorney for additional assistance. “</a:t>
            </a:r>
          </a:p>
          <a:p>
            <a:endParaRPr lang="en-US" dirty="0"/>
          </a:p>
          <a:p>
            <a:r>
              <a:rPr lang="en-US" dirty="0"/>
              <a:t>“We have some resources on your state we can share that you are able to use to reach for legal assistance. I can send you this link by email/text.”</a:t>
            </a:r>
          </a:p>
        </p:txBody>
      </p:sp>
    </p:spTree>
    <p:extLst>
      <p:ext uri="{BB962C8B-B14F-4D97-AF65-F5344CB8AC3E}">
        <p14:creationId xmlns:p14="http://schemas.microsoft.com/office/powerpoint/2010/main" val="2667047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Flow_SignoffStatus xmlns="dfbadaf6-90cf-41d3-a0ba-bbd98d259036"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43B8CE-FC08-41BA-9609-3C264DF54F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D13919-4E4C-41E5-AAD8-D5C62EF4ED87}">
  <ds:schemaRefs>
    <ds:schemaRef ds:uri="http://schemas.microsoft.com/office/2006/metadata/properties"/>
    <ds:schemaRef ds:uri="http://schemas.microsoft.com/office/infopath/2007/PartnerControls"/>
    <ds:schemaRef ds:uri="http://schemas.microsoft.com/sharepoint/v3"/>
    <ds:schemaRef ds:uri="dfbadaf6-90cf-41d3-a0ba-bbd98d259036"/>
    <ds:schemaRef ds:uri="fca21091-4343-4232-a795-e59481497cb5"/>
  </ds:schemaRefs>
</ds:datastoreItem>
</file>

<file path=customXml/itemProps3.xml><?xml version="1.0" encoding="utf-8"?>
<ds:datastoreItem xmlns:ds="http://schemas.openxmlformats.org/officeDocument/2006/customXml" ds:itemID="{E17B5D03-505D-484B-8B35-20F9F61959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332</TotalTime>
  <Words>902</Words>
  <Application>Microsoft Office PowerPoint</Application>
  <PresentationFormat>Widescreen</PresentationFormat>
  <Paragraphs>93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Legal Training</vt:lpstr>
      <vt:lpstr>Agenda</vt:lpstr>
      <vt:lpstr>Why is the Client Receiving Legal Docs? </vt:lpstr>
      <vt:lpstr>Legal Documents Review</vt:lpstr>
      <vt:lpstr>Intake Form </vt:lpstr>
      <vt:lpstr>Intake Form Serving Process</vt:lpstr>
      <vt:lpstr>Special Draft</vt:lpstr>
      <vt:lpstr>Account Eligible/Ineligible and Funds Needed</vt:lpstr>
      <vt:lpstr>Talking Points/Steps</vt:lpstr>
      <vt:lpstr>Talking Points/Steps</vt:lpstr>
      <vt:lpstr>Talking Points/Steps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Escalations</dc:title>
  <dc:creator>Roy Espinal</dc:creator>
  <cp:lastModifiedBy>Roy Espinal</cp:lastModifiedBy>
  <cp:revision>11</cp:revision>
  <dcterms:created xsi:type="dcterms:W3CDTF">2024-01-18T15:56:24Z</dcterms:created>
  <dcterms:modified xsi:type="dcterms:W3CDTF">2026-02-12T20:19:18Z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