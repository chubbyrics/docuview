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1944" r:id="rId5"/>
    <p:sldId id="1946" r:id="rId6"/>
    <p:sldId id="1945" r:id="rId7"/>
    <p:sldId id="194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A5B2DE-A6FA-60B7-B585-2318E5740CF1}" v="602" dt="2026-01-13T22:59:06.029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3EA27-2861-40C2-8C35-26D6DF86139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F8EEA-920D-4492-9FA6-99CB16C8F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50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2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64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0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96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4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89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67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0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65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54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8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0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434" y="-85780"/>
            <a:ext cx="7899400" cy="614363"/>
          </a:xfrm>
        </p:spPr>
        <p:txBody>
          <a:bodyPr>
            <a:normAutofit/>
          </a:bodyPr>
          <a:lstStyle/>
          <a:p>
            <a:pPr algn="ctr"/>
            <a:r>
              <a:rPr lang="en-US" sz="2000" b="1">
                <a:latin typeface="Arial"/>
                <a:cs typeface="Arial"/>
              </a:rPr>
              <a:t>Affiliate Partners – Actively Enrolling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 flipV="1">
            <a:off x="0" y="346598"/>
            <a:ext cx="9144000" cy="58190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007D074B-21F8-4B1F-9C22-FC4AE612E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460452"/>
              </p:ext>
            </p:extLst>
          </p:nvPr>
        </p:nvGraphicFramePr>
        <p:xfrm>
          <a:off x="204281" y="651753"/>
          <a:ext cx="5166806" cy="4363294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502833">
                  <a:extLst>
                    <a:ext uri="{9D8B030D-6E8A-4147-A177-3AD203B41FA5}">
                      <a16:colId xmlns:a16="http://schemas.microsoft.com/office/drawing/2014/main" val="3974969555"/>
                    </a:ext>
                  </a:extLst>
                </a:gridCol>
                <a:gridCol w="1119497">
                  <a:extLst>
                    <a:ext uri="{9D8B030D-6E8A-4147-A177-3AD203B41FA5}">
                      <a16:colId xmlns:a16="http://schemas.microsoft.com/office/drawing/2014/main" val="3250399813"/>
                    </a:ext>
                  </a:extLst>
                </a:gridCol>
                <a:gridCol w="1225543">
                  <a:extLst>
                    <a:ext uri="{9D8B030D-6E8A-4147-A177-3AD203B41FA5}">
                      <a16:colId xmlns:a16="http://schemas.microsoft.com/office/drawing/2014/main" val="683336230"/>
                    </a:ext>
                  </a:extLst>
                </a:gridCol>
                <a:gridCol w="1318933">
                  <a:extLst>
                    <a:ext uri="{9D8B030D-6E8A-4147-A177-3AD203B41FA5}">
                      <a16:colId xmlns:a16="http://schemas.microsoft.com/office/drawing/2014/main" val="1408625780"/>
                    </a:ext>
                  </a:extLst>
                </a:gridCol>
              </a:tblGrid>
              <a:tr h="438410">
                <a:tc>
                  <a:txBody>
                    <a:bodyPr/>
                    <a:lstStyle/>
                    <a:p>
                      <a:r>
                        <a:rPr lang="en-US" sz="1000" b="1" dirty="0"/>
                        <a:t>Affiliate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Enrolling in Legal Add On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Post Enrollment  Legal Add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439487"/>
                  </a:ext>
                </a:extLst>
              </a:tr>
              <a:tr h="3386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err="1"/>
                        <a:t>Symple</a:t>
                      </a:r>
                      <a:r>
                        <a:rPr lang="en-US" sz="1000" b="1" dirty="0"/>
                        <a:t> Lending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9/26/2023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  <a:endParaRPr 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843412"/>
                  </a:ext>
                </a:extLst>
              </a:tr>
              <a:tr h="3386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latin typeface="Calibri"/>
                        </a:rPr>
                        <a:t>Ladder Loans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11/8/2023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503396"/>
                  </a:ext>
                </a:extLst>
              </a:tr>
              <a:tr h="3386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latin typeface="Calibri"/>
                        </a:rPr>
                        <a:t>Money Solver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10/31/2023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09644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latin typeface="Calibri"/>
                        </a:rPr>
                        <a:t>Invite Loans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3/18/2025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27401"/>
                  </a:ext>
                </a:extLst>
              </a:tr>
              <a:tr h="3386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latin typeface="Calibri"/>
                        </a:rPr>
                        <a:t>Clarity Financial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4/15/2025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81479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latin typeface="Calibri"/>
                        </a:rPr>
                        <a:t>Latin Credit USA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7/2025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7853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err="1">
                          <a:latin typeface="Calibri"/>
                        </a:rPr>
                        <a:t>Mitigately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8/2025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524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latin typeface="Calibri"/>
                        </a:rPr>
                        <a:t>Omni </a:t>
                      </a:r>
                      <a:br>
                        <a:rPr lang="en-US" sz="1000" b="1" i="0" u="none" strike="noStrike" noProof="0" dirty="0">
                          <a:latin typeface="Calibri"/>
                        </a:rPr>
                      </a:br>
                      <a:r>
                        <a:rPr lang="en-US" sz="1000" b="1" i="0" u="none" strike="noStrike" noProof="0" dirty="0">
                          <a:latin typeface="Calibri"/>
                        </a:rPr>
                        <a:t> Group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11/13/2025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8189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latin typeface="Calibri"/>
                        </a:rPr>
                        <a:t>Got Lending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10/14/2025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620389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latin typeface="Calibri"/>
                        </a:rPr>
                        <a:t>Fortress Debt Relief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8/1/2025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10546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latin typeface="Calibri"/>
                        </a:rPr>
                        <a:t>Stark Financing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>
                        <a:buNone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10/9/2025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0831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7DEB348-5E0D-07C6-C610-B934517060C7}"/>
              </a:ext>
            </a:extLst>
          </p:cNvPr>
          <p:cNvSpPr txBox="1"/>
          <p:nvPr/>
        </p:nvSpPr>
        <p:spPr>
          <a:xfrm>
            <a:off x="5622762" y="1866680"/>
            <a:ext cx="3197147" cy="31393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cs typeface="Calibri"/>
              </a:rPr>
              <a:t>Overview</a:t>
            </a:r>
            <a:endParaRPr lang="en-US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Minimum Enrolled Amount – Varies by Affiliate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$450 minimum creditor balance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Minimum draft - $200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Green State Fee Percent – 28% (review processing tab)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Red State Fee Percent – 30%</a:t>
            </a:r>
            <a:endParaRPr lang="en-US">
              <a:ea typeface="Calibri"/>
              <a:cs typeface="Calibri"/>
            </a:endParaRPr>
          </a:p>
          <a:p>
            <a:pPr lvl="1"/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Legal Protection $33.95 BLP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17055-398C-CCB6-84EA-9C32CABF7ECC}"/>
              </a:ext>
            </a:extLst>
          </p:cNvPr>
          <p:cNvSpPr txBox="1"/>
          <p:nvPr/>
        </p:nvSpPr>
        <p:spPr>
          <a:xfrm>
            <a:off x="6993916" y="34959"/>
            <a:ext cx="18619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cs typeface="Calibri"/>
              </a:rPr>
              <a:t>Updated 01.13.26</a:t>
            </a:r>
            <a:endParaRPr lang="en-US" sz="1600" dirty="0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049" y="6493903"/>
            <a:ext cx="1210093" cy="36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936399" y="6606238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941201-4AA3-B86F-762F-5A25D9AF2F48}"/>
              </a:ext>
            </a:extLst>
          </p:cNvPr>
          <p:cNvSpPr txBox="1"/>
          <p:nvPr/>
        </p:nvSpPr>
        <p:spPr>
          <a:xfrm>
            <a:off x="1370784" y="6204202"/>
            <a:ext cx="65611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Current AM State – GA, HI, IA, ID, IL, KS, ME, MN,MT, ND, NH, NJ, OH, RI, SC, VA, VT, WA, WI, WV, WY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1346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84A76-CB93-90B1-4AC2-7E1260AD2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65" y="365126"/>
            <a:ext cx="7924485" cy="456506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Arial"/>
                <a:cs typeface="Arial"/>
              </a:rPr>
              <a:t>Affiliate Partners – Actively Enrolling   </a:t>
            </a:r>
            <a:r>
              <a:rPr lang="en-US" sz="1600" dirty="0">
                <a:latin typeface="Calibri"/>
                <a:ea typeface="Calibri"/>
                <a:cs typeface="Calibri"/>
              </a:rPr>
              <a:t>Updated 01.13.26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0070-B20F-2F92-26D2-18B7F8745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992826"/>
              </p:ext>
            </p:extLst>
          </p:nvPr>
        </p:nvGraphicFramePr>
        <p:xfrm>
          <a:off x="184825" y="933855"/>
          <a:ext cx="5334736" cy="40152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11815">
                  <a:extLst>
                    <a:ext uri="{9D8B030D-6E8A-4147-A177-3AD203B41FA5}">
                      <a16:colId xmlns:a16="http://schemas.microsoft.com/office/drawing/2014/main" val="1868775078"/>
                    </a:ext>
                  </a:extLst>
                </a:gridCol>
                <a:gridCol w="1329592">
                  <a:extLst>
                    <a:ext uri="{9D8B030D-6E8A-4147-A177-3AD203B41FA5}">
                      <a16:colId xmlns:a16="http://schemas.microsoft.com/office/drawing/2014/main" val="391318795"/>
                    </a:ext>
                  </a:extLst>
                </a:gridCol>
                <a:gridCol w="1329592">
                  <a:extLst>
                    <a:ext uri="{9D8B030D-6E8A-4147-A177-3AD203B41FA5}">
                      <a16:colId xmlns:a16="http://schemas.microsoft.com/office/drawing/2014/main" val="1433122959"/>
                    </a:ext>
                  </a:extLst>
                </a:gridCol>
                <a:gridCol w="1363737">
                  <a:extLst>
                    <a:ext uri="{9D8B030D-6E8A-4147-A177-3AD203B41FA5}">
                      <a16:colId xmlns:a16="http://schemas.microsoft.com/office/drawing/2014/main" val="1565414892"/>
                    </a:ext>
                  </a:extLst>
                </a:gridCol>
              </a:tblGrid>
              <a:tr h="5228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  <a:latin typeface="Calibri"/>
                        </a:rPr>
                        <a:t>Affiliate Names</a:t>
                      </a:r>
                      <a:endParaRPr 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  <a:latin typeface="Calibri"/>
                        </a:rPr>
                        <a:t>Start Date</a:t>
                      </a:r>
                      <a:endParaRPr 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  <a:latin typeface="Calibri"/>
                        </a:rPr>
                        <a:t>Enrolling in Legal Add On </a:t>
                      </a:r>
                      <a:endParaRPr 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  <a:latin typeface="Calibri"/>
                        </a:rPr>
                        <a:t>Post Enrollment  Legal Add On</a:t>
                      </a:r>
                      <a:endParaRPr 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694805"/>
                  </a:ext>
                </a:extLst>
              </a:tr>
              <a:tr h="275166">
                <a:tc>
                  <a:txBody>
                    <a:bodyPr/>
                    <a:lstStyle/>
                    <a:p>
                      <a:r>
                        <a:rPr lang="en-US" sz="1000" b="0" dirty="0" err="1">
                          <a:solidFill>
                            <a:schemeClr val="bg1"/>
                          </a:solidFill>
                        </a:rPr>
                        <a:t>IMerge</a:t>
                      </a:r>
                      <a:endParaRPr 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2/4/24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42788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Rocketship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2/16/24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86877"/>
                  </a:ext>
                </a:extLst>
              </a:tr>
              <a:tr h="338666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United FN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2/16/24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977164"/>
                  </a:ext>
                </a:extLst>
              </a:tr>
              <a:tr h="3386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Lift Lending 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3/1/24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65349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Lighthouse 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7/26/24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 ($49.95)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 ($33.95)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15967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Easy Finance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4/18/2025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12255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Debt Medic 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6/2025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1708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740691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982974"/>
                  </a:ext>
                </a:extLst>
              </a:tr>
              <a:tr h="38099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744210"/>
                  </a:ext>
                </a:extLst>
              </a:tr>
            </a:tbl>
          </a:graphicData>
        </a:graphic>
      </p:graphicFrame>
      <p:pic>
        <p:nvPicPr>
          <p:cNvPr id="8" name="Picture 2" descr="ClearOne Advantage">
            <a:extLst>
              <a:ext uri="{FF2B5EF4-FFF2-40B4-BE49-F238E27FC236}">
                <a16:creationId xmlns:a16="http://schemas.microsoft.com/office/drawing/2014/main" id="{08BFA85E-2F16-B588-DA3B-D3598B4D3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049" y="6493903"/>
            <a:ext cx="1210093" cy="36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9E0E01-9A6B-C128-48DE-5B8BD4AC7B1F}"/>
              </a:ext>
            </a:extLst>
          </p:cNvPr>
          <p:cNvSpPr txBox="1"/>
          <p:nvPr/>
        </p:nvSpPr>
        <p:spPr>
          <a:xfrm>
            <a:off x="3594206" y="6610189"/>
            <a:ext cx="135046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898989"/>
                </a:solidFill>
                <a:cs typeface="Calibri"/>
              </a:rPr>
              <a:t>Confidential</a:t>
            </a:r>
            <a:endParaRPr lang="en-US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9E3DD-9DE7-DA8C-DC61-9D3848AB2E51}"/>
              </a:ext>
            </a:extLst>
          </p:cNvPr>
          <p:cNvSpPr txBox="1"/>
          <p:nvPr/>
        </p:nvSpPr>
        <p:spPr>
          <a:xfrm>
            <a:off x="5622762" y="1866680"/>
            <a:ext cx="3197147" cy="31393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cs typeface="Calibri"/>
              </a:rPr>
              <a:t>Overview</a:t>
            </a:r>
            <a:endParaRPr lang="en-US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Minimum Enrolled Amount – Varies by Affiliate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$450 minimum creditor balance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Minimum draft - $200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Green State Fee Percent – 28% (review processing tab)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Red State Fee Percent – 30%</a:t>
            </a:r>
            <a:endParaRPr lang="en-US">
              <a:ea typeface="Calibri"/>
              <a:cs typeface="Calibri"/>
            </a:endParaRPr>
          </a:p>
          <a:p>
            <a:pPr lvl="1"/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Legal Protection $33.95 BLP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7E7A1-FA3D-97E0-0255-BC006AFA4A47}"/>
              </a:ext>
            </a:extLst>
          </p:cNvPr>
          <p:cNvSpPr txBox="1"/>
          <p:nvPr/>
        </p:nvSpPr>
        <p:spPr>
          <a:xfrm>
            <a:off x="924838" y="6352785"/>
            <a:ext cx="806676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ea typeface="Calibri"/>
                <a:cs typeface="Calibri"/>
              </a:rPr>
              <a:t>Current AM State – GA, HI, IA, ID, IL, KS, ME, MN, MT,ND, NH, NJ, OH, RI, SC, VA, VT, WA, WI, WV, WY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57728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429" y="5110"/>
            <a:ext cx="7899400" cy="614363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latin typeface="Arial"/>
                <a:cs typeface="Arial"/>
              </a:rPr>
              <a:t>Affiliate Partners – No longer Enrolling   </a:t>
            </a:r>
            <a:r>
              <a:rPr lang="en-US" sz="1600" dirty="0">
                <a:latin typeface="Calibri"/>
                <a:ea typeface="Calibri"/>
                <a:cs typeface="Calibri"/>
              </a:rPr>
              <a:t>Updated 01.13.26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492050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948" y="6447628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83507" y="50611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007D074B-21F8-4B1F-9C22-FC4AE612E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54699"/>
              </p:ext>
            </p:extLst>
          </p:nvPr>
        </p:nvGraphicFramePr>
        <p:xfrm>
          <a:off x="268818" y="614722"/>
          <a:ext cx="3663437" cy="5392176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323598">
                  <a:extLst>
                    <a:ext uri="{9D8B030D-6E8A-4147-A177-3AD203B41FA5}">
                      <a16:colId xmlns:a16="http://schemas.microsoft.com/office/drawing/2014/main" val="3974969555"/>
                    </a:ext>
                  </a:extLst>
                </a:gridCol>
                <a:gridCol w="1339839">
                  <a:extLst>
                    <a:ext uri="{9D8B030D-6E8A-4147-A177-3AD203B41FA5}">
                      <a16:colId xmlns:a16="http://schemas.microsoft.com/office/drawing/2014/main" val="3250399813"/>
                    </a:ext>
                  </a:extLst>
                </a:gridCol>
              </a:tblGrid>
              <a:tr h="304841">
                <a:tc>
                  <a:txBody>
                    <a:bodyPr/>
                    <a:lstStyle/>
                    <a:p>
                      <a:r>
                        <a:rPr lang="en-US" sz="1000" dirty="0"/>
                        <a:t>Affiliate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End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439487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Accredited Debt Relief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5/1/2019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025497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Liberty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7/29/2021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828780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Guardian Debt Relief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8/2022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610918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Arial"/>
                        </a:rPr>
                        <a:t>Debt Assistance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2/2024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931342"/>
                  </a:ext>
                </a:extLst>
              </a:tr>
              <a:tr h="25052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Arial"/>
                        </a:rPr>
                        <a:t>Delve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3/2024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590052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Arial"/>
                        </a:rPr>
                        <a:t>One Capital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3/2024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849025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Arial"/>
                        </a:rPr>
                        <a:t>New Slate Financial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4/2024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427127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Arial"/>
                        </a:rPr>
                        <a:t>Lead </a:t>
                      </a:r>
                      <a:r>
                        <a:rPr lang="en-US" sz="1000" b="0" i="0" dirty="0" err="1">
                          <a:solidFill>
                            <a:schemeClr val="bg1"/>
                          </a:solidFill>
                          <a:latin typeface="Arial"/>
                        </a:rPr>
                        <a:t>Lead</a:t>
                      </a:r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4/2024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709822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Arial"/>
                        </a:rPr>
                        <a:t>Extinguish Debt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4/2024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061024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Arial"/>
                        </a:rPr>
                        <a:t>Diamond Debt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4/2024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365499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Arial"/>
                        </a:rPr>
                        <a:t>Authorized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4/2024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93638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err="1">
                          <a:solidFill>
                            <a:schemeClr val="bg1"/>
                          </a:solidFill>
                          <a:latin typeface="Arial"/>
                        </a:rPr>
                        <a:t>Revsettle</a:t>
                      </a:r>
                      <a:endParaRPr lang="en-US" sz="1000" b="0" i="0" dirty="0" err="1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4/2024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875532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dirty="0" err="1">
                          <a:solidFill>
                            <a:schemeClr val="bg1"/>
                          </a:solidFill>
                          <a:latin typeface="Arial"/>
                        </a:rPr>
                        <a:t>Puridy</a:t>
                      </a:r>
                      <a:r>
                        <a:rPr lang="en-US" sz="1000" b="0" i="0" dirty="0">
                          <a:solidFill>
                            <a:schemeClr val="bg1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6/2024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572564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</a:rPr>
                        <a:t>Advantage 1st 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9/1/24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107382"/>
                  </a:ext>
                </a:extLst>
              </a:tr>
              <a:tr h="29468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</a:rPr>
                        <a:t>Elevate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 9/1/24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494717"/>
                  </a:ext>
                </a:extLst>
              </a:tr>
              <a:tr h="29468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</a:rPr>
                        <a:t>Loan Supply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10/31/24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663176"/>
                  </a:ext>
                </a:extLst>
              </a:tr>
              <a:tr h="29468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</a:rPr>
                        <a:t>One Life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9/1/24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356121"/>
                  </a:ext>
                </a:extLst>
              </a:tr>
              <a:tr h="29468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</a:rPr>
                        <a:t>Redemption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6/1/24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159632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</a:rPr>
                        <a:t>Renew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10/16/24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378980"/>
                  </a:ext>
                </a:extLst>
              </a:tr>
              <a:tr h="2438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</a:rPr>
                        <a:t>Amity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dirty="0"/>
                        <a:t>12/31/24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09121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21118CD-0BDD-8705-019D-13F94DC735A7}"/>
              </a:ext>
            </a:extLst>
          </p:cNvPr>
          <p:cNvSpPr txBox="1"/>
          <p:nvPr/>
        </p:nvSpPr>
        <p:spPr>
          <a:xfrm>
            <a:off x="5622762" y="1866680"/>
            <a:ext cx="3197147" cy="31393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cs typeface="Calibri"/>
              </a:rPr>
              <a:t>Overview</a:t>
            </a:r>
            <a:endParaRPr lang="en-US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Minimum Enrolled Amount – Varies by Affiliate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$450 minimum creditor balance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Minimum draft - $200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Green State Fee Percent – 28% (review processing tab)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Red State Fee Percent – 30%</a:t>
            </a:r>
            <a:endParaRPr lang="en-US">
              <a:ea typeface="Calibri"/>
              <a:cs typeface="Calibri"/>
            </a:endParaRPr>
          </a:p>
          <a:p>
            <a:pPr lvl="1"/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Legal Protection $33.95 BLP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3EE0C3-9204-EDCF-5848-C49C613D669F}"/>
              </a:ext>
            </a:extLst>
          </p:cNvPr>
          <p:cNvSpPr txBox="1"/>
          <p:nvPr/>
        </p:nvSpPr>
        <p:spPr>
          <a:xfrm>
            <a:off x="1373687" y="6070948"/>
            <a:ext cx="759703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highlight>
                  <a:srgbClr val="F5F5F5"/>
                </a:highlight>
                <a:ea typeface="Calibri"/>
                <a:cs typeface="Calibri"/>
              </a:rPr>
              <a:t>Current AM State – GA, HI, IA, ID, IL, KS, ME, MN, MT, ND, NH, NJ, OH, RI, SC, VA, VT, WA, WI, WV, WY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99779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14C47D-0FF5-50CD-C4FA-762987C0E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56288"/>
              </p:ext>
            </p:extLst>
          </p:nvPr>
        </p:nvGraphicFramePr>
        <p:xfrm>
          <a:off x="336176" y="1142999"/>
          <a:ext cx="4088027" cy="5019624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401757">
                  <a:extLst>
                    <a:ext uri="{9D8B030D-6E8A-4147-A177-3AD203B41FA5}">
                      <a16:colId xmlns:a16="http://schemas.microsoft.com/office/drawing/2014/main" val="1890372445"/>
                    </a:ext>
                  </a:extLst>
                </a:gridCol>
                <a:gridCol w="1686270">
                  <a:extLst>
                    <a:ext uri="{9D8B030D-6E8A-4147-A177-3AD203B41FA5}">
                      <a16:colId xmlns:a16="http://schemas.microsoft.com/office/drawing/2014/main" val="1977444670"/>
                    </a:ext>
                  </a:extLst>
                </a:gridCol>
              </a:tblGrid>
              <a:tr h="4044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Affiliate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End date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525493"/>
                  </a:ext>
                </a:extLst>
              </a:tr>
              <a:tr h="404452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Pacific Debt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Calibri"/>
                        </a:rPr>
                        <a:t>1/31/2025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232460"/>
                  </a:ext>
                </a:extLst>
              </a:tr>
              <a:tr h="4044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bg1"/>
                          </a:solidFill>
                          <a:latin typeface="Calibri"/>
                        </a:rPr>
                        <a:t>Complete Debt Relief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Calibri"/>
                        </a:rPr>
                        <a:t>4/1/2025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195743"/>
                  </a:ext>
                </a:extLst>
              </a:tr>
              <a:tr h="4044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Pathway Financial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71173"/>
                  </a:ext>
                </a:extLst>
              </a:tr>
              <a:tr h="4044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Simple Debt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91720"/>
                  </a:ext>
                </a:extLst>
              </a:tr>
              <a:tr h="4044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Debt Advisors of America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20147"/>
                  </a:ext>
                </a:extLst>
              </a:tr>
              <a:tr h="370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Paragon Financial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noProof="0" dirty="0">
                          <a:solidFill>
                            <a:schemeClr val="lt1"/>
                          </a:solidFill>
                          <a:latin typeface="Calibri"/>
                        </a:rPr>
                        <a:t>3/17/2025 - 12/2025</a:t>
                      </a:r>
                      <a:endParaRPr lang="en-US" sz="10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366397"/>
                  </a:ext>
                </a:extLst>
              </a:tr>
              <a:tr h="370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1" i="0" u="none" strike="noStrike" noProof="0" dirty="0" err="1">
                          <a:solidFill>
                            <a:schemeClr val="bg1"/>
                          </a:solidFill>
                          <a:latin typeface="Calibri"/>
                        </a:rPr>
                        <a:t>TrustPoint</a:t>
                      </a:r>
                      <a:r>
                        <a:rPr lang="en-US" sz="1050" b="1" i="0" u="none" strike="noStrike" noProof="0" dirty="0">
                          <a:solidFill>
                            <a:schemeClr val="bg1"/>
                          </a:solidFill>
                          <a:latin typeface="Calibri"/>
                        </a:rPr>
                        <a:t> Financial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Calibri"/>
                          <a:ea typeface="+mn-ea"/>
                          <a:cs typeface="+mn-cs"/>
                        </a:rPr>
                        <a:t>4/18/2025- 10/2025</a:t>
                      </a:r>
                      <a:endParaRPr lang="en-US" sz="100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905061"/>
                  </a:ext>
                </a:extLst>
              </a:tr>
              <a:tr h="370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FFFFFF"/>
                          </a:solidFill>
                          <a:latin typeface="Calibri"/>
                        </a:rPr>
                        <a:t>Pathway Financial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 b="1" i="0" u="none" strike="noStrike" noProof="0" dirty="0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46729"/>
                  </a:ext>
                </a:extLst>
              </a:tr>
              <a:tr h="370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Upturn</a:t>
                      </a:r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Calibri"/>
                        </a:rPr>
                        <a:t>4/1/2025-10/2025</a:t>
                      </a:r>
                      <a:endParaRPr lang="en-US" sz="1000">
                        <a:latin typeface="Calibri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7280"/>
                  </a:ext>
                </a:extLst>
              </a:tr>
              <a:tr h="370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Lower Your Debts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dirty="0">
                          <a:solidFill>
                            <a:schemeClr val="bg1"/>
                          </a:solidFill>
                          <a:latin typeface="Calibri"/>
                        </a:rPr>
                        <a:t>2/18/25-</a:t>
                      </a:r>
                      <a:endParaRPr lang="en-US" sz="1000">
                        <a:latin typeface="Calibri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494718"/>
                  </a:ext>
                </a:extLst>
              </a:tr>
              <a:tr h="370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1" i="0" u="none" strike="noStrike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1" i="0" u="none" strike="noStrike" noProof="0" dirty="0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030012"/>
                  </a:ext>
                </a:extLst>
              </a:tr>
              <a:tr h="370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1" i="0" u="none" strike="noStrike" noProof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1" i="0" u="none" strike="noStrike" noProof="0" dirty="0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396982"/>
                  </a:ext>
                </a:extLst>
              </a:tr>
            </a:tbl>
          </a:graphicData>
        </a:graphic>
      </p:graphicFrame>
      <p:pic>
        <p:nvPicPr>
          <p:cNvPr id="6" name="Picture 2" descr="ClearOne Advantage">
            <a:extLst>
              <a:ext uri="{FF2B5EF4-FFF2-40B4-BE49-F238E27FC236}">
                <a16:creationId xmlns:a16="http://schemas.microsoft.com/office/drawing/2014/main" id="{E5FE0136-ABD4-3DD6-8DFC-05252BF9F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195" y="6280614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2CC1B0-5052-8430-02BB-D540BDAB3CD7}"/>
              </a:ext>
            </a:extLst>
          </p:cNvPr>
          <p:cNvSpPr/>
          <p:nvPr/>
        </p:nvSpPr>
        <p:spPr>
          <a:xfrm>
            <a:off x="5656844" y="946690"/>
            <a:ext cx="3065927" cy="400722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r>
              <a:rPr lang="en-US" sz="1800" b="1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Overview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Minimum Enrolled Amount – Varies by Affiliate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$450 minimum creditor balance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Arial"/>
                <a:cs typeface="Arial"/>
              </a:rPr>
              <a:t>Minimum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draft - $200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Green State Fee Percent – 28% (review processing tab)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Red State Fee Percent – 30%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Legal Protection $33.95 BLP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A83E0A-8187-D735-03EA-AB1F463E9E67}"/>
              </a:ext>
            </a:extLst>
          </p:cNvPr>
          <p:cNvSpPr/>
          <p:nvPr/>
        </p:nvSpPr>
        <p:spPr>
          <a:xfrm>
            <a:off x="1283917" y="125260"/>
            <a:ext cx="6252575" cy="57410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Affiliate Partners – No longer Enrolling   </a:t>
            </a:r>
            <a:r>
              <a:rPr lang="en-US" sz="1600" dirty="0">
                <a:solidFill>
                  <a:srgbClr val="000000"/>
                </a:solidFill>
                <a:ea typeface="Calibri"/>
                <a:cs typeface="Calibri"/>
              </a:rPr>
              <a:t>Updated 09.26.25 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D4903-2CFA-DBB6-D4D0-0DF2B58AB84F}"/>
              </a:ext>
            </a:extLst>
          </p:cNvPr>
          <p:cNvSpPr txBox="1"/>
          <p:nvPr/>
        </p:nvSpPr>
        <p:spPr>
          <a:xfrm>
            <a:off x="3482235" y="6475585"/>
            <a:ext cx="1396654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898989"/>
                </a:solidFill>
                <a:ea typeface="Calibri"/>
                <a:cs typeface="Calibri"/>
              </a:rPr>
              <a:t>Confidential</a:t>
            </a:r>
            <a:endParaRPr 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3900C-D576-EB17-DCA5-E135CCE83A95}"/>
              </a:ext>
            </a:extLst>
          </p:cNvPr>
          <p:cNvSpPr txBox="1"/>
          <p:nvPr/>
        </p:nvSpPr>
        <p:spPr>
          <a:xfrm>
            <a:off x="997908" y="6279715"/>
            <a:ext cx="77536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highlight>
                  <a:srgbClr val="F5F5F5"/>
                </a:highlight>
                <a:ea typeface="Calibri"/>
                <a:cs typeface="Calibri"/>
              </a:rPr>
              <a:t>Current AM State – GA, HI, IA, ID, IL, KS, ME, MN, MT ND, NH, NJ, OH, RI, SC, VA, VT, WA, WI, WV, WY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19691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SharedWithUsers xmlns="fca21091-4343-4232-a795-e59481497cb5">
      <UserInfo>
        <DisplayName>Balboa CLG Members</DisplayName>
        <AccountId>380</AccountId>
        <AccountType/>
      </UserInfo>
      <UserInfo>
        <DisplayName>CLG Members</DisplayName>
        <AccountId>145</AccountId>
        <AccountType/>
      </UserInfo>
      <UserInfo>
        <DisplayName>Christina Borrello</DisplayName>
        <AccountId>29</AccountId>
        <AccountType/>
      </UserInfo>
      <UserInfo>
        <DisplayName>Michelle Spiegel</DisplayName>
        <AccountId>36</AccountId>
        <AccountType/>
      </UserInfo>
      <UserInfo>
        <DisplayName>Sheena Cook</DisplayName>
        <AccountId>57</AccountId>
        <AccountType/>
      </UserInfo>
    </SharedWithUsers>
    <_Flow_SignoffStatus xmlns="dfbadaf6-90cf-41d3-a0ba-bbd98d25903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ba60f6f6a5a461cc86ef43a54944f406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b5a149f786f57a5eff8787dfd2abb0bb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3BB013-1A28-451B-A60B-FFB57FF7FA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FA56C0-277C-45F3-9465-2BF2AE57E064}">
  <ds:schemaRefs>
    <ds:schemaRef ds:uri="dfbadaf6-90cf-41d3-a0ba-bbd98d259036"/>
    <ds:schemaRef ds:uri="fca21091-4343-4232-a795-e59481497c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94170D4-579F-4B55-A935-CAB6599DB4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Affiliate Partners – Actively Enrolling</vt:lpstr>
      <vt:lpstr>Affiliate Partners – Actively Enrolling   Updated 01.13.26</vt:lpstr>
      <vt:lpstr>Affiliate Partners – No longer Enrolling   Updated 01.13.26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Affiliate Model Welcome Calls</dc:title>
  <dc:creator>Christina Borrello</dc:creator>
  <cp:revision>311</cp:revision>
  <dcterms:created xsi:type="dcterms:W3CDTF">2021-07-29T12:14:05Z</dcterms:created>
  <dcterms:modified xsi:type="dcterms:W3CDTF">2026-02-12T20:00:13Z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