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0"/>
  </p:notesMasterIdLst>
  <p:sldIdLst>
    <p:sldId id="261" r:id="rId5"/>
    <p:sldId id="259" r:id="rId6"/>
    <p:sldId id="260" r:id="rId7"/>
    <p:sldId id="258" r:id="rId8"/>
    <p:sldId id="257" r:id="rId9"/>
  </p:sldIdLst>
  <p:sldSz cx="9144000" cy="6858000" type="screen4x3"/>
  <p:notesSz cx="7086600" cy="937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BCDA1A-0A1D-DCDE-328D-DCA3A8B8EA2E}" name="Christina Borrello" initials="CB" userId="S::cborrello@clearoneadvantage.com::920200ae-9917-4322-a251-f102818e0e63" providerId="AD"/>
  <p188:author id="{A7A5B8CC-3876-DBBD-2027-6F51F5282F47}" name="Heather Sellers" initials="HS" userId="S::hsellers@clearoneadvantage.com::25461d58-9233-4504-9b5c-0ad25644213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randon Homuth" initials="BH" lastIdx="1" clrIdx="0">
    <p:extLst>
      <p:ext uri="{19B8F6BF-5375-455C-9EA6-DF929625EA0E}">
        <p15:presenceInfo xmlns:p15="http://schemas.microsoft.com/office/powerpoint/2012/main" userId="S::bhomuth@finance.clearoneadvantage.com::86c609f6-c353-4116-b809-d837f34ce853" providerId="AD"/>
      </p:ext>
    </p:extLst>
  </p:cmAuthor>
  <p:cmAuthor id="2" name="Matthew Falkowski" initials="MF" lastIdx="1" clrIdx="1">
    <p:extLst>
      <p:ext uri="{19B8F6BF-5375-455C-9EA6-DF929625EA0E}">
        <p15:presenceInfo xmlns:p15="http://schemas.microsoft.com/office/powerpoint/2012/main" userId="S::mfalkowski@finance.clearoneadvantage.com::e04e5b67-bb43-4176-a3a7-5c533b516048" providerId="AD"/>
      </p:ext>
    </p:extLst>
  </p:cmAuthor>
  <p:cmAuthor id="3" name="Rick Gross" initials="RG" lastIdx="1" clrIdx="2">
    <p:extLst>
      <p:ext uri="{19B8F6BF-5375-455C-9EA6-DF929625EA0E}">
        <p15:presenceInfo xmlns:p15="http://schemas.microsoft.com/office/powerpoint/2012/main" userId="S::rgross@finance.clearoneadvantage.com::56070022-d45c-4555-8b5e-ed6b6470e0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AFB4BE"/>
    <a:srgbClr val="8C93A2"/>
    <a:srgbClr val="C41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7FFCC1-B3EA-02C8-7BAF-66A9A89CEA35}" v="12" dt="2025-08-29T15:25:05.6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7" d="100"/>
          <a:sy n="97" d="100"/>
        </p:scale>
        <p:origin x="1986" y="30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70258"/>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idx="1"/>
          </p:nvPr>
        </p:nvSpPr>
        <p:spPr>
          <a:xfrm>
            <a:off x="4014100" y="1"/>
            <a:ext cx="3070860" cy="470258"/>
          </a:xfrm>
          <a:prstGeom prst="rect">
            <a:avLst/>
          </a:prstGeom>
        </p:spPr>
        <p:txBody>
          <a:bodyPr vert="horz" lIns="94046" tIns="47023" rIns="94046" bIns="47023" rtlCol="0"/>
          <a:lstStyle>
            <a:lvl1pPr algn="r">
              <a:defRPr sz="1200"/>
            </a:lvl1pPr>
          </a:lstStyle>
          <a:p>
            <a:fld id="{F9FBA1EC-A60A-495A-B477-8D73E8948888}" type="datetimeFigureOut">
              <a:rPr lang="en-US" smtClean="0"/>
              <a:t>2/12/2026</a:t>
            </a:fld>
            <a:endParaRPr lang="en-US"/>
          </a:p>
        </p:txBody>
      </p:sp>
      <p:sp>
        <p:nvSpPr>
          <p:cNvPr id="4" name="Slide Image Placeholder 3"/>
          <p:cNvSpPr>
            <a:spLocks noGrp="1" noRot="1" noChangeAspect="1"/>
          </p:cNvSpPr>
          <p:nvPr>
            <p:ph type="sldImg" idx="2"/>
          </p:nvPr>
        </p:nvSpPr>
        <p:spPr>
          <a:xfrm>
            <a:off x="1435100" y="1171575"/>
            <a:ext cx="4216400" cy="3163888"/>
          </a:xfrm>
          <a:prstGeom prst="rect">
            <a:avLst/>
          </a:prstGeom>
          <a:noFill/>
          <a:ln w="12700">
            <a:solidFill>
              <a:prstClr val="black"/>
            </a:solidFill>
          </a:ln>
        </p:spPr>
        <p:txBody>
          <a:bodyPr vert="horz" lIns="94046" tIns="47023" rIns="94046" bIns="47023" rtlCol="0" anchor="ctr"/>
          <a:lstStyle/>
          <a:p>
            <a:endParaRPr lang="en-US"/>
          </a:p>
        </p:txBody>
      </p:sp>
      <p:sp>
        <p:nvSpPr>
          <p:cNvPr id="5" name="Notes Placeholder 4"/>
          <p:cNvSpPr>
            <a:spLocks noGrp="1"/>
          </p:cNvSpPr>
          <p:nvPr>
            <p:ph type="body" sz="quarter" idx="3"/>
          </p:nvPr>
        </p:nvSpPr>
        <p:spPr>
          <a:xfrm>
            <a:off x="708660" y="4510565"/>
            <a:ext cx="5669280" cy="3690461"/>
          </a:xfrm>
          <a:prstGeom prst="rect">
            <a:avLst/>
          </a:prstGeom>
        </p:spPr>
        <p:txBody>
          <a:bodyPr vert="horz" lIns="94046" tIns="47023" rIns="94046" bIns="470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02344"/>
            <a:ext cx="3070860" cy="470257"/>
          </a:xfrm>
          <a:prstGeom prst="rect">
            <a:avLst/>
          </a:prstGeom>
        </p:spPr>
        <p:txBody>
          <a:bodyPr vert="horz" lIns="94046" tIns="47023" rIns="94046" bIns="47023" rtlCol="0" anchor="b"/>
          <a:lstStyle>
            <a:lvl1pPr algn="l">
              <a:defRPr sz="1200"/>
            </a:lvl1pPr>
          </a:lstStyle>
          <a:p>
            <a:endParaRPr lang="en-US"/>
          </a:p>
        </p:txBody>
      </p:sp>
      <p:sp>
        <p:nvSpPr>
          <p:cNvPr id="7" name="Slide Number Placeholder 6"/>
          <p:cNvSpPr>
            <a:spLocks noGrp="1"/>
          </p:cNvSpPr>
          <p:nvPr>
            <p:ph type="sldNum" sz="quarter" idx="5"/>
          </p:nvPr>
        </p:nvSpPr>
        <p:spPr>
          <a:xfrm>
            <a:off x="4014100" y="8902344"/>
            <a:ext cx="3070860" cy="470257"/>
          </a:xfrm>
          <a:prstGeom prst="rect">
            <a:avLst/>
          </a:prstGeom>
        </p:spPr>
        <p:txBody>
          <a:bodyPr vert="horz" lIns="94046" tIns="47023" rIns="94046" bIns="47023" rtlCol="0" anchor="b"/>
          <a:lstStyle>
            <a:lvl1pPr algn="r">
              <a:defRPr sz="1200"/>
            </a:lvl1pPr>
          </a:lstStyle>
          <a:p>
            <a:fld id="{56818EA0-D2EF-4C38-A8B1-0D8C28DF25EC}" type="slidenum">
              <a:rPr lang="en-US" smtClean="0"/>
              <a:t>‹#›</a:t>
            </a:fld>
            <a:endParaRPr lang="en-US"/>
          </a:p>
        </p:txBody>
      </p:sp>
    </p:spTree>
    <p:extLst>
      <p:ext uri="{BB962C8B-B14F-4D97-AF65-F5344CB8AC3E}">
        <p14:creationId xmlns:p14="http://schemas.microsoft.com/office/powerpoint/2010/main" val="209620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1</a:t>
            </a:fld>
            <a:endParaRPr lang="en-US"/>
          </a:p>
        </p:txBody>
      </p:sp>
    </p:spTree>
    <p:extLst>
      <p:ext uri="{BB962C8B-B14F-4D97-AF65-F5344CB8AC3E}">
        <p14:creationId xmlns:p14="http://schemas.microsoft.com/office/powerpoint/2010/main" val="1817227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2</a:t>
            </a:fld>
            <a:endParaRPr lang="en-US"/>
          </a:p>
        </p:txBody>
      </p:sp>
    </p:spTree>
    <p:extLst>
      <p:ext uri="{BB962C8B-B14F-4D97-AF65-F5344CB8AC3E}">
        <p14:creationId xmlns:p14="http://schemas.microsoft.com/office/powerpoint/2010/main" val="1002712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3</a:t>
            </a:fld>
            <a:endParaRPr lang="en-US"/>
          </a:p>
        </p:txBody>
      </p:sp>
    </p:spTree>
    <p:extLst>
      <p:ext uri="{BB962C8B-B14F-4D97-AF65-F5344CB8AC3E}">
        <p14:creationId xmlns:p14="http://schemas.microsoft.com/office/powerpoint/2010/main" val="2894947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4</a:t>
            </a:fld>
            <a:endParaRPr lang="en-US"/>
          </a:p>
        </p:txBody>
      </p:sp>
    </p:spTree>
    <p:extLst>
      <p:ext uri="{BB962C8B-B14F-4D97-AF65-F5344CB8AC3E}">
        <p14:creationId xmlns:p14="http://schemas.microsoft.com/office/powerpoint/2010/main" val="4235593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56818EA0-D2EF-4C38-A8B1-0D8C28DF25EC}" type="slidenum">
              <a:rPr lang="en-US" smtClean="0"/>
              <a:t>5</a:t>
            </a:fld>
            <a:endParaRPr lang="en-US"/>
          </a:p>
        </p:txBody>
      </p:sp>
    </p:spTree>
    <p:extLst>
      <p:ext uri="{BB962C8B-B14F-4D97-AF65-F5344CB8AC3E}">
        <p14:creationId xmlns:p14="http://schemas.microsoft.com/office/powerpoint/2010/main" val="2894947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1F91-5DAF-4308-8CD1-103E6D52D74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8C9D70A-3474-4171-B199-95A7785332F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F0CA482-2466-4B34-B5F0-68952F622156}"/>
              </a:ext>
            </a:extLst>
          </p:cNvPr>
          <p:cNvSpPr>
            <a:spLocks noGrp="1"/>
          </p:cNvSpPr>
          <p:nvPr>
            <p:ph type="dt" sz="half" idx="10"/>
          </p:nvPr>
        </p:nvSpPr>
        <p:spPr/>
        <p:txBody>
          <a:bodyPr/>
          <a:lstStyle/>
          <a:p>
            <a:fld id="{B202E932-A71F-4C87-8F29-F42C899ED4BE}" type="datetime1">
              <a:rPr lang="en-US" smtClean="0"/>
              <a:t>2/12/2026</a:t>
            </a:fld>
            <a:endParaRPr lang="en-US"/>
          </a:p>
        </p:txBody>
      </p:sp>
      <p:sp>
        <p:nvSpPr>
          <p:cNvPr id="5" name="Footer Placeholder 4">
            <a:extLst>
              <a:ext uri="{FF2B5EF4-FFF2-40B4-BE49-F238E27FC236}">
                <a16:creationId xmlns:a16="http://schemas.microsoft.com/office/drawing/2014/main" id="{CA64685A-6E3E-4417-9863-4F2A54DAB06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0946F1FC-F314-455E-89ED-44D601039748}"/>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351649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7936-FF79-4BAD-9467-808480C37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1E9D8-3E19-4E1C-8437-CFC470EFE8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7E1A8-58BC-40F9-A6E9-C2EA9C48BBF1}"/>
              </a:ext>
            </a:extLst>
          </p:cNvPr>
          <p:cNvSpPr>
            <a:spLocks noGrp="1"/>
          </p:cNvSpPr>
          <p:nvPr>
            <p:ph type="dt" sz="half" idx="10"/>
          </p:nvPr>
        </p:nvSpPr>
        <p:spPr/>
        <p:txBody>
          <a:bodyPr/>
          <a:lstStyle/>
          <a:p>
            <a:fld id="{A8742F31-02C1-498D-9CC2-B92C2CDF434E}" type="datetime1">
              <a:rPr lang="en-US" smtClean="0"/>
              <a:t>2/12/2026</a:t>
            </a:fld>
            <a:endParaRPr lang="en-US"/>
          </a:p>
        </p:txBody>
      </p:sp>
      <p:sp>
        <p:nvSpPr>
          <p:cNvPr id="5" name="Footer Placeholder 4">
            <a:extLst>
              <a:ext uri="{FF2B5EF4-FFF2-40B4-BE49-F238E27FC236}">
                <a16:creationId xmlns:a16="http://schemas.microsoft.com/office/drawing/2014/main" id="{47323A46-7D43-4A54-93C9-9EF0E81BAA9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1B07370E-CEFD-4DE4-A0FC-6F069EA2A37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93899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B35C-AE0D-47A6-9D58-2B81B44D71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C171A32-793D-441B-AD68-4238442E166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11632-D9DF-4A7B-BF50-F25DCA778EA2}"/>
              </a:ext>
            </a:extLst>
          </p:cNvPr>
          <p:cNvSpPr>
            <a:spLocks noGrp="1"/>
          </p:cNvSpPr>
          <p:nvPr>
            <p:ph type="dt" sz="half" idx="10"/>
          </p:nvPr>
        </p:nvSpPr>
        <p:spPr/>
        <p:txBody>
          <a:bodyPr/>
          <a:lstStyle/>
          <a:p>
            <a:fld id="{257A7864-DF79-4588-8239-29C6AE689228}" type="datetime1">
              <a:rPr lang="en-US" smtClean="0"/>
              <a:t>2/12/2026</a:t>
            </a:fld>
            <a:endParaRPr lang="en-US"/>
          </a:p>
        </p:txBody>
      </p:sp>
      <p:sp>
        <p:nvSpPr>
          <p:cNvPr id="5" name="Footer Placeholder 4">
            <a:extLst>
              <a:ext uri="{FF2B5EF4-FFF2-40B4-BE49-F238E27FC236}">
                <a16:creationId xmlns:a16="http://schemas.microsoft.com/office/drawing/2014/main" id="{CFA3D7EE-09FD-4EC1-91CB-5868F9A4EFC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A59428E-60CF-473F-90FC-33845451FC6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654445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AAB0-7FF6-4933-9E22-F868C1925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B08B35-4553-47E2-9C69-248E2027A1F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F70A51-07F6-4B4E-AC1B-00C92A5F9E1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B59BD2-1DA7-47C2-927E-1EDAB02E4829}"/>
              </a:ext>
            </a:extLst>
          </p:cNvPr>
          <p:cNvSpPr>
            <a:spLocks noGrp="1"/>
          </p:cNvSpPr>
          <p:nvPr>
            <p:ph type="dt" sz="half" idx="10"/>
          </p:nvPr>
        </p:nvSpPr>
        <p:spPr/>
        <p:txBody>
          <a:bodyPr/>
          <a:lstStyle/>
          <a:p>
            <a:fld id="{5AA8FAA2-19A9-44AB-B8FA-E5869F238D47}" type="datetime1">
              <a:rPr lang="en-US" smtClean="0"/>
              <a:t>2/12/2026</a:t>
            </a:fld>
            <a:endParaRPr lang="en-US"/>
          </a:p>
        </p:txBody>
      </p:sp>
      <p:sp>
        <p:nvSpPr>
          <p:cNvPr id="6" name="Footer Placeholder 5">
            <a:extLst>
              <a:ext uri="{FF2B5EF4-FFF2-40B4-BE49-F238E27FC236}">
                <a16:creationId xmlns:a16="http://schemas.microsoft.com/office/drawing/2014/main" id="{F00BB89C-01D5-4C85-B148-89F7B797D35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D0D56DD1-999E-4E85-80AF-C5D57619E24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82877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E3C4-28DC-4891-B961-D5AC5549E4D1}"/>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39514-3694-4568-AA95-82CF0B69D20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DA333A6-5E74-4ACD-8AC0-FAB6C7E080F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B50B8-823E-4597-A8E8-6A9638DD921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8A5CD-818C-4AC2-9FF0-0375B10D2C5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147E56-F9CA-448D-BF16-285FBDD66A3B}"/>
              </a:ext>
            </a:extLst>
          </p:cNvPr>
          <p:cNvSpPr>
            <a:spLocks noGrp="1"/>
          </p:cNvSpPr>
          <p:nvPr>
            <p:ph type="dt" sz="half" idx="10"/>
          </p:nvPr>
        </p:nvSpPr>
        <p:spPr/>
        <p:txBody>
          <a:bodyPr/>
          <a:lstStyle/>
          <a:p>
            <a:fld id="{D8D6C686-7BE9-4586-A687-B2D1E9405BF2}" type="datetime1">
              <a:rPr lang="en-US" smtClean="0"/>
              <a:t>2/12/2026</a:t>
            </a:fld>
            <a:endParaRPr lang="en-US"/>
          </a:p>
        </p:txBody>
      </p:sp>
      <p:sp>
        <p:nvSpPr>
          <p:cNvPr id="8" name="Footer Placeholder 7">
            <a:extLst>
              <a:ext uri="{FF2B5EF4-FFF2-40B4-BE49-F238E27FC236}">
                <a16:creationId xmlns:a16="http://schemas.microsoft.com/office/drawing/2014/main" id="{9151C511-854E-4BC2-B903-8E577EE9A9CB}"/>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20CA9210-8AFB-4D59-BF25-4EFD379E7791}"/>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81228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0A4E-7214-4395-B4A9-683862A17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BA23A-F6DD-474E-874D-71837CECE2D0}"/>
              </a:ext>
            </a:extLst>
          </p:cNvPr>
          <p:cNvSpPr>
            <a:spLocks noGrp="1"/>
          </p:cNvSpPr>
          <p:nvPr>
            <p:ph type="dt" sz="half" idx="10"/>
          </p:nvPr>
        </p:nvSpPr>
        <p:spPr/>
        <p:txBody>
          <a:bodyPr/>
          <a:lstStyle/>
          <a:p>
            <a:fld id="{A407A63C-776B-4C75-811A-901240DE072E}" type="datetime1">
              <a:rPr lang="en-US" smtClean="0"/>
              <a:t>2/12/2026</a:t>
            </a:fld>
            <a:endParaRPr lang="en-US"/>
          </a:p>
        </p:txBody>
      </p:sp>
      <p:sp>
        <p:nvSpPr>
          <p:cNvPr id="4" name="Footer Placeholder 3">
            <a:extLst>
              <a:ext uri="{FF2B5EF4-FFF2-40B4-BE49-F238E27FC236}">
                <a16:creationId xmlns:a16="http://schemas.microsoft.com/office/drawing/2014/main" id="{168EEFDA-3E42-47C0-93DC-C1219B95B61A}"/>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2311EABA-4C8C-473F-B711-E494A05F4495}"/>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54209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834C0-0139-4568-8744-EE8A5CE98791}"/>
              </a:ext>
            </a:extLst>
          </p:cNvPr>
          <p:cNvSpPr>
            <a:spLocks noGrp="1"/>
          </p:cNvSpPr>
          <p:nvPr>
            <p:ph type="dt" sz="half" idx="10"/>
          </p:nvPr>
        </p:nvSpPr>
        <p:spPr/>
        <p:txBody>
          <a:bodyPr/>
          <a:lstStyle/>
          <a:p>
            <a:fld id="{656B8578-255A-4EAB-AB9D-DF676188B002}" type="datetime1">
              <a:rPr lang="en-US" smtClean="0"/>
              <a:t>2/12/2026</a:t>
            </a:fld>
            <a:endParaRPr lang="en-US"/>
          </a:p>
        </p:txBody>
      </p:sp>
      <p:sp>
        <p:nvSpPr>
          <p:cNvPr id="3" name="Footer Placeholder 2">
            <a:extLst>
              <a:ext uri="{FF2B5EF4-FFF2-40B4-BE49-F238E27FC236}">
                <a16:creationId xmlns:a16="http://schemas.microsoft.com/office/drawing/2014/main" id="{ED01E73B-DCCE-4735-81B5-1825A15AD9DC}"/>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B049F196-8163-4B75-8CAC-61E1C785D81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471722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E244-A061-4E80-BC9C-E6AB7DBD18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3C428FE-F029-409E-B569-681CD14E9DD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8A74DE-FA8C-4583-9E68-BF0214191D8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EE68F3A-DC58-4F1A-923E-357CDF901CEC}"/>
              </a:ext>
            </a:extLst>
          </p:cNvPr>
          <p:cNvSpPr>
            <a:spLocks noGrp="1"/>
          </p:cNvSpPr>
          <p:nvPr>
            <p:ph type="dt" sz="half" idx="10"/>
          </p:nvPr>
        </p:nvSpPr>
        <p:spPr/>
        <p:txBody>
          <a:bodyPr/>
          <a:lstStyle/>
          <a:p>
            <a:fld id="{ABAE85B3-C4AE-4BB1-B021-68841BA35016}" type="datetime1">
              <a:rPr lang="en-US" smtClean="0"/>
              <a:t>2/12/2026</a:t>
            </a:fld>
            <a:endParaRPr lang="en-US"/>
          </a:p>
        </p:txBody>
      </p:sp>
      <p:sp>
        <p:nvSpPr>
          <p:cNvPr id="6" name="Footer Placeholder 5">
            <a:extLst>
              <a:ext uri="{FF2B5EF4-FFF2-40B4-BE49-F238E27FC236}">
                <a16:creationId xmlns:a16="http://schemas.microsoft.com/office/drawing/2014/main" id="{12D46901-5A47-40C9-BF0C-854E9818E46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0FF1F09E-1A7A-4217-88C3-C6FCE58F00CF}"/>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700598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30C2-9AC3-40D2-82EA-7358BE3F3FC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ED3CFF1-6F5E-4EDE-9591-B88623C670E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8D14FF47-9845-4311-A900-C88BE6D7512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9FEED47-9E30-48B0-BD7D-5D140FE87D54}"/>
              </a:ext>
            </a:extLst>
          </p:cNvPr>
          <p:cNvSpPr>
            <a:spLocks noGrp="1"/>
          </p:cNvSpPr>
          <p:nvPr>
            <p:ph type="dt" sz="half" idx="10"/>
          </p:nvPr>
        </p:nvSpPr>
        <p:spPr/>
        <p:txBody>
          <a:bodyPr/>
          <a:lstStyle/>
          <a:p>
            <a:fld id="{8BEE9113-9AB1-4051-924D-DF3D9AA7B385}" type="datetime1">
              <a:rPr lang="en-US" smtClean="0"/>
              <a:t>2/12/2026</a:t>
            </a:fld>
            <a:endParaRPr lang="en-US"/>
          </a:p>
        </p:txBody>
      </p:sp>
      <p:sp>
        <p:nvSpPr>
          <p:cNvPr id="6" name="Footer Placeholder 5">
            <a:extLst>
              <a:ext uri="{FF2B5EF4-FFF2-40B4-BE49-F238E27FC236}">
                <a16:creationId xmlns:a16="http://schemas.microsoft.com/office/drawing/2014/main" id="{4DDE5465-F8EA-489B-B0CE-6D03E7A74ED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1EB23C1-C907-4F63-83FE-12326EA9ADA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66181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A720-C411-4ED2-9590-91859DC253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AC8D4A-1E59-44F0-B9D5-55F4EF518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D2062-E7CF-4226-ABBC-7FAB80D53B72}"/>
              </a:ext>
            </a:extLst>
          </p:cNvPr>
          <p:cNvSpPr>
            <a:spLocks noGrp="1"/>
          </p:cNvSpPr>
          <p:nvPr>
            <p:ph type="dt" sz="half" idx="10"/>
          </p:nvPr>
        </p:nvSpPr>
        <p:spPr/>
        <p:txBody>
          <a:bodyPr/>
          <a:lstStyle/>
          <a:p>
            <a:fld id="{00EE5AC6-156C-4CB5-BA0A-41EEB99F2C31}" type="datetime1">
              <a:rPr lang="en-US" smtClean="0"/>
              <a:t>2/12/2026</a:t>
            </a:fld>
            <a:endParaRPr lang="en-US"/>
          </a:p>
        </p:txBody>
      </p:sp>
      <p:sp>
        <p:nvSpPr>
          <p:cNvPr id="5" name="Footer Placeholder 4">
            <a:extLst>
              <a:ext uri="{FF2B5EF4-FFF2-40B4-BE49-F238E27FC236}">
                <a16:creationId xmlns:a16="http://schemas.microsoft.com/office/drawing/2014/main" id="{2FDE2C07-11CD-4FCA-9EF9-DBCB439607F9}"/>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57EF8289-ACCF-49F8-B239-9BC52C1BA58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943466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DD16A-B6EA-4F1C-B1D6-276E8C388D6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D3C60F-2B01-4456-A9C9-E40F68052A8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CACA6-C1E6-45CC-987A-36AA89D2CB9A}"/>
              </a:ext>
            </a:extLst>
          </p:cNvPr>
          <p:cNvSpPr>
            <a:spLocks noGrp="1"/>
          </p:cNvSpPr>
          <p:nvPr>
            <p:ph type="dt" sz="half" idx="10"/>
          </p:nvPr>
        </p:nvSpPr>
        <p:spPr/>
        <p:txBody>
          <a:bodyPr/>
          <a:lstStyle/>
          <a:p>
            <a:fld id="{EC721CCD-7326-4A57-A1EF-8B0B37DF77B7}" type="datetime1">
              <a:rPr lang="en-US" smtClean="0"/>
              <a:t>2/12/2026</a:t>
            </a:fld>
            <a:endParaRPr lang="en-US"/>
          </a:p>
        </p:txBody>
      </p:sp>
      <p:sp>
        <p:nvSpPr>
          <p:cNvPr id="5" name="Footer Placeholder 4">
            <a:extLst>
              <a:ext uri="{FF2B5EF4-FFF2-40B4-BE49-F238E27FC236}">
                <a16:creationId xmlns:a16="http://schemas.microsoft.com/office/drawing/2014/main" id="{55DBCBA4-F9B0-4FFA-8023-E056B2BF9DB4}"/>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3991EB5-9BD0-4358-9027-51E6836959E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51445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EBC77-63D1-42E8-A976-F7270279F9E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A64DF2-E1A1-406E-AEE5-0CF1A3C73FD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3C1D8-9EE9-42E3-A226-76CF87AC6E6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974C46C-9D8A-450F-A7A1-8B8352E02805}" type="datetime1">
              <a:rPr lang="en-US" smtClean="0"/>
              <a:t>2/12/2026</a:t>
            </a:fld>
            <a:endParaRPr lang="en-US"/>
          </a:p>
        </p:txBody>
      </p:sp>
      <p:sp>
        <p:nvSpPr>
          <p:cNvPr id="5" name="Footer Placeholder 4">
            <a:extLst>
              <a:ext uri="{FF2B5EF4-FFF2-40B4-BE49-F238E27FC236}">
                <a16:creationId xmlns:a16="http://schemas.microsoft.com/office/drawing/2014/main" id="{6386C20A-ED86-43E7-BD47-C0407000FD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Confidential</a:t>
            </a:r>
          </a:p>
        </p:txBody>
      </p:sp>
      <p:sp>
        <p:nvSpPr>
          <p:cNvPr id="6" name="Slide Number Placeholder 5">
            <a:extLst>
              <a:ext uri="{FF2B5EF4-FFF2-40B4-BE49-F238E27FC236}">
                <a16:creationId xmlns:a16="http://schemas.microsoft.com/office/drawing/2014/main" id="{27EB9E82-8B6D-4553-B4F9-228C6E8BF23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B8DC1C-CF51-4F7D-8E83-F954D2933D5A}" type="slidenum">
              <a:rPr lang="en-US" smtClean="0"/>
              <a:t>‹#›</a:t>
            </a:fld>
            <a:endParaRPr lang="en-US"/>
          </a:p>
        </p:txBody>
      </p:sp>
    </p:spTree>
    <p:extLst>
      <p:ext uri="{BB962C8B-B14F-4D97-AF65-F5344CB8AC3E}">
        <p14:creationId xmlns:p14="http://schemas.microsoft.com/office/powerpoint/2010/main" val="16802740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clearoneadvantage365.sharepoint.com/:w:/r/sites/COACustomerService/_layouts/15/Doc.aspx?sourcedoc=%7BA574332F-986A-4008-BE47-4B8EAC017FA8%7D&amp;file=EMT%20RFSS%20Request.doc&amp;action=default&amp;mobileredirect=tru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hyperlink" Target="https://clearoneadvantage365.sharepoint.com/:w:/r/sites/COACustomerService/_layouts/15/Doc.aspx?sourcedoc=%7B1D3B1772-A639-424F-A05C-FE2426D18BD3%7D&amp;file=Adding%20%26%20Removing%20Co-Client.doc&amp;action=default&amp;mobileredirect=true" TargetMode="External"/><Relationship Id="rId3" Type="http://schemas.openxmlformats.org/officeDocument/2006/relationships/image" Target="../media/image1.png"/><Relationship Id="rId7" Type="http://schemas.openxmlformats.org/officeDocument/2006/relationships/hyperlink" Target="https://clearoneadvantage365.sharepoint.com/:w:/r/sites/COACustomerService/_layouts/15/Doc.aspx?sourcedoc=%7BEC6C372B-83F9-4696-BBC9-A3B46159F2C5%7D&amp;file=Global%20Validation%20Request.doc&amp;action=default&amp;mobileredirect=tru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clearoneadvantage365.sharepoint.com/:p:/r/sites/COACustomerService/_layouts/15/Doc.aspx?sourcedoc=%7B52C1267F-405F-4884-ADAF-73A25D1EFF6E%7D&amp;file=Refund-Withdrawal%20Request%20QRG.pptx&amp;action=edit&amp;mobileredirect=true" TargetMode="External"/><Relationship Id="rId5" Type="http://schemas.openxmlformats.org/officeDocument/2006/relationships/hyperlink" Target="https://clearoneadvantage365.sharepoint.com/:w:/r/sites/COACustomerService/_layouts/15/Doc.aspx?sourcedoc=%7BC870EC23-6D34-4686-A88A-BBC32ABABF69%7D&amp;file=Creating%20Special%20Purpose%20Account%20Applications%20(SPAAs).doc&amp;action=default&amp;mobileredirect=true" TargetMode="External"/><Relationship Id="rId10" Type="http://schemas.openxmlformats.org/officeDocument/2006/relationships/hyperlink" Target="https://clearoneadvantage365.sharepoint.com/:w:/r/sites/COACustomerService/_layouts/15/Doc.aspx?sourcedoc=%7B2A2461EC-EC5D-442C-BC83-DD6982F3A1F0%7D&amp;file=Client%20Referral%20Program.doc&amp;action=default&amp;mobileredirect=true" TargetMode="External"/><Relationship Id="rId4" Type="http://schemas.openxmlformats.org/officeDocument/2006/relationships/hyperlink" Target="https://clearoneadvantage365.sharepoint.com/:p:/r/sites/COACustomerService/_layouts/15/Doc.aspx?sourcedoc=%7BDAF42C09-22A9-4087-9AB0-AEE2C73EA2E5%7D&amp;file=Cancel%20Request%20-%20CS.pptx&amp;action=edit&amp;mobileredirect=true" TargetMode="External"/><Relationship Id="rId9" Type="http://schemas.openxmlformats.org/officeDocument/2006/relationships/hyperlink" Target="https://clearoneadvantage365.sharepoint.com/:w:/r/sites/COACustomerService/_layouts/15/Doc.aspx?sourcedoc=%7B93E52B41-FBF7-4C50-B6EA-2E19576AB67C%7D&amp;file=UMA%20Format.doc&amp;action=default&amp;mobileredirect=tru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clearoneadvantage365.sharepoint.com/:w:/r/sites/COACustomerService/_layouts/15/Doc.aspx?sourcedoc=%7BBB680D3D-38BC-4352-9D20-EBFFB46D61FC%7D&amp;file=Save%20Our%20Settlement%20(SOS).docx&amp;action=default&amp;mobileredirect=tru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mailto:EMT@clearoneadvantage.com" TargetMode="External"/><Relationship Id="rId4" Type="http://schemas.openxmlformats.org/officeDocument/2006/relationships/hyperlink" Target="https://clearoneadvantage365.sharepoint.com/:w:/r/sites/COACustomerService/_layouts/15/Doc.aspx?sourcedoc=%7B88B16B68-58C7-4E31-BACC-366194FF8AD8%7D&amp;file=Legal%20-%20Pre-Legal%20-%20CS%20process%209.6.24.docx&amp;action=default&amp;mobileredirect=tru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b="1">
                <a:latin typeface="Arial" panose="020B0604020202020204" pitchFamily="34" charset="0"/>
                <a:cs typeface="Arial" panose="020B0604020202020204" pitchFamily="34" charset="0"/>
              </a:rPr>
              <a:t>Request Reminders</a:t>
            </a:r>
            <a:endParaRPr lang="en-US" sz="200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1</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0163" y="37961"/>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C3679EC-00D9-4CAC-A020-F05493CAE920}"/>
              </a:ext>
            </a:extLst>
          </p:cNvPr>
          <p:cNvSpPr/>
          <p:nvPr/>
        </p:nvSpPr>
        <p:spPr>
          <a:xfrm>
            <a:off x="918332" y="1048414"/>
            <a:ext cx="7307335" cy="476117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lIns="91440" tIns="45720" rIns="91440" bIns="45720" rtlCol="0" anchor="ctr"/>
          <a:lstStyle/>
          <a:p>
            <a:pPr marL="285750" indent="-285750" algn="ctr">
              <a:buFont typeface="Arial" panose="020B0604020202020204" pitchFamily="34" charset="0"/>
              <a:buChar char="•"/>
            </a:pPr>
            <a:r>
              <a:rPr lang="en-US"/>
              <a:t>Detailed notes are needed on all requests.</a:t>
            </a:r>
          </a:p>
          <a:p>
            <a:pPr marL="285750" indent="-285750" algn="ctr">
              <a:buFont typeface="Arial" panose="020B0604020202020204" pitchFamily="34" charset="0"/>
              <a:buChar char="•"/>
            </a:pPr>
            <a:r>
              <a:rPr lang="en-US"/>
              <a:t>Your requests will be approved or denied based on notes.</a:t>
            </a:r>
            <a:endParaRPr lang="en-US">
              <a:ea typeface="Calibri"/>
              <a:cs typeface="Calibri"/>
            </a:endParaRPr>
          </a:p>
          <a:p>
            <a:pPr marL="285750" indent="-285750" algn="ctr">
              <a:buFont typeface="Arial" panose="020B0604020202020204" pitchFamily="34" charset="0"/>
              <a:buChar char="•"/>
            </a:pPr>
            <a:r>
              <a:rPr lang="en-US"/>
              <a:t>Check and follow up on your request queue daily.</a:t>
            </a:r>
          </a:p>
          <a:p>
            <a:pPr marL="285750" indent="-285750" algn="ctr">
              <a:buFont typeface="Arial" panose="020B0604020202020204" pitchFamily="34" charset="0"/>
              <a:buChar char="•"/>
            </a:pPr>
            <a:r>
              <a:rPr lang="en-US"/>
              <a:t>Never withdraw a request without discussing with your manager first.</a:t>
            </a:r>
            <a:endParaRPr lang="en-US">
              <a:ea typeface="Calibri"/>
              <a:cs typeface="Calibri"/>
            </a:endParaRPr>
          </a:p>
          <a:p>
            <a:pPr marL="285750" indent="-285750" algn="ctr">
              <a:buFont typeface="Arial" panose="020B0604020202020204" pitchFamily="34" charset="0"/>
              <a:buChar char="•"/>
            </a:pPr>
            <a:r>
              <a:rPr lang="en-US"/>
              <a:t>If a request requires you to follow up with a client, you should call them every day for 1 week and every other day for an additional week. At that point you can discuss with your manager about potentially withdrawing the request.</a:t>
            </a:r>
            <a:endParaRPr lang="en-US">
              <a:ea typeface="Calibri"/>
              <a:cs typeface="Calibri"/>
            </a:endParaRPr>
          </a:p>
          <a:p>
            <a:pPr marL="285750" indent="-285750" algn="ctr">
              <a:buFont typeface="Arial" panose="020B0604020202020204" pitchFamily="34" charset="0"/>
              <a:buChar char="•"/>
            </a:pPr>
            <a:r>
              <a:rPr lang="en-US">
                <a:cs typeface="Calibri" panose="020F0502020204030204"/>
              </a:rPr>
              <a:t>Customer Offline Team should follow up with the client by email every day for 1 week and every other day for an additional week.</a:t>
            </a:r>
            <a:endParaRPr lang="en-US">
              <a:ea typeface="Calibri"/>
              <a:cs typeface="Calibri" panose="020F0502020204030204"/>
            </a:endParaRPr>
          </a:p>
          <a:p>
            <a:pPr marL="285750" indent="-285750" algn="ctr">
              <a:buFont typeface="Arial" panose="020B0604020202020204" pitchFamily="34" charset="0"/>
              <a:buChar char="•"/>
            </a:pPr>
            <a:r>
              <a:rPr lang="en-US">
                <a:cs typeface="Calibri" panose="020F0502020204030204"/>
              </a:rPr>
              <a:t>Please advise the client that every request submitted to EMT can take up to 90 days to be completed.</a:t>
            </a:r>
            <a:endParaRPr lang="en-US">
              <a:ea typeface="Calibri"/>
              <a:cs typeface="Calibri" panose="020F0502020204030204"/>
            </a:endParaRPr>
          </a:p>
        </p:txBody>
      </p:sp>
      <p:sp>
        <p:nvSpPr>
          <p:cNvPr id="8" name="TextBox 7">
            <a:extLst>
              <a:ext uri="{FF2B5EF4-FFF2-40B4-BE49-F238E27FC236}">
                <a16:creationId xmlns:a16="http://schemas.microsoft.com/office/drawing/2014/main" id="{CDEB2728-7FB4-4DCF-240F-2CE58A375922}"/>
              </a:ext>
            </a:extLst>
          </p:cNvPr>
          <p:cNvSpPr txBox="1"/>
          <p:nvPr/>
        </p:nvSpPr>
        <p:spPr>
          <a:xfrm>
            <a:off x="7768431" y="588795"/>
            <a:ext cx="1493837" cy="261610"/>
          </a:xfrm>
          <a:prstGeom prst="rect">
            <a:avLst/>
          </a:prstGeom>
          <a:noFill/>
        </p:spPr>
        <p:txBody>
          <a:bodyPr wrap="square" lIns="91440" tIns="45720" rIns="91440" bIns="45720" rtlCol="0" anchor="t">
            <a:spAutoFit/>
          </a:bodyPr>
          <a:lstStyle/>
          <a:p>
            <a:r>
              <a:rPr lang="en-US" sz="1100"/>
              <a:t>Reviewed 1.19.24</a:t>
            </a:r>
            <a:endParaRPr lang="en-US"/>
          </a:p>
        </p:txBody>
      </p:sp>
    </p:spTree>
    <p:extLst>
      <p:ext uri="{BB962C8B-B14F-4D97-AF65-F5344CB8AC3E}">
        <p14:creationId xmlns:p14="http://schemas.microsoft.com/office/powerpoint/2010/main" val="4194901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a:latin typeface="Arial" panose="020B0604020202020204" pitchFamily="34" charset="0"/>
                <a:cs typeface="Arial" panose="020B0604020202020204" pitchFamily="34" charset="0"/>
              </a:rPr>
              <a:t>EMT Request Types</a:t>
            </a:r>
            <a:endParaRPr lang="en-US" sz="2000">
              <a:solidFill>
                <a:srgbClr val="FF0000"/>
              </a:solidFill>
              <a:highlight>
                <a:srgbClr val="FFFF00"/>
              </a:highlight>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2</a:t>
            </a:fld>
            <a:endParaRPr lang="en-US"/>
          </a:p>
        </p:txBody>
      </p:sp>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BAECCAC7-CBF9-4631-80CE-E0F7204FDE26}"/>
              </a:ext>
            </a:extLst>
          </p:cNvPr>
          <p:cNvGraphicFramePr>
            <a:graphicFrameLocks noGrp="1"/>
          </p:cNvGraphicFramePr>
          <p:nvPr>
            <p:extLst>
              <p:ext uri="{D42A27DB-BD31-4B8C-83A1-F6EECF244321}">
                <p14:modId xmlns:p14="http://schemas.microsoft.com/office/powerpoint/2010/main" val="1669272854"/>
              </p:ext>
            </p:extLst>
          </p:nvPr>
        </p:nvGraphicFramePr>
        <p:xfrm>
          <a:off x="81481" y="1095835"/>
          <a:ext cx="8882989" cy="5144326"/>
        </p:xfrm>
        <a:graphic>
          <a:graphicData uri="http://schemas.openxmlformats.org/drawingml/2006/table">
            <a:tbl>
              <a:tblPr firstRow="1" bandRow="1">
                <a:tableStyleId>{5C22544A-7EE6-4342-B048-85BDC9FD1C3A}</a:tableStyleId>
              </a:tblPr>
              <a:tblGrid>
                <a:gridCol w="1070365">
                  <a:extLst>
                    <a:ext uri="{9D8B030D-6E8A-4147-A177-3AD203B41FA5}">
                      <a16:colId xmlns:a16="http://schemas.microsoft.com/office/drawing/2014/main" val="933218189"/>
                    </a:ext>
                  </a:extLst>
                </a:gridCol>
                <a:gridCol w="2915164">
                  <a:extLst>
                    <a:ext uri="{9D8B030D-6E8A-4147-A177-3AD203B41FA5}">
                      <a16:colId xmlns:a16="http://schemas.microsoft.com/office/drawing/2014/main" val="4060800921"/>
                    </a:ext>
                  </a:extLst>
                </a:gridCol>
                <a:gridCol w="4897460">
                  <a:extLst>
                    <a:ext uri="{9D8B030D-6E8A-4147-A177-3AD203B41FA5}">
                      <a16:colId xmlns:a16="http://schemas.microsoft.com/office/drawing/2014/main" val="444313664"/>
                    </a:ext>
                  </a:extLst>
                </a:gridCol>
              </a:tblGrid>
              <a:tr h="451694">
                <a:tc>
                  <a:txBody>
                    <a:bodyPr/>
                    <a:lstStyle/>
                    <a:p>
                      <a:r>
                        <a:rPr lang="en-US"/>
                        <a:t>Request Type</a:t>
                      </a:r>
                    </a:p>
                  </a:txBody>
                  <a:tcPr/>
                </a:tc>
                <a:tc>
                  <a:txBody>
                    <a:bodyPr/>
                    <a:lstStyle/>
                    <a:p>
                      <a:r>
                        <a:rPr lang="en-US"/>
                        <a:t>Responder/Processor/ Internal Status</a:t>
                      </a:r>
                    </a:p>
                  </a:txBody>
                  <a:tcPr/>
                </a:tc>
                <a:tc>
                  <a:txBody>
                    <a:bodyPr/>
                    <a:lstStyle/>
                    <a:p>
                      <a:r>
                        <a:rPr lang="en-US"/>
                        <a:t>When to use</a:t>
                      </a:r>
                    </a:p>
                  </a:txBody>
                  <a:tcPr/>
                </a:tc>
                <a:extLst>
                  <a:ext uri="{0D108BD9-81ED-4DB2-BD59-A6C34878D82A}">
                    <a16:rowId xmlns:a16="http://schemas.microsoft.com/office/drawing/2014/main" val="1439320859"/>
                  </a:ext>
                </a:extLst>
              </a:tr>
              <a:tr h="574882">
                <a:tc>
                  <a:txBody>
                    <a:bodyPr/>
                    <a:lstStyle/>
                    <a:p>
                      <a:r>
                        <a:rPr lang="en-US" sz="1100"/>
                        <a:t>PCA Reject </a:t>
                      </a:r>
                      <a:r>
                        <a:rPr lang="en-US" sz="1100" b="1">
                          <a:solidFill>
                            <a:srgbClr val="C00000"/>
                          </a:solidFill>
                        </a:rPr>
                        <a:t>(do not use)</a:t>
                      </a:r>
                    </a:p>
                  </a:txBody>
                  <a:tcPr/>
                </a:tc>
                <a:tc>
                  <a:txBody>
                    <a:bodyPr/>
                    <a:lstStyle/>
                    <a:p>
                      <a:r>
                        <a:rPr lang="en-US" sz="1100"/>
                        <a:t>Responder – EMT</a:t>
                      </a:r>
                    </a:p>
                    <a:p>
                      <a:r>
                        <a:rPr lang="en-US" sz="1100"/>
                        <a:t>Processor – Self</a:t>
                      </a:r>
                    </a:p>
                    <a:p>
                      <a:r>
                        <a:rPr lang="en-US" sz="1100"/>
                        <a:t>Internal Status – Waiting on Responder</a:t>
                      </a:r>
                    </a:p>
                  </a:txBody>
                  <a:tcPr/>
                </a:tc>
                <a:tc>
                  <a:txBody>
                    <a:bodyPr/>
                    <a:lstStyle/>
                    <a:p>
                      <a:r>
                        <a:rPr lang="en-US" sz="1100" b="0"/>
                        <a:t>A client rejects a settlement from prior to 2/1/2021</a:t>
                      </a:r>
                    </a:p>
                    <a:p>
                      <a:r>
                        <a:rPr lang="en-US" sz="1100" b="0"/>
                        <a:t>Reject settlement first through the link and confirm in the Creditor – Payment tab</a:t>
                      </a:r>
                    </a:p>
                  </a:txBody>
                  <a:tcPr/>
                </a:tc>
                <a:extLst>
                  <a:ext uri="{0D108BD9-81ED-4DB2-BD59-A6C34878D82A}">
                    <a16:rowId xmlns:a16="http://schemas.microsoft.com/office/drawing/2014/main" val="2345277854"/>
                  </a:ext>
                </a:extLst>
              </a:tr>
              <a:tr h="1724649">
                <a:tc>
                  <a:txBody>
                    <a:bodyPr/>
                    <a:lstStyle/>
                    <a:p>
                      <a:r>
                        <a:rPr lang="en-US" sz="1100">
                          <a:hlinkClick r:id="rId3"/>
                        </a:rPr>
                        <a:t>EMT – RFSS</a:t>
                      </a:r>
                      <a:r>
                        <a:rPr lang="en-US" sz="1100"/>
                        <a:t> - </a:t>
                      </a:r>
                      <a:r>
                        <a:rPr lang="en-US" sz="1100" b="1">
                          <a:solidFill>
                            <a:srgbClr val="FF0000"/>
                          </a:solidFill>
                        </a:rPr>
                        <a:t>No longer open request due to draft changes or skip. </a:t>
                      </a:r>
                    </a:p>
                  </a:txBody>
                  <a:tcPr/>
                </a:tc>
                <a:tc>
                  <a:txBody>
                    <a:bodyPr/>
                    <a:lstStyle/>
                    <a:p>
                      <a:r>
                        <a:rPr lang="en-US" sz="1100"/>
                        <a:t>Responder – EMT</a:t>
                      </a:r>
                    </a:p>
                    <a:p>
                      <a:r>
                        <a:rPr lang="en-US" sz="1100"/>
                        <a:t>Processor – Self</a:t>
                      </a:r>
                    </a:p>
                    <a:p>
                      <a:r>
                        <a:rPr lang="en-US" sz="1100"/>
                        <a:t>Internal Status – Waiting on Responder</a:t>
                      </a:r>
                    </a:p>
                  </a:txBody>
                  <a:tcPr/>
                </a:tc>
                <a:tc>
                  <a:txBody>
                    <a:bodyPr/>
                    <a:lstStyle/>
                    <a:p>
                      <a:r>
                        <a:rPr lang="en-US" sz="1100" b="0"/>
                        <a:t>Client is requesting to remove the settlement from settle status due to </a:t>
                      </a:r>
                    </a:p>
                    <a:p>
                      <a:pPr marL="228600" lvl="0" indent="-228600">
                        <a:buAutoNum type="arabicPeriod"/>
                      </a:pPr>
                      <a:r>
                        <a:rPr lang="en-US" sz="1100" b="0"/>
                        <a:t>Settled and wants to remove from program</a:t>
                      </a:r>
                      <a:endParaRPr lang="en-US"/>
                    </a:p>
                    <a:p>
                      <a:pPr marL="228600" indent="-228600">
                        <a:buAutoNum type="arabicPeriod"/>
                      </a:pPr>
                      <a:r>
                        <a:rPr lang="en-US" sz="1100" b="0"/>
                        <a:t>Client is unhappy with the settlement – talking points</a:t>
                      </a:r>
                    </a:p>
                    <a:p>
                      <a:pPr marL="228600" indent="-228600">
                        <a:buAutoNum type="arabicPeriod"/>
                      </a:pPr>
                      <a:r>
                        <a:rPr lang="en-US" sz="1100" b="0"/>
                        <a:t>Client wants funds to be used towards another settlement opportunity ASAP – talking points </a:t>
                      </a:r>
                    </a:p>
                    <a:p>
                      <a:pPr marL="0" indent="0">
                        <a:buNone/>
                      </a:pPr>
                      <a:r>
                        <a:rPr lang="en-US" sz="1100" b="0"/>
                        <a:t>We cannot RFSS accounts if the client paid it off outside of the program. We have a unique process for that. Please submit this request under "EMT"</a:t>
                      </a:r>
                    </a:p>
                  </a:txBody>
                  <a:tcPr/>
                </a:tc>
                <a:extLst>
                  <a:ext uri="{0D108BD9-81ED-4DB2-BD59-A6C34878D82A}">
                    <a16:rowId xmlns:a16="http://schemas.microsoft.com/office/drawing/2014/main" val="1400391657"/>
                  </a:ext>
                </a:extLst>
              </a:tr>
              <a:tr h="739135">
                <a:tc>
                  <a:txBody>
                    <a:bodyPr/>
                    <a:lstStyle/>
                    <a:p>
                      <a:r>
                        <a:rPr lang="en-US" sz="1100"/>
                        <a:t>EMT</a:t>
                      </a:r>
                    </a:p>
                  </a:txBody>
                  <a:tcPr/>
                </a:tc>
                <a:tc>
                  <a:txBody>
                    <a:bodyPr/>
                    <a:lstStyle/>
                    <a:p>
                      <a:r>
                        <a:rPr lang="en-US" sz="1100"/>
                        <a:t>Responder – EMT</a:t>
                      </a:r>
                    </a:p>
                    <a:p>
                      <a:r>
                        <a:rPr lang="en-US" sz="1100"/>
                        <a:t>Processor – Self</a:t>
                      </a:r>
                    </a:p>
                    <a:p>
                      <a:r>
                        <a:rPr lang="en-US" sz="1100"/>
                        <a:t>Internal Status – Waiting on Responder</a:t>
                      </a:r>
                    </a:p>
                  </a:txBody>
                  <a:tcPr/>
                </a:tc>
                <a:tc>
                  <a:txBody>
                    <a:bodyPr/>
                    <a:lstStyle/>
                    <a:p>
                      <a:pPr marL="0" indent="0">
                        <a:buNone/>
                      </a:pPr>
                      <a:r>
                        <a:rPr lang="en-US" sz="1100" b="0"/>
                        <a:t>This request is used only for accounts that the client states they paid outside the program or POG for short. If no receipt is available, please record to whom they paid, how much they paid and on what date they paid. </a:t>
                      </a:r>
                      <a:r>
                        <a:rPr lang="en-US" sz="1100" b="1"/>
                        <a:t>Upload recording to request file.</a:t>
                      </a:r>
                    </a:p>
                  </a:txBody>
                  <a:tcPr/>
                </a:tc>
                <a:extLst>
                  <a:ext uri="{0D108BD9-81ED-4DB2-BD59-A6C34878D82A}">
                    <a16:rowId xmlns:a16="http://schemas.microsoft.com/office/drawing/2014/main" val="505834639"/>
                  </a:ext>
                </a:extLst>
              </a:tr>
              <a:tr h="1560397">
                <a:tc>
                  <a:txBody>
                    <a:bodyPr/>
                    <a:lstStyle/>
                    <a:p>
                      <a:r>
                        <a:rPr lang="en-US" sz="1100"/>
                        <a:t>EMT – Collection Calls</a:t>
                      </a:r>
                    </a:p>
                  </a:txBody>
                  <a:tcPr/>
                </a:tc>
                <a:tc>
                  <a:txBody>
                    <a:bodyPr/>
                    <a:lstStyle/>
                    <a:p>
                      <a:r>
                        <a:rPr lang="en-US" sz="1100"/>
                        <a:t>Responder – EMT</a:t>
                      </a:r>
                    </a:p>
                    <a:p>
                      <a:r>
                        <a:rPr lang="en-US" sz="1100"/>
                        <a:t>Processor – Self</a:t>
                      </a:r>
                    </a:p>
                    <a:p>
                      <a:r>
                        <a:rPr lang="en-US" sz="1100"/>
                        <a:t>Internal Status – Waiting on Responder</a:t>
                      </a:r>
                    </a:p>
                  </a:txBody>
                  <a:tcPr/>
                </a:tc>
                <a:tc>
                  <a:txBody>
                    <a:bodyPr/>
                    <a:lstStyle/>
                    <a:p>
                      <a:pPr marL="0" indent="0">
                        <a:buNone/>
                      </a:pPr>
                      <a:r>
                        <a:rPr lang="en-US" sz="1100" b="0"/>
                        <a:t>Collection Call requests should only be created when the account in question is marked as Settled in Full in our system for at least 90 days or a client is receiving collection calls from a creditor not listed as current creditor in our system</a:t>
                      </a:r>
                      <a:endParaRPr lang="en-US" sz="1100"/>
                    </a:p>
                    <a:p>
                      <a:pPr marL="171450" lvl="0" indent="-171450">
                        <a:buFontTx/>
                        <a:buChar char="-"/>
                      </a:pPr>
                      <a:r>
                        <a:rPr lang="en-US" sz="1100" b="1"/>
                        <a:t>Clients should expect collection calls from their creditors. Creditors will continue to attempt to contact the client regarding the debt until the settlement is paid in full.</a:t>
                      </a:r>
                    </a:p>
                    <a:p>
                      <a:pPr marL="171450" lvl="0" indent="-171450">
                        <a:buFontTx/>
                        <a:buChar char="-"/>
                      </a:pPr>
                      <a:r>
                        <a:rPr lang="en-US" sz="1100" b="1"/>
                        <a:t>Documentation is required from the client in before submitting this request</a:t>
                      </a:r>
                    </a:p>
                  </a:txBody>
                  <a:tcPr/>
                </a:tc>
                <a:extLst>
                  <a:ext uri="{0D108BD9-81ED-4DB2-BD59-A6C34878D82A}">
                    <a16:rowId xmlns:a16="http://schemas.microsoft.com/office/drawing/2014/main" val="1958048738"/>
                  </a:ext>
                </a:extLst>
              </a:tr>
            </a:tbl>
          </a:graphicData>
        </a:graphic>
      </p:graphicFrame>
      <p:sp>
        <p:nvSpPr>
          <p:cNvPr id="8" name="Rectangle 7">
            <a:extLst>
              <a:ext uri="{FF2B5EF4-FFF2-40B4-BE49-F238E27FC236}">
                <a16:creationId xmlns:a16="http://schemas.microsoft.com/office/drawing/2014/main" id="{BC04585A-E60D-44E5-BB58-6BAE4BA918B3}"/>
              </a:ext>
            </a:extLst>
          </p:cNvPr>
          <p:cNvSpPr/>
          <p:nvPr/>
        </p:nvSpPr>
        <p:spPr>
          <a:xfrm>
            <a:off x="145614" y="629174"/>
            <a:ext cx="8854854" cy="4115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t>Creditor accounts must be in an active settlement for PRT (EMT) to see the untouched request. If creditor is not selected or not “settled”, they will NEVER see it. </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3799" y="37811"/>
            <a:ext cx="1238106" cy="421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8071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a:latin typeface="Arial" panose="020B0604020202020204" pitchFamily="34" charset="0"/>
                <a:cs typeface="Arial" panose="020B0604020202020204" pitchFamily="34" charset="0"/>
              </a:rPr>
              <a:t>Request Types</a:t>
            </a: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3</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8192" y="41346"/>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7">
            <a:extLst>
              <a:ext uri="{FF2B5EF4-FFF2-40B4-BE49-F238E27FC236}">
                <a16:creationId xmlns:a16="http://schemas.microsoft.com/office/drawing/2014/main" id="{C18C867B-094C-45F7-90FE-F60080955FFC}"/>
              </a:ext>
            </a:extLst>
          </p:cNvPr>
          <p:cNvGraphicFramePr>
            <a:graphicFrameLocks noGrp="1"/>
          </p:cNvGraphicFramePr>
          <p:nvPr>
            <p:extLst>
              <p:ext uri="{D42A27DB-BD31-4B8C-83A1-F6EECF244321}">
                <p14:modId xmlns:p14="http://schemas.microsoft.com/office/powerpoint/2010/main" val="1781637319"/>
              </p:ext>
            </p:extLst>
          </p:nvPr>
        </p:nvGraphicFramePr>
        <p:xfrm>
          <a:off x="60476" y="483809"/>
          <a:ext cx="9018168" cy="6369530"/>
        </p:xfrm>
        <a:graphic>
          <a:graphicData uri="http://schemas.openxmlformats.org/drawingml/2006/table">
            <a:tbl>
              <a:tblPr firstRow="1" bandRow="1">
                <a:tableStyleId>{5C22544A-7EE6-4342-B048-85BDC9FD1C3A}</a:tableStyleId>
              </a:tblPr>
              <a:tblGrid>
                <a:gridCol w="1331550">
                  <a:extLst>
                    <a:ext uri="{9D8B030D-6E8A-4147-A177-3AD203B41FA5}">
                      <a16:colId xmlns:a16="http://schemas.microsoft.com/office/drawing/2014/main" val="3996008774"/>
                    </a:ext>
                  </a:extLst>
                </a:gridCol>
                <a:gridCol w="3617306">
                  <a:extLst>
                    <a:ext uri="{9D8B030D-6E8A-4147-A177-3AD203B41FA5}">
                      <a16:colId xmlns:a16="http://schemas.microsoft.com/office/drawing/2014/main" val="1525797325"/>
                    </a:ext>
                  </a:extLst>
                </a:gridCol>
                <a:gridCol w="4069312">
                  <a:extLst>
                    <a:ext uri="{9D8B030D-6E8A-4147-A177-3AD203B41FA5}">
                      <a16:colId xmlns:a16="http://schemas.microsoft.com/office/drawing/2014/main" val="2446458052"/>
                    </a:ext>
                  </a:extLst>
                </a:gridCol>
              </a:tblGrid>
              <a:tr h="547801">
                <a:tc>
                  <a:txBody>
                    <a:bodyPr/>
                    <a:lstStyle/>
                    <a:p>
                      <a:r>
                        <a:rPr lang="en-US" dirty="0"/>
                        <a:t>Request Type</a:t>
                      </a:r>
                    </a:p>
                  </a:txBody>
                  <a:tcPr/>
                </a:tc>
                <a:tc>
                  <a:txBody>
                    <a:bodyPr/>
                    <a:lstStyle/>
                    <a:p>
                      <a:r>
                        <a:rPr lang="en-US" dirty="0"/>
                        <a:t>Responder/Processor/ Internal Status</a:t>
                      </a:r>
                    </a:p>
                  </a:txBody>
                  <a:tcPr/>
                </a:tc>
                <a:tc>
                  <a:txBody>
                    <a:bodyPr/>
                    <a:lstStyle/>
                    <a:p>
                      <a:r>
                        <a:rPr lang="en-US" dirty="0"/>
                        <a:t>When to use</a:t>
                      </a:r>
                    </a:p>
                  </a:txBody>
                  <a:tcPr/>
                </a:tc>
                <a:extLst>
                  <a:ext uri="{0D108BD9-81ED-4DB2-BD59-A6C34878D82A}">
                    <a16:rowId xmlns:a16="http://schemas.microsoft.com/office/drawing/2014/main" val="2446323965"/>
                  </a:ext>
                </a:extLst>
              </a:tr>
              <a:tr h="633730">
                <a:tc>
                  <a:txBody>
                    <a:bodyPr/>
                    <a:lstStyle/>
                    <a:p>
                      <a:r>
                        <a:rPr lang="en-US" sz="1200" dirty="0">
                          <a:hlinkClick r:id="rId4"/>
                        </a:rPr>
                        <a:t>Cancel</a:t>
                      </a:r>
                      <a:endParaRPr lang="en-US" sz="1200" dirty="0"/>
                    </a:p>
                  </a:txBody>
                  <a:tcPr/>
                </a:tc>
                <a:tc>
                  <a:txBody>
                    <a:bodyPr/>
                    <a:lstStyle/>
                    <a:p>
                      <a:r>
                        <a:rPr lang="en-US" sz="1050" dirty="0"/>
                        <a:t>Responder Name – Cancel Queue</a:t>
                      </a:r>
                    </a:p>
                    <a:p>
                      <a:r>
                        <a:rPr lang="en-US" sz="1050" dirty="0"/>
                        <a:t>Processor – Self</a:t>
                      </a:r>
                    </a:p>
                    <a:p>
                      <a:r>
                        <a:rPr lang="en-US" sz="1050" dirty="0"/>
                        <a:t>Internal Status – Waiting for Responder</a:t>
                      </a:r>
                    </a:p>
                  </a:txBody>
                  <a:tcPr/>
                </a:tc>
                <a:tc>
                  <a:txBody>
                    <a:bodyPr/>
                    <a:lstStyle/>
                    <a:p>
                      <a:r>
                        <a:rPr lang="en-US" sz="1050" dirty="0"/>
                        <a:t>When a client states via phone, email, chat, or text that they would like to cancel. Note in request why client want to cancel </a:t>
                      </a:r>
                      <a:br>
                        <a:rPr lang="en-US" sz="1050" dirty="0"/>
                      </a:br>
                      <a:r>
                        <a:rPr lang="en-US" sz="1050" b="1" dirty="0">
                          <a:solidFill>
                            <a:srgbClr val="C00000"/>
                          </a:solidFill>
                        </a:rPr>
                        <a:t>Open request for CR team to reach client to cancel program. </a:t>
                      </a:r>
                    </a:p>
                  </a:txBody>
                  <a:tcPr/>
                </a:tc>
                <a:extLst>
                  <a:ext uri="{0D108BD9-81ED-4DB2-BD59-A6C34878D82A}">
                    <a16:rowId xmlns:a16="http://schemas.microsoft.com/office/drawing/2014/main" val="3944753637"/>
                  </a:ext>
                </a:extLst>
              </a:tr>
              <a:tr h="859296">
                <a:tc>
                  <a:txBody>
                    <a:bodyPr/>
                    <a:lstStyle/>
                    <a:p>
                      <a:r>
                        <a:rPr lang="en-US" sz="1200" dirty="0">
                          <a:hlinkClick r:id="rId5"/>
                        </a:rPr>
                        <a:t>Info Change</a:t>
                      </a:r>
                      <a:endParaRPr lang="en-US" sz="1200" dirty="0"/>
                    </a:p>
                  </a:txBody>
                  <a:tcPr/>
                </a:tc>
                <a:tc>
                  <a:txBody>
                    <a:bodyPr/>
                    <a:lstStyle/>
                    <a:p>
                      <a:r>
                        <a:rPr lang="en-US" sz="1050" dirty="0"/>
                        <a:t>Responder – Self – Pending status</a:t>
                      </a:r>
                    </a:p>
                    <a:p>
                      <a:r>
                        <a:rPr lang="en-US" sz="1050" dirty="0"/>
                        <a:t>Processor – Blank</a:t>
                      </a:r>
                    </a:p>
                    <a:p>
                      <a:r>
                        <a:rPr lang="en-US" sz="1050" dirty="0"/>
                        <a:t>Internal Status – Waiting on Responder</a:t>
                      </a:r>
                    </a:p>
                  </a:txBody>
                  <a:tcPr/>
                </a:tc>
                <a:tc>
                  <a:txBody>
                    <a:bodyPr/>
                    <a:lstStyle/>
                    <a:p>
                      <a:r>
                        <a:rPr lang="en-US" sz="1050" dirty="0"/>
                        <a:t>Client needs to change banking info – in 5 business days the request will be completed. </a:t>
                      </a:r>
                    </a:p>
                    <a:p>
                      <a:pPr lvl="0">
                        <a:buNone/>
                      </a:pPr>
                      <a:r>
                        <a:rPr lang="en-US" sz="1050" dirty="0"/>
                        <a:t>Indicate in notes that "client was authenticated via MFA"</a:t>
                      </a:r>
                    </a:p>
                  </a:txBody>
                  <a:tcPr/>
                </a:tc>
                <a:extLst>
                  <a:ext uri="{0D108BD9-81ED-4DB2-BD59-A6C34878D82A}">
                    <a16:rowId xmlns:a16="http://schemas.microsoft.com/office/drawing/2014/main" val="1474712743"/>
                  </a:ext>
                </a:extLst>
              </a:tr>
              <a:tr h="902260">
                <a:tc>
                  <a:txBody>
                    <a:bodyPr/>
                    <a:lstStyle/>
                    <a:p>
                      <a:r>
                        <a:rPr lang="en-US" sz="1200" dirty="0">
                          <a:hlinkClick r:id="rId6"/>
                        </a:rPr>
                        <a:t>Refund/ Withdrawal</a:t>
                      </a:r>
                      <a:endParaRPr lang="en-US" sz="1200" dirty="0"/>
                    </a:p>
                  </a:txBody>
                  <a:tcPr/>
                </a:tc>
                <a:tc>
                  <a:txBody>
                    <a:bodyPr/>
                    <a:lstStyle/>
                    <a:p>
                      <a:r>
                        <a:rPr lang="en-US" sz="1050" dirty="0"/>
                        <a:t>Responder – Self</a:t>
                      </a:r>
                    </a:p>
                    <a:p>
                      <a:r>
                        <a:rPr lang="en-US" sz="1050" dirty="0"/>
                        <a:t>Processor – Blank</a:t>
                      </a:r>
                    </a:p>
                    <a:p>
                      <a:r>
                        <a:rPr lang="en-US" sz="1050" dirty="0"/>
                        <a:t>Internal Status – depends on what kind of withdrawal</a:t>
                      </a:r>
                    </a:p>
                  </a:txBody>
                  <a:tcPr/>
                </a:tc>
                <a:tc>
                  <a:txBody>
                    <a:bodyPr/>
                    <a:lstStyle/>
                    <a:p>
                      <a:r>
                        <a:rPr lang="en-US" sz="1050" dirty="0"/>
                        <a:t>1.</a:t>
                      </a:r>
                      <a:r>
                        <a:rPr lang="en-US" sz="1050" b="1" dirty="0"/>
                        <a:t> Withdraw definition </a:t>
                      </a:r>
                      <a:r>
                        <a:rPr lang="en-US" sz="1050" dirty="0"/>
                        <a:t>- Client needs to do a withdrawal funds from GH account to personal checking, note request of amount needed to be withdrawn.</a:t>
                      </a:r>
                    </a:p>
                    <a:p>
                      <a:r>
                        <a:rPr lang="en-US" sz="1050" dirty="0"/>
                        <a:t>2. </a:t>
                      </a:r>
                      <a:r>
                        <a:rPr lang="en-US" sz="1050" b="1" dirty="0"/>
                        <a:t>Refund definition</a:t>
                      </a:r>
                      <a:r>
                        <a:rPr lang="en-US" sz="1050" dirty="0"/>
                        <a:t>-COA needs to do a refund fees collected back to GH account, note request of the amount needs to be refunded </a:t>
                      </a:r>
                    </a:p>
                  </a:txBody>
                  <a:tcPr/>
                </a:tc>
                <a:extLst>
                  <a:ext uri="{0D108BD9-81ED-4DB2-BD59-A6C34878D82A}">
                    <a16:rowId xmlns:a16="http://schemas.microsoft.com/office/drawing/2014/main" val="3530337694"/>
                  </a:ext>
                </a:extLst>
              </a:tr>
              <a:tr h="988191">
                <a:tc>
                  <a:txBody>
                    <a:bodyPr/>
                    <a:lstStyle/>
                    <a:p>
                      <a:r>
                        <a:rPr lang="en-US" sz="1200" dirty="0">
                          <a:hlinkClick r:id="rId7"/>
                        </a:rPr>
                        <a:t>Global Validation</a:t>
                      </a:r>
                      <a:endParaRPr lang="en-US" sz="1200" dirty="0"/>
                    </a:p>
                  </a:txBody>
                  <a:tcPr/>
                </a:tc>
                <a:tc>
                  <a:txBody>
                    <a:bodyPr/>
                    <a:lstStyle/>
                    <a:p>
                      <a:r>
                        <a:rPr lang="en-US" sz="1050" dirty="0"/>
                        <a:t>Responder – Self – pending status</a:t>
                      </a:r>
                    </a:p>
                    <a:p>
                      <a:r>
                        <a:rPr lang="en-US" sz="1050" dirty="0"/>
                        <a:t>Processor – Blank</a:t>
                      </a:r>
                    </a:p>
                    <a:p>
                      <a:r>
                        <a:rPr lang="en-US" sz="1050" dirty="0"/>
                        <a:t>Internal Status – Waiting on Responder</a:t>
                      </a:r>
                      <a:endParaRPr lang="en-US" sz="1050" b="0" i="0" u="none" strike="noStrike" noProof="0" dirty="0">
                        <a:latin typeface="Calibri"/>
                      </a:endParaRPr>
                    </a:p>
                  </a:txBody>
                  <a:tcPr/>
                </a:tc>
                <a:tc>
                  <a:txBody>
                    <a:bodyPr/>
                    <a:lstStyle/>
                    <a:p>
                      <a:r>
                        <a:rPr lang="en-US" sz="1050" dirty="0"/>
                        <a:t>When we need to get a copy of a client's personal records (ID, Social Security, Utility Bill) for Global Holdings -request will be completed in 5 business days. </a:t>
                      </a:r>
                    </a:p>
                  </a:txBody>
                  <a:tcPr/>
                </a:tc>
                <a:extLst>
                  <a:ext uri="{0D108BD9-81ED-4DB2-BD59-A6C34878D82A}">
                    <a16:rowId xmlns:a16="http://schemas.microsoft.com/office/drawing/2014/main" val="2192529880"/>
                  </a:ext>
                </a:extLst>
              </a:tr>
              <a:tr h="988191">
                <a:tc>
                  <a:txBody>
                    <a:bodyPr/>
                    <a:lstStyle/>
                    <a:p>
                      <a:r>
                        <a:rPr lang="en-US" sz="1200" dirty="0">
                          <a:hlinkClick r:id="rId8"/>
                        </a:rPr>
                        <a:t>Adding a Co-Client</a:t>
                      </a:r>
                      <a:endParaRPr lang="en-US" sz="1200" dirty="0"/>
                    </a:p>
                  </a:txBody>
                  <a:tcPr/>
                </a:tc>
                <a:tc>
                  <a:txBody>
                    <a:bodyPr/>
                    <a:lstStyle/>
                    <a:p>
                      <a:r>
                        <a:rPr lang="en-US" sz="1050" dirty="0"/>
                        <a:t>Responder – Self – pending status</a:t>
                      </a:r>
                    </a:p>
                    <a:p>
                      <a:r>
                        <a:rPr lang="en-US" sz="1050" dirty="0"/>
                        <a:t>Processor – Blank</a:t>
                      </a:r>
                    </a:p>
                    <a:p>
                      <a:r>
                        <a:rPr lang="en-US" sz="1050" dirty="0"/>
                        <a:t>Internal Status – Waiting responder </a:t>
                      </a:r>
                      <a:r>
                        <a:rPr lang="en-US" sz="1050" b="0" i="0" u="none" strike="noStrike" noProof="0" dirty="0">
                          <a:latin typeface="Calibri"/>
                        </a:rPr>
                        <a:t>(Verify in Global for completion of updated info, then  change status to complete)</a:t>
                      </a:r>
                    </a:p>
                  </a:txBody>
                  <a:tcPr/>
                </a:tc>
                <a:tc>
                  <a:txBody>
                    <a:bodyPr/>
                    <a:lstStyle/>
                    <a:p>
                      <a:r>
                        <a:rPr lang="en-US" sz="1050" dirty="0"/>
                        <a:t>Used to add or remove co-clients. </a:t>
                      </a:r>
                      <a:endParaRPr lang="en-US" sz="1050" b="1" dirty="0"/>
                    </a:p>
                    <a:p>
                      <a:r>
                        <a:rPr lang="en-US" sz="1050" b="1" dirty="0"/>
                        <a:t>Include in notes – first and last name, and DOB</a:t>
                      </a:r>
                      <a:br>
                        <a:rPr lang="en-US" sz="1050" b="1" dirty="0"/>
                      </a:br>
                      <a:r>
                        <a:rPr lang="en-US" sz="1050" dirty="0"/>
                        <a:t>- in 2 business days follow up in Global to confirm uploaded documents has processed. </a:t>
                      </a:r>
                      <a:endParaRPr lang="en-US" sz="1050" b="1" dirty="0"/>
                    </a:p>
                  </a:txBody>
                  <a:tcPr/>
                </a:tc>
                <a:extLst>
                  <a:ext uri="{0D108BD9-81ED-4DB2-BD59-A6C34878D82A}">
                    <a16:rowId xmlns:a16="http://schemas.microsoft.com/office/drawing/2014/main" val="2753512672"/>
                  </a:ext>
                </a:extLst>
              </a:tr>
              <a:tr h="633730">
                <a:tc>
                  <a:txBody>
                    <a:bodyPr/>
                    <a:lstStyle/>
                    <a:p>
                      <a:r>
                        <a:rPr lang="en-US" sz="1200" dirty="0">
                          <a:hlinkClick r:id="rId9"/>
                        </a:rPr>
                        <a:t>Others</a:t>
                      </a:r>
                      <a:endParaRPr lang="en-US" sz="1200" dirty="0"/>
                    </a:p>
                  </a:txBody>
                  <a:tcPr/>
                </a:tc>
                <a:tc>
                  <a:txBody>
                    <a:bodyPr/>
                    <a:lstStyle/>
                    <a:p>
                      <a:r>
                        <a:rPr lang="en-US" sz="1050" dirty="0"/>
                        <a:t>Responder – Self</a:t>
                      </a:r>
                    </a:p>
                    <a:p>
                      <a:r>
                        <a:rPr lang="en-US" sz="1050" dirty="0"/>
                        <a:t>Processor – Blank</a:t>
                      </a:r>
                    </a:p>
                    <a:p>
                      <a:r>
                        <a:rPr lang="en-US" sz="1050" dirty="0"/>
                        <a:t>Internal Status – Waiting on Accounting</a:t>
                      </a:r>
                    </a:p>
                  </a:txBody>
                  <a:tcPr/>
                </a:tc>
                <a:tc>
                  <a:txBody>
                    <a:bodyPr/>
                    <a:lstStyle/>
                    <a:p>
                      <a:r>
                        <a:rPr lang="en-US" sz="1050" b="0" dirty="0"/>
                        <a:t>Request to accounting to restructure or reverse fees, collect remaining fee due to that fee already been collected, or </a:t>
                      </a:r>
                    </a:p>
                    <a:p>
                      <a:r>
                        <a:rPr lang="en-US" sz="1050" b="1" dirty="0">
                          <a:solidFill>
                            <a:srgbClr val="C00000"/>
                          </a:solidFill>
                        </a:rPr>
                        <a:t>Requires UMA approval to be uploaded in Request Files</a:t>
                      </a:r>
                    </a:p>
                  </a:txBody>
                  <a:tcPr/>
                </a:tc>
                <a:extLst>
                  <a:ext uri="{0D108BD9-81ED-4DB2-BD59-A6C34878D82A}">
                    <a16:rowId xmlns:a16="http://schemas.microsoft.com/office/drawing/2014/main" val="3510167808"/>
                  </a:ext>
                </a:extLst>
              </a:tr>
              <a:tr h="816331">
                <a:tc>
                  <a:txBody>
                    <a:bodyPr/>
                    <a:lstStyle/>
                    <a:p>
                      <a:r>
                        <a:rPr lang="en-US" sz="1200" dirty="0">
                          <a:hlinkClick r:id="rId10"/>
                        </a:rPr>
                        <a:t>Client Referral</a:t>
                      </a:r>
                      <a:endParaRPr lang="en-US" sz="1200" dirty="0"/>
                    </a:p>
                  </a:txBody>
                  <a:tcPr/>
                </a:tc>
                <a:tc>
                  <a:txBody>
                    <a:bodyPr/>
                    <a:lstStyle/>
                    <a:p>
                      <a:r>
                        <a:rPr lang="en-US" sz="1050" dirty="0"/>
                        <a:t>Responder – Self</a:t>
                      </a:r>
                    </a:p>
                    <a:p>
                      <a:r>
                        <a:rPr lang="en-US" sz="1050" dirty="0"/>
                        <a:t>Processor – Blank</a:t>
                      </a:r>
                    </a:p>
                    <a:p>
                      <a:r>
                        <a:rPr lang="en-US" sz="1050" dirty="0"/>
                        <a:t>Internal Status – Waiting on Accounting</a:t>
                      </a:r>
                    </a:p>
                  </a:txBody>
                  <a:tcPr/>
                </a:tc>
                <a:tc>
                  <a:txBody>
                    <a:bodyPr/>
                    <a:lstStyle/>
                    <a:p>
                      <a:r>
                        <a:rPr lang="en-US" sz="1050" b="0" dirty="0"/>
                        <a:t>Client calls in stating that they referred someone and hasn’t received a referral credit</a:t>
                      </a:r>
                    </a:p>
                    <a:p>
                      <a:r>
                        <a:rPr lang="en-US" sz="1050" b="0" dirty="0"/>
                        <a:t>Confirm referred client has cleared a draft and put that in the notes for the request</a:t>
                      </a:r>
                    </a:p>
                  </a:txBody>
                  <a:tcPr/>
                </a:tc>
                <a:extLst>
                  <a:ext uri="{0D108BD9-81ED-4DB2-BD59-A6C34878D82A}">
                    <a16:rowId xmlns:a16="http://schemas.microsoft.com/office/drawing/2014/main" val="27245302"/>
                  </a:ext>
                </a:extLst>
              </a:tr>
            </a:tbl>
          </a:graphicData>
        </a:graphic>
      </p:graphicFrame>
    </p:spTree>
    <p:extLst>
      <p:ext uri="{BB962C8B-B14F-4D97-AF65-F5344CB8AC3E}">
        <p14:creationId xmlns:p14="http://schemas.microsoft.com/office/powerpoint/2010/main" val="161499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a:latin typeface="Arial"/>
                <a:cs typeface="Arial"/>
              </a:rPr>
              <a:t>EMT Request Type</a:t>
            </a:r>
            <a:endParaRPr lang="en-US" sz="2000">
              <a:solidFill>
                <a:srgbClr val="FF0000"/>
              </a:solidFill>
              <a:highlight>
                <a:srgbClr val="FFFF00"/>
              </a:highlight>
              <a:latin typeface="Arial"/>
              <a:cs typeface="Arial"/>
            </a:endParaRP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4</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8485" y="28450"/>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46245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BAECCAC7-CBF9-4631-80CE-E0F7204FDE26}"/>
              </a:ext>
            </a:extLst>
          </p:cNvPr>
          <p:cNvGraphicFramePr>
            <a:graphicFrameLocks noGrp="1"/>
          </p:cNvGraphicFramePr>
          <p:nvPr>
            <p:extLst>
              <p:ext uri="{D42A27DB-BD31-4B8C-83A1-F6EECF244321}">
                <p14:modId xmlns:p14="http://schemas.microsoft.com/office/powerpoint/2010/main" val="821248563"/>
              </p:ext>
            </p:extLst>
          </p:nvPr>
        </p:nvGraphicFramePr>
        <p:xfrm>
          <a:off x="209005" y="979714"/>
          <a:ext cx="8752301" cy="5217735"/>
        </p:xfrm>
        <a:graphic>
          <a:graphicData uri="http://schemas.openxmlformats.org/drawingml/2006/table">
            <a:tbl>
              <a:tblPr firstRow="1" bandRow="1">
                <a:tableStyleId>{5C22544A-7EE6-4342-B048-85BDC9FD1C3A}</a:tableStyleId>
              </a:tblPr>
              <a:tblGrid>
                <a:gridCol w="708318">
                  <a:extLst>
                    <a:ext uri="{9D8B030D-6E8A-4147-A177-3AD203B41FA5}">
                      <a16:colId xmlns:a16="http://schemas.microsoft.com/office/drawing/2014/main" val="933218189"/>
                    </a:ext>
                  </a:extLst>
                </a:gridCol>
                <a:gridCol w="2602877">
                  <a:extLst>
                    <a:ext uri="{9D8B030D-6E8A-4147-A177-3AD203B41FA5}">
                      <a16:colId xmlns:a16="http://schemas.microsoft.com/office/drawing/2014/main" val="4060800921"/>
                    </a:ext>
                  </a:extLst>
                </a:gridCol>
                <a:gridCol w="5441106">
                  <a:extLst>
                    <a:ext uri="{9D8B030D-6E8A-4147-A177-3AD203B41FA5}">
                      <a16:colId xmlns:a16="http://schemas.microsoft.com/office/drawing/2014/main" val="444313664"/>
                    </a:ext>
                  </a:extLst>
                </a:gridCol>
              </a:tblGrid>
              <a:tr h="619053">
                <a:tc>
                  <a:txBody>
                    <a:bodyPr/>
                    <a:lstStyle/>
                    <a:p>
                      <a:r>
                        <a:rPr lang="en-US" sz="1200"/>
                        <a:t>Request Type</a:t>
                      </a:r>
                    </a:p>
                  </a:txBody>
                  <a:tcPr/>
                </a:tc>
                <a:tc>
                  <a:txBody>
                    <a:bodyPr/>
                    <a:lstStyle/>
                    <a:p>
                      <a:r>
                        <a:rPr lang="en-US" sz="1200"/>
                        <a:t>Responder/Processor/ Internal Status</a:t>
                      </a:r>
                    </a:p>
                  </a:txBody>
                  <a:tcPr/>
                </a:tc>
                <a:tc>
                  <a:txBody>
                    <a:bodyPr/>
                    <a:lstStyle/>
                    <a:p>
                      <a:r>
                        <a:rPr lang="en-US" sz="1200"/>
                        <a:t>When to use</a:t>
                      </a:r>
                    </a:p>
                  </a:txBody>
                  <a:tcPr/>
                </a:tc>
                <a:extLst>
                  <a:ext uri="{0D108BD9-81ED-4DB2-BD59-A6C34878D82A}">
                    <a16:rowId xmlns:a16="http://schemas.microsoft.com/office/drawing/2014/main" val="1439320859"/>
                  </a:ext>
                </a:extLst>
              </a:tr>
              <a:tr h="1692918">
                <a:tc>
                  <a:txBody>
                    <a:bodyPr/>
                    <a:lstStyle/>
                    <a:p>
                      <a:r>
                        <a:rPr lang="en-US" sz="1100">
                          <a:hlinkClick r:id="rId4"/>
                        </a:rPr>
                        <a:t>EMT – SOS</a:t>
                      </a:r>
                      <a:endParaRPr lang="en-US" sz="1100"/>
                    </a:p>
                  </a:txBody>
                  <a:tcPr/>
                </a:tc>
                <a:tc>
                  <a:txBody>
                    <a:bodyPr/>
                    <a:lstStyle/>
                    <a:p>
                      <a:r>
                        <a:rPr lang="en-US" sz="1100"/>
                        <a:t>Responder – EMT</a:t>
                      </a:r>
                    </a:p>
                    <a:p>
                      <a:r>
                        <a:rPr lang="en-US" sz="1100"/>
                        <a:t>Processor – Self</a:t>
                      </a:r>
                    </a:p>
                    <a:p>
                      <a:r>
                        <a:rPr lang="en-US" sz="1100"/>
                        <a:t>Interna Status – Waiting on Responder</a:t>
                      </a:r>
                    </a:p>
                  </a:txBody>
                  <a:tcPr/>
                </a:tc>
                <a:tc>
                  <a:txBody>
                    <a:bodyPr/>
                    <a:lstStyle/>
                    <a:p>
                      <a:pPr lvl="0">
                        <a:buNone/>
                      </a:pPr>
                      <a:r>
                        <a:rPr lang="en-US" sz="1100" b="0"/>
                        <a:t>Client receives information that a settled account was sold/transferred to a new creditor or recalled by original creditor.</a:t>
                      </a:r>
                    </a:p>
                    <a:p>
                      <a:pPr lvl="0">
                        <a:buNone/>
                      </a:pPr>
                      <a:endParaRPr lang="en-US" sz="1100" b="0"/>
                    </a:p>
                    <a:p>
                      <a:pPr lvl="0">
                        <a:buNone/>
                      </a:pPr>
                      <a:r>
                        <a:rPr lang="en-US" sz="1100" b="0"/>
                        <a:t>Upload any documentation or call recording and note specific Current Creditor &amp; Original/Previous Creditor and account number/reference numbers, contact information.</a:t>
                      </a:r>
                    </a:p>
                  </a:txBody>
                  <a:tcPr/>
                </a:tc>
                <a:extLst>
                  <a:ext uri="{0D108BD9-81ED-4DB2-BD59-A6C34878D82A}">
                    <a16:rowId xmlns:a16="http://schemas.microsoft.com/office/drawing/2014/main" val="2345277854"/>
                  </a:ext>
                </a:extLst>
              </a:tr>
              <a:tr h="2905764">
                <a:tc>
                  <a:txBody>
                    <a:bodyPr/>
                    <a:lstStyle/>
                    <a:p>
                      <a:r>
                        <a:rPr lang="en-US" sz="1100"/>
                        <a:t>EMT - Expedite</a:t>
                      </a:r>
                    </a:p>
                  </a:txBody>
                  <a:tcPr/>
                </a:tc>
                <a:tc>
                  <a:txBody>
                    <a:bodyPr/>
                    <a:lstStyle/>
                    <a:p>
                      <a:r>
                        <a:rPr lang="en-US" sz="1100" b="1">
                          <a:solidFill>
                            <a:srgbClr val="C00000"/>
                          </a:solidFill>
                        </a:rPr>
                        <a:t>Used by exception only</a:t>
                      </a:r>
                    </a:p>
                  </a:txBody>
                  <a:tcPr/>
                </a:tc>
                <a:tc>
                  <a:txBody>
                    <a:bodyPr/>
                    <a:lstStyle/>
                    <a:p>
                      <a:r>
                        <a:rPr lang="en-US" sz="1100" b="0"/>
                        <a:t>We can no longer expedite settlements for clients who have unsettled debt as it will impact the timing of their program. Funds should be used to obtain additional settlements.</a:t>
                      </a:r>
                      <a:endParaRPr lang="en-US" sz="1100" b="1"/>
                    </a:p>
                    <a:p>
                      <a:pPr marL="0" marR="0" lvl="0" indent="0" algn="l" rtl="0" eaLnBrk="1" fontAlgn="auto" latinLnBrk="0" hangingPunct="1">
                        <a:lnSpc>
                          <a:spcPct val="100000"/>
                        </a:lnSpc>
                        <a:spcBef>
                          <a:spcPts val="0"/>
                        </a:spcBef>
                        <a:spcAft>
                          <a:spcPts val="0"/>
                        </a:spcAft>
                        <a:buClrTx/>
                        <a:buSzTx/>
                        <a:buFontTx/>
                        <a:buNone/>
                      </a:pPr>
                      <a:r>
                        <a:rPr lang="en-US" sz="1100" b="1"/>
                        <a:t>Encourage client to add the additional funds they have to expedite settlements for their unsettled accounts. </a:t>
                      </a:r>
                    </a:p>
                    <a:p>
                      <a:pPr marL="0" marR="0" lvl="0" indent="0" algn="l">
                        <a:lnSpc>
                          <a:spcPct val="100000"/>
                        </a:lnSpc>
                        <a:spcBef>
                          <a:spcPts val="0"/>
                        </a:spcBef>
                        <a:spcAft>
                          <a:spcPts val="0"/>
                        </a:spcAft>
                        <a:buClrTx/>
                        <a:buSzTx/>
                        <a:buFontTx/>
                        <a:buNone/>
                      </a:pPr>
                      <a:endParaRPr lang="en-US" sz="1100" b="1"/>
                    </a:p>
                    <a:p>
                      <a:pPr lvl="0">
                        <a:buNone/>
                      </a:pPr>
                      <a:r>
                        <a:rPr lang="en-US" sz="1100" b="1"/>
                        <a:t>Talking points on why this is not a benefit to client – trust in process and program</a:t>
                      </a:r>
                    </a:p>
                    <a:p>
                      <a:pPr lvl="0">
                        <a:buNone/>
                      </a:pPr>
                      <a:r>
                        <a:rPr lang="en-US" sz="1100" b="1"/>
                        <a:t>-    </a:t>
                      </a:r>
                      <a:r>
                        <a:rPr lang="en-US" sz="1100" b="0"/>
                        <a:t>“Our Program is designed to get you out debt as soon as possible for you to reach the goal of being debt free.”</a:t>
                      </a:r>
                    </a:p>
                    <a:p>
                      <a:pPr marL="171450" lvl="0" indent="-171450">
                        <a:buFontTx/>
                        <a:buChar char="-"/>
                      </a:pPr>
                      <a:r>
                        <a:rPr lang="en-US" sz="1100" b="0"/>
                        <a:t>“Adding additional funds will allow our negotiations department to reach settlements for your unsettled accounts sooner as well as lessen the length of your program”.</a:t>
                      </a:r>
                    </a:p>
                    <a:p>
                      <a:pPr marL="171450" lvl="0" indent="-171450">
                        <a:buFontTx/>
                        <a:buChar char="-"/>
                      </a:pPr>
                      <a:r>
                        <a:rPr lang="en-US" sz="1100" b="0"/>
                        <a:t>Refocus the client on obtaining additional settlements – “We have settled x out of x accounts so far. We can continue to reach more settlements if you add additional funds. Let's review your account to see what is needed.”</a:t>
                      </a:r>
                    </a:p>
                    <a:p>
                      <a:pPr marL="171450" lvl="0" indent="-171450">
                        <a:buFontTx/>
                        <a:buChar char="-"/>
                      </a:pPr>
                      <a:endParaRPr lang="en-US" sz="1100" b="1"/>
                    </a:p>
                    <a:p>
                      <a:pPr marL="171450" lvl="0" indent="-171450">
                        <a:buFont typeface="Arial"/>
                        <a:buChar char="•"/>
                      </a:pPr>
                      <a:r>
                        <a:rPr lang="en-US" sz="1100" b="1"/>
                        <a:t>Exception If all accounts are settled, we may expedite specific accounts as long as the entire fee is collected, and no other settlements are affected by this request. </a:t>
                      </a:r>
                    </a:p>
                  </a:txBody>
                  <a:tcPr/>
                </a:tc>
                <a:extLst>
                  <a:ext uri="{0D108BD9-81ED-4DB2-BD59-A6C34878D82A}">
                    <a16:rowId xmlns:a16="http://schemas.microsoft.com/office/drawing/2014/main" val="1400391657"/>
                  </a:ext>
                </a:extLst>
              </a:tr>
            </a:tbl>
          </a:graphicData>
        </a:graphic>
      </p:graphicFrame>
      <p:sp>
        <p:nvSpPr>
          <p:cNvPr id="8" name="Rectangle 7">
            <a:extLst>
              <a:ext uri="{FF2B5EF4-FFF2-40B4-BE49-F238E27FC236}">
                <a16:creationId xmlns:a16="http://schemas.microsoft.com/office/drawing/2014/main" id="{BC04585A-E60D-44E5-BB58-6BAE4BA918B3}"/>
              </a:ext>
            </a:extLst>
          </p:cNvPr>
          <p:cNvSpPr/>
          <p:nvPr/>
        </p:nvSpPr>
        <p:spPr>
          <a:xfrm>
            <a:off x="226614" y="552303"/>
            <a:ext cx="8692854" cy="4115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t>Creditor accounts must be in an active settlement for PRT (EMT) to see the untouched request. If creditor is not selected or not “settled”, they will NEVER see it. </a:t>
            </a:r>
          </a:p>
        </p:txBody>
      </p:sp>
    </p:spTree>
    <p:extLst>
      <p:ext uri="{BB962C8B-B14F-4D97-AF65-F5344CB8AC3E}">
        <p14:creationId xmlns:p14="http://schemas.microsoft.com/office/powerpoint/2010/main" val="2861680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a:latin typeface="Arial" panose="020B0604020202020204" pitchFamily="34" charset="0"/>
                <a:cs typeface="Arial" panose="020B0604020202020204" pitchFamily="34" charset="0"/>
              </a:rPr>
              <a:t>Request Types</a:t>
            </a:r>
          </a:p>
        </p:txBody>
      </p:sp>
      <p:sp>
        <p:nvSpPr>
          <p:cNvPr id="3" name="Footer Placeholder 2"/>
          <p:cNvSpPr>
            <a:spLocks noGrp="1"/>
          </p:cNvSpPr>
          <p:nvPr>
            <p:ph type="ftr" sz="quarter" idx="11"/>
          </p:nvPr>
        </p:nvSpPr>
        <p:spPr/>
        <p:txBody>
          <a:bodyPr/>
          <a:lstStyle/>
          <a:p>
            <a:r>
              <a:rPr lang="en-US"/>
              <a:t>Confidential</a:t>
            </a:r>
          </a:p>
        </p:txBody>
      </p:sp>
      <p:sp>
        <p:nvSpPr>
          <p:cNvPr id="5" name="Slide Number Placeholder 4"/>
          <p:cNvSpPr>
            <a:spLocks noGrp="1"/>
          </p:cNvSpPr>
          <p:nvPr>
            <p:ph type="sldNum" sz="quarter" idx="12"/>
          </p:nvPr>
        </p:nvSpPr>
        <p:spPr/>
        <p:txBody>
          <a:bodyPr/>
          <a:lstStyle/>
          <a:p>
            <a:fld id="{AAB8DC1C-CF51-4F7D-8E83-F954D2933D5A}" type="slidenum">
              <a:rPr lang="en-US" smtClean="0"/>
              <a:t>5</a:t>
            </a:fld>
            <a:endParaRPr lang="en-US"/>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5192" y="59346"/>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7">
            <a:extLst>
              <a:ext uri="{FF2B5EF4-FFF2-40B4-BE49-F238E27FC236}">
                <a16:creationId xmlns:a16="http://schemas.microsoft.com/office/drawing/2014/main" id="{C18C867B-094C-45F7-90FE-F60080955FFC}"/>
              </a:ext>
            </a:extLst>
          </p:cNvPr>
          <p:cNvGraphicFramePr>
            <a:graphicFrameLocks noGrp="1"/>
          </p:cNvGraphicFramePr>
          <p:nvPr>
            <p:extLst>
              <p:ext uri="{D42A27DB-BD31-4B8C-83A1-F6EECF244321}">
                <p14:modId xmlns:p14="http://schemas.microsoft.com/office/powerpoint/2010/main" val="2418387471"/>
              </p:ext>
            </p:extLst>
          </p:nvPr>
        </p:nvGraphicFramePr>
        <p:xfrm>
          <a:off x="225574" y="664561"/>
          <a:ext cx="8692852" cy="5775901"/>
        </p:xfrm>
        <a:graphic>
          <a:graphicData uri="http://schemas.openxmlformats.org/drawingml/2006/table">
            <a:tbl>
              <a:tblPr firstRow="1" bandRow="1">
                <a:tableStyleId>{5C22544A-7EE6-4342-B048-85BDC9FD1C3A}</a:tableStyleId>
              </a:tblPr>
              <a:tblGrid>
                <a:gridCol w="1494000">
                  <a:extLst>
                    <a:ext uri="{9D8B030D-6E8A-4147-A177-3AD203B41FA5}">
                      <a16:colId xmlns:a16="http://schemas.microsoft.com/office/drawing/2014/main" val="3996008774"/>
                    </a:ext>
                  </a:extLst>
                </a:gridCol>
                <a:gridCol w="3276333">
                  <a:extLst>
                    <a:ext uri="{9D8B030D-6E8A-4147-A177-3AD203B41FA5}">
                      <a16:colId xmlns:a16="http://schemas.microsoft.com/office/drawing/2014/main" val="1525797325"/>
                    </a:ext>
                  </a:extLst>
                </a:gridCol>
                <a:gridCol w="3922519">
                  <a:extLst>
                    <a:ext uri="{9D8B030D-6E8A-4147-A177-3AD203B41FA5}">
                      <a16:colId xmlns:a16="http://schemas.microsoft.com/office/drawing/2014/main" val="2446458052"/>
                    </a:ext>
                  </a:extLst>
                </a:gridCol>
              </a:tblGrid>
              <a:tr h="1203623">
                <a:tc>
                  <a:txBody>
                    <a:bodyPr/>
                    <a:lstStyle/>
                    <a:p>
                      <a:r>
                        <a:rPr lang="en-US" dirty="0"/>
                        <a:t>Request Type</a:t>
                      </a:r>
                    </a:p>
                  </a:txBody>
                  <a:tcPr/>
                </a:tc>
                <a:tc>
                  <a:txBody>
                    <a:bodyPr/>
                    <a:lstStyle/>
                    <a:p>
                      <a:r>
                        <a:rPr lang="en-US" dirty="0"/>
                        <a:t>Responder/Processor/ Internal Status</a:t>
                      </a:r>
                    </a:p>
                  </a:txBody>
                  <a:tcPr/>
                </a:tc>
                <a:tc>
                  <a:txBody>
                    <a:bodyPr/>
                    <a:lstStyle/>
                    <a:p>
                      <a:r>
                        <a:rPr lang="en-US" dirty="0"/>
                        <a:t>When to use</a:t>
                      </a:r>
                    </a:p>
                  </a:txBody>
                  <a:tcPr/>
                </a:tc>
                <a:extLst>
                  <a:ext uri="{0D108BD9-81ED-4DB2-BD59-A6C34878D82A}">
                    <a16:rowId xmlns:a16="http://schemas.microsoft.com/office/drawing/2014/main" val="2446323965"/>
                  </a:ext>
                </a:extLst>
              </a:tr>
              <a:tr h="1549245">
                <a:tc>
                  <a:txBody>
                    <a:bodyPr/>
                    <a:lstStyle/>
                    <a:p>
                      <a:pPr marL="0" marR="0">
                        <a:spcBef>
                          <a:spcPts val="0"/>
                        </a:spcBef>
                        <a:spcAft>
                          <a:spcPts val="0"/>
                        </a:spcAft>
                      </a:pPr>
                      <a:r>
                        <a:rPr lang="en-US" sz="1100" b="1" dirty="0">
                          <a:effectLst/>
                          <a:latin typeface="Calibri"/>
                          <a:ea typeface="Calibri"/>
                          <a:cs typeface="Times New Roman"/>
                        </a:rPr>
                        <a:t>EMT – PIF Letter Requested</a:t>
                      </a:r>
                    </a:p>
                    <a:p>
                      <a:pPr marL="0" marR="0">
                        <a:spcBef>
                          <a:spcPts val="0"/>
                        </a:spcBef>
                        <a:spcAft>
                          <a:spcPts val="0"/>
                        </a:spcAft>
                      </a:pPr>
                      <a:r>
                        <a:rPr lang="en-US" sz="1100" b="1" dirty="0">
                          <a:solidFill>
                            <a:srgbClr val="C00000"/>
                          </a:solidFill>
                          <a:effectLst/>
                          <a:latin typeface="Calibri"/>
                          <a:ea typeface="Calibri"/>
                          <a:cs typeface="Times New Roman"/>
                        </a:rPr>
                        <a:t>Do not use this request</a:t>
                      </a:r>
                      <a:endParaRPr lang="en-US" sz="1100" dirty="0">
                        <a:solidFill>
                          <a:srgbClr val="C00000"/>
                        </a:solidFill>
                        <a:effectLst/>
                        <a:latin typeface="Calibri"/>
                        <a:ea typeface="Calibri"/>
                        <a:cs typeface="Times New Roman"/>
                      </a:endParaRPr>
                    </a:p>
                  </a:txBody>
                  <a:tcPr/>
                </a:tc>
                <a:tc>
                  <a:txBody>
                    <a:bodyPr/>
                    <a:lstStyle/>
                    <a:p>
                      <a:pPr marL="0" marR="0" lvl="0">
                        <a:spcBef>
                          <a:spcPts val="0"/>
                        </a:spcBef>
                        <a:spcAft>
                          <a:spcPts val="0"/>
                        </a:spcAft>
                        <a:buNone/>
                      </a:pPr>
                      <a:r>
                        <a:rPr lang="en-US" sz="1100" b="1" dirty="0">
                          <a:solidFill>
                            <a:srgbClr val="C00000"/>
                          </a:solidFill>
                          <a:effectLst/>
                          <a:latin typeface="Calibri"/>
                          <a:ea typeface="Calibri"/>
                          <a:cs typeface="Times New Roman"/>
                        </a:rPr>
                        <a:t>This request is no longer used.</a:t>
                      </a:r>
                    </a:p>
                  </a:txBody>
                  <a:tcPr/>
                </a:tc>
                <a:tc>
                  <a:txBody>
                    <a:bodyPr/>
                    <a:lstStyle/>
                    <a:p>
                      <a:pPr marL="0" marR="0">
                        <a:spcBef>
                          <a:spcPts val="0"/>
                        </a:spcBef>
                        <a:spcAft>
                          <a:spcPts val="0"/>
                        </a:spcAft>
                      </a:pPr>
                      <a:r>
                        <a:rPr lang="en-US" sz="1100" dirty="0">
                          <a:solidFill>
                            <a:srgbClr val="000000"/>
                          </a:solidFill>
                          <a:effectLst/>
                          <a:latin typeface="Calibri"/>
                          <a:ea typeface="Calibri"/>
                          <a:cs typeface="Times New Roman"/>
                        </a:rPr>
                        <a:t>If a client requests PIF letter for documentation purposes, provide client with instructions on how to obtain the PIF Letter. Many creditors will not send COA PIF letters directly.</a:t>
                      </a:r>
                    </a:p>
                    <a:p>
                      <a:pPr marL="171450" marR="0" indent="-171450">
                        <a:spcBef>
                          <a:spcPts val="0"/>
                        </a:spcBef>
                        <a:spcAft>
                          <a:spcPts val="0"/>
                        </a:spcAft>
                        <a:buFontTx/>
                        <a:buChar char="-"/>
                      </a:pPr>
                      <a:r>
                        <a:rPr lang="en-US" sz="1100" b="1" dirty="0">
                          <a:solidFill>
                            <a:srgbClr val="000000"/>
                          </a:solidFill>
                          <a:effectLst/>
                          <a:latin typeface="Calibri"/>
                          <a:ea typeface="Calibri"/>
                          <a:cs typeface="Times New Roman"/>
                        </a:rPr>
                        <a:t>If client is requesting a PIF letter due to concerns that the account is not PIF/Collections Calls; the proper request should be submitted. </a:t>
                      </a:r>
                    </a:p>
                    <a:p>
                      <a:pPr marL="171450" marR="0" indent="-171450">
                        <a:spcBef>
                          <a:spcPts val="0"/>
                        </a:spcBef>
                        <a:spcAft>
                          <a:spcPts val="0"/>
                        </a:spcAft>
                        <a:buFontTx/>
                        <a:buChar char="-"/>
                      </a:pPr>
                      <a:r>
                        <a:rPr lang="en-US" sz="1100" b="1" dirty="0">
                          <a:solidFill>
                            <a:srgbClr val="000000"/>
                          </a:solidFill>
                          <a:effectLst/>
                          <a:latin typeface="Calibri"/>
                          <a:ea typeface="Calibri"/>
                          <a:cs typeface="Times New Roman"/>
                        </a:rPr>
                        <a:t>Creditors generally will only send Paid in Full letters to the clients directly. We have step-by-step instructions to provide to the client for them to obtain the letter.</a:t>
                      </a:r>
                      <a:endParaRPr lang="en-US" sz="1100" dirty="0">
                        <a:effectLst/>
                        <a:latin typeface="Calibri"/>
                        <a:ea typeface="Calibri"/>
                        <a:cs typeface="Times New Roman"/>
                      </a:endParaRPr>
                    </a:p>
                  </a:txBody>
                  <a:tcPr/>
                </a:tc>
                <a:extLst>
                  <a:ext uri="{0D108BD9-81ED-4DB2-BD59-A6C34878D82A}">
                    <a16:rowId xmlns:a16="http://schemas.microsoft.com/office/drawing/2014/main" val="3521256839"/>
                  </a:ext>
                </a:extLst>
              </a:tr>
              <a:tr h="737736">
                <a:tc>
                  <a:txBody>
                    <a:bodyPr/>
                    <a:lstStyle/>
                    <a:p>
                      <a:pPr marL="0" marR="0">
                        <a:spcBef>
                          <a:spcPts val="0"/>
                        </a:spcBef>
                        <a:spcAft>
                          <a:spcPts val="0"/>
                        </a:spcAft>
                      </a:pPr>
                      <a:r>
                        <a:rPr lang="en-US" sz="1100" b="1" dirty="0">
                          <a:effectLst/>
                          <a:latin typeface="Calibri"/>
                          <a:ea typeface="Calibri"/>
                          <a:cs typeface="Times New Roman"/>
                        </a:rPr>
                        <a:t>EMT – Legal Escalation</a:t>
                      </a:r>
                    </a:p>
                    <a:p>
                      <a:pPr marL="0" marR="0">
                        <a:spcBef>
                          <a:spcPts val="0"/>
                        </a:spcBef>
                        <a:spcAft>
                          <a:spcPts val="0"/>
                        </a:spcAft>
                      </a:pPr>
                      <a:r>
                        <a:rPr lang="en-US" sz="1100" b="1" dirty="0">
                          <a:solidFill>
                            <a:srgbClr val="C00000"/>
                          </a:solidFill>
                          <a:effectLst/>
                          <a:latin typeface="Calibri"/>
                          <a:ea typeface="Calibri"/>
                          <a:cs typeface="Times New Roman"/>
                        </a:rPr>
                        <a:t>Do not use this request</a:t>
                      </a:r>
                      <a:endParaRPr lang="en-US" sz="1100" dirty="0">
                        <a:solidFill>
                          <a:srgbClr val="C00000"/>
                        </a:solidFill>
                        <a:effectLst/>
                        <a:latin typeface="Calibri"/>
                        <a:ea typeface="Calibri"/>
                        <a:cs typeface="Times New Roman"/>
                      </a:endParaRPr>
                    </a:p>
                  </a:txBody>
                  <a:tcPr/>
                </a:tc>
                <a:tc>
                  <a:txBody>
                    <a:bodyPr/>
                    <a:lstStyle/>
                    <a:p>
                      <a:pPr marL="0" marR="0">
                        <a:spcBef>
                          <a:spcPts val="0"/>
                        </a:spcBef>
                        <a:spcAft>
                          <a:spcPts val="0"/>
                        </a:spcAft>
                      </a:pPr>
                      <a:r>
                        <a:rPr lang="en-US" sz="1100" b="1" dirty="0">
                          <a:solidFill>
                            <a:srgbClr val="C00000"/>
                          </a:solidFill>
                          <a:effectLst/>
                          <a:latin typeface="Calibri"/>
                          <a:ea typeface="Calibri"/>
                          <a:cs typeface="Times New Roman"/>
                        </a:rPr>
                        <a:t>This request is no longer used</a:t>
                      </a:r>
                      <a:endParaRPr lang="en-US" sz="1100" dirty="0">
                        <a:solidFill>
                          <a:srgbClr val="C00000"/>
                        </a:solidFill>
                        <a:effectLst/>
                        <a:latin typeface="Calibri"/>
                        <a:ea typeface="Calibri"/>
                        <a:cs typeface="Times New Roman"/>
                      </a:endParaRPr>
                    </a:p>
                  </a:txBody>
                  <a:tcPr/>
                </a:tc>
                <a:tc>
                  <a:txBody>
                    <a:bodyPr/>
                    <a:lstStyle/>
                    <a:p>
                      <a:pPr marL="0" marR="0">
                        <a:spcBef>
                          <a:spcPts val="0"/>
                        </a:spcBef>
                        <a:spcAft>
                          <a:spcPts val="0"/>
                        </a:spcAft>
                      </a:pPr>
                      <a:r>
                        <a:rPr lang="en-US" sz="1100" dirty="0">
                          <a:solidFill>
                            <a:srgbClr val="000000"/>
                          </a:solidFill>
                          <a:effectLst/>
                          <a:latin typeface="Calibri"/>
                          <a:ea typeface="Calibri"/>
                          <a:cs typeface="Times New Roman"/>
                        </a:rPr>
                        <a:t>Please follow </a:t>
                      </a:r>
                      <a:r>
                        <a:rPr lang="en-US" sz="1100" dirty="0">
                          <a:effectLst/>
                          <a:latin typeface="Calibri"/>
                          <a:ea typeface="Calibri"/>
                          <a:cs typeface="Times New Roman"/>
                          <a:hlinkClick r:id="rId4"/>
                        </a:rPr>
                        <a:t>Legal/Pre-Legal Process</a:t>
                      </a:r>
                      <a:endParaRPr lang="en-US" sz="1100" dirty="0">
                        <a:effectLst/>
                        <a:latin typeface="Calibri"/>
                        <a:ea typeface="Calibri"/>
                        <a:cs typeface="Times New Roman" panose="02020603050405020304" pitchFamily="18" charset="0"/>
                      </a:endParaRPr>
                    </a:p>
                  </a:txBody>
                  <a:tcPr/>
                </a:tc>
                <a:extLst>
                  <a:ext uri="{0D108BD9-81ED-4DB2-BD59-A6C34878D82A}">
                    <a16:rowId xmlns:a16="http://schemas.microsoft.com/office/drawing/2014/main" val="1536373462"/>
                  </a:ext>
                </a:extLst>
              </a:tr>
              <a:tr h="1386061">
                <a:tc>
                  <a:txBody>
                    <a:bodyPr/>
                    <a:lstStyle/>
                    <a:p>
                      <a:pPr lvl="0">
                        <a:buNone/>
                      </a:pPr>
                      <a:r>
                        <a:rPr lang="en-US" sz="1100" b="0" u="none" strike="noStrike" noProof="0" dirty="0"/>
                        <a:t>EMT – Payment Method / Address Change </a:t>
                      </a:r>
                      <a:endParaRPr lang="en-US" sz="1100" dirty="0"/>
                    </a:p>
                  </a:txBody>
                  <a:tcPr/>
                </a:tc>
                <a:tc>
                  <a:txBody>
                    <a:bodyPr/>
                    <a:lstStyle/>
                    <a:p>
                      <a:pPr lvl="0" algn="l">
                        <a:lnSpc>
                          <a:spcPct val="100000"/>
                        </a:lnSpc>
                        <a:spcBef>
                          <a:spcPts val="0"/>
                        </a:spcBef>
                        <a:spcAft>
                          <a:spcPts val="0"/>
                        </a:spcAft>
                        <a:buNone/>
                      </a:pPr>
                      <a:r>
                        <a:rPr lang="en-US" sz="1100" b="0" u="none" strike="noStrike" noProof="0" dirty="0"/>
                        <a:t>Responder – EMT  </a:t>
                      </a:r>
                      <a:endParaRPr lang="en-US" sz="1100" dirty="0"/>
                    </a:p>
                    <a:p>
                      <a:pPr lvl="0">
                        <a:buNone/>
                      </a:pPr>
                      <a:r>
                        <a:rPr lang="en-US" sz="1100" b="0" u="none" strike="noStrike" noProof="0" dirty="0"/>
                        <a:t>Processor – Self  Internal Status – Waiting on Responder </a:t>
                      </a:r>
                      <a:endParaRPr lang="en-US" sz="1100" dirty="0"/>
                    </a:p>
                  </a:txBody>
                  <a:tcPr/>
                </a:tc>
                <a:tc>
                  <a:txBody>
                    <a:bodyPr/>
                    <a:lstStyle/>
                    <a:p>
                      <a:pPr lvl="0">
                        <a:buNone/>
                      </a:pPr>
                      <a:r>
                        <a:rPr lang="en-US" sz="1100" b="1" u="none" strike="noStrike" noProof="0" dirty="0"/>
                        <a:t>Rare – </a:t>
                      </a:r>
                      <a:r>
                        <a:rPr lang="en-US" sz="1100" b="0" u="none" strike="noStrike" noProof="0" dirty="0"/>
                        <a:t>Used only if a settlement is finalized with incorrect payment method and the creditor will no longer accept the current payment method </a:t>
                      </a:r>
                      <a:endParaRPr lang="en-US" sz="1100" dirty="0"/>
                    </a:p>
                  </a:txBody>
                  <a:tcPr/>
                </a:tc>
                <a:extLst>
                  <a:ext uri="{0D108BD9-81ED-4DB2-BD59-A6C34878D82A}">
                    <a16:rowId xmlns:a16="http://schemas.microsoft.com/office/drawing/2014/main" val="3944753637"/>
                  </a:ext>
                </a:extLst>
              </a:tr>
              <a:tr h="824017">
                <a:tc>
                  <a:txBody>
                    <a:bodyPr/>
                    <a:lstStyle/>
                    <a:p>
                      <a:pPr lvl="0">
                        <a:buNone/>
                      </a:pPr>
                      <a:r>
                        <a:rPr lang="en-US" sz="1100" b="1" u="none" strike="noStrike" noProof="0" dirty="0">
                          <a:solidFill>
                            <a:srgbClr val="FF0000"/>
                          </a:solidFill>
                        </a:rPr>
                        <a:t>Important Exception:</a:t>
                      </a:r>
                    </a:p>
                  </a:txBody>
                  <a:tcPr/>
                </a:tc>
                <a:tc>
                  <a:txBody>
                    <a:bodyPr/>
                    <a:lstStyle/>
                    <a:p>
                      <a:pPr lvl="0" algn="l">
                        <a:lnSpc>
                          <a:spcPct val="100000"/>
                        </a:lnSpc>
                        <a:spcBef>
                          <a:spcPts val="0"/>
                        </a:spcBef>
                        <a:spcAft>
                          <a:spcPts val="0"/>
                        </a:spcAft>
                        <a:buNone/>
                      </a:pPr>
                      <a:r>
                        <a:rPr lang="en-US" sz="1100" b="0" u="none" strike="noStrike" noProof="0" dirty="0"/>
                        <a:t>Send an email to </a:t>
                      </a:r>
                      <a:r>
                        <a:rPr lang="en-US" sz="1100" b="0" i="0" u="sng" kern="1200" dirty="0">
                          <a:solidFill>
                            <a:schemeClr val="dk1"/>
                          </a:solidFill>
                          <a:effectLst/>
                          <a:latin typeface="+mn-lt"/>
                          <a:ea typeface="+mn-ea"/>
                          <a:cs typeface="+mn-cs"/>
                          <a:hlinkClick r:id="rId5"/>
                        </a:rPr>
                        <a:t>EMT@clearoneadvantage.com</a:t>
                      </a:r>
                      <a:r>
                        <a:rPr lang="en-US" sz="1100" b="0" i="0" u="sng" kern="1200" dirty="0">
                          <a:solidFill>
                            <a:schemeClr val="dk1"/>
                          </a:solidFill>
                          <a:effectLst/>
                          <a:latin typeface="+mn-lt"/>
                          <a:ea typeface="+mn-ea"/>
                          <a:cs typeface="+mn-cs"/>
                        </a:rPr>
                        <a:t> </a:t>
                      </a:r>
                      <a:r>
                        <a:rPr lang="en-US" sz="1100" b="0" i="0" u="none" kern="1200" dirty="0">
                          <a:solidFill>
                            <a:schemeClr val="dk1"/>
                          </a:solidFill>
                          <a:effectLst/>
                          <a:latin typeface="+mn-lt"/>
                          <a:ea typeface="+mn-ea"/>
                          <a:cs typeface="+mn-cs"/>
                        </a:rPr>
                        <a:t>for a request that needs to be marked as urgent. </a:t>
                      </a:r>
                      <a:endParaRPr lang="en-US" sz="1100" b="0" u="none" strike="noStrike" noProof="0" dirty="0"/>
                    </a:p>
                  </a:txBody>
                  <a:tcPr/>
                </a:tc>
                <a:tc>
                  <a:txBody>
                    <a:bodyPr/>
                    <a:lstStyle/>
                    <a:p>
                      <a:pPr lvl="0">
                        <a:buNone/>
                      </a:pPr>
                      <a:r>
                        <a:rPr lang="en-US" sz="1100" b="1" u="none" strike="noStrike" noProof="0" dirty="0">
                          <a:solidFill>
                            <a:srgbClr val="FF0000"/>
                          </a:solidFill>
                        </a:rPr>
                        <a:t>ONLY USE WHEN</a:t>
                      </a:r>
                      <a:r>
                        <a:rPr lang="en-US" sz="1100" b="1" u="none" strike="noStrike" noProof="0" dirty="0"/>
                        <a:t>: </a:t>
                      </a:r>
                      <a:r>
                        <a:rPr lang="en-US" sz="1100" b="0" u="none" strike="noStrike" noProof="0" dirty="0"/>
                        <a:t> the shortfall is within 30 days </a:t>
                      </a:r>
                      <a:r>
                        <a:rPr lang="en-US" sz="1100" b="1" u="none" strike="noStrike" noProof="0" dirty="0"/>
                        <a:t>OR </a:t>
                      </a:r>
                      <a:r>
                        <a:rPr lang="en-US" sz="1100" b="0" u="none" strike="noStrike" noProof="0" dirty="0"/>
                        <a:t>the client is escalated. </a:t>
                      </a:r>
                      <a:endParaRPr lang="en-US" sz="1100" b="1" u="none" strike="noStrike" noProof="0" dirty="0"/>
                    </a:p>
                  </a:txBody>
                  <a:tcPr/>
                </a:tc>
                <a:extLst>
                  <a:ext uri="{0D108BD9-81ED-4DB2-BD59-A6C34878D82A}">
                    <a16:rowId xmlns:a16="http://schemas.microsoft.com/office/drawing/2014/main" val="1474712743"/>
                  </a:ext>
                </a:extLst>
              </a:tr>
            </a:tbl>
          </a:graphicData>
        </a:graphic>
      </p:graphicFrame>
    </p:spTree>
    <p:extLst>
      <p:ext uri="{BB962C8B-B14F-4D97-AF65-F5344CB8AC3E}">
        <p14:creationId xmlns:p14="http://schemas.microsoft.com/office/powerpoint/2010/main" val="2607824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99DC55F4-8034-4279-A768-3BC59612D256}" vid="{D2D9A7DC-B5CD-4C3A-A780-7E5258CB9C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1e6db6382f9bf0a238767834c1ba2e8">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0d55a77fe706b52e8d7bff5f40b8e9f5"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fca21091-4343-4232-a795-e59481497cb5">
      <UserInfo>
        <DisplayName>Laura Moretz</DisplayName>
        <AccountId>150</AccountId>
        <AccountType/>
      </UserInfo>
      <UserInfo>
        <DisplayName>Katalina Sussman</DisplayName>
        <AccountId>151</AccountId>
        <AccountType/>
      </UserInfo>
      <UserInfo>
        <DisplayName>Christine Abaygar</DisplayName>
        <AccountId>822</AccountId>
        <AccountType/>
      </UserInfo>
    </SharedWithUsers>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Props1.xml><?xml version="1.0" encoding="utf-8"?>
<ds:datastoreItem xmlns:ds="http://schemas.openxmlformats.org/officeDocument/2006/customXml" ds:itemID="{B9EFC643-69C0-4548-9E9A-91A86F7D85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BA5092-7189-4DD9-B469-74F2EB4767BE}">
  <ds:schemaRefs>
    <ds:schemaRef ds:uri="http://schemas.microsoft.com/sharepoint/v3/contenttype/forms"/>
  </ds:schemaRefs>
</ds:datastoreItem>
</file>

<file path=customXml/itemProps3.xml><?xml version="1.0" encoding="utf-8"?>
<ds:datastoreItem xmlns:ds="http://schemas.openxmlformats.org/officeDocument/2006/customXml" ds:itemID="{7AC1D25B-C9D7-4A85-9CA8-F1FE7C31EA43}">
  <ds:schemaRefs>
    <ds:schemaRef ds:uri="http://schemas.microsoft.com/office/2006/metadata/properties"/>
    <ds:schemaRef ds:uri="http://purl.org/dc/elements/1.1/"/>
    <ds:schemaRef ds:uri="dfbadaf6-90cf-41d3-a0ba-bbd98d259036"/>
    <ds:schemaRef ds:uri="http://schemas.microsoft.com/office/2006/documentManagement/types"/>
    <ds:schemaRef ds:uri="http://purl.org/dc/dcmitype/"/>
    <ds:schemaRef ds:uri="http://purl.org/dc/terms/"/>
    <ds:schemaRef ds:uri="http://schemas.microsoft.com/sharepoint/v3"/>
    <ds:schemaRef ds:uri="http://www.w3.org/XML/1998/namespace"/>
    <ds:schemaRef ds:uri="http://schemas.microsoft.com/office/infopath/2007/PartnerControls"/>
    <ds:schemaRef ds:uri="http://schemas.openxmlformats.org/package/2006/metadata/core-properties"/>
    <ds:schemaRef ds:uri="fca21091-4343-4232-a795-e59481497cb5"/>
  </ds:schemaRefs>
</ds:datastoreItem>
</file>

<file path=docProps/app.xml><?xml version="1.0" encoding="utf-8"?>
<Properties xmlns="http://schemas.openxmlformats.org/officeDocument/2006/extended-properties" xmlns:vt="http://schemas.openxmlformats.org/officeDocument/2006/docPropsVTypes">
  <Template>COA ppt template</Template>
  <TotalTime>22</TotalTime>
  <Words>1427</Words>
  <Application>Microsoft Office PowerPoint</Application>
  <PresentationFormat>On-screen Show (4:3)</PresentationFormat>
  <Paragraphs>144</Paragraphs>
  <Slides>5</Slides>
  <Notes>5</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Request Reminders</vt:lpstr>
      <vt:lpstr>EMT Request Types</vt:lpstr>
      <vt:lpstr>Request Types</vt:lpstr>
      <vt:lpstr>EMT Request Type</vt:lpstr>
      <vt:lpstr>Request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Tree Insights</dc:title>
  <dc:creator>Brandon Homuth</dc:creator>
  <cp:lastModifiedBy>Samantha Shumaker</cp:lastModifiedBy>
  <cp:revision>31</cp:revision>
  <cp:lastPrinted>2020-12-17T16:31:33Z</cp:lastPrinted>
  <dcterms:created xsi:type="dcterms:W3CDTF">2020-07-08T17:20:15Z</dcterms:created>
  <dcterms:modified xsi:type="dcterms:W3CDTF">2026-02-12T20:24:34Z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