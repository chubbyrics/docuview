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256" r:id="rId5"/>
    <p:sldId id="1947" r:id="rId6"/>
    <p:sldId id="1965" r:id="rId7"/>
    <p:sldId id="1966" r:id="rId8"/>
    <p:sldId id="1961" r:id="rId9"/>
    <p:sldId id="1963" r:id="rId10"/>
    <p:sldId id="1951" r:id="rId11"/>
    <p:sldId id="1958" r:id="rId12"/>
    <p:sldId id="195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E9B7C0-5A5C-C94D-F80B-45AA1F26F78B}" v="16" dt="2025-08-07T17:22:22.0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_rels/data3.xml.rels><?xml version="1.0" encoding="UTF-8" standalone="yes"?>
<Relationships xmlns="http://schemas.openxmlformats.org/package/2006/relationships"><Relationship Id="rId1" Type="http://schemas.openxmlformats.org/officeDocument/2006/relationships/hyperlink" Target="mailto:DCLoanAdmin@clearoneadvantave.com" TargetMode="External"/></Relationships>
</file>

<file path=ppt/diagrams/_rels/drawing3.xml.rels><?xml version="1.0" encoding="UTF-8" standalone="yes"?>
<Relationships xmlns="http://schemas.openxmlformats.org/package/2006/relationships"><Relationship Id="rId1" Type="http://schemas.openxmlformats.org/officeDocument/2006/relationships/hyperlink" Target="mailto:DCLoanAdmin@clearoneadvantave.com"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F98353-36FE-470C-98D4-D201A5A68CBF}" type="doc">
      <dgm:prSet loTypeId="urn:microsoft.com/office/officeart/2005/8/layout/process1" loCatId="process" qsTypeId="urn:microsoft.com/office/officeart/2005/8/quickstyle/simple1" qsCatId="simple" csTypeId="urn:microsoft.com/office/officeart/2005/8/colors/accent1_2" csCatId="accent1" phldr="1"/>
      <dgm:spPr/>
    </dgm:pt>
    <dgm:pt modelId="{5F1D30E5-CA39-434F-A176-2784AC08C5A3}">
      <dgm:prSet phldrT="[Text]"/>
      <dgm:spPr/>
      <dgm:t>
        <a:bodyPr/>
        <a:lstStyle/>
        <a:p>
          <a:r>
            <a:rPr lang="en-US"/>
            <a:t>COA &amp; Partner Agree Client is Eligible Prospect for Lending</a:t>
          </a:r>
        </a:p>
      </dgm:t>
    </dgm:pt>
    <dgm:pt modelId="{0635C156-9FB4-4519-B249-32F27DBABE66}" type="parTrans" cxnId="{67660158-92C4-4C30-BD5F-53F8401AE8A3}">
      <dgm:prSet/>
      <dgm:spPr/>
      <dgm:t>
        <a:bodyPr/>
        <a:lstStyle/>
        <a:p>
          <a:endParaRPr lang="en-US"/>
        </a:p>
      </dgm:t>
    </dgm:pt>
    <dgm:pt modelId="{62CBAC91-FBF4-4EB8-8BC2-6F6C607886C3}" type="sibTrans" cxnId="{67660158-92C4-4C30-BD5F-53F8401AE8A3}">
      <dgm:prSet/>
      <dgm:spPr/>
      <dgm:t>
        <a:bodyPr/>
        <a:lstStyle/>
        <a:p>
          <a:endParaRPr lang="en-US"/>
        </a:p>
      </dgm:t>
    </dgm:pt>
    <dgm:pt modelId="{50ED9BE2-FB45-40EE-8D96-B0FA4A93DCBF}">
      <dgm:prSet phldrT="[Text]"/>
      <dgm:spPr/>
      <dgm:t>
        <a:bodyPr/>
        <a:lstStyle/>
        <a:p>
          <a:r>
            <a:rPr lang="en-US"/>
            <a:t>Loan Referral Team Contacts Client to Start Application</a:t>
          </a:r>
        </a:p>
      </dgm:t>
    </dgm:pt>
    <dgm:pt modelId="{97A15CB3-0BA5-433B-9C13-AA6A52E978B8}" type="parTrans" cxnId="{E96D4056-F804-4568-9715-15B0CCF4C36C}">
      <dgm:prSet/>
      <dgm:spPr/>
      <dgm:t>
        <a:bodyPr/>
        <a:lstStyle/>
        <a:p>
          <a:endParaRPr lang="en-US"/>
        </a:p>
      </dgm:t>
    </dgm:pt>
    <dgm:pt modelId="{05700FF5-561A-4AB8-8052-A29D09A56CE3}" type="sibTrans" cxnId="{E96D4056-F804-4568-9715-15B0CCF4C36C}">
      <dgm:prSet/>
      <dgm:spPr/>
      <dgm:t>
        <a:bodyPr/>
        <a:lstStyle/>
        <a:p>
          <a:endParaRPr lang="en-US"/>
        </a:p>
      </dgm:t>
    </dgm:pt>
    <dgm:pt modelId="{C2E56BC5-0FE0-43A7-BA46-105A5728E87D}">
      <dgm:prSet phldrT="[Text]"/>
      <dgm:spPr/>
      <dgm:t>
        <a:bodyPr/>
        <a:lstStyle/>
        <a:p>
          <a:pPr rtl="0"/>
          <a:r>
            <a:rPr lang="en-US"/>
            <a:t>Client is Warm Transferred to Loan Partner to Complete Application</a:t>
          </a:r>
          <a:r>
            <a:rPr lang="en-US">
              <a:latin typeface="Calibri Light" panose="020F0302020204030204"/>
            </a:rPr>
            <a:t> </a:t>
          </a:r>
          <a:endParaRPr lang="en-US"/>
        </a:p>
      </dgm:t>
    </dgm:pt>
    <dgm:pt modelId="{CE2AAB75-D85E-463E-9B28-BB33AF3F6CA5}" type="parTrans" cxnId="{1D041E95-CC15-4257-8C7B-043807817723}">
      <dgm:prSet/>
      <dgm:spPr/>
      <dgm:t>
        <a:bodyPr/>
        <a:lstStyle/>
        <a:p>
          <a:endParaRPr lang="en-US"/>
        </a:p>
      </dgm:t>
    </dgm:pt>
    <dgm:pt modelId="{A00D3AF1-6D2B-4097-83B4-2CEAC1E933B0}" type="sibTrans" cxnId="{1D041E95-CC15-4257-8C7B-043807817723}">
      <dgm:prSet/>
      <dgm:spPr/>
      <dgm:t>
        <a:bodyPr/>
        <a:lstStyle/>
        <a:p>
          <a:endParaRPr lang="en-US"/>
        </a:p>
      </dgm:t>
    </dgm:pt>
    <dgm:pt modelId="{4412262D-B836-40B1-9193-7E6D1E23EF3E}">
      <dgm:prSet phldrT="[Text]"/>
      <dgm:spPr/>
      <dgm:t>
        <a:bodyPr/>
        <a:lstStyle/>
        <a:p>
          <a:r>
            <a:rPr lang="en-US"/>
            <a:t>Decision is Made by Loan Partner if they can Lend to our Client</a:t>
          </a:r>
        </a:p>
      </dgm:t>
    </dgm:pt>
    <dgm:pt modelId="{296BF777-8EF2-4500-8AED-EAD5EBB3E9CA}" type="parTrans" cxnId="{7E29F564-00AC-480F-A08A-8B4652B44C80}">
      <dgm:prSet/>
      <dgm:spPr/>
      <dgm:t>
        <a:bodyPr/>
        <a:lstStyle/>
        <a:p>
          <a:endParaRPr lang="en-US"/>
        </a:p>
      </dgm:t>
    </dgm:pt>
    <dgm:pt modelId="{7AB364C7-2C8C-4F10-855F-61715EE8DCBE}" type="sibTrans" cxnId="{7E29F564-00AC-480F-A08A-8B4652B44C80}">
      <dgm:prSet/>
      <dgm:spPr/>
      <dgm:t>
        <a:bodyPr/>
        <a:lstStyle/>
        <a:p>
          <a:endParaRPr lang="en-US"/>
        </a:p>
      </dgm:t>
    </dgm:pt>
    <dgm:pt modelId="{D5625C42-250B-49F1-8D83-6335D8AD34A1}">
      <dgm:prSet phldrT="[Text]"/>
      <dgm:spPr/>
      <dgm:t>
        <a:bodyPr/>
        <a:lstStyle/>
        <a:p>
          <a:r>
            <a:rPr lang="en-US"/>
            <a:t>Loan Contract is Signed and Funds sent to GH- Customer Company name updates in QuickBase</a:t>
          </a:r>
        </a:p>
      </dgm:t>
    </dgm:pt>
    <dgm:pt modelId="{7AB39366-31D2-47AC-B5B3-C96E30BAF085}" type="parTrans" cxnId="{0ADA487E-097A-4F91-B352-0B949C157EC8}">
      <dgm:prSet/>
      <dgm:spPr/>
      <dgm:t>
        <a:bodyPr/>
        <a:lstStyle/>
        <a:p>
          <a:endParaRPr lang="en-US"/>
        </a:p>
      </dgm:t>
    </dgm:pt>
    <dgm:pt modelId="{2B414E77-41F7-48D1-98D3-36C252F47E63}" type="sibTrans" cxnId="{0ADA487E-097A-4F91-B352-0B949C157EC8}">
      <dgm:prSet/>
      <dgm:spPr/>
      <dgm:t>
        <a:bodyPr/>
        <a:lstStyle/>
        <a:p>
          <a:endParaRPr lang="en-US"/>
        </a:p>
      </dgm:t>
    </dgm:pt>
    <dgm:pt modelId="{B4ACC0C0-0480-4A13-835A-40A20C4F22FD}">
      <dgm:prSet phldr="0"/>
      <dgm:spPr/>
      <dgm:t>
        <a:bodyPr/>
        <a:lstStyle/>
        <a:p>
          <a:pPr rtl="0"/>
          <a:r>
            <a:rPr lang="en-US">
              <a:latin typeface="Calibri Light" panose="020F0302020204030204"/>
            </a:rPr>
            <a:t>DC Client Support Contacts Client for Funded Call and Sets Expectations for Expedited Graduation</a:t>
          </a:r>
        </a:p>
      </dgm:t>
    </dgm:pt>
    <dgm:pt modelId="{DC4888D1-8D95-4B0C-823B-2EC060C208A9}" type="parTrans" cxnId="{78224372-7F5F-4DD2-9079-84502881A7A2}">
      <dgm:prSet/>
      <dgm:spPr/>
    </dgm:pt>
    <dgm:pt modelId="{3C1A0EA0-D19C-4662-9655-BC55BF4E1F9E}" type="sibTrans" cxnId="{78224372-7F5F-4DD2-9079-84502881A7A2}">
      <dgm:prSet/>
      <dgm:spPr/>
    </dgm:pt>
    <dgm:pt modelId="{628ABF56-1F85-4E73-A78B-8801AB9C3B3E}" type="pres">
      <dgm:prSet presAssocID="{2AF98353-36FE-470C-98D4-D201A5A68CBF}" presName="Name0" presStyleCnt="0">
        <dgm:presLayoutVars>
          <dgm:dir/>
          <dgm:resizeHandles val="exact"/>
        </dgm:presLayoutVars>
      </dgm:prSet>
      <dgm:spPr/>
    </dgm:pt>
    <dgm:pt modelId="{85D2890A-5BBC-42B4-A686-B01F844C3691}" type="pres">
      <dgm:prSet presAssocID="{5F1D30E5-CA39-434F-A176-2784AC08C5A3}" presName="node" presStyleLbl="node1" presStyleIdx="0" presStyleCnt="6">
        <dgm:presLayoutVars>
          <dgm:bulletEnabled val="1"/>
        </dgm:presLayoutVars>
      </dgm:prSet>
      <dgm:spPr/>
    </dgm:pt>
    <dgm:pt modelId="{804BF6C1-5E16-4463-B87F-A728EBB66C15}" type="pres">
      <dgm:prSet presAssocID="{62CBAC91-FBF4-4EB8-8BC2-6F6C607886C3}" presName="sibTrans" presStyleLbl="sibTrans2D1" presStyleIdx="0" presStyleCnt="5"/>
      <dgm:spPr/>
    </dgm:pt>
    <dgm:pt modelId="{2B50EA50-5C09-4402-B457-A4C3769AF98E}" type="pres">
      <dgm:prSet presAssocID="{62CBAC91-FBF4-4EB8-8BC2-6F6C607886C3}" presName="connectorText" presStyleLbl="sibTrans2D1" presStyleIdx="0" presStyleCnt="5"/>
      <dgm:spPr/>
    </dgm:pt>
    <dgm:pt modelId="{964D8256-7FEF-442E-A6B5-F7E02ECEF667}" type="pres">
      <dgm:prSet presAssocID="{50ED9BE2-FB45-40EE-8D96-B0FA4A93DCBF}" presName="node" presStyleLbl="node1" presStyleIdx="1" presStyleCnt="6">
        <dgm:presLayoutVars>
          <dgm:bulletEnabled val="1"/>
        </dgm:presLayoutVars>
      </dgm:prSet>
      <dgm:spPr/>
    </dgm:pt>
    <dgm:pt modelId="{06F40245-0A8C-4BB4-BDB9-F821EFB6CA2E}" type="pres">
      <dgm:prSet presAssocID="{05700FF5-561A-4AB8-8052-A29D09A56CE3}" presName="sibTrans" presStyleLbl="sibTrans2D1" presStyleIdx="1" presStyleCnt="5"/>
      <dgm:spPr/>
    </dgm:pt>
    <dgm:pt modelId="{E4FBFC7E-D994-4F9F-B834-7DBAFFE7BAE7}" type="pres">
      <dgm:prSet presAssocID="{05700FF5-561A-4AB8-8052-A29D09A56CE3}" presName="connectorText" presStyleLbl="sibTrans2D1" presStyleIdx="1" presStyleCnt="5"/>
      <dgm:spPr/>
    </dgm:pt>
    <dgm:pt modelId="{CA4415F8-2D98-4715-95D5-24AA9F95A44C}" type="pres">
      <dgm:prSet presAssocID="{C2E56BC5-0FE0-43A7-BA46-105A5728E87D}" presName="node" presStyleLbl="node1" presStyleIdx="2" presStyleCnt="6">
        <dgm:presLayoutVars>
          <dgm:bulletEnabled val="1"/>
        </dgm:presLayoutVars>
      </dgm:prSet>
      <dgm:spPr/>
    </dgm:pt>
    <dgm:pt modelId="{EE0D9BF4-4E14-43DD-9EF7-BEB097DBE86C}" type="pres">
      <dgm:prSet presAssocID="{A00D3AF1-6D2B-4097-83B4-2CEAC1E933B0}" presName="sibTrans" presStyleLbl="sibTrans2D1" presStyleIdx="2" presStyleCnt="5"/>
      <dgm:spPr/>
    </dgm:pt>
    <dgm:pt modelId="{EB98C861-CAE6-4126-A21E-E357DB5AEEB7}" type="pres">
      <dgm:prSet presAssocID="{A00D3AF1-6D2B-4097-83B4-2CEAC1E933B0}" presName="connectorText" presStyleLbl="sibTrans2D1" presStyleIdx="2" presStyleCnt="5"/>
      <dgm:spPr/>
    </dgm:pt>
    <dgm:pt modelId="{AE1BD250-218B-4741-AC8E-D6DC7BC132E1}" type="pres">
      <dgm:prSet presAssocID="{4412262D-B836-40B1-9193-7E6D1E23EF3E}" presName="node" presStyleLbl="node1" presStyleIdx="3" presStyleCnt="6">
        <dgm:presLayoutVars>
          <dgm:bulletEnabled val="1"/>
        </dgm:presLayoutVars>
      </dgm:prSet>
      <dgm:spPr/>
    </dgm:pt>
    <dgm:pt modelId="{4227D8EC-CF12-40CB-A3A7-D888E43D3F1A}" type="pres">
      <dgm:prSet presAssocID="{7AB364C7-2C8C-4F10-855F-61715EE8DCBE}" presName="sibTrans" presStyleLbl="sibTrans2D1" presStyleIdx="3" presStyleCnt="5"/>
      <dgm:spPr/>
    </dgm:pt>
    <dgm:pt modelId="{3787C0F0-4FF5-4307-9F63-B176BCE6B279}" type="pres">
      <dgm:prSet presAssocID="{7AB364C7-2C8C-4F10-855F-61715EE8DCBE}" presName="connectorText" presStyleLbl="sibTrans2D1" presStyleIdx="3" presStyleCnt="5"/>
      <dgm:spPr/>
    </dgm:pt>
    <dgm:pt modelId="{54DB38CC-BE5A-471D-B453-8B260D196FAE}" type="pres">
      <dgm:prSet presAssocID="{D5625C42-250B-49F1-8D83-6335D8AD34A1}" presName="node" presStyleLbl="node1" presStyleIdx="4" presStyleCnt="6">
        <dgm:presLayoutVars>
          <dgm:bulletEnabled val="1"/>
        </dgm:presLayoutVars>
      </dgm:prSet>
      <dgm:spPr/>
    </dgm:pt>
    <dgm:pt modelId="{17DB2791-FB74-4170-B7CE-685B37C65B8F}" type="pres">
      <dgm:prSet presAssocID="{2B414E77-41F7-48D1-98D3-36C252F47E63}" presName="sibTrans" presStyleLbl="sibTrans2D1" presStyleIdx="4" presStyleCnt="5"/>
      <dgm:spPr/>
    </dgm:pt>
    <dgm:pt modelId="{1DAEEFD9-2560-4538-AF6B-11F497186C0C}" type="pres">
      <dgm:prSet presAssocID="{2B414E77-41F7-48D1-98D3-36C252F47E63}" presName="connectorText" presStyleLbl="sibTrans2D1" presStyleIdx="4" presStyleCnt="5"/>
      <dgm:spPr/>
    </dgm:pt>
    <dgm:pt modelId="{889A3F9E-5147-49E9-ADB6-FB874ACE3E84}" type="pres">
      <dgm:prSet presAssocID="{B4ACC0C0-0480-4A13-835A-40A20C4F22FD}" presName="node" presStyleLbl="node1" presStyleIdx="5" presStyleCnt="6">
        <dgm:presLayoutVars>
          <dgm:bulletEnabled val="1"/>
        </dgm:presLayoutVars>
      </dgm:prSet>
      <dgm:spPr/>
    </dgm:pt>
  </dgm:ptLst>
  <dgm:cxnLst>
    <dgm:cxn modelId="{0A103D04-A863-4842-AB49-4ED5EE3AB6A7}" type="presOf" srcId="{4412262D-B836-40B1-9193-7E6D1E23EF3E}" destId="{AE1BD250-218B-4741-AC8E-D6DC7BC132E1}" srcOrd="0" destOrd="0" presId="urn:microsoft.com/office/officeart/2005/8/layout/process1"/>
    <dgm:cxn modelId="{0B159A09-1830-4F71-AE1C-BC2A52EA014F}" type="presOf" srcId="{7AB364C7-2C8C-4F10-855F-61715EE8DCBE}" destId="{4227D8EC-CF12-40CB-A3A7-D888E43D3F1A}" srcOrd="0" destOrd="0" presId="urn:microsoft.com/office/officeart/2005/8/layout/process1"/>
    <dgm:cxn modelId="{91F5D512-2F10-4C9E-A63B-3955528CB156}" type="presOf" srcId="{C2E56BC5-0FE0-43A7-BA46-105A5728E87D}" destId="{CA4415F8-2D98-4715-95D5-24AA9F95A44C}" srcOrd="0" destOrd="0" presId="urn:microsoft.com/office/officeart/2005/8/layout/process1"/>
    <dgm:cxn modelId="{4C0B0315-AECD-4CB7-82E8-F2BE2270A437}" type="presOf" srcId="{05700FF5-561A-4AB8-8052-A29D09A56CE3}" destId="{E4FBFC7E-D994-4F9F-B834-7DBAFFE7BAE7}" srcOrd="1" destOrd="0" presId="urn:microsoft.com/office/officeart/2005/8/layout/process1"/>
    <dgm:cxn modelId="{87D1693B-FD83-41D0-9381-CBC362C17616}" type="presOf" srcId="{2B414E77-41F7-48D1-98D3-36C252F47E63}" destId="{1DAEEFD9-2560-4538-AF6B-11F497186C0C}" srcOrd="1" destOrd="0" presId="urn:microsoft.com/office/officeart/2005/8/layout/process1"/>
    <dgm:cxn modelId="{CC00495C-ADC1-41D0-800D-4AB49BFBF149}" type="presOf" srcId="{2B414E77-41F7-48D1-98D3-36C252F47E63}" destId="{17DB2791-FB74-4170-B7CE-685B37C65B8F}" srcOrd="0" destOrd="0" presId="urn:microsoft.com/office/officeart/2005/8/layout/process1"/>
    <dgm:cxn modelId="{7E29F564-00AC-480F-A08A-8B4652B44C80}" srcId="{2AF98353-36FE-470C-98D4-D201A5A68CBF}" destId="{4412262D-B836-40B1-9193-7E6D1E23EF3E}" srcOrd="3" destOrd="0" parTransId="{296BF777-8EF2-4500-8AED-EAD5EBB3E9CA}" sibTransId="{7AB364C7-2C8C-4F10-855F-61715EE8DCBE}"/>
    <dgm:cxn modelId="{5945F964-F981-4E92-B9A9-7C65B72CCC21}" type="presOf" srcId="{62CBAC91-FBF4-4EB8-8BC2-6F6C607886C3}" destId="{2B50EA50-5C09-4402-B457-A4C3769AF98E}" srcOrd="1" destOrd="0" presId="urn:microsoft.com/office/officeart/2005/8/layout/process1"/>
    <dgm:cxn modelId="{1A482D67-3C42-4E35-9554-5C4A16744592}" type="presOf" srcId="{62CBAC91-FBF4-4EB8-8BC2-6F6C607886C3}" destId="{804BF6C1-5E16-4463-B87F-A728EBB66C15}" srcOrd="0" destOrd="0" presId="urn:microsoft.com/office/officeart/2005/8/layout/process1"/>
    <dgm:cxn modelId="{78224372-7F5F-4DD2-9079-84502881A7A2}" srcId="{2AF98353-36FE-470C-98D4-D201A5A68CBF}" destId="{B4ACC0C0-0480-4A13-835A-40A20C4F22FD}" srcOrd="5" destOrd="0" parTransId="{DC4888D1-8D95-4B0C-823B-2EC060C208A9}" sibTransId="{3C1A0EA0-D19C-4662-9655-BC55BF4E1F9E}"/>
    <dgm:cxn modelId="{E96D4056-F804-4568-9715-15B0CCF4C36C}" srcId="{2AF98353-36FE-470C-98D4-D201A5A68CBF}" destId="{50ED9BE2-FB45-40EE-8D96-B0FA4A93DCBF}" srcOrd="1" destOrd="0" parTransId="{97A15CB3-0BA5-433B-9C13-AA6A52E978B8}" sibTransId="{05700FF5-561A-4AB8-8052-A29D09A56CE3}"/>
    <dgm:cxn modelId="{67660158-92C4-4C30-BD5F-53F8401AE8A3}" srcId="{2AF98353-36FE-470C-98D4-D201A5A68CBF}" destId="{5F1D30E5-CA39-434F-A176-2784AC08C5A3}" srcOrd="0" destOrd="0" parTransId="{0635C156-9FB4-4519-B249-32F27DBABE66}" sibTransId="{62CBAC91-FBF4-4EB8-8BC2-6F6C607886C3}"/>
    <dgm:cxn modelId="{0ADA487E-097A-4F91-B352-0B949C157EC8}" srcId="{2AF98353-36FE-470C-98D4-D201A5A68CBF}" destId="{D5625C42-250B-49F1-8D83-6335D8AD34A1}" srcOrd="4" destOrd="0" parTransId="{7AB39366-31D2-47AC-B5B3-C96E30BAF085}" sibTransId="{2B414E77-41F7-48D1-98D3-36C252F47E63}"/>
    <dgm:cxn modelId="{A01B5580-3F9B-4B09-B70B-FFAF8DC48CAE}" type="presOf" srcId="{50ED9BE2-FB45-40EE-8D96-B0FA4A93DCBF}" destId="{964D8256-7FEF-442E-A6B5-F7E02ECEF667}" srcOrd="0" destOrd="0" presId="urn:microsoft.com/office/officeart/2005/8/layout/process1"/>
    <dgm:cxn modelId="{21424E84-A72A-480F-B675-0F8BCD5C7067}" type="presOf" srcId="{D5625C42-250B-49F1-8D83-6335D8AD34A1}" destId="{54DB38CC-BE5A-471D-B453-8B260D196FAE}" srcOrd="0" destOrd="0" presId="urn:microsoft.com/office/officeart/2005/8/layout/process1"/>
    <dgm:cxn modelId="{5723A488-244A-493E-8D25-3B967BC2F9F2}" type="presOf" srcId="{5F1D30E5-CA39-434F-A176-2784AC08C5A3}" destId="{85D2890A-5BBC-42B4-A686-B01F844C3691}" srcOrd="0" destOrd="0" presId="urn:microsoft.com/office/officeart/2005/8/layout/process1"/>
    <dgm:cxn modelId="{1D041E95-CC15-4257-8C7B-043807817723}" srcId="{2AF98353-36FE-470C-98D4-D201A5A68CBF}" destId="{C2E56BC5-0FE0-43A7-BA46-105A5728E87D}" srcOrd="2" destOrd="0" parTransId="{CE2AAB75-D85E-463E-9B28-BB33AF3F6CA5}" sibTransId="{A00D3AF1-6D2B-4097-83B4-2CEAC1E933B0}"/>
    <dgm:cxn modelId="{ADFDEBA8-36C6-4E46-8E15-4CE716840963}" type="presOf" srcId="{A00D3AF1-6D2B-4097-83B4-2CEAC1E933B0}" destId="{EE0D9BF4-4E14-43DD-9EF7-BEB097DBE86C}" srcOrd="0" destOrd="0" presId="urn:microsoft.com/office/officeart/2005/8/layout/process1"/>
    <dgm:cxn modelId="{5030F9AA-78C3-45DB-8E7E-CA1A7B27AE91}" type="presOf" srcId="{A00D3AF1-6D2B-4097-83B4-2CEAC1E933B0}" destId="{EB98C861-CAE6-4126-A21E-E357DB5AEEB7}" srcOrd="1" destOrd="0" presId="urn:microsoft.com/office/officeart/2005/8/layout/process1"/>
    <dgm:cxn modelId="{629D7BD2-7F9E-4EA6-AAE6-06748AED375C}" type="presOf" srcId="{2AF98353-36FE-470C-98D4-D201A5A68CBF}" destId="{628ABF56-1F85-4E73-A78B-8801AB9C3B3E}" srcOrd="0" destOrd="0" presId="urn:microsoft.com/office/officeart/2005/8/layout/process1"/>
    <dgm:cxn modelId="{F15C15DB-3142-4508-8F48-11654637D81D}" type="presOf" srcId="{05700FF5-561A-4AB8-8052-A29D09A56CE3}" destId="{06F40245-0A8C-4BB4-BDB9-F821EFB6CA2E}" srcOrd="0" destOrd="0" presId="urn:microsoft.com/office/officeart/2005/8/layout/process1"/>
    <dgm:cxn modelId="{EED080E1-15C1-49D3-9FC0-57C170CF6589}" type="presOf" srcId="{7AB364C7-2C8C-4F10-855F-61715EE8DCBE}" destId="{3787C0F0-4FF5-4307-9F63-B176BCE6B279}" srcOrd="1" destOrd="0" presId="urn:microsoft.com/office/officeart/2005/8/layout/process1"/>
    <dgm:cxn modelId="{CB10F3EF-775C-48DE-BAED-2C5541AAEE50}" type="presOf" srcId="{B4ACC0C0-0480-4A13-835A-40A20C4F22FD}" destId="{889A3F9E-5147-49E9-ADB6-FB874ACE3E84}" srcOrd="0" destOrd="0" presId="urn:microsoft.com/office/officeart/2005/8/layout/process1"/>
    <dgm:cxn modelId="{EA12E17B-9530-44F7-A54B-6FD4D5A351D7}" type="presParOf" srcId="{628ABF56-1F85-4E73-A78B-8801AB9C3B3E}" destId="{85D2890A-5BBC-42B4-A686-B01F844C3691}" srcOrd="0" destOrd="0" presId="urn:microsoft.com/office/officeart/2005/8/layout/process1"/>
    <dgm:cxn modelId="{9A7293CC-5CC2-47BC-AC23-391212A8BB59}" type="presParOf" srcId="{628ABF56-1F85-4E73-A78B-8801AB9C3B3E}" destId="{804BF6C1-5E16-4463-B87F-A728EBB66C15}" srcOrd="1" destOrd="0" presId="urn:microsoft.com/office/officeart/2005/8/layout/process1"/>
    <dgm:cxn modelId="{C0C92B53-5EAD-4D38-96D0-4F74FDA8A261}" type="presParOf" srcId="{804BF6C1-5E16-4463-B87F-A728EBB66C15}" destId="{2B50EA50-5C09-4402-B457-A4C3769AF98E}" srcOrd="0" destOrd="0" presId="urn:microsoft.com/office/officeart/2005/8/layout/process1"/>
    <dgm:cxn modelId="{7C9214FD-AC93-4BA1-95DD-EC3D79DD42D6}" type="presParOf" srcId="{628ABF56-1F85-4E73-A78B-8801AB9C3B3E}" destId="{964D8256-7FEF-442E-A6B5-F7E02ECEF667}" srcOrd="2" destOrd="0" presId="urn:microsoft.com/office/officeart/2005/8/layout/process1"/>
    <dgm:cxn modelId="{0C1DD248-722F-4B92-BF32-0D343CD82B6D}" type="presParOf" srcId="{628ABF56-1F85-4E73-A78B-8801AB9C3B3E}" destId="{06F40245-0A8C-4BB4-BDB9-F821EFB6CA2E}" srcOrd="3" destOrd="0" presId="urn:microsoft.com/office/officeart/2005/8/layout/process1"/>
    <dgm:cxn modelId="{A95E6A84-70BC-4E65-9A75-A5E7083FF641}" type="presParOf" srcId="{06F40245-0A8C-4BB4-BDB9-F821EFB6CA2E}" destId="{E4FBFC7E-D994-4F9F-B834-7DBAFFE7BAE7}" srcOrd="0" destOrd="0" presId="urn:microsoft.com/office/officeart/2005/8/layout/process1"/>
    <dgm:cxn modelId="{033B40A2-ABB1-45A7-8DF2-D8D5BC01D4F0}" type="presParOf" srcId="{628ABF56-1F85-4E73-A78B-8801AB9C3B3E}" destId="{CA4415F8-2D98-4715-95D5-24AA9F95A44C}" srcOrd="4" destOrd="0" presId="urn:microsoft.com/office/officeart/2005/8/layout/process1"/>
    <dgm:cxn modelId="{4BF9F8BD-6018-4079-9D4F-305BFBB196F1}" type="presParOf" srcId="{628ABF56-1F85-4E73-A78B-8801AB9C3B3E}" destId="{EE0D9BF4-4E14-43DD-9EF7-BEB097DBE86C}" srcOrd="5" destOrd="0" presId="urn:microsoft.com/office/officeart/2005/8/layout/process1"/>
    <dgm:cxn modelId="{6E40CA41-5E90-4AC9-AD6B-659253B995FF}" type="presParOf" srcId="{EE0D9BF4-4E14-43DD-9EF7-BEB097DBE86C}" destId="{EB98C861-CAE6-4126-A21E-E357DB5AEEB7}" srcOrd="0" destOrd="0" presId="urn:microsoft.com/office/officeart/2005/8/layout/process1"/>
    <dgm:cxn modelId="{1E1C2078-07A5-4226-8B0D-141E8FE38410}" type="presParOf" srcId="{628ABF56-1F85-4E73-A78B-8801AB9C3B3E}" destId="{AE1BD250-218B-4741-AC8E-D6DC7BC132E1}" srcOrd="6" destOrd="0" presId="urn:microsoft.com/office/officeart/2005/8/layout/process1"/>
    <dgm:cxn modelId="{5ABF61FB-CCA7-4029-A215-FA351CB13DFE}" type="presParOf" srcId="{628ABF56-1F85-4E73-A78B-8801AB9C3B3E}" destId="{4227D8EC-CF12-40CB-A3A7-D888E43D3F1A}" srcOrd="7" destOrd="0" presId="urn:microsoft.com/office/officeart/2005/8/layout/process1"/>
    <dgm:cxn modelId="{02E55579-F659-4771-A828-DB4D2EBAADD9}" type="presParOf" srcId="{4227D8EC-CF12-40CB-A3A7-D888E43D3F1A}" destId="{3787C0F0-4FF5-4307-9F63-B176BCE6B279}" srcOrd="0" destOrd="0" presId="urn:microsoft.com/office/officeart/2005/8/layout/process1"/>
    <dgm:cxn modelId="{37E563D8-38B9-4DFA-8D67-3FA0264011F7}" type="presParOf" srcId="{628ABF56-1F85-4E73-A78B-8801AB9C3B3E}" destId="{54DB38CC-BE5A-471D-B453-8B260D196FAE}" srcOrd="8" destOrd="0" presId="urn:microsoft.com/office/officeart/2005/8/layout/process1"/>
    <dgm:cxn modelId="{6CBC3D6E-B6A5-4BCA-B1E5-AE1DAA52C152}" type="presParOf" srcId="{628ABF56-1F85-4E73-A78B-8801AB9C3B3E}" destId="{17DB2791-FB74-4170-B7CE-685B37C65B8F}" srcOrd="9" destOrd="0" presId="urn:microsoft.com/office/officeart/2005/8/layout/process1"/>
    <dgm:cxn modelId="{6C5F0956-132E-414A-87DA-0799080FD88A}" type="presParOf" srcId="{17DB2791-FB74-4170-B7CE-685B37C65B8F}" destId="{1DAEEFD9-2560-4538-AF6B-11F497186C0C}" srcOrd="0" destOrd="0" presId="urn:microsoft.com/office/officeart/2005/8/layout/process1"/>
    <dgm:cxn modelId="{344CA1AF-6793-4A29-A9ED-CB5A1C1739BD}" type="presParOf" srcId="{628ABF56-1F85-4E73-A78B-8801AB9C3B3E}" destId="{889A3F9E-5147-49E9-ADB6-FB874ACE3E84}"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AF98353-36FE-470C-98D4-D201A5A68CBF}" type="doc">
      <dgm:prSet loTypeId="urn:microsoft.com/office/officeart/2005/8/layout/process1" loCatId="process" qsTypeId="urn:microsoft.com/office/officeart/2005/8/quickstyle/simple1" qsCatId="simple" csTypeId="urn:microsoft.com/office/officeart/2005/8/colors/accent1_2" csCatId="accent1" phldr="1"/>
      <dgm:spPr/>
    </dgm:pt>
    <dgm:pt modelId="{5F1D30E5-CA39-434F-A176-2784AC08C5A3}">
      <dgm:prSet phldrT="[Text]"/>
      <dgm:spPr/>
      <dgm:t>
        <a:bodyPr/>
        <a:lstStyle/>
        <a:p>
          <a:pPr rtl="0"/>
          <a:r>
            <a:rPr lang="en-US">
              <a:latin typeface="Calibri Light" panose="020F0302020204030204"/>
            </a:rPr>
            <a:t>PRT Expedites Settled Debt</a:t>
          </a:r>
          <a:endParaRPr lang="en-US"/>
        </a:p>
      </dgm:t>
    </dgm:pt>
    <dgm:pt modelId="{0635C156-9FB4-4519-B249-32F27DBABE66}" type="parTrans" cxnId="{67660158-92C4-4C30-BD5F-53F8401AE8A3}">
      <dgm:prSet/>
      <dgm:spPr/>
      <dgm:t>
        <a:bodyPr/>
        <a:lstStyle/>
        <a:p>
          <a:endParaRPr lang="en-US"/>
        </a:p>
      </dgm:t>
    </dgm:pt>
    <dgm:pt modelId="{62CBAC91-FBF4-4EB8-8BC2-6F6C607886C3}" type="sibTrans" cxnId="{67660158-92C4-4C30-BD5F-53F8401AE8A3}">
      <dgm:prSet/>
      <dgm:spPr/>
      <dgm:t>
        <a:bodyPr/>
        <a:lstStyle/>
        <a:p>
          <a:endParaRPr lang="en-US"/>
        </a:p>
      </dgm:t>
    </dgm:pt>
    <dgm:pt modelId="{50ED9BE2-FB45-40EE-8D96-B0FA4A93DCBF}">
      <dgm:prSet phldrT="[Text]"/>
      <dgm:spPr/>
      <dgm:t>
        <a:bodyPr/>
        <a:lstStyle/>
        <a:p>
          <a:pPr rtl="0"/>
          <a:r>
            <a:rPr lang="en-US">
              <a:latin typeface="Calibri Light" panose="020F0302020204030204"/>
            </a:rPr>
            <a:t>Negotiations is Assigned to Eligible Accounts to Settle</a:t>
          </a:r>
          <a:endParaRPr lang="en-US"/>
        </a:p>
      </dgm:t>
    </dgm:pt>
    <dgm:pt modelId="{97A15CB3-0BA5-433B-9C13-AA6A52E978B8}" type="parTrans" cxnId="{E96D4056-F804-4568-9715-15B0CCF4C36C}">
      <dgm:prSet/>
      <dgm:spPr/>
      <dgm:t>
        <a:bodyPr/>
        <a:lstStyle/>
        <a:p>
          <a:endParaRPr lang="en-US"/>
        </a:p>
      </dgm:t>
    </dgm:pt>
    <dgm:pt modelId="{05700FF5-561A-4AB8-8052-A29D09A56CE3}" type="sibTrans" cxnId="{E96D4056-F804-4568-9715-15B0CCF4C36C}">
      <dgm:prSet/>
      <dgm:spPr/>
      <dgm:t>
        <a:bodyPr/>
        <a:lstStyle/>
        <a:p>
          <a:endParaRPr lang="en-US"/>
        </a:p>
      </dgm:t>
    </dgm:pt>
    <dgm:pt modelId="{C2E56BC5-0FE0-43A7-BA46-105A5728E87D}">
      <dgm:prSet phldrT="[Text]" phldr="0"/>
      <dgm:spPr/>
      <dgm:t>
        <a:bodyPr/>
        <a:lstStyle/>
        <a:p>
          <a:pPr rtl="0"/>
          <a:r>
            <a:rPr lang="en-US">
              <a:latin typeface="Calibri Light" panose="020F0302020204030204"/>
            </a:rPr>
            <a:t>Day 31 of Funding DC Negotiations is Assigned by Client</a:t>
          </a:r>
          <a:endParaRPr lang="en-US"/>
        </a:p>
      </dgm:t>
    </dgm:pt>
    <dgm:pt modelId="{CE2AAB75-D85E-463E-9B28-BB33AF3F6CA5}" type="parTrans" cxnId="{1D041E95-CC15-4257-8C7B-043807817723}">
      <dgm:prSet/>
      <dgm:spPr/>
      <dgm:t>
        <a:bodyPr/>
        <a:lstStyle/>
        <a:p>
          <a:endParaRPr lang="en-US"/>
        </a:p>
      </dgm:t>
    </dgm:pt>
    <dgm:pt modelId="{A00D3AF1-6D2B-4097-83B4-2CEAC1E933B0}" type="sibTrans" cxnId="{1D041E95-CC15-4257-8C7B-043807817723}">
      <dgm:prSet/>
      <dgm:spPr/>
      <dgm:t>
        <a:bodyPr/>
        <a:lstStyle/>
        <a:p>
          <a:endParaRPr lang="en-US"/>
        </a:p>
      </dgm:t>
    </dgm:pt>
    <dgm:pt modelId="{B4ACC0C0-0480-4A13-835A-40A20C4F22FD}">
      <dgm:prSet phldr="0"/>
      <dgm:spPr/>
      <dgm:t>
        <a:bodyPr/>
        <a:lstStyle/>
        <a:p>
          <a:pPr rtl="0"/>
          <a:r>
            <a:rPr lang="en-US">
              <a:latin typeface="Calibri Light" panose="020F0302020204030204"/>
            </a:rPr>
            <a:t>DC Client Support Contacts Client for Graduation Call and Lending Partner Expectations</a:t>
          </a:r>
        </a:p>
      </dgm:t>
    </dgm:pt>
    <dgm:pt modelId="{DC4888D1-8D95-4B0C-823B-2EC060C208A9}" type="parTrans" cxnId="{78224372-7F5F-4DD2-9079-84502881A7A2}">
      <dgm:prSet/>
      <dgm:spPr/>
    </dgm:pt>
    <dgm:pt modelId="{3C1A0EA0-D19C-4662-9655-BC55BF4E1F9E}" type="sibTrans" cxnId="{78224372-7F5F-4DD2-9079-84502881A7A2}">
      <dgm:prSet/>
      <dgm:spPr/>
    </dgm:pt>
    <dgm:pt modelId="{185615B1-89A7-4FF6-978F-94A7BF0AE770}">
      <dgm:prSet phldr="0"/>
      <dgm:spPr/>
      <dgm:t>
        <a:bodyPr/>
        <a:lstStyle/>
        <a:p>
          <a:pPr rtl="0"/>
          <a:r>
            <a:rPr lang="en-US">
              <a:latin typeface="Calibri Light" panose="020F0302020204030204"/>
            </a:rPr>
            <a:t>All Creditors are Settled and DC Client Support Reviews for Pre-Grad Readiness</a:t>
          </a:r>
        </a:p>
      </dgm:t>
    </dgm:pt>
    <dgm:pt modelId="{431FF5F2-C11E-455F-9CC6-51AF98414745}" type="parTrans" cxnId="{5417DAC2-224D-48BA-845C-C15FB42770CF}">
      <dgm:prSet/>
      <dgm:spPr/>
    </dgm:pt>
    <dgm:pt modelId="{684FF44C-9C34-40F6-86CD-392F89CD67FC}" type="sibTrans" cxnId="{5417DAC2-224D-48BA-845C-C15FB42770CF}">
      <dgm:prSet/>
      <dgm:spPr/>
      <dgm:t>
        <a:bodyPr/>
        <a:lstStyle/>
        <a:p>
          <a:endParaRPr lang="en-US"/>
        </a:p>
      </dgm:t>
    </dgm:pt>
    <dgm:pt modelId="{628ABF56-1F85-4E73-A78B-8801AB9C3B3E}" type="pres">
      <dgm:prSet presAssocID="{2AF98353-36FE-470C-98D4-D201A5A68CBF}" presName="Name0" presStyleCnt="0">
        <dgm:presLayoutVars>
          <dgm:dir/>
          <dgm:resizeHandles val="exact"/>
        </dgm:presLayoutVars>
      </dgm:prSet>
      <dgm:spPr/>
    </dgm:pt>
    <dgm:pt modelId="{85D2890A-5BBC-42B4-A686-B01F844C3691}" type="pres">
      <dgm:prSet presAssocID="{5F1D30E5-CA39-434F-A176-2784AC08C5A3}" presName="node" presStyleLbl="node1" presStyleIdx="0" presStyleCnt="5">
        <dgm:presLayoutVars>
          <dgm:bulletEnabled val="1"/>
        </dgm:presLayoutVars>
      </dgm:prSet>
      <dgm:spPr/>
    </dgm:pt>
    <dgm:pt modelId="{804BF6C1-5E16-4463-B87F-A728EBB66C15}" type="pres">
      <dgm:prSet presAssocID="{62CBAC91-FBF4-4EB8-8BC2-6F6C607886C3}" presName="sibTrans" presStyleLbl="sibTrans2D1" presStyleIdx="0" presStyleCnt="4"/>
      <dgm:spPr/>
    </dgm:pt>
    <dgm:pt modelId="{2B50EA50-5C09-4402-B457-A4C3769AF98E}" type="pres">
      <dgm:prSet presAssocID="{62CBAC91-FBF4-4EB8-8BC2-6F6C607886C3}" presName="connectorText" presStyleLbl="sibTrans2D1" presStyleIdx="0" presStyleCnt="4"/>
      <dgm:spPr/>
    </dgm:pt>
    <dgm:pt modelId="{964D8256-7FEF-442E-A6B5-F7E02ECEF667}" type="pres">
      <dgm:prSet presAssocID="{50ED9BE2-FB45-40EE-8D96-B0FA4A93DCBF}" presName="node" presStyleLbl="node1" presStyleIdx="1" presStyleCnt="5">
        <dgm:presLayoutVars>
          <dgm:bulletEnabled val="1"/>
        </dgm:presLayoutVars>
      </dgm:prSet>
      <dgm:spPr/>
    </dgm:pt>
    <dgm:pt modelId="{06F40245-0A8C-4BB4-BDB9-F821EFB6CA2E}" type="pres">
      <dgm:prSet presAssocID="{05700FF5-561A-4AB8-8052-A29D09A56CE3}" presName="sibTrans" presStyleLbl="sibTrans2D1" presStyleIdx="1" presStyleCnt="4"/>
      <dgm:spPr/>
    </dgm:pt>
    <dgm:pt modelId="{E4FBFC7E-D994-4F9F-B834-7DBAFFE7BAE7}" type="pres">
      <dgm:prSet presAssocID="{05700FF5-561A-4AB8-8052-A29D09A56CE3}" presName="connectorText" presStyleLbl="sibTrans2D1" presStyleIdx="1" presStyleCnt="4"/>
      <dgm:spPr/>
    </dgm:pt>
    <dgm:pt modelId="{CA4415F8-2D98-4715-95D5-24AA9F95A44C}" type="pres">
      <dgm:prSet presAssocID="{C2E56BC5-0FE0-43A7-BA46-105A5728E87D}" presName="node" presStyleLbl="node1" presStyleIdx="2" presStyleCnt="5">
        <dgm:presLayoutVars>
          <dgm:bulletEnabled val="1"/>
        </dgm:presLayoutVars>
      </dgm:prSet>
      <dgm:spPr/>
    </dgm:pt>
    <dgm:pt modelId="{EE0D9BF4-4E14-43DD-9EF7-BEB097DBE86C}" type="pres">
      <dgm:prSet presAssocID="{A00D3AF1-6D2B-4097-83B4-2CEAC1E933B0}" presName="sibTrans" presStyleLbl="sibTrans2D1" presStyleIdx="2" presStyleCnt="4"/>
      <dgm:spPr/>
    </dgm:pt>
    <dgm:pt modelId="{EB98C861-CAE6-4126-A21E-E357DB5AEEB7}" type="pres">
      <dgm:prSet presAssocID="{A00D3AF1-6D2B-4097-83B4-2CEAC1E933B0}" presName="connectorText" presStyleLbl="sibTrans2D1" presStyleIdx="2" presStyleCnt="4"/>
      <dgm:spPr/>
    </dgm:pt>
    <dgm:pt modelId="{98062640-F565-42C2-B0D9-1946FED5C142}" type="pres">
      <dgm:prSet presAssocID="{185615B1-89A7-4FF6-978F-94A7BF0AE770}" presName="node" presStyleLbl="node1" presStyleIdx="3" presStyleCnt="5">
        <dgm:presLayoutVars>
          <dgm:bulletEnabled val="1"/>
        </dgm:presLayoutVars>
      </dgm:prSet>
      <dgm:spPr/>
    </dgm:pt>
    <dgm:pt modelId="{3260A931-4BC1-4865-AAB1-4709E51C9B6C}" type="pres">
      <dgm:prSet presAssocID="{684FF44C-9C34-40F6-86CD-392F89CD67FC}" presName="sibTrans" presStyleLbl="sibTrans2D1" presStyleIdx="3" presStyleCnt="4"/>
      <dgm:spPr/>
    </dgm:pt>
    <dgm:pt modelId="{56FA6166-CC03-4347-9350-2C7B846F57B8}" type="pres">
      <dgm:prSet presAssocID="{684FF44C-9C34-40F6-86CD-392F89CD67FC}" presName="connectorText" presStyleLbl="sibTrans2D1" presStyleIdx="3" presStyleCnt="4"/>
      <dgm:spPr/>
    </dgm:pt>
    <dgm:pt modelId="{889A3F9E-5147-49E9-ADB6-FB874ACE3E84}" type="pres">
      <dgm:prSet presAssocID="{B4ACC0C0-0480-4A13-835A-40A20C4F22FD}" presName="node" presStyleLbl="node1" presStyleIdx="4" presStyleCnt="5">
        <dgm:presLayoutVars>
          <dgm:bulletEnabled val="1"/>
        </dgm:presLayoutVars>
      </dgm:prSet>
      <dgm:spPr/>
    </dgm:pt>
  </dgm:ptLst>
  <dgm:cxnLst>
    <dgm:cxn modelId="{B5D4BD02-3CA2-4181-A5D9-242BAF534BB0}" type="presOf" srcId="{62CBAC91-FBF4-4EB8-8BC2-6F6C607886C3}" destId="{804BF6C1-5E16-4463-B87F-A728EBB66C15}" srcOrd="0" destOrd="0" presId="urn:microsoft.com/office/officeart/2005/8/layout/process1"/>
    <dgm:cxn modelId="{96A4DD0A-8249-4EE5-8D85-C94B3F2D9E1F}" type="presOf" srcId="{A00D3AF1-6D2B-4097-83B4-2CEAC1E933B0}" destId="{EB98C861-CAE6-4126-A21E-E357DB5AEEB7}" srcOrd="1" destOrd="0" presId="urn:microsoft.com/office/officeart/2005/8/layout/process1"/>
    <dgm:cxn modelId="{8010FF10-6D00-4BE8-9816-B04A157A904A}" type="presOf" srcId="{B4ACC0C0-0480-4A13-835A-40A20C4F22FD}" destId="{889A3F9E-5147-49E9-ADB6-FB874ACE3E84}" srcOrd="0" destOrd="0" presId="urn:microsoft.com/office/officeart/2005/8/layout/process1"/>
    <dgm:cxn modelId="{91069C19-A190-441A-BFE7-53EC7F53CB01}" type="presOf" srcId="{185615B1-89A7-4FF6-978F-94A7BF0AE770}" destId="{98062640-F565-42C2-B0D9-1946FED5C142}" srcOrd="0" destOrd="0" presId="urn:microsoft.com/office/officeart/2005/8/layout/process1"/>
    <dgm:cxn modelId="{3445F81B-5726-4A2F-AE60-3B8FB336434B}" type="presOf" srcId="{C2E56BC5-0FE0-43A7-BA46-105A5728E87D}" destId="{CA4415F8-2D98-4715-95D5-24AA9F95A44C}" srcOrd="0" destOrd="0" presId="urn:microsoft.com/office/officeart/2005/8/layout/process1"/>
    <dgm:cxn modelId="{803C1E22-BC30-47AE-8B97-08892DC8600F}" type="presOf" srcId="{62CBAC91-FBF4-4EB8-8BC2-6F6C607886C3}" destId="{2B50EA50-5C09-4402-B457-A4C3769AF98E}" srcOrd="1" destOrd="0" presId="urn:microsoft.com/office/officeart/2005/8/layout/process1"/>
    <dgm:cxn modelId="{76C51462-02DF-4020-B14D-FCF6759DFEE4}" type="presOf" srcId="{A00D3AF1-6D2B-4097-83B4-2CEAC1E933B0}" destId="{EE0D9BF4-4E14-43DD-9EF7-BEB097DBE86C}" srcOrd="0" destOrd="0" presId="urn:microsoft.com/office/officeart/2005/8/layout/process1"/>
    <dgm:cxn modelId="{E44E3168-E0AC-4D0C-86B3-ECA39C2A28B6}" type="presOf" srcId="{5F1D30E5-CA39-434F-A176-2784AC08C5A3}" destId="{85D2890A-5BBC-42B4-A686-B01F844C3691}" srcOrd="0" destOrd="0" presId="urn:microsoft.com/office/officeart/2005/8/layout/process1"/>
    <dgm:cxn modelId="{80D3374B-BFA9-45A4-880D-CE42CE6B7B0C}" type="presOf" srcId="{684FF44C-9C34-40F6-86CD-392F89CD67FC}" destId="{3260A931-4BC1-4865-AAB1-4709E51C9B6C}" srcOrd="0" destOrd="0" presId="urn:microsoft.com/office/officeart/2005/8/layout/process1"/>
    <dgm:cxn modelId="{78224372-7F5F-4DD2-9079-84502881A7A2}" srcId="{2AF98353-36FE-470C-98D4-D201A5A68CBF}" destId="{B4ACC0C0-0480-4A13-835A-40A20C4F22FD}" srcOrd="4" destOrd="0" parTransId="{DC4888D1-8D95-4B0C-823B-2EC060C208A9}" sibTransId="{3C1A0EA0-D19C-4662-9655-BC55BF4E1F9E}"/>
    <dgm:cxn modelId="{E96D4056-F804-4568-9715-15B0CCF4C36C}" srcId="{2AF98353-36FE-470C-98D4-D201A5A68CBF}" destId="{50ED9BE2-FB45-40EE-8D96-B0FA4A93DCBF}" srcOrd="1" destOrd="0" parTransId="{97A15CB3-0BA5-433B-9C13-AA6A52E978B8}" sibTransId="{05700FF5-561A-4AB8-8052-A29D09A56CE3}"/>
    <dgm:cxn modelId="{872F7577-6946-41F6-B02D-DA6090443925}" type="presOf" srcId="{05700FF5-561A-4AB8-8052-A29D09A56CE3}" destId="{E4FBFC7E-D994-4F9F-B834-7DBAFFE7BAE7}" srcOrd="1" destOrd="0" presId="urn:microsoft.com/office/officeart/2005/8/layout/process1"/>
    <dgm:cxn modelId="{67660158-92C4-4C30-BD5F-53F8401AE8A3}" srcId="{2AF98353-36FE-470C-98D4-D201A5A68CBF}" destId="{5F1D30E5-CA39-434F-A176-2784AC08C5A3}" srcOrd="0" destOrd="0" parTransId="{0635C156-9FB4-4519-B249-32F27DBABE66}" sibTransId="{62CBAC91-FBF4-4EB8-8BC2-6F6C607886C3}"/>
    <dgm:cxn modelId="{70FE4994-3070-494E-9C35-718DCCBB6F11}" type="presOf" srcId="{684FF44C-9C34-40F6-86CD-392F89CD67FC}" destId="{56FA6166-CC03-4347-9350-2C7B846F57B8}" srcOrd="1" destOrd="0" presId="urn:microsoft.com/office/officeart/2005/8/layout/process1"/>
    <dgm:cxn modelId="{1D041E95-CC15-4257-8C7B-043807817723}" srcId="{2AF98353-36FE-470C-98D4-D201A5A68CBF}" destId="{C2E56BC5-0FE0-43A7-BA46-105A5728E87D}" srcOrd="2" destOrd="0" parTransId="{CE2AAB75-D85E-463E-9B28-BB33AF3F6CA5}" sibTransId="{A00D3AF1-6D2B-4097-83B4-2CEAC1E933B0}"/>
    <dgm:cxn modelId="{0BFF91A9-1281-4972-B2C3-688545570FE2}" type="presOf" srcId="{05700FF5-561A-4AB8-8052-A29D09A56CE3}" destId="{06F40245-0A8C-4BB4-BDB9-F821EFB6CA2E}" srcOrd="0" destOrd="0" presId="urn:microsoft.com/office/officeart/2005/8/layout/process1"/>
    <dgm:cxn modelId="{5417DAC2-224D-48BA-845C-C15FB42770CF}" srcId="{2AF98353-36FE-470C-98D4-D201A5A68CBF}" destId="{185615B1-89A7-4FF6-978F-94A7BF0AE770}" srcOrd="3" destOrd="0" parTransId="{431FF5F2-C11E-455F-9CC6-51AF98414745}" sibTransId="{684FF44C-9C34-40F6-86CD-392F89CD67FC}"/>
    <dgm:cxn modelId="{629D7BD2-7F9E-4EA6-AAE6-06748AED375C}" type="presOf" srcId="{2AF98353-36FE-470C-98D4-D201A5A68CBF}" destId="{628ABF56-1F85-4E73-A78B-8801AB9C3B3E}" srcOrd="0" destOrd="0" presId="urn:microsoft.com/office/officeart/2005/8/layout/process1"/>
    <dgm:cxn modelId="{09D733D8-BCB8-49FB-A214-C8B5FBF37662}" type="presOf" srcId="{50ED9BE2-FB45-40EE-8D96-B0FA4A93DCBF}" destId="{964D8256-7FEF-442E-A6B5-F7E02ECEF667}" srcOrd="0" destOrd="0" presId="urn:microsoft.com/office/officeart/2005/8/layout/process1"/>
    <dgm:cxn modelId="{E67DF58B-FF62-4D41-A17A-24D0FD0F9B48}" type="presParOf" srcId="{628ABF56-1F85-4E73-A78B-8801AB9C3B3E}" destId="{85D2890A-5BBC-42B4-A686-B01F844C3691}" srcOrd="0" destOrd="0" presId="urn:microsoft.com/office/officeart/2005/8/layout/process1"/>
    <dgm:cxn modelId="{654FD6FD-654E-483B-B999-482BD85C2411}" type="presParOf" srcId="{628ABF56-1F85-4E73-A78B-8801AB9C3B3E}" destId="{804BF6C1-5E16-4463-B87F-A728EBB66C15}" srcOrd="1" destOrd="0" presId="urn:microsoft.com/office/officeart/2005/8/layout/process1"/>
    <dgm:cxn modelId="{310E348D-3786-41A0-A4A6-C92F86F9E765}" type="presParOf" srcId="{804BF6C1-5E16-4463-B87F-A728EBB66C15}" destId="{2B50EA50-5C09-4402-B457-A4C3769AF98E}" srcOrd="0" destOrd="0" presId="urn:microsoft.com/office/officeart/2005/8/layout/process1"/>
    <dgm:cxn modelId="{E99EC16B-E447-4487-A250-41F5A32F1587}" type="presParOf" srcId="{628ABF56-1F85-4E73-A78B-8801AB9C3B3E}" destId="{964D8256-7FEF-442E-A6B5-F7E02ECEF667}" srcOrd="2" destOrd="0" presId="urn:microsoft.com/office/officeart/2005/8/layout/process1"/>
    <dgm:cxn modelId="{FA03C8F2-BBC1-4911-8A38-B10CB1B84717}" type="presParOf" srcId="{628ABF56-1F85-4E73-A78B-8801AB9C3B3E}" destId="{06F40245-0A8C-4BB4-BDB9-F821EFB6CA2E}" srcOrd="3" destOrd="0" presId="urn:microsoft.com/office/officeart/2005/8/layout/process1"/>
    <dgm:cxn modelId="{02BB7779-0A9A-46F6-AAAD-25BD3B922C24}" type="presParOf" srcId="{06F40245-0A8C-4BB4-BDB9-F821EFB6CA2E}" destId="{E4FBFC7E-D994-4F9F-B834-7DBAFFE7BAE7}" srcOrd="0" destOrd="0" presId="urn:microsoft.com/office/officeart/2005/8/layout/process1"/>
    <dgm:cxn modelId="{01B43564-6979-4FDC-B6B8-F20C16A880E3}" type="presParOf" srcId="{628ABF56-1F85-4E73-A78B-8801AB9C3B3E}" destId="{CA4415F8-2D98-4715-95D5-24AA9F95A44C}" srcOrd="4" destOrd="0" presId="urn:microsoft.com/office/officeart/2005/8/layout/process1"/>
    <dgm:cxn modelId="{54F4F8C1-10E6-48E9-87C3-9CAC10F49135}" type="presParOf" srcId="{628ABF56-1F85-4E73-A78B-8801AB9C3B3E}" destId="{EE0D9BF4-4E14-43DD-9EF7-BEB097DBE86C}" srcOrd="5" destOrd="0" presId="urn:microsoft.com/office/officeart/2005/8/layout/process1"/>
    <dgm:cxn modelId="{5E635419-A332-48C9-A74C-E5E773B67996}" type="presParOf" srcId="{EE0D9BF4-4E14-43DD-9EF7-BEB097DBE86C}" destId="{EB98C861-CAE6-4126-A21E-E357DB5AEEB7}" srcOrd="0" destOrd="0" presId="urn:microsoft.com/office/officeart/2005/8/layout/process1"/>
    <dgm:cxn modelId="{2D8437CB-FF57-4030-A314-BC968AA427B6}" type="presParOf" srcId="{628ABF56-1F85-4E73-A78B-8801AB9C3B3E}" destId="{98062640-F565-42C2-B0D9-1946FED5C142}" srcOrd="6" destOrd="0" presId="urn:microsoft.com/office/officeart/2005/8/layout/process1"/>
    <dgm:cxn modelId="{A1B75B71-614C-411C-B202-A352A74F244F}" type="presParOf" srcId="{628ABF56-1F85-4E73-A78B-8801AB9C3B3E}" destId="{3260A931-4BC1-4865-AAB1-4709E51C9B6C}" srcOrd="7" destOrd="0" presId="urn:microsoft.com/office/officeart/2005/8/layout/process1"/>
    <dgm:cxn modelId="{FBA3C5D8-D160-4635-AE50-EA22CF0E0E5C}" type="presParOf" srcId="{3260A931-4BC1-4865-AAB1-4709E51C9B6C}" destId="{56FA6166-CC03-4347-9350-2C7B846F57B8}" srcOrd="0" destOrd="0" presId="urn:microsoft.com/office/officeart/2005/8/layout/process1"/>
    <dgm:cxn modelId="{9D72ED51-4A00-4C0C-9E6D-41367CDB85BF}" type="presParOf" srcId="{628ABF56-1F85-4E73-A78B-8801AB9C3B3E}" destId="{889A3F9E-5147-49E9-ADB6-FB874ACE3E84}" srcOrd="8" destOrd="0" presId="urn:microsoft.com/office/officeart/2005/8/layout/process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98D70C-F10F-4DF5-B5FE-1FBDFDBDC5C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5504697-D198-45CE-A50C-E442B203D973}">
      <dgm:prSet phldrT="[Text]" custT="1"/>
      <dgm:spPr/>
      <dgm:t>
        <a:bodyPr/>
        <a:lstStyle/>
        <a:p>
          <a:r>
            <a:rPr lang="en-US" sz="2400"/>
            <a:t>Client wants to add/remove an account</a:t>
          </a:r>
        </a:p>
      </dgm:t>
    </dgm:pt>
    <dgm:pt modelId="{F0AE016B-B2B1-4870-AEDD-E9135E00D9D6}" type="parTrans" cxnId="{11945547-45D6-4697-B27B-494E20B3B241}">
      <dgm:prSet/>
      <dgm:spPr/>
      <dgm:t>
        <a:bodyPr/>
        <a:lstStyle/>
        <a:p>
          <a:endParaRPr lang="en-US"/>
        </a:p>
      </dgm:t>
    </dgm:pt>
    <dgm:pt modelId="{FDAE313F-52D8-4822-8650-A37C234C98F3}" type="sibTrans" cxnId="{11945547-45D6-4697-B27B-494E20B3B241}">
      <dgm:prSet/>
      <dgm:spPr/>
      <dgm:t>
        <a:bodyPr/>
        <a:lstStyle/>
        <a:p>
          <a:endParaRPr lang="en-US"/>
        </a:p>
      </dgm:t>
    </dgm:pt>
    <dgm:pt modelId="{E5C1B808-E38B-425A-BE9C-E582120F088D}">
      <dgm:prSet phldrT="[Text]" custT="1"/>
      <dgm:spPr/>
      <dgm:t>
        <a:bodyPr/>
        <a:lstStyle/>
        <a:p>
          <a:pPr>
            <a:buFont typeface="Arial" panose="020B0604020202020204" pitchFamily="34" charset="0"/>
            <a:buChar char="•"/>
          </a:pPr>
          <a:r>
            <a:rPr lang="en-US" sz="1800">
              <a:latin typeface="Calibri"/>
              <a:ea typeface="Calibri"/>
              <a:cs typeface="Calibri"/>
            </a:rPr>
            <a:t>Ensure the account has not already been added/removed</a:t>
          </a:r>
        </a:p>
      </dgm:t>
    </dgm:pt>
    <dgm:pt modelId="{C23ECDF8-94D8-468D-BC60-C78B133CB3DC}" type="parTrans" cxnId="{8E1585F5-2FDB-47A5-97F8-CF265EB0DBF0}">
      <dgm:prSet/>
      <dgm:spPr/>
      <dgm:t>
        <a:bodyPr/>
        <a:lstStyle/>
        <a:p>
          <a:endParaRPr lang="en-US"/>
        </a:p>
      </dgm:t>
    </dgm:pt>
    <dgm:pt modelId="{08F8B415-57DC-4983-BC21-A4ED32187853}" type="sibTrans" cxnId="{8E1585F5-2FDB-47A5-97F8-CF265EB0DBF0}">
      <dgm:prSet/>
      <dgm:spPr/>
      <dgm:t>
        <a:bodyPr/>
        <a:lstStyle/>
        <a:p>
          <a:endParaRPr lang="en-US"/>
        </a:p>
      </dgm:t>
    </dgm:pt>
    <dgm:pt modelId="{A02D995D-E78D-4C76-8AD7-A6088804C874}">
      <dgm:prSet phldrT="[Text]" custT="1"/>
      <dgm:spPr/>
      <dgm:t>
        <a:bodyPr/>
        <a:lstStyle/>
        <a:p>
          <a:pPr rtl="0"/>
          <a:r>
            <a:rPr lang="en-US" sz="2400">
              <a:latin typeface="Arial"/>
              <a:cs typeface="Arial"/>
            </a:rPr>
            <a:t>Client has questions on terms, rate, monthly payment for their Loan</a:t>
          </a:r>
        </a:p>
      </dgm:t>
    </dgm:pt>
    <dgm:pt modelId="{519F710C-D143-4C63-8A4C-A8CE3A30CCA7}" type="parTrans" cxnId="{BB60DDBD-ADD9-4DC1-ADF8-76DEEE91D828}">
      <dgm:prSet/>
      <dgm:spPr/>
      <dgm:t>
        <a:bodyPr/>
        <a:lstStyle/>
        <a:p>
          <a:endParaRPr lang="en-US"/>
        </a:p>
      </dgm:t>
    </dgm:pt>
    <dgm:pt modelId="{7C83D246-7665-445C-8A0C-439767A23596}" type="sibTrans" cxnId="{BB60DDBD-ADD9-4DC1-ADF8-76DEEE91D828}">
      <dgm:prSet/>
      <dgm:spPr/>
      <dgm:t>
        <a:bodyPr/>
        <a:lstStyle/>
        <a:p>
          <a:endParaRPr lang="en-US"/>
        </a:p>
      </dgm:t>
    </dgm:pt>
    <dgm:pt modelId="{330A3382-90ED-4306-92EC-79B130C99623}">
      <dgm:prSet phldrT="[Text]" custT="1"/>
      <dgm:spPr/>
      <dgm:t>
        <a:bodyPr/>
        <a:lstStyle/>
        <a:p>
          <a:pPr>
            <a:buFont typeface="Arial" panose="020B0604020202020204" pitchFamily="34" charset="0"/>
            <a:buChar char="•"/>
          </a:pPr>
          <a:r>
            <a:rPr lang="en-US" sz="1800">
              <a:effectLst/>
              <a:latin typeface="Calibri"/>
              <a:ea typeface="Calibri"/>
              <a:cs typeface="Calibri"/>
            </a:rPr>
            <a:t>Advise </a:t>
          </a:r>
          <a:r>
            <a:rPr lang="en-US" sz="1800" b="0" i="0" u="none"/>
            <a:t>client that we do not currently have those terms but that upon approval of the application they will be provided</a:t>
          </a:r>
          <a:r>
            <a:rPr lang="en-US" sz="1800" b="0" i="0"/>
            <a:t>​ all details from their Lending Partner</a:t>
          </a:r>
          <a:endParaRPr lang="en-US" sz="1800"/>
        </a:p>
      </dgm:t>
    </dgm:pt>
    <dgm:pt modelId="{C86B1B23-2FE8-47EA-80FE-00CB81CFC0B3}" type="parTrans" cxnId="{ECF3709F-8FA9-4EB8-B21C-CA25D3C21AC9}">
      <dgm:prSet/>
      <dgm:spPr/>
      <dgm:t>
        <a:bodyPr/>
        <a:lstStyle/>
        <a:p>
          <a:endParaRPr lang="en-US"/>
        </a:p>
      </dgm:t>
    </dgm:pt>
    <dgm:pt modelId="{8F2E58D8-B718-43A4-943D-A252B28AB6DE}" type="sibTrans" cxnId="{ECF3709F-8FA9-4EB8-B21C-CA25D3C21AC9}">
      <dgm:prSet/>
      <dgm:spPr/>
      <dgm:t>
        <a:bodyPr/>
        <a:lstStyle/>
        <a:p>
          <a:endParaRPr lang="en-US"/>
        </a:p>
      </dgm:t>
    </dgm:pt>
    <dgm:pt modelId="{BC4B1787-E595-4C4B-94A8-1717432D041E}">
      <dgm:prSet phldr="0" custT="1"/>
      <dgm:spPr/>
      <dgm:t>
        <a:bodyPr/>
        <a:lstStyle/>
        <a:p>
          <a:pPr rtl="0"/>
          <a:r>
            <a:rPr lang="en-US" sz="1800">
              <a:latin typeface="Calibri"/>
              <a:ea typeface="Calibri"/>
              <a:cs typeface="Calibri"/>
            </a:rPr>
            <a:t>Obtain authorization recording and email </a:t>
          </a:r>
          <a:r>
            <a:rPr lang="en-US" sz="1800" b="1">
              <a:latin typeface="Calibri"/>
              <a:ea typeface="Calibri"/>
              <a:cs typeface="Calibri"/>
              <a:hlinkClick xmlns:r="http://schemas.openxmlformats.org/officeDocument/2006/relationships" r:id="rId1"/>
            </a:rPr>
            <a:t>DCLoanAdmin</a:t>
          </a:r>
          <a:r>
            <a:rPr lang="en-US" sz="1800" b="0">
              <a:latin typeface="Calibri"/>
              <a:ea typeface="Calibri"/>
              <a:cs typeface="Calibri"/>
              <a:hlinkClick xmlns:r="http://schemas.openxmlformats.org/officeDocument/2006/relationships" r:id="rId1"/>
            </a:rPr>
            <a:t>@clearoneadvantage.com</a:t>
          </a:r>
          <a:r>
            <a:rPr lang="en-US" sz="1800" b="0">
              <a:latin typeface="Calibri"/>
              <a:ea typeface="Calibri"/>
              <a:cs typeface="Calibri"/>
            </a:rPr>
            <a:t> using the Lending Remove quick reply</a:t>
          </a:r>
        </a:p>
      </dgm:t>
    </dgm:pt>
    <dgm:pt modelId="{0F335AFC-5579-468D-9143-F57F23675C51}" type="parTrans" cxnId="{31764175-B47D-471B-BE08-B5489454E9A0}">
      <dgm:prSet/>
      <dgm:spPr/>
      <dgm:t>
        <a:bodyPr/>
        <a:lstStyle/>
        <a:p>
          <a:endParaRPr lang="en-US"/>
        </a:p>
      </dgm:t>
    </dgm:pt>
    <dgm:pt modelId="{CE1E3242-05B9-4486-847E-A468F31AB04C}" type="sibTrans" cxnId="{31764175-B47D-471B-BE08-B5489454E9A0}">
      <dgm:prSet/>
      <dgm:spPr/>
      <dgm:t>
        <a:bodyPr/>
        <a:lstStyle/>
        <a:p>
          <a:endParaRPr lang="en-US"/>
        </a:p>
      </dgm:t>
    </dgm:pt>
    <dgm:pt modelId="{47B13FC2-4E1A-4D0B-8316-8664E9A2E38C}">
      <dgm:prSet custT="1"/>
      <dgm:spPr/>
      <dgm:t>
        <a:bodyPr/>
        <a:lstStyle/>
        <a:p>
          <a:r>
            <a:rPr lang="en-US" sz="1800">
              <a:latin typeface="Calibri"/>
              <a:ea typeface="Calibri"/>
              <a:cs typeface="Calibri"/>
            </a:rPr>
            <a:t>“</a:t>
          </a:r>
          <a:r>
            <a:rPr lang="en-US" sz="1800">
              <a:solidFill>
                <a:schemeClr val="accent1">
                  <a:lumMod val="75000"/>
                </a:schemeClr>
              </a:solidFill>
              <a:latin typeface="Calibri"/>
              <a:ea typeface="Calibri"/>
              <a:cs typeface="Calibri"/>
            </a:rPr>
            <a:t>That is a great question. Until the application is submitted and approved, we don’t know what those terms will be. Legally we are unable to discuss those details since we are not the one providing the loan. Once the application is approved, your Lending Partner will go over all of those details with you</a:t>
          </a:r>
          <a:r>
            <a:rPr lang="en-US" sz="1800">
              <a:latin typeface="Calibri"/>
              <a:ea typeface="Calibri"/>
              <a:cs typeface="Calibri"/>
            </a:rPr>
            <a:t>.”</a:t>
          </a:r>
        </a:p>
      </dgm:t>
    </dgm:pt>
    <dgm:pt modelId="{5ECCA1B5-0DE9-4965-9009-3CBFC93CCCC7}" type="parTrans" cxnId="{A9E7F2C3-120A-4649-A713-2B78AA5584DD}">
      <dgm:prSet/>
      <dgm:spPr/>
      <dgm:t>
        <a:bodyPr/>
        <a:lstStyle/>
        <a:p>
          <a:endParaRPr lang="en-US"/>
        </a:p>
      </dgm:t>
    </dgm:pt>
    <dgm:pt modelId="{87308055-E721-482E-BACA-A6D312DB776B}" type="sibTrans" cxnId="{A9E7F2C3-120A-4649-A713-2B78AA5584DD}">
      <dgm:prSet/>
      <dgm:spPr/>
      <dgm:t>
        <a:bodyPr/>
        <a:lstStyle/>
        <a:p>
          <a:endParaRPr lang="en-US"/>
        </a:p>
      </dgm:t>
    </dgm:pt>
    <dgm:pt modelId="{6E9EED82-09E4-421F-B44F-2BC8C3CD84AD}">
      <dgm:prSet phldrT="[Text]" custT="1"/>
      <dgm:spPr/>
      <dgm:t>
        <a:bodyPr/>
        <a:lstStyle/>
        <a:p>
          <a:pPr>
            <a:buFont typeface="Arial" panose="020B0604020202020204" pitchFamily="34" charset="0"/>
            <a:buChar char="•"/>
          </a:pPr>
          <a:r>
            <a:rPr lang="en-US" sz="1800"/>
            <a:t>Encourage client to keep all eligible accounts in program</a:t>
          </a:r>
        </a:p>
      </dgm:t>
    </dgm:pt>
    <dgm:pt modelId="{A3AEE39B-1FBE-49A9-A89D-1F25A008EDEE}" type="parTrans" cxnId="{1B061183-D556-4D09-9C56-CD9C7AA24082}">
      <dgm:prSet/>
      <dgm:spPr/>
      <dgm:t>
        <a:bodyPr/>
        <a:lstStyle/>
        <a:p>
          <a:endParaRPr lang="en-US"/>
        </a:p>
      </dgm:t>
    </dgm:pt>
    <dgm:pt modelId="{9F4D06FA-5E40-4761-807D-46CE9BD34EB1}" type="sibTrans" cxnId="{1B061183-D556-4D09-9C56-CD9C7AA24082}">
      <dgm:prSet/>
      <dgm:spPr/>
      <dgm:t>
        <a:bodyPr/>
        <a:lstStyle/>
        <a:p>
          <a:endParaRPr lang="en-US"/>
        </a:p>
      </dgm:t>
    </dgm:pt>
    <dgm:pt modelId="{BA3FFF7E-21E5-4038-85C3-9CEE5C38523A}" type="pres">
      <dgm:prSet presAssocID="{E598D70C-F10F-4DF5-B5FE-1FBDFDBDC5C7}" presName="linear" presStyleCnt="0">
        <dgm:presLayoutVars>
          <dgm:dir/>
          <dgm:animLvl val="lvl"/>
          <dgm:resizeHandles val="exact"/>
        </dgm:presLayoutVars>
      </dgm:prSet>
      <dgm:spPr/>
    </dgm:pt>
    <dgm:pt modelId="{4D570593-4EAC-455A-9E41-36F415162E77}" type="pres">
      <dgm:prSet presAssocID="{75504697-D198-45CE-A50C-E442B203D973}" presName="parentLin" presStyleCnt="0"/>
      <dgm:spPr/>
    </dgm:pt>
    <dgm:pt modelId="{F2D735BE-C093-4510-9665-7696C7F2EE99}" type="pres">
      <dgm:prSet presAssocID="{75504697-D198-45CE-A50C-E442B203D973}" presName="parentLeftMargin" presStyleLbl="node1" presStyleIdx="0" presStyleCnt="2"/>
      <dgm:spPr/>
    </dgm:pt>
    <dgm:pt modelId="{1275047D-3E06-4766-AA5F-FBB635A3010D}" type="pres">
      <dgm:prSet presAssocID="{75504697-D198-45CE-A50C-E442B203D973}" presName="parentText" presStyleLbl="node1" presStyleIdx="0" presStyleCnt="2">
        <dgm:presLayoutVars>
          <dgm:chMax val="0"/>
          <dgm:bulletEnabled val="1"/>
        </dgm:presLayoutVars>
      </dgm:prSet>
      <dgm:spPr/>
    </dgm:pt>
    <dgm:pt modelId="{6E6AEB82-BE2F-4ACE-9851-AA348405B945}" type="pres">
      <dgm:prSet presAssocID="{75504697-D198-45CE-A50C-E442B203D973}" presName="negativeSpace" presStyleCnt="0"/>
      <dgm:spPr/>
    </dgm:pt>
    <dgm:pt modelId="{E4C293C5-636E-410B-A053-02C066A1BB81}" type="pres">
      <dgm:prSet presAssocID="{75504697-D198-45CE-A50C-E442B203D973}" presName="childText" presStyleLbl="conFgAcc1" presStyleIdx="0" presStyleCnt="2">
        <dgm:presLayoutVars>
          <dgm:bulletEnabled val="1"/>
        </dgm:presLayoutVars>
      </dgm:prSet>
      <dgm:spPr/>
    </dgm:pt>
    <dgm:pt modelId="{AD9565E4-FD94-4324-9695-B16364A4466A}" type="pres">
      <dgm:prSet presAssocID="{FDAE313F-52D8-4822-8650-A37C234C98F3}" presName="spaceBetweenRectangles" presStyleCnt="0"/>
      <dgm:spPr/>
    </dgm:pt>
    <dgm:pt modelId="{D65FE198-D991-4B96-AD2D-3F65C5FDE019}" type="pres">
      <dgm:prSet presAssocID="{A02D995D-E78D-4C76-8AD7-A6088804C874}" presName="parentLin" presStyleCnt="0"/>
      <dgm:spPr/>
    </dgm:pt>
    <dgm:pt modelId="{5C6A2988-9CFF-4558-98E1-E0AF1C7C6185}" type="pres">
      <dgm:prSet presAssocID="{A02D995D-E78D-4C76-8AD7-A6088804C874}" presName="parentLeftMargin" presStyleLbl="node1" presStyleIdx="0" presStyleCnt="2"/>
      <dgm:spPr/>
    </dgm:pt>
    <dgm:pt modelId="{946931AD-5693-4EAA-8A83-A6F0ED278E43}" type="pres">
      <dgm:prSet presAssocID="{A02D995D-E78D-4C76-8AD7-A6088804C874}" presName="parentText" presStyleLbl="node1" presStyleIdx="1" presStyleCnt="2">
        <dgm:presLayoutVars>
          <dgm:chMax val="0"/>
          <dgm:bulletEnabled val="1"/>
        </dgm:presLayoutVars>
      </dgm:prSet>
      <dgm:spPr/>
    </dgm:pt>
    <dgm:pt modelId="{5E58764D-87FD-4E8B-8359-14FF5CB02207}" type="pres">
      <dgm:prSet presAssocID="{A02D995D-E78D-4C76-8AD7-A6088804C874}" presName="negativeSpace" presStyleCnt="0"/>
      <dgm:spPr/>
    </dgm:pt>
    <dgm:pt modelId="{F450BDAE-9799-4698-8D0A-C938205FE471}" type="pres">
      <dgm:prSet presAssocID="{A02D995D-E78D-4C76-8AD7-A6088804C874}" presName="childText" presStyleLbl="conFgAcc1" presStyleIdx="1" presStyleCnt="2">
        <dgm:presLayoutVars>
          <dgm:bulletEnabled val="1"/>
        </dgm:presLayoutVars>
      </dgm:prSet>
      <dgm:spPr/>
    </dgm:pt>
  </dgm:ptLst>
  <dgm:cxnLst>
    <dgm:cxn modelId="{72A6D715-7D94-4F8C-BB01-82FDF0447836}" type="presOf" srcId="{BC4B1787-E595-4C4B-94A8-1717432D041E}" destId="{E4C293C5-636E-410B-A053-02C066A1BB81}" srcOrd="0" destOrd="2" presId="urn:microsoft.com/office/officeart/2005/8/layout/list1"/>
    <dgm:cxn modelId="{AEB6C826-0A5B-40B8-B259-CBE54FC00DAD}" type="presOf" srcId="{47B13FC2-4E1A-4D0B-8316-8664E9A2E38C}" destId="{F450BDAE-9799-4698-8D0A-C938205FE471}" srcOrd="0" destOrd="1" presId="urn:microsoft.com/office/officeart/2005/8/layout/list1"/>
    <dgm:cxn modelId="{11945547-45D6-4697-B27B-494E20B3B241}" srcId="{E598D70C-F10F-4DF5-B5FE-1FBDFDBDC5C7}" destId="{75504697-D198-45CE-A50C-E442B203D973}" srcOrd="0" destOrd="0" parTransId="{F0AE016B-B2B1-4870-AEDD-E9135E00D9D6}" sibTransId="{FDAE313F-52D8-4822-8650-A37C234C98F3}"/>
    <dgm:cxn modelId="{CA6A9470-0A8E-4A48-AA50-E5CE7592E6CF}" type="presOf" srcId="{A02D995D-E78D-4C76-8AD7-A6088804C874}" destId="{946931AD-5693-4EAA-8A83-A6F0ED278E43}" srcOrd="1" destOrd="0" presId="urn:microsoft.com/office/officeart/2005/8/layout/list1"/>
    <dgm:cxn modelId="{D648B674-3B4B-4EE6-9A04-5FB26AC05EE4}" type="presOf" srcId="{75504697-D198-45CE-A50C-E442B203D973}" destId="{F2D735BE-C093-4510-9665-7696C7F2EE99}" srcOrd="0" destOrd="0" presId="urn:microsoft.com/office/officeart/2005/8/layout/list1"/>
    <dgm:cxn modelId="{31764175-B47D-471B-BE08-B5489454E9A0}" srcId="{75504697-D198-45CE-A50C-E442B203D973}" destId="{BC4B1787-E595-4C4B-94A8-1717432D041E}" srcOrd="2" destOrd="0" parTransId="{0F335AFC-5579-468D-9143-F57F23675C51}" sibTransId="{CE1E3242-05B9-4486-847E-A468F31AB04C}"/>
    <dgm:cxn modelId="{59EDC95A-6596-48EB-8028-DA2D2792AC87}" type="presOf" srcId="{6E9EED82-09E4-421F-B44F-2BC8C3CD84AD}" destId="{E4C293C5-636E-410B-A053-02C066A1BB81}" srcOrd="0" destOrd="1" presId="urn:microsoft.com/office/officeart/2005/8/layout/list1"/>
    <dgm:cxn modelId="{1B061183-D556-4D09-9C56-CD9C7AA24082}" srcId="{75504697-D198-45CE-A50C-E442B203D973}" destId="{6E9EED82-09E4-421F-B44F-2BC8C3CD84AD}" srcOrd="1" destOrd="0" parTransId="{A3AEE39B-1FBE-49A9-A89D-1F25A008EDEE}" sibTransId="{9F4D06FA-5E40-4761-807D-46CE9BD34EB1}"/>
    <dgm:cxn modelId="{C476259C-E2B8-4727-8010-68FF5141B44B}" type="presOf" srcId="{A02D995D-E78D-4C76-8AD7-A6088804C874}" destId="{5C6A2988-9CFF-4558-98E1-E0AF1C7C6185}" srcOrd="0" destOrd="0" presId="urn:microsoft.com/office/officeart/2005/8/layout/list1"/>
    <dgm:cxn modelId="{ECF3709F-8FA9-4EB8-B21C-CA25D3C21AC9}" srcId="{A02D995D-E78D-4C76-8AD7-A6088804C874}" destId="{330A3382-90ED-4306-92EC-79B130C99623}" srcOrd="0" destOrd="0" parTransId="{C86B1B23-2FE8-47EA-80FE-00CB81CFC0B3}" sibTransId="{8F2E58D8-B718-43A4-943D-A252B28AB6DE}"/>
    <dgm:cxn modelId="{BB60DDBD-ADD9-4DC1-ADF8-76DEEE91D828}" srcId="{E598D70C-F10F-4DF5-B5FE-1FBDFDBDC5C7}" destId="{A02D995D-E78D-4C76-8AD7-A6088804C874}" srcOrd="1" destOrd="0" parTransId="{519F710C-D143-4C63-8A4C-A8CE3A30CCA7}" sibTransId="{7C83D246-7665-445C-8A0C-439767A23596}"/>
    <dgm:cxn modelId="{927E8FC2-7CB2-40D9-A254-E591A8848468}" type="presOf" srcId="{330A3382-90ED-4306-92EC-79B130C99623}" destId="{F450BDAE-9799-4698-8D0A-C938205FE471}" srcOrd="0" destOrd="0" presId="urn:microsoft.com/office/officeart/2005/8/layout/list1"/>
    <dgm:cxn modelId="{A9E7F2C3-120A-4649-A713-2B78AA5584DD}" srcId="{330A3382-90ED-4306-92EC-79B130C99623}" destId="{47B13FC2-4E1A-4D0B-8316-8664E9A2E38C}" srcOrd="0" destOrd="0" parTransId="{5ECCA1B5-0DE9-4965-9009-3CBFC93CCCC7}" sibTransId="{87308055-E721-482E-BACA-A6D312DB776B}"/>
    <dgm:cxn modelId="{452B74D8-F3F2-4883-A096-9929721C6AB4}" type="presOf" srcId="{75504697-D198-45CE-A50C-E442B203D973}" destId="{1275047D-3E06-4766-AA5F-FBB635A3010D}" srcOrd="1" destOrd="0" presId="urn:microsoft.com/office/officeart/2005/8/layout/list1"/>
    <dgm:cxn modelId="{B791A9F0-5ABE-48D8-A34C-D494CE557904}" type="presOf" srcId="{E598D70C-F10F-4DF5-B5FE-1FBDFDBDC5C7}" destId="{BA3FFF7E-21E5-4038-85C3-9CEE5C38523A}" srcOrd="0" destOrd="0" presId="urn:microsoft.com/office/officeart/2005/8/layout/list1"/>
    <dgm:cxn modelId="{75F5ACF4-74BD-4995-AB96-1F06ECDD97F8}" type="presOf" srcId="{E5C1B808-E38B-425A-BE9C-E582120F088D}" destId="{E4C293C5-636E-410B-A053-02C066A1BB81}" srcOrd="0" destOrd="0" presId="urn:microsoft.com/office/officeart/2005/8/layout/list1"/>
    <dgm:cxn modelId="{8E1585F5-2FDB-47A5-97F8-CF265EB0DBF0}" srcId="{75504697-D198-45CE-A50C-E442B203D973}" destId="{E5C1B808-E38B-425A-BE9C-E582120F088D}" srcOrd="0" destOrd="0" parTransId="{C23ECDF8-94D8-468D-BC60-C78B133CB3DC}" sibTransId="{08F8B415-57DC-4983-BC21-A4ED32187853}"/>
    <dgm:cxn modelId="{6652BF89-BEC2-4827-9D3B-E1628F84EBDB}" type="presParOf" srcId="{BA3FFF7E-21E5-4038-85C3-9CEE5C38523A}" destId="{4D570593-4EAC-455A-9E41-36F415162E77}" srcOrd="0" destOrd="0" presId="urn:microsoft.com/office/officeart/2005/8/layout/list1"/>
    <dgm:cxn modelId="{D39B2430-D1BD-4B9C-B714-53947A01528C}" type="presParOf" srcId="{4D570593-4EAC-455A-9E41-36F415162E77}" destId="{F2D735BE-C093-4510-9665-7696C7F2EE99}" srcOrd="0" destOrd="0" presId="urn:microsoft.com/office/officeart/2005/8/layout/list1"/>
    <dgm:cxn modelId="{8B18EF2E-5D02-491C-A139-11A9496DF6DC}" type="presParOf" srcId="{4D570593-4EAC-455A-9E41-36F415162E77}" destId="{1275047D-3E06-4766-AA5F-FBB635A3010D}" srcOrd="1" destOrd="0" presId="urn:microsoft.com/office/officeart/2005/8/layout/list1"/>
    <dgm:cxn modelId="{27B652D8-E9C1-4BA7-AB98-5571F467A099}" type="presParOf" srcId="{BA3FFF7E-21E5-4038-85C3-9CEE5C38523A}" destId="{6E6AEB82-BE2F-4ACE-9851-AA348405B945}" srcOrd="1" destOrd="0" presId="urn:microsoft.com/office/officeart/2005/8/layout/list1"/>
    <dgm:cxn modelId="{2D7E954C-8046-458C-A979-C14FE4DD1B63}" type="presParOf" srcId="{BA3FFF7E-21E5-4038-85C3-9CEE5C38523A}" destId="{E4C293C5-636E-410B-A053-02C066A1BB81}" srcOrd="2" destOrd="0" presId="urn:microsoft.com/office/officeart/2005/8/layout/list1"/>
    <dgm:cxn modelId="{44DD69E5-1E15-427F-9F10-DB66CE71CF93}" type="presParOf" srcId="{BA3FFF7E-21E5-4038-85C3-9CEE5C38523A}" destId="{AD9565E4-FD94-4324-9695-B16364A4466A}" srcOrd="3" destOrd="0" presId="urn:microsoft.com/office/officeart/2005/8/layout/list1"/>
    <dgm:cxn modelId="{78B2AB6D-DB83-4162-987D-520E30990953}" type="presParOf" srcId="{BA3FFF7E-21E5-4038-85C3-9CEE5C38523A}" destId="{D65FE198-D991-4B96-AD2D-3F65C5FDE019}" srcOrd="4" destOrd="0" presId="urn:microsoft.com/office/officeart/2005/8/layout/list1"/>
    <dgm:cxn modelId="{0F7FBAFE-8D4E-47A2-B824-F735CE38FD76}" type="presParOf" srcId="{D65FE198-D991-4B96-AD2D-3F65C5FDE019}" destId="{5C6A2988-9CFF-4558-98E1-E0AF1C7C6185}" srcOrd="0" destOrd="0" presId="urn:microsoft.com/office/officeart/2005/8/layout/list1"/>
    <dgm:cxn modelId="{7F38A212-BD15-4BBC-AD95-D8D60C34485D}" type="presParOf" srcId="{D65FE198-D991-4B96-AD2D-3F65C5FDE019}" destId="{946931AD-5693-4EAA-8A83-A6F0ED278E43}" srcOrd="1" destOrd="0" presId="urn:microsoft.com/office/officeart/2005/8/layout/list1"/>
    <dgm:cxn modelId="{620021E4-4625-4A7D-A961-CA9C55977DEE}" type="presParOf" srcId="{BA3FFF7E-21E5-4038-85C3-9CEE5C38523A}" destId="{5E58764D-87FD-4E8B-8359-14FF5CB02207}" srcOrd="5" destOrd="0" presId="urn:microsoft.com/office/officeart/2005/8/layout/list1"/>
    <dgm:cxn modelId="{C239FC98-0513-4E1D-97A6-75E733427053}" type="presParOf" srcId="{BA3FFF7E-21E5-4038-85C3-9CEE5C38523A}" destId="{F450BDAE-9799-4698-8D0A-C938205FE471}"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22E68A7-7EA0-4984-B0A9-26E7977CDCC3}" type="doc">
      <dgm:prSet loTypeId="urn:microsoft.com/office/officeart/2005/8/layout/equation1" loCatId="relationship" qsTypeId="urn:microsoft.com/office/officeart/2005/8/quickstyle/simple1" qsCatId="simple" csTypeId="urn:microsoft.com/office/officeart/2005/8/colors/accent1_2" csCatId="accent1" phldr="1"/>
      <dgm:spPr/>
      <dgm:t>
        <a:bodyPr/>
        <a:lstStyle/>
        <a:p>
          <a:endParaRPr lang="en-US"/>
        </a:p>
      </dgm:t>
    </dgm:pt>
    <dgm:pt modelId="{9B2B8054-C1FD-4F81-8C29-4480812E56EA}">
      <dgm:prSet phldrT="[Text]" phldr="0"/>
      <dgm:spPr/>
      <dgm:t>
        <a:bodyPr/>
        <a:lstStyle/>
        <a:p>
          <a:pPr rtl="0"/>
          <a:r>
            <a:rPr lang="en-US">
              <a:latin typeface="Calibri Light" panose="020F0302020204030204"/>
            </a:rPr>
            <a:t>Client has Funded</a:t>
          </a:r>
          <a:endParaRPr lang="en-US"/>
        </a:p>
      </dgm:t>
    </dgm:pt>
    <dgm:pt modelId="{4FE1B17D-0C46-4B80-9823-D2EB159DDE74}" type="parTrans" cxnId="{D89CB881-1A7D-4659-83DD-022A1BFB3362}">
      <dgm:prSet/>
      <dgm:spPr/>
    </dgm:pt>
    <dgm:pt modelId="{3327F23E-EE85-4FC3-AF21-6121BB4BF3DE}" type="sibTrans" cxnId="{D89CB881-1A7D-4659-83DD-022A1BFB3362}">
      <dgm:prSet/>
      <dgm:spPr/>
      <dgm:t>
        <a:bodyPr/>
        <a:lstStyle/>
        <a:p>
          <a:endParaRPr lang="en-US"/>
        </a:p>
      </dgm:t>
    </dgm:pt>
    <dgm:pt modelId="{9BE9978C-ABEF-41C9-AAE9-F1FDED51DFE9}">
      <dgm:prSet phldrT="[Text]" phldr="0"/>
      <dgm:spPr/>
      <dgm:t>
        <a:bodyPr/>
        <a:lstStyle/>
        <a:p>
          <a:pPr rtl="0"/>
          <a:r>
            <a:rPr lang="en-US">
              <a:latin typeface="Calibri Light" panose="020F0302020204030204"/>
            </a:rPr>
            <a:t>Client has Inquires About their Debt Settlement Progress</a:t>
          </a:r>
          <a:endParaRPr lang="en-US"/>
        </a:p>
      </dgm:t>
    </dgm:pt>
    <dgm:pt modelId="{665CF722-455A-4072-997B-8A71450EC6B1}" type="parTrans" cxnId="{6F9E76AC-7422-40E8-BF24-357E7502D9C5}">
      <dgm:prSet/>
      <dgm:spPr/>
    </dgm:pt>
    <dgm:pt modelId="{85BEEA61-2F33-470E-AC0E-36833347EE73}" type="sibTrans" cxnId="{6F9E76AC-7422-40E8-BF24-357E7502D9C5}">
      <dgm:prSet/>
      <dgm:spPr/>
      <dgm:t>
        <a:bodyPr/>
        <a:lstStyle/>
        <a:p>
          <a:endParaRPr lang="en-US"/>
        </a:p>
      </dgm:t>
    </dgm:pt>
    <dgm:pt modelId="{EDA0D347-AE10-405B-90DB-D1AE0900B3A3}">
      <dgm:prSet phldrT="[Text]" phldr="0"/>
      <dgm:spPr/>
      <dgm:t>
        <a:bodyPr/>
        <a:lstStyle/>
        <a:p>
          <a:pPr rtl="0"/>
          <a:r>
            <a:rPr lang="en-US">
              <a:latin typeface="Calibri Light" panose="020F0302020204030204"/>
            </a:rPr>
            <a:t>DC Client Support</a:t>
          </a:r>
          <a:endParaRPr lang="en-US"/>
        </a:p>
      </dgm:t>
    </dgm:pt>
    <dgm:pt modelId="{2B6DE4DC-B906-4B5F-AAEA-A57B2510843D}" type="parTrans" cxnId="{6690AEA3-3912-43D3-A3B2-496A1E70EE77}">
      <dgm:prSet/>
      <dgm:spPr/>
    </dgm:pt>
    <dgm:pt modelId="{F904D7BD-1B7B-45E0-9819-9F4C2140FAD4}" type="sibTrans" cxnId="{6690AEA3-3912-43D3-A3B2-496A1E70EE77}">
      <dgm:prSet/>
      <dgm:spPr/>
    </dgm:pt>
    <dgm:pt modelId="{824E87A6-0004-486C-9A8A-766C14E6B22B}" type="pres">
      <dgm:prSet presAssocID="{A22E68A7-7EA0-4984-B0A9-26E7977CDCC3}" presName="linearFlow" presStyleCnt="0">
        <dgm:presLayoutVars>
          <dgm:dir/>
          <dgm:resizeHandles val="exact"/>
        </dgm:presLayoutVars>
      </dgm:prSet>
      <dgm:spPr/>
    </dgm:pt>
    <dgm:pt modelId="{B8DD6D21-0892-4CAF-84A3-B873C0943259}" type="pres">
      <dgm:prSet presAssocID="{9B2B8054-C1FD-4F81-8C29-4480812E56EA}" presName="node" presStyleLbl="node1" presStyleIdx="0" presStyleCnt="3">
        <dgm:presLayoutVars>
          <dgm:bulletEnabled val="1"/>
        </dgm:presLayoutVars>
      </dgm:prSet>
      <dgm:spPr/>
    </dgm:pt>
    <dgm:pt modelId="{A56FED99-D5B9-40FF-AD5F-79FDBB1EE67E}" type="pres">
      <dgm:prSet presAssocID="{3327F23E-EE85-4FC3-AF21-6121BB4BF3DE}" presName="spacerL" presStyleCnt="0"/>
      <dgm:spPr/>
    </dgm:pt>
    <dgm:pt modelId="{44155284-64C0-49AE-854F-FD09832441BD}" type="pres">
      <dgm:prSet presAssocID="{3327F23E-EE85-4FC3-AF21-6121BB4BF3DE}" presName="sibTrans" presStyleLbl="sibTrans2D1" presStyleIdx="0" presStyleCnt="2"/>
      <dgm:spPr/>
    </dgm:pt>
    <dgm:pt modelId="{E9CC96A2-8044-459A-8B6C-CFCB4CB20099}" type="pres">
      <dgm:prSet presAssocID="{3327F23E-EE85-4FC3-AF21-6121BB4BF3DE}" presName="spacerR" presStyleCnt="0"/>
      <dgm:spPr/>
    </dgm:pt>
    <dgm:pt modelId="{08844A65-802C-4EF0-980A-2C7303D64687}" type="pres">
      <dgm:prSet presAssocID="{9BE9978C-ABEF-41C9-AAE9-F1FDED51DFE9}" presName="node" presStyleLbl="node1" presStyleIdx="1" presStyleCnt="3">
        <dgm:presLayoutVars>
          <dgm:bulletEnabled val="1"/>
        </dgm:presLayoutVars>
      </dgm:prSet>
      <dgm:spPr/>
    </dgm:pt>
    <dgm:pt modelId="{058FEEE1-9AD1-4A57-90BA-0E705F5C2E45}" type="pres">
      <dgm:prSet presAssocID="{85BEEA61-2F33-470E-AC0E-36833347EE73}" presName="spacerL" presStyleCnt="0"/>
      <dgm:spPr/>
    </dgm:pt>
    <dgm:pt modelId="{C02C2191-852A-414A-8DD8-BA32E751E011}" type="pres">
      <dgm:prSet presAssocID="{85BEEA61-2F33-470E-AC0E-36833347EE73}" presName="sibTrans" presStyleLbl="sibTrans2D1" presStyleIdx="1" presStyleCnt="2"/>
      <dgm:spPr/>
    </dgm:pt>
    <dgm:pt modelId="{D1A7865B-960E-45F7-A547-9DF54C38B7AB}" type="pres">
      <dgm:prSet presAssocID="{85BEEA61-2F33-470E-AC0E-36833347EE73}" presName="spacerR" presStyleCnt="0"/>
      <dgm:spPr/>
    </dgm:pt>
    <dgm:pt modelId="{3BB060D5-76C7-41A6-83DA-7B331C05E2EC}" type="pres">
      <dgm:prSet presAssocID="{EDA0D347-AE10-405B-90DB-D1AE0900B3A3}" presName="node" presStyleLbl="node1" presStyleIdx="2" presStyleCnt="3">
        <dgm:presLayoutVars>
          <dgm:bulletEnabled val="1"/>
        </dgm:presLayoutVars>
      </dgm:prSet>
      <dgm:spPr/>
    </dgm:pt>
  </dgm:ptLst>
  <dgm:cxnLst>
    <dgm:cxn modelId="{6494463A-0501-4A51-AFE3-CFF6E1BC79D9}" type="presOf" srcId="{9B2B8054-C1FD-4F81-8C29-4480812E56EA}" destId="{B8DD6D21-0892-4CAF-84A3-B873C0943259}" srcOrd="0" destOrd="0" presId="urn:microsoft.com/office/officeart/2005/8/layout/equation1"/>
    <dgm:cxn modelId="{7E236A5B-D7EF-4E7C-B74E-5B913B9AAE8D}" type="presOf" srcId="{85BEEA61-2F33-470E-AC0E-36833347EE73}" destId="{C02C2191-852A-414A-8DD8-BA32E751E011}" srcOrd="0" destOrd="0" presId="urn:microsoft.com/office/officeart/2005/8/layout/equation1"/>
    <dgm:cxn modelId="{45A01D76-2DA2-4F92-9B59-5678BBAC183E}" type="presOf" srcId="{9BE9978C-ABEF-41C9-AAE9-F1FDED51DFE9}" destId="{08844A65-802C-4EF0-980A-2C7303D64687}" srcOrd="0" destOrd="0" presId="urn:microsoft.com/office/officeart/2005/8/layout/equation1"/>
    <dgm:cxn modelId="{06FDB15A-73A8-4CD0-BC0F-01D976C54B38}" type="presOf" srcId="{3327F23E-EE85-4FC3-AF21-6121BB4BF3DE}" destId="{44155284-64C0-49AE-854F-FD09832441BD}" srcOrd="0" destOrd="0" presId="urn:microsoft.com/office/officeart/2005/8/layout/equation1"/>
    <dgm:cxn modelId="{34A7857D-5E00-4A7B-8B2E-9AEA575F7CCB}" type="presOf" srcId="{EDA0D347-AE10-405B-90DB-D1AE0900B3A3}" destId="{3BB060D5-76C7-41A6-83DA-7B331C05E2EC}" srcOrd="0" destOrd="0" presId="urn:microsoft.com/office/officeart/2005/8/layout/equation1"/>
    <dgm:cxn modelId="{D89CB881-1A7D-4659-83DD-022A1BFB3362}" srcId="{A22E68A7-7EA0-4984-B0A9-26E7977CDCC3}" destId="{9B2B8054-C1FD-4F81-8C29-4480812E56EA}" srcOrd="0" destOrd="0" parTransId="{4FE1B17D-0C46-4B80-9823-D2EB159DDE74}" sibTransId="{3327F23E-EE85-4FC3-AF21-6121BB4BF3DE}"/>
    <dgm:cxn modelId="{5CACE097-3016-4D3B-9070-79C89B0B953C}" type="presOf" srcId="{A22E68A7-7EA0-4984-B0A9-26E7977CDCC3}" destId="{824E87A6-0004-486C-9A8A-766C14E6B22B}" srcOrd="0" destOrd="0" presId="urn:microsoft.com/office/officeart/2005/8/layout/equation1"/>
    <dgm:cxn modelId="{6690AEA3-3912-43D3-A3B2-496A1E70EE77}" srcId="{A22E68A7-7EA0-4984-B0A9-26E7977CDCC3}" destId="{EDA0D347-AE10-405B-90DB-D1AE0900B3A3}" srcOrd="2" destOrd="0" parTransId="{2B6DE4DC-B906-4B5F-AAEA-A57B2510843D}" sibTransId="{F904D7BD-1B7B-45E0-9819-9F4C2140FAD4}"/>
    <dgm:cxn modelId="{6F9E76AC-7422-40E8-BF24-357E7502D9C5}" srcId="{A22E68A7-7EA0-4984-B0A9-26E7977CDCC3}" destId="{9BE9978C-ABEF-41C9-AAE9-F1FDED51DFE9}" srcOrd="1" destOrd="0" parTransId="{665CF722-455A-4072-997B-8A71450EC6B1}" sibTransId="{85BEEA61-2F33-470E-AC0E-36833347EE73}"/>
    <dgm:cxn modelId="{970DCF9F-E9DB-4023-BEDE-DDD15A242E8D}" type="presParOf" srcId="{824E87A6-0004-486C-9A8A-766C14E6B22B}" destId="{B8DD6D21-0892-4CAF-84A3-B873C0943259}" srcOrd="0" destOrd="0" presId="urn:microsoft.com/office/officeart/2005/8/layout/equation1"/>
    <dgm:cxn modelId="{BF78ED9F-4295-4381-8DEF-0A8C1B550D11}" type="presParOf" srcId="{824E87A6-0004-486C-9A8A-766C14E6B22B}" destId="{A56FED99-D5B9-40FF-AD5F-79FDBB1EE67E}" srcOrd="1" destOrd="0" presId="urn:microsoft.com/office/officeart/2005/8/layout/equation1"/>
    <dgm:cxn modelId="{5E387117-FB73-45E6-AB81-FE1379978A30}" type="presParOf" srcId="{824E87A6-0004-486C-9A8A-766C14E6B22B}" destId="{44155284-64C0-49AE-854F-FD09832441BD}" srcOrd="2" destOrd="0" presId="urn:microsoft.com/office/officeart/2005/8/layout/equation1"/>
    <dgm:cxn modelId="{82994155-EF53-4937-AFC5-F2D826ABBBB4}" type="presParOf" srcId="{824E87A6-0004-486C-9A8A-766C14E6B22B}" destId="{E9CC96A2-8044-459A-8B6C-CFCB4CB20099}" srcOrd="3" destOrd="0" presId="urn:microsoft.com/office/officeart/2005/8/layout/equation1"/>
    <dgm:cxn modelId="{17FA3D95-B548-4EE0-BDC6-5F61AA3401E6}" type="presParOf" srcId="{824E87A6-0004-486C-9A8A-766C14E6B22B}" destId="{08844A65-802C-4EF0-980A-2C7303D64687}" srcOrd="4" destOrd="0" presId="urn:microsoft.com/office/officeart/2005/8/layout/equation1"/>
    <dgm:cxn modelId="{6E897C5B-071F-4C47-9952-A8CDFE964EBC}" type="presParOf" srcId="{824E87A6-0004-486C-9A8A-766C14E6B22B}" destId="{058FEEE1-9AD1-4A57-90BA-0E705F5C2E45}" srcOrd="5" destOrd="0" presId="urn:microsoft.com/office/officeart/2005/8/layout/equation1"/>
    <dgm:cxn modelId="{D2C9A225-348F-44BA-AF21-9AC4C94BAE73}" type="presParOf" srcId="{824E87A6-0004-486C-9A8A-766C14E6B22B}" destId="{C02C2191-852A-414A-8DD8-BA32E751E011}" srcOrd="6" destOrd="0" presId="urn:microsoft.com/office/officeart/2005/8/layout/equation1"/>
    <dgm:cxn modelId="{4E2244B4-E36D-41D2-BC43-49208178A4BB}" type="presParOf" srcId="{824E87A6-0004-486C-9A8A-766C14E6B22B}" destId="{D1A7865B-960E-45F7-A547-9DF54C38B7AB}" srcOrd="7" destOrd="0" presId="urn:microsoft.com/office/officeart/2005/8/layout/equation1"/>
    <dgm:cxn modelId="{3D17F1C8-FAFB-4641-84B1-2FC9426B3AE8}" type="presParOf" srcId="{824E87A6-0004-486C-9A8A-766C14E6B22B}" destId="{3BB060D5-76C7-41A6-83DA-7B331C05E2EC}" srcOrd="8" destOrd="0" presId="urn:microsoft.com/office/officeart/2005/8/layout/equati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37245AD-A41D-4343-A9D3-CA7C04028DDD}" type="doc">
      <dgm:prSet loTypeId="urn:microsoft.com/office/officeart/2005/8/layout/architecture" loCatId="hierarchy" qsTypeId="urn:microsoft.com/office/officeart/2005/8/quickstyle/simple1" qsCatId="simple" csTypeId="urn:microsoft.com/office/officeart/2005/8/colors/accent1_3" csCatId="accent1" phldr="1"/>
      <dgm:spPr/>
      <dgm:t>
        <a:bodyPr/>
        <a:lstStyle/>
        <a:p>
          <a:endParaRPr lang="en-US"/>
        </a:p>
      </dgm:t>
    </dgm:pt>
    <dgm:pt modelId="{726A3004-929B-4103-8430-7A8973B3E923}">
      <dgm:prSet phldrT="[Text]"/>
      <dgm:spPr/>
      <dgm:t>
        <a:bodyPr/>
        <a:lstStyle/>
        <a:p>
          <a:r>
            <a:rPr lang="en-US"/>
            <a:t>Financial Stability</a:t>
          </a:r>
        </a:p>
      </dgm:t>
    </dgm:pt>
    <dgm:pt modelId="{8F78662C-9E7B-4E34-A8CB-95AB4001C914}" type="parTrans" cxnId="{D58526DF-07EA-4516-B5F5-BB372999C7CB}">
      <dgm:prSet/>
      <dgm:spPr/>
      <dgm:t>
        <a:bodyPr/>
        <a:lstStyle/>
        <a:p>
          <a:endParaRPr lang="en-US"/>
        </a:p>
      </dgm:t>
    </dgm:pt>
    <dgm:pt modelId="{736AA78E-314D-494C-A357-9941C482530E}" type="sibTrans" cxnId="{D58526DF-07EA-4516-B5F5-BB372999C7CB}">
      <dgm:prSet/>
      <dgm:spPr/>
      <dgm:t>
        <a:bodyPr/>
        <a:lstStyle/>
        <a:p>
          <a:endParaRPr lang="en-US"/>
        </a:p>
      </dgm:t>
    </dgm:pt>
    <dgm:pt modelId="{3F8DCFE2-642C-47B4-9423-7EECAB2D76D8}">
      <dgm:prSet phldrT="[Text]"/>
      <dgm:spPr/>
      <dgm:t>
        <a:bodyPr/>
        <a:lstStyle/>
        <a:p>
          <a:r>
            <a:rPr lang="en-US"/>
            <a:t>Expedited Graduation from Debt Settlement Company</a:t>
          </a:r>
        </a:p>
      </dgm:t>
    </dgm:pt>
    <dgm:pt modelId="{42080708-E201-4B99-A1F7-484025362D70}" type="parTrans" cxnId="{70B91856-4698-493D-B95F-F659282038A7}">
      <dgm:prSet/>
      <dgm:spPr/>
      <dgm:t>
        <a:bodyPr/>
        <a:lstStyle/>
        <a:p>
          <a:endParaRPr lang="en-US"/>
        </a:p>
      </dgm:t>
    </dgm:pt>
    <dgm:pt modelId="{5126F0F3-82AE-44CB-ADD9-2038A97C80D7}" type="sibTrans" cxnId="{70B91856-4698-493D-B95F-F659282038A7}">
      <dgm:prSet/>
      <dgm:spPr/>
      <dgm:t>
        <a:bodyPr/>
        <a:lstStyle/>
        <a:p>
          <a:endParaRPr lang="en-US"/>
        </a:p>
      </dgm:t>
    </dgm:pt>
    <dgm:pt modelId="{9D34D981-62B2-49F3-81A7-DD532E44633F}">
      <dgm:prSet phldrT="[Text]"/>
      <dgm:spPr/>
      <dgm:t>
        <a:bodyPr/>
        <a:lstStyle/>
        <a:p>
          <a:r>
            <a:rPr lang="en-US"/>
            <a:t>More COA Contact for Global Authorizations</a:t>
          </a:r>
        </a:p>
      </dgm:t>
    </dgm:pt>
    <dgm:pt modelId="{D4D7F514-D2CB-41EC-85E9-2C716978C581}" type="parTrans" cxnId="{3F55B5A4-A2A0-4976-BD29-4B8E7C049AC8}">
      <dgm:prSet/>
      <dgm:spPr/>
      <dgm:t>
        <a:bodyPr/>
        <a:lstStyle/>
        <a:p>
          <a:endParaRPr lang="en-US"/>
        </a:p>
      </dgm:t>
    </dgm:pt>
    <dgm:pt modelId="{2C815A85-8603-4DF8-A524-5638C2450CB8}" type="sibTrans" cxnId="{3F55B5A4-A2A0-4976-BD29-4B8E7C049AC8}">
      <dgm:prSet/>
      <dgm:spPr/>
      <dgm:t>
        <a:bodyPr/>
        <a:lstStyle/>
        <a:p>
          <a:endParaRPr lang="en-US"/>
        </a:p>
      </dgm:t>
    </dgm:pt>
    <dgm:pt modelId="{100B22C2-5399-460C-845E-8C27CF2CD48D}">
      <dgm:prSet phldrT="[Text]"/>
      <dgm:spPr/>
      <dgm:t>
        <a:bodyPr/>
        <a:lstStyle/>
        <a:p>
          <a:r>
            <a:rPr lang="en-US"/>
            <a:t>Future Scheduled Drafts are Removed to Utilize Loan Funds</a:t>
          </a:r>
        </a:p>
      </dgm:t>
    </dgm:pt>
    <dgm:pt modelId="{F1C60500-5F90-4A63-82F3-22E0A7426AE0}" type="parTrans" cxnId="{4F3CA5AE-FF77-4212-B3FE-91516C883620}">
      <dgm:prSet/>
      <dgm:spPr/>
      <dgm:t>
        <a:bodyPr/>
        <a:lstStyle/>
        <a:p>
          <a:endParaRPr lang="en-US"/>
        </a:p>
      </dgm:t>
    </dgm:pt>
    <dgm:pt modelId="{BFC33E42-517E-42CF-BFA6-4FBE1FB1AC4F}" type="sibTrans" cxnId="{4F3CA5AE-FF77-4212-B3FE-91516C883620}">
      <dgm:prSet/>
      <dgm:spPr/>
      <dgm:t>
        <a:bodyPr/>
        <a:lstStyle/>
        <a:p>
          <a:endParaRPr lang="en-US"/>
        </a:p>
      </dgm:t>
    </dgm:pt>
    <dgm:pt modelId="{A63E4D40-2971-493A-8CDD-00C32AD22BAF}">
      <dgm:prSet phldrT="[Text]"/>
      <dgm:spPr/>
      <dgm:t>
        <a:bodyPr/>
        <a:lstStyle/>
        <a:p>
          <a:r>
            <a:rPr lang="en-US"/>
            <a:t>Continuation of Loan Payments for Positive Payment History</a:t>
          </a:r>
        </a:p>
      </dgm:t>
    </dgm:pt>
    <dgm:pt modelId="{D607A0B5-D523-401C-B8DA-BCB3F69882F9}" type="parTrans" cxnId="{52B0CEC5-2795-452F-8840-95C9965E3059}">
      <dgm:prSet/>
      <dgm:spPr/>
      <dgm:t>
        <a:bodyPr/>
        <a:lstStyle/>
        <a:p>
          <a:endParaRPr lang="en-US"/>
        </a:p>
      </dgm:t>
    </dgm:pt>
    <dgm:pt modelId="{26ECDC20-5D82-4DF7-A89F-342ABD8CC1B4}" type="sibTrans" cxnId="{52B0CEC5-2795-452F-8840-95C9965E3059}">
      <dgm:prSet/>
      <dgm:spPr/>
      <dgm:t>
        <a:bodyPr/>
        <a:lstStyle/>
        <a:p>
          <a:endParaRPr lang="en-US"/>
        </a:p>
      </dgm:t>
    </dgm:pt>
    <dgm:pt modelId="{D0FD87AC-812F-4547-9EF2-AADDF32CC2DF}">
      <dgm:prSet phldrT="[Text]"/>
      <dgm:spPr/>
      <dgm:t>
        <a:bodyPr/>
        <a:lstStyle/>
        <a:p>
          <a:r>
            <a:rPr lang="en-US"/>
            <a:t>Lending Partner Establishes Payment Terms for Loan Funds</a:t>
          </a:r>
        </a:p>
      </dgm:t>
    </dgm:pt>
    <dgm:pt modelId="{B77B12E1-94BD-4C8A-8C17-F622679F6CBF}" type="parTrans" cxnId="{BDC791A1-3258-401B-823D-5CD2B5545150}">
      <dgm:prSet/>
      <dgm:spPr/>
      <dgm:t>
        <a:bodyPr/>
        <a:lstStyle/>
        <a:p>
          <a:endParaRPr lang="en-US"/>
        </a:p>
      </dgm:t>
    </dgm:pt>
    <dgm:pt modelId="{B1218829-2B36-4935-94D9-7E00E788324E}" type="sibTrans" cxnId="{BDC791A1-3258-401B-823D-5CD2B5545150}">
      <dgm:prSet/>
      <dgm:spPr/>
      <dgm:t>
        <a:bodyPr/>
        <a:lstStyle/>
        <a:p>
          <a:endParaRPr lang="en-US"/>
        </a:p>
      </dgm:t>
    </dgm:pt>
    <dgm:pt modelId="{0E2F6174-C31F-4247-99C7-267EB54ABC85}">
      <dgm:prSet phldrT="[Text]"/>
      <dgm:spPr/>
      <dgm:t>
        <a:bodyPr/>
        <a:lstStyle/>
        <a:p>
          <a:r>
            <a:rPr lang="en-US"/>
            <a:t>All Unsettled Creditors are Contacted to Obtain Lump-sum Settlements</a:t>
          </a:r>
        </a:p>
      </dgm:t>
    </dgm:pt>
    <dgm:pt modelId="{8691B965-F2E9-4A67-839D-40924145801E}" type="parTrans" cxnId="{A133FCAB-3C3C-463A-A327-93F21CAF269F}">
      <dgm:prSet/>
      <dgm:spPr/>
      <dgm:t>
        <a:bodyPr/>
        <a:lstStyle/>
        <a:p>
          <a:endParaRPr lang="en-US"/>
        </a:p>
      </dgm:t>
    </dgm:pt>
    <dgm:pt modelId="{94066310-6E11-4857-AA28-9A6E5C4465F7}" type="sibTrans" cxnId="{A133FCAB-3C3C-463A-A327-93F21CAF269F}">
      <dgm:prSet/>
      <dgm:spPr/>
      <dgm:t>
        <a:bodyPr/>
        <a:lstStyle/>
        <a:p>
          <a:endParaRPr lang="en-US"/>
        </a:p>
      </dgm:t>
    </dgm:pt>
    <dgm:pt modelId="{2BFF382C-014A-470F-9223-C6A9957DA6DE}" type="pres">
      <dgm:prSet presAssocID="{837245AD-A41D-4343-A9D3-CA7C04028DDD}" presName="Name0" presStyleCnt="0">
        <dgm:presLayoutVars>
          <dgm:chPref val="1"/>
          <dgm:dir/>
          <dgm:animOne val="branch"/>
          <dgm:animLvl val="lvl"/>
          <dgm:resizeHandles/>
        </dgm:presLayoutVars>
      </dgm:prSet>
      <dgm:spPr/>
    </dgm:pt>
    <dgm:pt modelId="{B281B4EA-64AF-45B8-A662-1D5C549E6150}" type="pres">
      <dgm:prSet presAssocID="{726A3004-929B-4103-8430-7A8973B3E923}" presName="vertOne" presStyleCnt="0"/>
      <dgm:spPr/>
    </dgm:pt>
    <dgm:pt modelId="{C5B2FC42-B216-4734-83CF-38272BA6FCEB}" type="pres">
      <dgm:prSet presAssocID="{726A3004-929B-4103-8430-7A8973B3E923}" presName="txOne" presStyleLbl="node0" presStyleIdx="0" presStyleCnt="1">
        <dgm:presLayoutVars>
          <dgm:chPref val="3"/>
        </dgm:presLayoutVars>
      </dgm:prSet>
      <dgm:spPr/>
    </dgm:pt>
    <dgm:pt modelId="{230150E8-F77B-460C-8833-95C158769CE9}" type="pres">
      <dgm:prSet presAssocID="{726A3004-929B-4103-8430-7A8973B3E923}" presName="parTransOne" presStyleCnt="0"/>
      <dgm:spPr/>
    </dgm:pt>
    <dgm:pt modelId="{1C75D833-36E8-4BC4-A8A7-38C71EBC213F}" type="pres">
      <dgm:prSet presAssocID="{726A3004-929B-4103-8430-7A8973B3E923}" presName="horzOne" presStyleCnt="0"/>
      <dgm:spPr/>
    </dgm:pt>
    <dgm:pt modelId="{6214386A-B2F3-4D37-A9E3-D0C8F262DB9C}" type="pres">
      <dgm:prSet presAssocID="{3F8DCFE2-642C-47B4-9423-7EECAB2D76D8}" presName="vertTwo" presStyleCnt="0"/>
      <dgm:spPr/>
    </dgm:pt>
    <dgm:pt modelId="{F4004984-FFD2-4BA4-ADD0-FEFC383BFEE4}" type="pres">
      <dgm:prSet presAssocID="{3F8DCFE2-642C-47B4-9423-7EECAB2D76D8}" presName="txTwo" presStyleLbl="node2" presStyleIdx="0" presStyleCnt="2">
        <dgm:presLayoutVars>
          <dgm:chPref val="3"/>
        </dgm:presLayoutVars>
      </dgm:prSet>
      <dgm:spPr/>
    </dgm:pt>
    <dgm:pt modelId="{719EDB06-D1CA-4C3F-8368-F2B77F8CBE91}" type="pres">
      <dgm:prSet presAssocID="{3F8DCFE2-642C-47B4-9423-7EECAB2D76D8}" presName="parTransTwo" presStyleCnt="0"/>
      <dgm:spPr/>
    </dgm:pt>
    <dgm:pt modelId="{F8292933-0384-4B14-8EDD-4CE6E4376B03}" type="pres">
      <dgm:prSet presAssocID="{3F8DCFE2-642C-47B4-9423-7EECAB2D76D8}" presName="horzTwo" presStyleCnt="0"/>
      <dgm:spPr/>
    </dgm:pt>
    <dgm:pt modelId="{4CAD5A10-7229-45EB-86E3-77DF6869A07B}" type="pres">
      <dgm:prSet presAssocID="{9D34D981-62B2-49F3-81A7-DD532E44633F}" presName="vertThree" presStyleCnt="0"/>
      <dgm:spPr/>
    </dgm:pt>
    <dgm:pt modelId="{0FEA7635-4C93-4C8F-BBFB-84735320C7C5}" type="pres">
      <dgm:prSet presAssocID="{9D34D981-62B2-49F3-81A7-DD532E44633F}" presName="txThree" presStyleLbl="node3" presStyleIdx="0" presStyleCnt="4">
        <dgm:presLayoutVars>
          <dgm:chPref val="3"/>
        </dgm:presLayoutVars>
      </dgm:prSet>
      <dgm:spPr/>
    </dgm:pt>
    <dgm:pt modelId="{404526E7-E3C1-4701-B7DA-8846026628ED}" type="pres">
      <dgm:prSet presAssocID="{9D34D981-62B2-49F3-81A7-DD532E44633F}" presName="horzThree" presStyleCnt="0"/>
      <dgm:spPr/>
    </dgm:pt>
    <dgm:pt modelId="{0A92FB3B-D986-4FC9-90BD-8D97049EC93B}" type="pres">
      <dgm:prSet presAssocID="{2C815A85-8603-4DF8-A524-5638C2450CB8}" presName="sibSpaceThree" presStyleCnt="0"/>
      <dgm:spPr/>
    </dgm:pt>
    <dgm:pt modelId="{F3912CD9-CCF1-4B9A-B078-1D298E2B3DFA}" type="pres">
      <dgm:prSet presAssocID="{0E2F6174-C31F-4247-99C7-267EB54ABC85}" presName="vertThree" presStyleCnt="0"/>
      <dgm:spPr/>
    </dgm:pt>
    <dgm:pt modelId="{742210CC-6AF6-48B8-886E-48B97EC47728}" type="pres">
      <dgm:prSet presAssocID="{0E2F6174-C31F-4247-99C7-267EB54ABC85}" presName="txThree" presStyleLbl="node3" presStyleIdx="1" presStyleCnt="4">
        <dgm:presLayoutVars>
          <dgm:chPref val="3"/>
        </dgm:presLayoutVars>
      </dgm:prSet>
      <dgm:spPr/>
    </dgm:pt>
    <dgm:pt modelId="{5823CF48-C189-4C21-B71C-F3F2315D1AD9}" type="pres">
      <dgm:prSet presAssocID="{0E2F6174-C31F-4247-99C7-267EB54ABC85}" presName="horzThree" presStyleCnt="0"/>
      <dgm:spPr/>
    </dgm:pt>
    <dgm:pt modelId="{32E4C871-5662-4B3C-81E4-FEFDE8FE23E6}" type="pres">
      <dgm:prSet presAssocID="{94066310-6E11-4857-AA28-9A6E5C4465F7}" presName="sibSpaceThree" presStyleCnt="0"/>
      <dgm:spPr/>
    </dgm:pt>
    <dgm:pt modelId="{FC538859-3B23-4CD8-86E8-C60807DF01E3}" type="pres">
      <dgm:prSet presAssocID="{100B22C2-5399-460C-845E-8C27CF2CD48D}" presName="vertThree" presStyleCnt="0"/>
      <dgm:spPr/>
    </dgm:pt>
    <dgm:pt modelId="{27D9E376-7BB5-44D1-9261-2A1E47E2EDB5}" type="pres">
      <dgm:prSet presAssocID="{100B22C2-5399-460C-845E-8C27CF2CD48D}" presName="txThree" presStyleLbl="node3" presStyleIdx="2" presStyleCnt="4">
        <dgm:presLayoutVars>
          <dgm:chPref val="3"/>
        </dgm:presLayoutVars>
      </dgm:prSet>
      <dgm:spPr/>
    </dgm:pt>
    <dgm:pt modelId="{89F754BB-E51E-4E2E-B5F8-3BD3E1479E02}" type="pres">
      <dgm:prSet presAssocID="{100B22C2-5399-460C-845E-8C27CF2CD48D}" presName="horzThree" presStyleCnt="0"/>
      <dgm:spPr/>
    </dgm:pt>
    <dgm:pt modelId="{33EB25E2-8FA8-43F1-A47C-76AD21C79F18}" type="pres">
      <dgm:prSet presAssocID="{5126F0F3-82AE-44CB-ADD9-2038A97C80D7}" presName="sibSpaceTwo" presStyleCnt="0"/>
      <dgm:spPr/>
    </dgm:pt>
    <dgm:pt modelId="{14023177-45D9-45A8-9DF3-0C17BC576DD3}" type="pres">
      <dgm:prSet presAssocID="{A63E4D40-2971-493A-8CDD-00C32AD22BAF}" presName="vertTwo" presStyleCnt="0"/>
      <dgm:spPr/>
    </dgm:pt>
    <dgm:pt modelId="{79FF8279-4F33-4462-BB48-1F7F07C3B476}" type="pres">
      <dgm:prSet presAssocID="{A63E4D40-2971-493A-8CDD-00C32AD22BAF}" presName="txTwo" presStyleLbl="node2" presStyleIdx="1" presStyleCnt="2">
        <dgm:presLayoutVars>
          <dgm:chPref val="3"/>
        </dgm:presLayoutVars>
      </dgm:prSet>
      <dgm:spPr/>
    </dgm:pt>
    <dgm:pt modelId="{A44F7FA1-5E7C-4936-BF25-EF991C1CA538}" type="pres">
      <dgm:prSet presAssocID="{A63E4D40-2971-493A-8CDD-00C32AD22BAF}" presName="parTransTwo" presStyleCnt="0"/>
      <dgm:spPr/>
    </dgm:pt>
    <dgm:pt modelId="{3DF1AA4F-E14D-472E-A9B8-E57B9D4F161B}" type="pres">
      <dgm:prSet presAssocID="{A63E4D40-2971-493A-8CDD-00C32AD22BAF}" presName="horzTwo" presStyleCnt="0"/>
      <dgm:spPr/>
    </dgm:pt>
    <dgm:pt modelId="{3A0B2701-7DB8-4BC3-8842-DCAFDEC01662}" type="pres">
      <dgm:prSet presAssocID="{D0FD87AC-812F-4547-9EF2-AADDF32CC2DF}" presName="vertThree" presStyleCnt="0"/>
      <dgm:spPr/>
    </dgm:pt>
    <dgm:pt modelId="{9588264B-C17E-49AA-ADB5-98C7150F6F18}" type="pres">
      <dgm:prSet presAssocID="{D0FD87AC-812F-4547-9EF2-AADDF32CC2DF}" presName="txThree" presStyleLbl="node3" presStyleIdx="3" presStyleCnt="4">
        <dgm:presLayoutVars>
          <dgm:chPref val="3"/>
        </dgm:presLayoutVars>
      </dgm:prSet>
      <dgm:spPr/>
    </dgm:pt>
    <dgm:pt modelId="{18652928-6AA4-4B28-B483-FBED89163DF1}" type="pres">
      <dgm:prSet presAssocID="{D0FD87AC-812F-4547-9EF2-AADDF32CC2DF}" presName="horzThree" presStyleCnt="0"/>
      <dgm:spPr/>
    </dgm:pt>
  </dgm:ptLst>
  <dgm:cxnLst>
    <dgm:cxn modelId="{FC37BA1E-1A4D-444E-BF2C-25C4CEF4B719}" type="presOf" srcId="{0E2F6174-C31F-4247-99C7-267EB54ABC85}" destId="{742210CC-6AF6-48B8-886E-48B97EC47728}" srcOrd="0" destOrd="0" presId="urn:microsoft.com/office/officeart/2005/8/layout/architecture"/>
    <dgm:cxn modelId="{B79B5B40-24E2-4894-9198-F87623854A45}" type="presOf" srcId="{3F8DCFE2-642C-47B4-9423-7EECAB2D76D8}" destId="{F4004984-FFD2-4BA4-ADD0-FEFC383BFEE4}" srcOrd="0" destOrd="0" presId="urn:microsoft.com/office/officeart/2005/8/layout/architecture"/>
    <dgm:cxn modelId="{8EECD475-E078-4547-B907-5E8C7CD1D93D}" type="presOf" srcId="{9D34D981-62B2-49F3-81A7-DD532E44633F}" destId="{0FEA7635-4C93-4C8F-BBFB-84735320C7C5}" srcOrd="0" destOrd="0" presId="urn:microsoft.com/office/officeart/2005/8/layout/architecture"/>
    <dgm:cxn modelId="{70B91856-4698-493D-B95F-F659282038A7}" srcId="{726A3004-929B-4103-8430-7A8973B3E923}" destId="{3F8DCFE2-642C-47B4-9423-7EECAB2D76D8}" srcOrd="0" destOrd="0" parTransId="{42080708-E201-4B99-A1F7-484025362D70}" sibTransId="{5126F0F3-82AE-44CB-ADD9-2038A97C80D7}"/>
    <dgm:cxn modelId="{041C2F85-70EE-4D64-A334-37A1AEE8B2E6}" type="presOf" srcId="{726A3004-929B-4103-8430-7A8973B3E923}" destId="{C5B2FC42-B216-4734-83CF-38272BA6FCEB}" srcOrd="0" destOrd="0" presId="urn:microsoft.com/office/officeart/2005/8/layout/architecture"/>
    <dgm:cxn modelId="{BDC791A1-3258-401B-823D-5CD2B5545150}" srcId="{A63E4D40-2971-493A-8CDD-00C32AD22BAF}" destId="{D0FD87AC-812F-4547-9EF2-AADDF32CC2DF}" srcOrd="0" destOrd="0" parTransId="{B77B12E1-94BD-4C8A-8C17-F622679F6CBF}" sibTransId="{B1218829-2B36-4935-94D9-7E00E788324E}"/>
    <dgm:cxn modelId="{3F55B5A4-A2A0-4976-BD29-4B8E7C049AC8}" srcId="{3F8DCFE2-642C-47B4-9423-7EECAB2D76D8}" destId="{9D34D981-62B2-49F3-81A7-DD532E44633F}" srcOrd="0" destOrd="0" parTransId="{D4D7F514-D2CB-41EC-85E9-2C716978C581}" sibTransId="{2C815A85-8603-4DF8-A524-5638C2450CB8}"/>
    <dgm:cxn modelId="{696DC1AB-4D56-4373-AEA3-5273162FA8B3}" type="presOf" srcId="{A63E4D40-2971-493A-8CDD-00C32AD22BAF}" destId="{79FF8279-4F33-4462-BB48-1F7F07C3B476}" srcOrd="0" destOrd="0" presId="urn:microsoft.com/office/officeart/2005/8/layout/architecture"/>
    <dgm:cxn modelId="{A133FCAB-3C3C-463A-A327-93F21CAF269F}" srcId="{3F8DCFE2-642C-47B4-9423-7EECAB2D76D8}" destId="{0E2F6174-C31F-4247-99C7-267EB54ABC85}" srcOrd="1" destOrd="0" parTransId="{8691B965-F2E9-4A67-839D-40924145801E}" sibTransId="{94066310-6E11-4857-AA28-9A6E5C4465F7}"/>
    <dgm:cxn modelId="{4F3CA5AE-FF77-4212-B3FE-91516C883620}" srcId="{3F8DCFE2-642C-47B4-9423-7EECAB2D76D8}" destId="{100B22C2-5399-460C-845E-8C27CF2CD48D}" srcOrd="2" destOrd="0" parTransId="{F1C60500-5F90-4A63-82F3-22E0A7426AE0}" sibTransId="{BFC33E42-517E-42CF-BFA6-4FBE1FB1AC4F}"/>
    <dgm:cxn modelId="{52B0CEC5-2795-452F-8840-95C9965E3059}" srcId="{726A3004-929B-4103-8430-7A8973B3E923}" destId="{A63E4D40-2971-493A-8CDD-00C32AD22BAF}" srcOrd="1" destOrd="0" parTransId="{D607A0B5-D523-401C-B8DA-BCB3F69882F9}" sibTransId="{26ECDC20-5D82-4DF7-A89F-342ABD8CC1B4}"/>
    <dgm:cxn modelId="{F05300D1-2E1B-4BAF-B851-3295583EE5C4}" type="presOf" srcId="{100B22C2-5399-460C-845E-8C27CF2CD48D}" destId="{27D9E376-7BB5-44D1-9261-2A1E47E2EDB5}" srcOrd="0" destOrd="0" presId="urn:microsoft.com/office/officeart/2005/8/layout/architecture"/>
    <dgm:cxn modelId="{628AC6D3-42BB-4746-B427-5FA45D7C27BD}" type="presOf" srcId="{837245AD-A41D-4343-A9D3-CA7C04028DDD}" destId="{2BFF382C-014A-470F-9223-C6A9957DA6DE}" srcOrd="0" destOrd="0" presId="urn:microsoft.com/office/officeart/2005/8/layout/architecture"/>
    <dgm:cxn modelId="{D58526DF-07EA-4516-B5F5-BB372999C7CB}" srcId="{837245AD-A41D-4343-A9D3-CA7C04028DDD}" destId="{726A3004-929B-4103-8430-7A8973B3E923}" srcOrd="0" destOrd="0" parTransId="{8F78662C-9E7B-4E34-A8CB-95AB4001C914}" sibTransId="{736AA78E-314D-494C-A357-9941C482530E}"/>
    <dgm:cxn modelId="{32581CF8-FE5A-437D-A7AC-B18D042D9806}" type="presOf" srcId="{D0FD87AC-812F-4547-9EF2-AADDF32CC2DF}" destId="{9588264B-C17E-49AA-ADB5-98C7150F6F18}" srcOrd="0" destOrd="0" presId="urn:microsoft.com/office/officeart/2005/8/layout/architecture"/>
    <dgm:cxn modelId="{34AEA7F9-A8DE-491E-A29F-5C8E97D63AF5}" type="presParOf" srcId="{2BFF382C-014A-470F-9223-C6A9957DA6DE}" destId="{B281B4EA-64AF-45B8-A662-1D5C549E6150}" srcOrd="0" destOrd="0" presId="urn:microsoft.com/office/officeart/2005/8/layout/architecture"/>
    <dgm:cxn modelId="{2BE6A0C8-0E03-464B-B7A7-C4CCC9DFD74D}" type="presParOf" srcId="{B281B4EA-64AF-45B8-A662-1D5C549E6150}" destId="{C5B2FC42-B216-4734-83CF-38272BA6FCEB}" srcOrd="0" destOrd="0" presId="urn:microsoft.com/office/officeart/2005/8/layout/architecture"/>
    <dgm:cxn modelId="{2604EC62-6ECB-425F-8303-8832843DA6B7}" type="presParOf" srcId="{B281B4EA-64AF-45B8-A662-1D5C549E6150}" destId="{230150E8-F77B-460C-8833-95C158769CE9}" srcOrd="1" destOrd="0" presId="urn:microsoft.com/office/officeart/2005/8/layout/architecture"/>
    <dgm:cxn modelId="{4B7BD494-96A8-4844-9FCF-AC94DFFF4E5C}" type="presParOf" srcId="{B281B4EA-64AF-45B8-A662-1D5C549E6150}" destId="{1C75D833-36E8-4BC4-A8A7-38C71EBC213F}" srcOrd="2" destOrd="0" presId="urn:microsoft.com/office/officeart/2005/8/layout/architecture"/>
    <dgm:cxn modelId="{2A4546BD-3330-4F7F-84F7-6E9C19279F32}" type="presParOf" srcId="{1C75D833-36E8-4BC4-A8A7-38C71EBC213F}" destId="{6214386A-B2F3-4D37-A9E3-D0C8F262DB9C}" srcOrd="0" destOrd="0" presId="urn:microsoft.com/office/officeart/2005/8/layout/architecture"/>
    <dgm:cxn modelId="{FB160A4F-EAC2-4A75-A4F7-3614D22F74CA}" type="presParOf" srcId="{6214386A-B2F3-4D37-A9E3-D0C8F262DB9C}" destId="{F4004984-FFD2-4BA4-ADD0-FEFC383BFEE4}" srcOrd="0" destOrd="0" presId="urn:microsoft.com/office/officeart/2005/8/layout/architecture"/>
    <dgm:cxn modelId="{D25C6995-AA54-44DF-AD82-8002F0903715}" type="presParOf" srcId="{6214386A-B2F3-4D37-A9E3-D0C8F262DB9C}" destId="{719EDB06-D1CA-4C3F-8368-F2B77F8CBE91}" srcOrd="1" destOrd="0" presId="urn:microsoft.com/office/officeart/2005/8/layout/architecture"/>
    <dgm:cxn modelId="{4E499147-54F6-46F4-9878-5352E0BD0130}" type="presParOf" srcId="{6214386A-B2F3-4D37-A9E3-D0C8F262DB9C}" destId="{F8292933-0384-4B14-8EDD-4CE6E4376B03}" srcOrd="2" destOrd="0" presId="urn:microsoft.com/office/officeart/2005/8/layout/architecture"/>
    <dgm:cxn modelId="{1A5703E0-79A9-4ABB-9FE9-F39B617FA0A2}" type="presParOf" srcId="{F8292933-0384-4B14-8EDD-4CE6E4376B03}" destId="{4CAD5A10-7229-45EB-86E3-77DF6869A07B}" srcOrd="0" destOrd="0" presId="urn:microsoft.com/office/officeart/2005/8/layout/architecture"/>
    <dgm:cxn modelId="{809A0216-3A39-4210-B32E-2EBDC564FA86}" type="presParOf" srcId="{4CAD5A10-7229-45EB-86E3-77DF6869A07B}" destId="{0FEA7635-4C93-4C8F-BBFB-84735320C7C5}" srcOrd="0" destOrd="0" presId="urn:microsoft.com/office/officeart/2005/8/layout/architecture"/>
    <dgm:cxn modelId="{2A0F0802-0BF9-4700-B165-790EE6B285AC}" type="presParOf" srcId="{4CAD5A10-7229-45EB-86E3-77DF6869A07B}" destId="{404526E7-E3C1-4701-B7DA-8846026628ED}" srcOrd="1" destOrd="0" presId="urn:microsoft.com/office/officeart/2005/8/layout/architecture"/>
    <dgm:cxn modelId="{30DBCA48-976A-42C5-B917-04319BF2DC9C}" type="presParOf" srcId="{F8292933-0384-4B14-8EDD-4CE6E4376B03}" destId="{0A92FB3B-D986-4FC9-90BD-8D97049EC93B}" srcOrd="1" destOrd="0" presId="urn:microsoft.com/office/officeart/2005/8/layout/architecture"/>
    <dgm:cxn modelId="{620F0931-A568-4CA8-978E-0795AC656901}" type="presParOf" srcId="{F8292933-0384-4B14-8EDD-4CE6E4376B03}" destId="{F3912CD9-CCF1-4B9A-B078-1D298E2B3DFA}" srcOrd="2" destOrd="0" presId="urn:microsoft.com/office/officeart/2005/8/layout/architecture"/>
    <dgm:cxn modelId="{54B1CD87-C8A1-429E-9ADC-3BDD80E6DC20}" type="presParOf" srcId="{F3912CD9-CCF1-4B9A-B078-1D298E2B3DFA}" destId="{742210CC-6AF6-48B8-886E-48B97EC47728}" srcOrd="0" destOrd="0" presId="urn:microsoft.com/office/officeart/2005/8/layout/architecture"/>
    <dgm:cxn modelId="{1F7DE219-7854-451F-90D1-9CAC90A7EB26}" type="presParOf" srcId="{F3912CD9-CCF1-4B9A-B078-1D298E2B3DFA}" destId="{5823CF48-C189-4C21-B71C-F3F2315D1AD9}" srcOrd="1" destOrd="0" presId="urn:microsoft.com/office/officeart/2005/8/layout/architecture"/>
    <dgm:cxn modelId="{7545D351-9F10-4AC0-AD83-04FF0C6189D9}" type="presParOf" srcId="{F8292933-0384-4B14-8EDD-4CE6E4376B03}" destId="{32E4C871-5662-4B3C-81E4-FEFDE8FE23E6}" srcOrd="3" destOrd="0" presId="urn:microsoft.com/office/officeart/2005/8/layout/architecture"/>
    <dgm:cxn modelId="{3F8707A5-2F00-4EEF-9379-C1024CAB15D6}" type="presParOf" srcId="{F8292933-0384-4B14-8EDD-4CE6E4376B03}" destId="{FC538859-3B23-4CD8-86E8-C60807DF01E3}" srcOrd="4" destOrd="0" presId="urn:microsoft.com/office/officeart/2005/8/layout/architecture"/>
    <dgm:cxn modelId="{5A913D57-7E32-4ECA-929D-F2A218EF6AA6}" type="presParOf" srcId="{FC538859-3B23-4CD8-86E8-C60807DF01E3}" destId="{27D9E376-7BB5-44D1-9261-2A1E47E2EDB5}" srcOrd="0" destOrd="0" presId="urn:microsoft.com/office/officeart/2005/8/layout/architecture"/>
    <dgm:cxn modelId="{DD509E33-3D45-468B-9AFD-259C3B5FE6C5}" type="presParOf" srcId="{FC538859-3B23-4CD8-86E8-C60807DF01E3}" destId="{89F754BB-E51E-4E2E-B5F8-3BD3E1479E02}" srcOrd="1" destOrd="0" presId="urn:microsoft.com/office/officeart/2005/8/layout/architecture"/>
    <dgm:cxn modelId="{5BA89B75-3E87-4E80-B0AF-54152969F827}" type="presParOf" srcId="{1C75D833-36E8-4BC4-A8A7-38C71EBC213F}" destId="{33EB25E2-8FA8-43F1-A47C-76AD21C79F18}" srcOrd="1" destOrd="0" presId="urn:microsoft.com/office/officeart/2005/8/layout/architecture"/>
    <dgm:cxn modelId="{F823CEE8-7C62-4F3C-9BD2-5660EE548D3B}" type="presParOf" srcId="{1C75D833-36E8-4BC4-A8A7-38C71EBC213F}" destId="{14023177-45D9-45A8-9DF3-0C17BC576DD3}" srcOrd="2" destOrd="0" presId="urn:microsoft.com/office/officeart/2005/8/layout/architecture"/>
    <dgm:cxn modelId="{2A60A70D-FF69-4B8B-BE5B-3E11ECB9A430}" type="presParOf" srcId="{14023177-45D9-45A8-9DF3-0C17BC576DD3}" destId="{79FF8279-4F33-4462-BB48-1F7F07C3B476}" srcOrd="0" destOrd="0" presId="urn:microsoft.com/office/officeart/2005/8/layout/architecture"/>
    <dgm:cxn modelId="{E055705B-AA53-4ACB-B5D3-1E9DF814A977}" type="presParOf" srcId="{14023177-45D9-45A8-9DF3-0C17BC576DD3}" destId="{A44F7FA1-5E7C-4936-BF25-EF991C1CA538}" srcOrd="1" destOrd="0" presId="urn:microsoft.com/office/officeart/2005/8/layout/architecture"/>
    <dgm:cxn modelId="{38A1DF35-91A3-4F66-A9B9-28CAA1AA965A}" type="presParOf" srcId="{14023177-45D9-45A8-9DF3-0C17BC576DD3}" destId="{3DF1AA4F-E14D-472E-A9B8-E57B9D4F161B}" srcOrd="2" destOrd="0" presId="urn:microsoft.com/office/officeart/2005/8/layout/architecture"/>
    <dgm:cxn modelId="{20584E93-0717-47AC-B4E1-D72CA9947C23}" type="presParOf" srcId="{3DF1AA4F-E14D-472E-A9B8-E57B9D4F161B}" destId="{3A0B2701-7DB8-4BC3-8842-DCAFDEC01662}" srcOrd="0" destOrd="0" presId="urn:microsoft.com/office/officeart/2005/8/layout/architecture"/>
    <dgm:cxn modelId="{812B08BE-8C59-4535-9275-AE48FCBF490A}" type="presParOf" srcId="{3A0B2701-7DB8-4BC3-8842-DCAFDEC01662}" destId="{9588264B-C17E-49AA-ADB5-98C7150F6F18}" srcOrd="0" destOrd="0" presId="urn:microsoft.com/office/officeart/2005/8/layout/architecture"/>
    <dgm:cxn modelId="{6E42C8A3-C66A-41F3-AC04-C159DAED0D84}" type="presParOf" srcId="{3A0B2701-7DB8-4BC3-8842-DCAFDEC01662}" destId="{18652928-6AA4-4B28-B483-FBED89163DF1}" srcOrd="1" destOrd="0" presId="urn:microsoft.com/office/officeart/2005/8/layout/architecture"/>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37DDF58-A955-45EB-A2EE-2A4D0C665B8A}"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E2FF4260-45E4-48CE-90B0-1B7A3A34CB5E}">
      <dgm:prSet phldrT="[Text]" phldr="0"/>
      <dgm:spPr/>
      <dgm:t>
        <a:bodyPr/>
        <a:lstStyle/>
        <a:p>
          <a:pPr rtl="0"/>
          <a:r>
            <a:rPr lang="en-US">
              <a:latin typeface="Calibri Light" panose="020F0302020204030204"/>
            </a:rPr>
            <a:t>Client Requests to Cancel</a:t>
          </a:r>
        </a:p>
      </dgm:t>
    </dgm:pt>
    <dgm:pt modelId="{92D301D8-29F7-4989-AFDB-E32414E7908D}" type="parTrans" cxnId="{A3D44C54-A689-4C93-AF84-C556A80834A3}">
      <dgm:prSet/>
      <dgm:spPr/>
      <dgm:t>
        <a:bodyPr/>
        <a:lstStyle/>
        <a:p>
          <a:endParaRPr lang="en-US"/>
        </a:p>
      </dgm:t>
    </dgm:pt>
    <dgm:pt modelId="{3C268CB1-1535-4785-A80E-E7F2BC78A7FF}" type="sibTrans" cxnId="{A3D44C54-A689-4C93-AF84-C556A80834A3}">
      <dgm:prSet/>
      <dgm:spPr/>
      <dgm:t>
        <a:bodyPr/>
        <a:lstStyle/>
        <a:p>
          <a:endParaRPr lang="en-US"/>
        </a:p>
      </dgm:t>
    </dgm:pt>
    <dgm:pt modelId="{F3304E17-9872-4A49-A500-0661D0824631}">
      <dgm:prSet phldr="0"/>
      <dgm:spPr/>
      <dgm:t>
        <a:bodyPr/>
        <a:lstStyle/>
        <a:p>
          <a:r>
            <a:rPr lang="en-US">
              <a:latin typeface="Calibri Light" panose="020F0302020204030204"/>
            </a:rPr>
            <a:t>Does it benefit the client's circumstances to reject the loan offer and maintain their debt settlement program?</a:t>
          </a:r>
          <a:endParaRPr lang="en-US"/>
        </a:p>
      </dgm:t>
    </dgm:pt>
    <dgm:pt modelId="{F01D2935-570F-4E86-9624-B4722FD683E9}" type="parTrans" cxnId="{B60B08E2-3EF4-4CAF-8638-4A8DCADAE3BE}">
      <dgm:prSet/>
      <dgm:spPr/>
    </dgm:pt>
    <dgm:pt modelId="{BFF517D4-1F16-421C-AFC7-D72CECCA49BA}" type="sibTrans" cxnId="{B60B08E2-3EF4-4CAF-8638-4A8DCADAE3BE}">
      <dgm:prSet/>
      <dgm:spPr/>
    </dgm:pt>
    <dgm:pt modelId="{C3D1D5DA-1B14-41F3-8024-D9DE3134E41A}">
      <dgm:prSet phldr="0"/>
      <dgm:spPr/>
      <dgm:t>
        <a:bodyPr/>
        <a:lstStyle/>
        <a:p>
          <a:r>
            <a:rPr lang="en-US">
              <a:latin typeface="Calibri Light" panose="020F0302020204030204"/>
            </a:rPr>
            <a:t>Resolve:</a:t>
          </a:r>
        </a:p>
      </dgm:t>
    </dgm:pt>
    <dgm:pt modelId="{1D3EA080-7E30-4543-95CD-BCB85404F077}" type="parTrans" cxnId="{779F4589-DD2F-43D3-8263-CB55F3089D29}">
      <dgm:prSet/>
      <dgm:spPr/>
    </dgm:pt>
    <dgm:pt modelId="{2C68D227-57E6-4825-BB86-D83727B49FF3}" type="sibTrans" cxnId="{779F4589-DD2F-43D3-8263-CB55F3089D29}">
      <dgm:prSet/>
      <dgm:spPr/>
    </dgm:pt>
    <dgm:pt modelId="{CD7CF7FB-BBAC-4769-9A0E-E02CFCD65AC3}">
      <dgm:prSet phldr="0"/>
      <dgm:spPr/>
      <dgm:t>
        <a:bodyPr/>
        <a:lstStyle/>
        <a:p>
          <a:pPr rtl="0"/>
          <a:r>
            <a:rPr lang="en-US">
              <a:latin typeface="Calibri Light" panose="020F0302020204030204"/>
            </a:rPr>
            <a:t>How far has the client gotten in the DC Pipeline</a:t>
          </a:r>
        </a:p>
      </dgm:t>
    </dgm:pt>
    <dgm:pt modelId="{D620CC72-311C-4826-8C2D-048B52F8380D}" type="parTrans" cxnId="{56817EF7-7DC8-4ADA-BA6F-738B26DC6DAD}">
      <dgm:prSet/>
      <dgm:spPr/>
    </dgm:pt>
    <dgm:pt modelId="{A49D0B79-E0DB-47F8-BA3A-980A7CE5123E}" type="sibTrans" cxnId="{56817EF7-7DC8-4ADA-BA6F-738B26DC6DAD}">
      <dgm:prSet/>
      <dgm:spPr/>
    </dgm:pt>
    <dgm:pt modelId="{8B280E7D-52A5-4925-A52C-D525EDC32D68}">
      <dgm:prSet phldr="0"/>
      <dgm:spPr/>
      <dgm:t>
        <a:bodyPr/>
        <a:lstStyle/>
        <a:p>
          <a:pPr rtl="0"/>
          <a:r>
            <a:rPr lang="en-US">
              <a:latin typeface="Calibri Light" panose="020F0302020204030204"/>
            </a:rPr>
            <a:t>Discover:</a:t>
          </a:r>
        </a:p>
      </dgm:t>
    </dgm:pt>
    <dgm:pt modelId="{91E48572-E6F5-4386-86A6-D1A5640EFE38}" type="parTrans" cxnId="{EFC90633-4942-460A-AC34-DB3C88A88557}">
      <dgm:prSet/>
      <dgm:spPr/>
    </dgm:pt>
    <dgm:pt modelId="{50082688-2452-4F2C-8729-48EE00D53553}" type="sibTrans" cxnId="{EFC90633-4942-460A-AC34-DB3C88A88557}">
      <dgm:prSet/>
      <dgm:spPr/>
    </dgm:pt>
    <dgm:pt modelId="{6DCA2838-89F3-4211-82B8-4C35209572A0}">
      <dgm:prSet phldr="0"/>
      <dgm:spPr/>
      <dgm:t>
        <a:bodyPr/>
        <a:lstStyle/>
        <a:p>
          <a:pPr rtl="0"/>
          <a:r>
            <a:rPr lang="en-US">
              <a:latin typeface="Calibri Light" panose="020F0302020204030204"/>
            </a:rPr>
            <a:t>COA needs to notify the Lending Partner of any changes/rejection of the loan</a:t>
          </a:r>
        </a:p>
      </dgm:t>
    </dgm:pt>
    <dgm:pt modelId="{92D6BEE3-4FE0-4D89-8F15-EA597E839346}" type="parTrans" cxnId="{74597B1D-B91E-4858-A12C-BC7F9D032B33}">
      <dgm:prSet/>
      <dgm:spPr/>
    </dgm:pt>
    <dgm:pt modelId="{5CB2E784-DD4E-46DF-ACF2-0B6E9CC8EF19}" type="sibTrans" cxnId="{74597B1D-B91E-4858-A12C-BC7F9D032B33}">
      <dgm:prSet/>
      <dgm:spPr/>
    </dgm:pt>
    <dgm:pt modelId="{86261CD6-A24F-4F8F-B6EC-79F4C06DE59C}">
      <dgm:prSet phldr="0"/>
      <dgm:spPr/>
      <dgm:t>
        <a:bodyPr/>
        <a:lstStyle/>
        <a:p>
          <a:pPr rtl="0"/>
          <a:r>
            <a:rPr lang="en-US">
              <a:latin typeface="Calibri Light" panose="020F0302020204030204"/>
            </a:rPr>
            <a:t>Resolve:</a:t>
          </a:r>
          <a:endParaRPr lang="en-US"/>
        </a:p>
      </dgm:t>
    </dgm:pt>
    <dgm:pt modelId="{3FF6E0E5-D184-4B38-95B1-C4564D92E308}" type="parTrans" cxnId="{4904C549-FC93-4F04-82EB-3C389B9F5025}">
      <dgm:prSet/>
      <dgm:spPr/>
    </dgm:pt>
    <dgm:pt modelId="{92A34C2C-8533-40CD-B939-BBACA3237215}" type="sibTrans" cxnId="{4904C549-FC93-4F04-82EB-3C389B9F5025}">
      <dgm:prSet/>
      <dgm:spPr/>
    </dgm:pt>
    <dgm:pt modelId="{86BEFBBC-8BEC-47FD-9B77-72578577A814}">
      <dgm:prSet phldr="0"/>
      <dgm:spPr/>
      <dgm:t>
        <a:bodyPr/>
        <a:lstStyle/>
        <a:p>
          <a:pPr rtl="0"/>
          <a:r>
            <a:rPr lang="en-US">
              <a:latin typeface="Calibri Light" panose="020F0302020204030204"/>
            </a:rPr>
            <a:t>Debt Settlement Option</a:t>
          </a:r>
        </a:p>
      </dgm:t>
    </dgm:pt>
    <dgm:pt modelId="{76BF752E-6C17-4509-87CB-4BA7814CEC43}" type="parTrans" cxnId="{8005B59E-17A7-405C-9197-AE3969DE085B}">
      <dgm:prSet/>
      <dgm:spPr/>
    </dgm:pt>
    <dgm:pt modelId="{CCCFE692-C65C-49C5-9165-8EF64FF5F776}" type="sibTrans" cxnId="{8005B59E-17A7-405C-9197-AE3969DE085B}">
      <dgm:prSet/>
      <dgm:spPr/>
    </dgm:pt>
    <dgm:pt modelId="{82B1860F-AB19-4E8D-94DC-09527C5377B7}">
      <dgm:prSet phldr="0"/>
      <dgm:spPr/>
      <dgm:t>
        <a:bodyPr/>
        <a:lstStyle/>
        <a:p>
          <a:pPr rtl="0"/>
          <a:r>
            <a:rPr lang="en-US">
              <a:latin typeface="Calibri Light" panose="020F0302020204030204"/>
            </a:rPr>
            <a:t>Finalizing Cancel</a:t>
          </a:r>
        </a:p>
      </dgm:t>
    </dgm:pt>
    <dgm:pt modelId="{260A7035-4E03-4EB2-A768-F2D8B35D9BD6}" type="parTrans" cxnId="{5274B9EE-1316-46C5-B272-84D012C83A16}">
      <dgm:prSet/>
      <dgm:spPr/>
    </dgm:pt>
    <dgm:pt modelId="{C22090A9-85CF-451E-9447-B752615AEF2F}" type="sibTrans" cxnId="{5274B9EE-1316-46C5-B272-84D012C83A16}">
      <dgm:prSet/>
      <dgm:spPr/>
    </dgm:pt>
    <dgm:pt modelId="{58703F11-323D-469C-9250-1829D288684D}">
      <dgm:prSet phldr="0"/>
      <dgm:spPr/>
      <dgm:t>
        <a:bodyPr/>
        <a:lstStyle/>
        <a:p>
          <a:pPr rtl="0"/>
          <a:r>
            <a:rPr lang="en-US">
              <a:latin typeface="Calibri Light" panose="020F0302020204030204"/>
            </a:rPr>
            <a:t>Starting a cancel request &amp; contacting </a:t>
          </a:r>
          <a:r>
            <a:rPr lang="en-US" b="0" i="0">
              <a:latin typeface="Calibri Light" panose="020F0302020204030204"/>
            </a:rPr>
            <a:t>DC Loan Product before submitting to Accounting</a:t>
          </a:r>
        </a:p>
      </dgm:t>
    </dgm:pt>
    <dgm:pt modelId="{4AE79517-4352-4725-8CE7-830313DC0394}" type="parTrans" cxnId="{5A479B7B-D999-4663-A0B8-AEDF9A399D70}">
      <dgm:prSet/>
      <dgm:spPr/>
    </dgm:pt>
    <dgm:pt modelId="{1066D1BE-2348-4F9D-A0BD-BE9E29582169}" type="sibTrans" cxnId="{5A479B7B-D999-4663-A0B8-AEDF9A399D70}">
      <dgm:prSet/>
      <dgm:spPr/>
    </dgm:pt>
    <dgm:pt modelId="{E8247148-902C-4512-B7E0-197F4E56FA17}" type="pres">
      <dgm:prSet presAssocID="{537DDF58-A955-45EB-A2EE-2A4D0C665B8A}" presName="mainComposite" presStyleCnt="0">
        <dgm:presLayoutVars>
          <dgm:chPref val="1"/>
          <dgm:dir/>
          <dgm:animOne val="branch"/>
          <dgm:animLvl val="lvl"/>
          <dgm:resizeHandles val="exact"/>
        </dgm:presLayoutVars>
      </dgm:prSet>
      <dgm:spPr/>
    </dgm:pt>
    <dgm:pt modelId="{19A029F7-4FFA-49FD-A7DE-652182DEB289}" type="pres">
      <dgm:prSet presAssocID="{537DDF58-A955-45EB-A2EE-2A4D0C665B8A}" presName="hierFlow" presStyleCnt="0"/>
      <dgm:spPr/>
    </dgm:pt>
    <dgm:pt modelId="{8FDEFE50-C1C3-44FA-8118-F4F80F5BC5BD}" type="pres">
      <dgm:prSet presAssocID="{537DDF58-A955-45EB-A2EE-2A4D0C665B8A}" presName="firstBuf" presStyleCnt="0"/>
      <dgm:spPr/>
    </dgm:pt>
    <dgm:pt modelId="{96DCAA2A-3751-45D5-8B7D-F201186042C8}" type="pres">
      <dgm:prSet presAssocID="{537DDF58-A955-45EB-A2EE-2A4D0C665B8A}" presName="hierChild1" presStyleCnt="0">
        <dgm:presLayoutVars>
          <dgm:chPref val="1"/>
          <dgm:animOne val="branch"/>
          <dgm:animLvl val="lvl"/>
        </dgm:presLayoutVars>
      </dgm:prSet>
      <dgm:spPr/>
    </dgm:pt>
    <dgm:pt modelId="{510E9D47-7EBF-46FB-A245-D2C10CB3316B}" type="pres">
      <dgm:prSet presAssocID="{E2FF4260-45E4-48CE-90B0-1B7A3A34CB5E}" presName="Name14" presStyleCnt="0"/>
      <dgm:spPr/>
    </dgm:pt>
    <dgm:pt modelId="{3FB4C982-8A4C-439D-92BD-9FF08B000F95}" type="pres">
      <dgm:prSet presAssocID="{E2FF4260-45E4-48CE-90B0-1B7A3A34CB5E}" presName="level1Shape" presStyleLbl="node0" presStyleIdx="0" presStyleCnt="1">
        <dgm:presLayoutVars>
          <dgm:chPref val="3"/>
        </dgm:presLayoutVars>
      </dgm:prSet>
      <dgm:spPr/>
    </dgm:pt>
    <dgm:pt modelId="{2ECFD432-01FB-44FC-AA99-36D338DB71F0}" type="pres">
      <dgm:prSet presAssocID="{E2FF4260-45E4-48CE-90B0-1B7A3A34CB5E}" presName="hierChild2" presStyleCnt="0"/>
      <dgm:spPr/>
    </dgm:pt>
    <dgm:pt modelId="{3B88B248-DC86-426B-AC98-E3B7F5B5B563}" type="pres">
      <dgm:prSet presAssocID="{D620CC72-311C-4826-8C2D-048B52F8380D}" presName="Name19" presStyleLbl="parChTrans1D2" presStyleIdx="0" presStyleCnt="1"/>
      <dgm:spPr/>
    </dgm:pt>
    <dgm:pt modelId="{C7C9A34C-4626-49F9-9F9A-96EF4EA1EFE7}" type="pres">
      <dgm:prSet presAssocID="{CD7CF7FB-BBAC-4769-9A0E-E02CFCD65AC3}" presName="Name21" presStyleCnt="0"/>
      <dgm:spPr/>
    </dgm:pt>
    <dgm:pt modelId="{FDD23FE1-F814-438D-A706-38B21997285A}" type="pres">
      <dgm:prSet presAssocID="{CD7CF7FB-BBAC-4769-9A0E-E02CFCD65AC3}" presName="level2Shape" presStyleLbl="node2" presStyleIdx="0" presStyleCnt="1"/>
      <dgm:spPr/>
    </dgm:pt>
    <dgm:pt modelId="{A2E3F874-16CD-466C-A5BF-AB92B40A3811}" type="pres">
      <dgm:prSet presAssocID="{CD7CF7FB-BBAC-4769-9A0E-E02CFCD65AC3}" presName="hierChild3" presStyleCnt="0"/>
      <dgm:spPr/>
    </dgm:pt>
    <dgm:pt modelId="{78B2E837-6D33-49CE-8677-3D32D4E2A935}" type="pres">
      <dgm:prSet presAssocID="{76BF752E-6C17-4509-87CB-4BA7814CEC43}" presName="Name19" presStyleLbl="parChTrans1D3" presStyleIdx="0" presStyleCnt="2"/>
      <dgm:spPr/>
    </dgm:pt>
    <dgm:pt modelId="{8C8EF430-6BED-4A18-87FE-30FF8FA029E2}" type="pres">
      <dgm:prSet presAssocID="{86BEFBBC-8BEC-47FD-9B77-72578577A814}" presName="Name21" presStyleCnt="0"/>
      <dgm:spPr/>
    </dgm:pt>
    <dgm:pt modelId="{C57515A9-3180-4420-8434-1C1B2ADC70A8}" type="pres">
      <dgm:prSet presAssocID="{86BEFBBC-8BEC-47FD-9B77-72578577A814}" presName="level2Shape" presStyleLbl="node3" presStyleIdx="0" presStyleCnt="2"/>
      <dgm:spPr/>
    </dgm:pt>
    <dgm:pt modelId="{FE85AFC7-716A-4A04-8315-5DB2D3DBBD46}" type="pres">
      <dgm:prSet presAssocID="{86BEFBBC-8BEC-47FD-9B77-72578577A814}" presName="hierChild3" presStyleCnt="0"/>
      <dgm:spPr/>
    </dgm:pt>
    <dgm:pt modelId="{28F9D623-876E-4996-95F4-BD47F5C1CC33}" type="pres">
      <dgm:prSet presAssocID="{260A7035-4E03-4EB2-A768-F2D8B35D9BD6}" presName="Name19" presStyleLbl="parChTrans1D3" presStyleIdx="1" presStyleCnt="2"/>
      <dgm:spPr/>
    </dgm:pt>
    <dgm:pt modelId="{5219201B-F20F-4253-9173-CA0768A1DAAB}" type="pres">
      <dgm:prSet presAssocID="{82B1860F-AB19-4E8D-94DC-09527C5377B7}" presName="Name21" presStyleCnt="0"/>
      <dgm:spPr/>
    </dgm:pt>
    <dgm:pt modelId="{CB4C93B7-F258-41FE-B47E-A18D9771110F}" type="pres">
      <dgm:prSet presAssocID="{82B1860F-AB19-4E8D-94DC-09527C5377B7}" presName="level2Shape" presStyleLbl="node3" presStyleIdx="1" presStyleCnt="2"/>
      <dgm:spPr/>
    </dgm:pt>
    <dgm:pt modelId="{31440E1B-E52D-422D-A9CD-E91B34425D79}" type="pres">
      <dgm:prSet presAssocID="{82B1860F-AB19-4E8D-94DC-09527C5377B7}" presName="hierChild3" presStyleCnt="0"/>
      <dgm:spPr/>
    </dgm:pt>
    <dgm:pt modelId="{21B2A8E3-91FF-40DC-A2BE-89A0C8145E68}" type="pres">
      <dgm:prSet presAssocID="{537DDF58-A955-45EB-A2EE-2A4D0C665B8A}" presName="bgShapesFlow" presStyleCnt="0"/>
      <dgm:spPr/>
    </dgm:pt>
    <dgm:pt modelId="{EEDD62B7-8FAB-43D5-A405-AD0385626549}" type="pres">
      <dgm:prSet presAssocID="{8B280E7D-52A5-4925-A52C-D525EDC32D68}" presName="rectComp" presStyleCnt="0"/>
      <dgm:spPr/>
    </dgm:pt>
    <dgm:pt modelId="{47F187BB-FC98-4490-AB12-00B0CE9F29A9}" type="pres">
      <dgm:prSet presAssocID="{8B280E7D-52A5-4925-A52C-D525EDC32D68}" presName="bgRect" presStyleLbl="bgShp" presStyleIdx="0" presStyleCnt="3"/>
      <dgm:spPr/>
    </dgm:pt>
    <dgm:pt modelId="{584F91DE-3403-467E-AEFE-C31C304D8FDB}" type="pres">
      <dgm:prSet presAssocID="{8B280E7D-52A5-4925-A52C-D525EDC32D68}" presName="bgRectTx" presStyleLbl="bgShp" presStyleIdx="0" presStyleCnt="3">
        <dgm:presLayoutVars>
          <dgm:bulletEnabled val="1"/>
        </dgm:presLayoutVars>
      </dgm:prSet>
      <dgm:spPr/>
    </dgm:pt>
    <dgm:pt modelId="{857ECAEE-7430-419F-97C0-5DB9467D3544}" type="pres">
      <dgm:prSet presAssocID="{8B280E7D-52A5-4925-A52C-D525EDC32D68}" presName="spComp" presStyleCnt="0"/>
      <dgm:spPr/>
    </dgm:pt>
    <dgm:pt modelId="{A4721F20-7F52-4EEC-99E7-8A6E1C0329DB}" type="pres">
      <dgm:prSet presAssocID="{8B280E7D-52A5-4925-A52C-D525EDC32D68}" presName="vSp" presStyleCnt="0"/>
      <dgm:spPr/>
    </dgm:pt>
    <dgm:pt modelId="{47C4D2FD-D505-42E2-8147-F68FA20904AB}" type="pres">
      <dgm:prSet presAssocID="{C3D1D5DA-1B14-41F3-8024-D9DE3134E41A}" presName="rectComp" presStyleCnt="0"/>
      <dgm:spPr/>
    </dgm:pt>
    <dgm:pt modelId="{8DD8D045-173F-436A-8064-82411B57B0F7}" type="pres">
      <dgm:prSet presAssocID="{C3D1D5DA-1B14-41F3-8024-D9DE3134E41A}" presName="bgRect" presStyleLbl="bgShp" presStyleIdx="1" presStyleCnt="3"/>
      <dgm:spPr/>
    </dgm:pt>
    <dgm:pt modelId="{B378B5AA-4040-4185-ABDB-3ADE169336A1}" type="pres">
      <dgm:prSet presAssocID="{C3D1D5DA-1B14-41F3-8024-D9DE3134E41A}" presName="bgRectTx" presStyleLbl="bgShp" presStyleIdx="1" presStyleCnt="3">
        <dgm:presLayoutVars>
          <dgm:bulletEnabled val="1"/>
        </dgm:presLayoutVars>
      </dgm:prSet>
      <dgm:spPr/>
    </dgm:pt>
    <dgm:pt modelId="{879AF12A-0602-420D-AABF-5F5861B74E0F}" type="pres">
      <dgm:prSet presAssocID="{C3D1D5DA-1B14-41F3-8024-D9DE3134E41A}" presName="spComp" presStyleCnt="0"/>
      <dgm:spPr/>
    </dgm:pt>
    <dgm:pt modelId="{2746B9DF-BC44-4DB0-92B8-A933C96067F9}" type="pres">
      <dgm:prSet presAssocID="{C3D1D5DA-1B14-41F3-8024-D9DE3134E41A}" presName="vSp" presStyleCnt="0"/>
      <dgm:spPr/>
    </dgm:pt>
    <dgm:pt modelId="{E5C3C17F-8237-435E-9F62-EC66F2162FC2}" type="pres">
      <dgm:prSet presAssocID="{86261CD6-A24F-4F8F-B6EC-79F4C06DE59C}" presName="rectComp" presStyleCnt="0"/>
      <dgm:spPr/>
    </dgm:pt>
    <dgm:pt modelId="{D002E472-C140-47D2-B128-B259E35945F8}" type="pres">
      <dgm:prSet presAssocID="{86261CD6-A24F-4F8F-B6EC-79F4C06DE59C}" presName="bgRect" presStyleLbl="bgShp" presStyleIdx="2" presStyleCnt="3"/>
      <dgm:spPr/>
    </dgm:pt>
    <dgm:pt modelId="{38FBB4D5-AC16-407F-BE6D-59A6AED616F5}" type="pres">
      <dgm:prSet presAssocID="{86261CD6-A24F-4F8F-B6EC-79F4C06DE59C}" presName="bgRectTx" presStyleLbl="bgShp" presStyleIdx="2" presStyleCnt="3">
        <dgm:presLayoutVars>
          <dgm:bulletEnabled val="1"/>
        </dgm:presLayoutVars>
      </dgm:prSet>
      <dgm:spPr/>
    </dgm:pt>
  </dgm:ptLst>
  <dgm:cxnLst>
    <dgm:cxn modelId="{53B59A05-DC24-4AAA-A34D-C3C03A60E05D}" type="presOf" srcId="{E2FF4260-45E4-48CE-90B0-1B7A3A34CB5E}" destId="{3FB4C982-8A4C-439D-92BD-9FF08B000F95}" srcOrd="0" destOrd="0" presId="urn:microsoft.com/office/officeart/2005/8/layout/hierarchy6"/>
    <dgm:cxn modelId="{1B31FC0B-BBAE-44B6-9E95-9729548DBA1B}" type="presOf" srcId="{82B1860F-AB19-4E8D-94DC-09527C5377B7}" destId="{CB4C93B7-F258-41FE-B47E-A18D9771110F}" srcOrd="0" destOrd="0" presId="urn:microsoft.com/office/officeart/2005/8/layout/hierarchy6"/>
    <dgm:cxn modelId="{74597B1D-B91E-4858-A12C-BC7F9D032B33}" srcId="{C3D1D5DA-1B14-41F3-8024-D9DE3134E41A}" destId="{6DCA2838-89F3-4211-82B8-4C35209572A0}" srcOrd="0" destOrd="0" parTransId="{92D6BEE3-4FE0-4D89-8F15-EA597E839346}" sibTransId="{5CB2E784-DD4E-46DF-ACF2-0B6E9CC8EF19}"/>
    <dgm:cxn modelId="{D558E51F-38FF-4D9A-BE47-2F795AE48D8A}" type="presOf" srcId="{260A7035-4E03-4EB2-A768-F2D8B35D9BD6}" destId="{28F9D623-876E-4996-95F4-BD47F5C1CC33}" srcOrd="0" destOrd="0" presId="urn:microsoft.com/office/officeart/2005/8/layout/hierarchy6"/>
    <dgm:cxn modelId="{ED67AC2E-86E6-4675-88D2-124D4EA4324E}" type="presOf" srcId="{6DCA2838-89F3-4211-82B8-4C35209572A0}" destId="{B378B5AA-4040-4185-ABDB-3ADE169336A1}" srcOrd="1" destOrd="1" presId="urn:microsoft.com/office/officeart/2005/8/layout/hierarchy6"/>
    <dgm:cxn modelId="{802EB32E-214C-4AD0-8B7C-356653E68E31}" type="presOf" srcId="{C3D1D5DA-1B14-41F3-8024-D9DE3134E41A}" destId="{8DD8D045-173F-436A-8064-82411B57B0F7}" srcOrd="0" destOrd="0" presId="urn:microsoft.com/office/officeart/2005/8/layout/hierarchy6"/>
    <dgm:cxn modelId="{EFC90633-4942-460A-AC34-DB3C88A88557}" srcId="{537DDF58-A955-45EB-A2EE-2A4D0C665B8A}" destId="{8B280E7D-52A5-4925-A52C-D525EDC32D68}" srcOrd="1" destOrd="0" parTransId="{91E48572-E6F5-4386-86A6-D1A5640EFE38}" sibTransId="{50082688-2452-4F2C-8729-48EE00D53553}"/>
    <dgm:cxn modelId="{D65CBD45-6179-47DE-892B-2F565317A0A2}" type="presOf" srcId="{CD7CF7FB-BBAC-4769-9A0E-E02CFCD65AC3}" destId="{FDD23FE1-F814-438D-A706-38B21997285A}" srcOrd="0" destOrd="0" presId="urn:microsoft.com/office/officeart/2005/8/layout/hierarchy6"/>
    <dgm:cxn modelId="{4904C549-FC93-4F04-82EB-3C389B9F5025}" srcId="{537DDF58-A955-45EB-A2EE-2A4D0C665B8A}" destId="{86261CD6-A24F-4F8F-B6EC-79F4C06DE59C}" srcOrd="3" destOrd="0" parTransId="{3FF6E0E5-D184-4B38-95B1-C4564D92E308}" sibTransId="{92A34C2C-8533-40CD-B939-BBACA3237215}"/>
    <dgm:cxn modelId="{D01D884B-F4BA-4D44-9042-9AE79BEF33A1}" type="presOf" srcId="{537DDF58-A955-45EB-A2EE-2A4D0C665B8A}" destId="{E8247148-902C-4512-B7E0-197F4E56FA17}" srcOrd="0" destOrd="0" presId="urn:microsoft.com/office/officeart/2005/8/layout/hierarchy6"/>
    <dgm:cxn modelId="{3657E072-6426-4980-9AC0-3337762375C2}" type="presOf" srcId="{8B280E7D-52A5-4925-A52C-D525EDC32D68}" destId="{584F91DE-3403-467E-AEFE-C31C304D8FDB}" srcOrd="1" destOrd="0" presId="urn:microsoft.com/office/officeart/2005/8/layout/hierarchy6"/>
    <dgm:cxn modelId="{A3D44C54-A689-4C93-AF84-C556A80834A3}" srcId="{537DDF58-A955-45EB-A2EE-2A4D0C665B8A}" destId="{E2FF4260-45E4-48CE-90B0-1B7A3A34CB5E}" srcOrd="0" destOrd="0" parTransId="{92D301D8-29F7-4989-AFDB-E32414E7908D}" sibTransId="{3C268CB1-1535-4785-A80E-E7F2BC78A7FF}"/>
    <dgm:cxn modelId="{1BA62678-F646-4D8B-9203-90F4C7BB59E3}" type="presOf" srcId="{C3D1D5DA-1B14-41F3-8024-D9DE3134E41A}" destId="{B378B5AA-4040-4185-ABDB-3ADE169336A1}" srcOrd="1" destOrd="0" presId="urn:microsoft.com/office/officeart/2005/8/layout/hierarchy6"/>
    <dgm:cxn modelId="{DF10357B-B74D-4809-BFD9-749A5C5E8138}" type="presOf" srcId="{86261CD6-A24F-4F8F-B6EC-79F4C06DE59C}" destId="{D002E472-C140-47D2-B128-B259E35945F8}" srcOrd="0" destOrd="0" presId="urn:microsoft.com/office/officeart/2005/8/layout/hierarchy6"/>
    <dgm:cxn modelId="{5A479B7B-D999-4663-A0B8-AEDF9A399D70}" srcId="{86261CD6-A24F-4F8F-B6EC-79F4C06DE59C}" destId="{58703F11-323D-469C-9250-1829D288684D}" srcOrd="0" destOrd="0" parTransId="{4AE79517-4352-4725-8CE7-830313DC0394}" sibTransId="{1066D1BE-2348-4F9D-A0BD-BE9E29582169}"/>
    <dgm:cxn modelId="{779F4589-DD2F-43D3-8263-CB55F3089D29}" srcId="{537DDF58-A955-45EB-A2EE-2A4D0C665B8A}" destId="{C3D1D5DA-1B14-41F3-8024-D9DE3134E41A}" srcOrd="2" destOrd="0" parTransId="{1D3EA080-7E30-4543-95CD-BCB85404F077}" sibTransId="{2C68D227-57E6-4825-BB86-D83727B49FF3}"/>
    <dgm:cxn modelId="{20CF3598-AAC6-4572-8FE0-64BD3A96036B}" type="presOf" srcId="{76BF752E-6C17-4509-87CB-4BA7814CEC43}" destId="{78B2E837-6D33-49CE-8677-3D32D4E2A935}" srcOrd="0" destOrd="0" presId="urn:microsoft.com/office/officeart/2005/8/layout/hierarchy6"/>
    <dgm:cxn modelId="{81005798-70B0-4A7B-BB13-26815189524B}" type="presOf" srcId="{F3304E17-9872-4A49-A500-0661D0824631}" destId="{584F91DE-3403-467E-AEFE-C31C304D8FDB}" srcOrd="1" destOrd="1" presId="urn:microsoft.com/office/officeart/2005/8/layout/hierarchy6"/>
    <dgm:cxn modelId="{BC827A9D-1E9E-450D-BB65-212B5B149DC0}" type="presOf" srcId="{8B280E7D-52A5-4925-A52C-D525EDC32D68}" destId="{47F187BB-FC98-4490-AB12-00B0CE9F29A9}" srcOrd="0" destOrd="0" presId="urn:microsoft.com/office/officeart/2005/8/layout/hierarchy6"/>
    <dgm:cxn modelId="{8005B59E-17A7-405C-9197-AE3969DE085B}" srcId="{CD7CF7FB-BBAC-4769-9A0E-E02CFCD65AC3}" destId="{86BEFBBC-8BEC-47FD-9B77-72578577A814}" srcOrd="0" destOrd="0" parTransId="{76BF752E-6C17-4509-87CB-4BA7814CEC43}" sibTransId="{CCCFE692-C65C-49C5-9165-8EF64FF5F776}"/>
    <dgm:cxn modelId="{7D4E34AB-4630-4EA2-B6CE-1CDAF205E1FC}" type="presOf" srcId="{F3304E17-9872-4A49-A500-0661D0824631}" destId="{47F187BB-FC98-4490-AB12-00B0CE9F29A9}" srcOrd="0" destOrd="1" presId="urn:microsoft.com/office/officeart/2005/8/layout/hierarchy6"/>
    <dgm:cxn modelId="{066E66B1-156F-4DB6-BAD5-4DE7AAAC9B59}" type="presOf" srcId="{58703F11-323D-469C-9250-1829D288684D}" destId="{38FBB4D5-AC16-407F-BE6D-59A6AED616F5}" srcOrd="1" destOrd="1" presId="urn:microsoft.com/office/officeart/2005/8/layout/hierarchy6"/>
    <dgm:cxn modelId="{BBD749C3-F9A4-4439-ADB0-CEB04F2E4FFA}" type="presOf" srcId="{D620CC72-311C-4826-8C2D-048B52F8380D}" destId="{3B88B248-DC86-426B-AC98-E3B7F5B5B563}" srcOrd="0" destOrd="0" presId="urn:microsoft.com/office/officeart/2005/8/layout/hierarchy6"/>
    <dgm:cxn modelId="{C00185DB-5C97-42B5-BA9C-CEAB868C7947}" type="presOf" srcId="{58703F11-323D-469C-9250-1829D288684D}" destId="{D002E472-C140-47D2-B128-B259E35945F8}" srcOrd="0" destOrd="1" presId="urn:microsoft.com/office/officeart/2005/8/layout/hierarchy6"/>
    <dgm:cxn modelId="{5181C2DD-0C7C-4B07-8861-354BC431EFEB}" type="presOf" srcId="{6DCA2838-89F3-4211-82B8-4C35209572A0}" destId="{8DD8D045-173F-436A-8064-82411B57B0F7}" srcOrd="0" destOrd="1" presId="urn:microsoft.com/office/officeart/2005/8/layout/hierarchy6"/>
    <dgm:cxn modelId="{B60B08E2-3EF4-4CAF-8638-4A8DCADAE3BE}" srcId="{8B280E7D-52A5-4925-A52C-D525EDC32D68}" destId="{F3304E17-9872-4A49-A500-0661D0824631}" srcOrd="0" destOrd="0" parTransId="{F01D2935-570F-4E86-9624-B4722FD683E9}" sibTransId="{BFF517D4-1F16-421C-AFC7-D72CECCA49BA}"/>
    <dgm:cxn modelId="{B41C19E4-2AB4-43F5-88A8-661A6829260D}" type="presOf" srcId="{86261CD6-A24F-4F8F-B6EC-79F4C06DE59C}" destId="{38FBB4D5-AC16-407F-BE6D-59A6AED616F5}" srcOrd="1" destOrd="0" presId="urn:microsoft.com/office/officeart/2005/8/layout/hierarchy6"/>
    <dgm:cxn modelId="{139832E4-CF6E-4C47-B08F-BF8C27FFC1AD}" type="presOf" srcId="{86BEFBBC-8BEC-47FD-9B77-72578577A814}" destId="{C57515A9-3180-4420-8434-1C1B2ADC70A8}" srcOrd="0" destOrd="0" presId="urn:microsoft.com/office/officeart/2005/8/layout/hierarchy6"/>
    <dgm:cxn modelId="{5274B9EE-1316-46C5-B272-84D012C83A16}" srcId="{CD7CF7FB-BBAC-4769-9A0E-E02CFCD65AC3}" destId="{82B1860F-AB19-4E8D-94DC-09527C5377B7}" srcOrd="1" destOrd="0" parTransId="{260A7035-4E03-4EB2-A768-F2D8B35D9BD6}" sibTransId="{C22090A9-85CF-451E-9447-B752615AEF2F}"/>
    <dgm:cxn modelId="{56817EF7-7DC8-4ADA-BA6F-738B26DC6DAD}" srcId="{E2FF4260-45E4-48CE-90B0-1B7A3A34CB5E}" destId="{CD7CF7FB-BBAC-4769-9A0E-E02CFCD65AC3}" srcOrd="0" destOrd="0" parTransId="{D620CC72-311C-4826-8C2D-048B52F8380D}" sibTransId="{A49D0B79-E0DB-47F8-BA3A-980A7CE5123E}"/>
    <dgm:cxn modelId="{32059358-1B99-47E6-B89A-110BA2C6A501}" type="presParOf" srcId="{E8247148-902C-4512-B7E0-197F4E56FA17}" destId="{19A029F7-4FFA-49FD-A7DE-652182DEB289}" srcOrd="0" destOrd="0" presId="urn:microsoft.com/office/officeart/2005/8/layout/hierarchy6"/>
    <dgm:cxn modelId="{86662CDE-F93D-41D2-834F-04DE49318780}" type="presParOf" srcId="{19A029F7-4FFA-49FD-A7DE-652182DEB289}" destId="{8FDEFE50-C1C3-44FA-8118-F4F80F5BC5BD}" srcOrd="0" destOrd="0" presId="urn:microsoft.com/office/officeart/2005/8/layout/hierarchy6"/>
    <dgm:cxn modelId="{DBB85DD8-9A17-4C88-BD3C-7A5E5FCC2E3D}" type="presParOf" srcId="{19A029F7-4FFA-49FD-A7DE-652182DEB289}" destId="{96DCAA2A-3751-45D5-8B7D-F201186042C8}" srcOrd="1" destOrd="0" presId="urn:microsoft.com/office/officeart/2005/8/layout/hierarchy6"/>
    <dgm:cxn modelId="{034ADAD0-2B29-4FEF-8A4A-61C060926015}" type="presParOf" srcId="{96DCAA2A-3751-45D5-8B7D-F201186042C8}" destId="{510E9D47-7EBF-46FB-A245-D2C10CB3316B}" srcOrd="0" destOrd="0" presId="urn:microsoft.com/office/officeart/2005/8/layout/hierarchy6"/>
    <dgm:cxn modelId="{00D2D6A9-1547-4B6E-B4FE-FA240EEBE795}" type="presParOf" srcId="{510E9D47-7EBF-46FB-A245-D2C10CB3316B}" destId="{3FB4C982-8A4C-439D-92BD-9FF08B000F95}" srcOrd="0" destOrd="0" presId="urn:microsoft.com/office/officeart/2005/8/layout/hierarchy6"/>
    <dgm:cxn modelId="{C6E4CDDF-EF3C-4034-A0AA-7BE83FD6B2D4}" type="presParOf" srcId="{510E9D47-7EBF-46FB-A245-D2C10CB3316B}" destId="{2ECFD432-01FB-44FC-AA99-36D338DB71F0}" srcOrd="1" destOrd="0" presId="urn:microsoft.com/office/officeart/2005/8/layout/hierarchy6"/>
    <dgm:cxn modelId="{F605785B-E75C-4BA2-B928-21EDD70E3B2B}" type="presParOf" srcId="{2ECFD432-01FB-44FC-AA99-36D338DB71F0}" destId="{3B88B248-DC86-426B-AC98-E3B7F5B5B563}" srcOrd="0" destOrd="0" presId="urn:microsoft.com/office/officeart/2005/8/layout/hierarchy6"/>
    <dgm:cxn modelId="{181F9513-3C28-48E0-8A38-1FF5944B1E39}" type="presParOf" srcId="{2ECFD432-01FB-44FC-AA99-36D338DB71F0}" destId="{C7C9A34C-4626-49F9-9F9A-96EF4EA1EFE7}" srcOrd="1" destOrd="0" presId="urn:microsoft.com/office/officeart/2005/8/layout/hierarchy6"/>
    <dgm:cxn modelId="{E12FC801-D395-4355-B5CC-24B3CB668F7F}" type="presParOf" srcId="{C7C9A34C-4626-49F9-9F9A-96EF4EA1EFE7}" destId="{FDD23FE1-F814-438D-A706-38B21997285A}" srcOrd="0" destOrd="0" presId="urn:microsoft.com/office/officeart/2005/8/layout/hierarchy6"/>
    <dgm:cxn modelId="{7EFA067C-4FD3-4419-B7FA-1B22ED2956A6}" type="presParOf" srcId="{C7C9A34C-4626-49F9-9F9A-96EF4EA1EFE7}" destId="{A2E3F874-16CD-466C-A5BF-AB92B40A3811}" srcOrd="1" destOrd="0" presId="urn:microsoft.com/office/officeart/2005/8/layout/hierarchy6"/>
    <dgm:cxn modelId="{902C9471-7F6A-4DBA-BA5C-AEDA1D47484C}" type="presParOf" srcId="{A2E3F874-16CD-466C-A5BF-AB92B40A3811}" destId="{78B2E837-6D33-49CE-8677-3D32D4E2A935}" srcOrd="0" destOrd="0" presId="urn:microsoft.com/office/officeart/2005/8/layout/hierarchy6"/>
    <dgm:cxn modelId="{AB0875A0-FD9A-451E-84E6-4417DAF558E6}" type="presParOf" srcId="{A2E3F874-16CD-466C-A5BF-AB92B40A3811}" destId="{8C8EF430-6BED-4A18-87FE-30FF8FA029E2}" srcOrd="1" destOrd="0" presId="urn:microsoft.com/office/officeart/2005/8/layout/hierarchy6"/>
    <dgm:cxn modelId="{F278776D-05B4-452B-8130-49AB28CCFEEA}" type="presParOf" srcId="{8C8EF430-6BED-4A18-87FE-30FF8FA029E2}" destId="{C57515A9-3180-4420-8434-1C1B2ADC70A8}" srcOrd="0" destOrd="0" presId="urn:microsoft.com/office/officeart/2005/8/layout/hierarchy6"/>
    <dgm:cxn modelId="{C0A21068-6C0E-46C4-AFB1-025A2BCF342E}" type="presParOf" srcId="{8C8EF430-6BED-4A18-87FE-30FF8FA029E2}" destId="{FE85AFC7-716A-4A04-8315-5DB2D3DBBD46}" srcOrd="1" destOrd="0" presId="urn:microsoft.com/office/officeart/2005/8/layout/hierarchy6"/>
    <dgm:cxn modelId="{9F25E777-F632-461D-BF32-72292997AC9A}" type="presParOf" srcId="{A2E3F874-16CD-466C-A5BF-AB92B40A3811}" destId="{28F9D623-876E-4996-95F4-BD47F5C1CC33}" srcOrd="2" destOrd="0" presId="urn:microsoft.com/office/officeart/2005/8/layout/hierarchy6"/>
    <dgm:cxn modelId="{E73A96BD-CC0E-46DB-BD50-A0E7A5C6A2FC}" type="presParOf" srcId="{A2E3F874-16CD-466C-A5BF-AB92B40A3811}" destId="{5219201B-F20F-4253-9173-CA0768A1DAAB}" srcOrd="3" destOrd="0" presId="urn:microsoft.com/office/officeart/2005/8/layout/hierarchy6"/>
    <dgm:cxn modelId="{6AABCE87-AD0F-40FE-8730-6231E5ADA4C5}" type="presParOf" srcId="{5219201B-F20F-4253-9173-CA0768A1DAAB}" destId="{CB4C93B7-F258-41FE-B47E-A18D9771110F}" srcOrd="0" destOrd="0" presId="urn:microsoft.com/office/officeart/2005/8/layout/hierarchy6"/>
    <dgm:cxn modelId="{D191B314-6DC0-458B-BFD7-D30C4F7F0AE9}" type="presParOf" srcId="{5219201B-F20F-4253-9173-CA0768A1DAAB}" destId="{31440E1B-E52D-422D-A9CD-E91B34425D79}" srcOrd="1" destOrd="0" presId="urn:microsoft.com/office/officeart/2005/8/layout/hierarchy6"/>
    <dgm:cxn modelId="{2243E3C2-CCE2-47BF-8F83-0C5523D304FB}" type="presParOf" srcId="{E8247148-902C-4512-B7E0-197F4E56FA17}" destId="{21B2A8E3-91FF-40DC-A2BE-89A0C8145E68}" srcOrd="1" destOrd="0" presId="urn:microsoft.com/office/officeart/2005/8/layout/hierarchy6"/>
    <dgm:cxn modelId="{2B4E3EAD-9239-4FD4-8255-A7BDF70AA1B0}" type="presParOf" srcId="{21B2A8E3-91FF-40DC-A2BE-89A0C8145E68}" destId="{EEDD62B7-8FAB-43D5-A405-AD0385626549}" srcOrd="0" destOrd="0" presId="urn:microsoft.com/office/officeart/2005/8/layout/hierarchy6"/>
    <dgm:cxn modelId="{BB017DC0-4423-4B6E-B24E-48C7CBBE837B}" type="presParOf" srcId="{EEDD62B7-8FAB-43D5-A405-AD0385626549}" destId="{47F187BB-FC98-4490-AB12-00B0CE9F29A9}" srcOrd="0" destOrd="0" presId="urn:microsoft.com/office/officeart/2005/8/layout/hierarchy6"/>
    <dgm:cxn modelId="{955C595E-9D30-4D75-8B87-288D42EA99D6}" type="presParOf" srcId="{EEDD62B7-8FAB-43D5-A405-AD0385626549}" destId="{584F91DE-3403-467E-AEFE-C31C304D8FDB}" srcOrd="1" destOrd="0" presId="urn:microsoft.com/office/officeart/2005/8/layout/hierarchy6"/>
    <dgm:cxn modelId="{AB889D11-E92C-4698-82B9-F63CE654DD4F}" type="presParOf" srcId="{21B2A8E3-91FF-40DC-A2BE-89A0C8145E68}" destId="{857ECAEE-7430-419F-97C0-5DB9467D3544}" srcOrd="1" destOrd="0" presId="urn:microsoft.com/office/officeart/2005/8/layout/hierarchy6"/>
    <dgm:cxn modelId="{BA702E94-0F05-45BA-A795-70C557F12A85}" type="presParOf" srcId="{857ECAEE-7430-419F-97C0-5DB9467D3544}" destId="{A4721F20-7F52-4EEC-99E7-8A6E1C0329DB}" srcOrd="0" destOrd="0" presId="urn:microsoft.com/office/officeart/2005/8/layout/hierarchy6"/>
    <dgm:cxn modelId="{72F8C160-1F16-4E27-A862-46E5D9A00BED}" type="presParOf" srcId="{21B2A8E3-91FF-40DC-A2BE-89A0C8145E68}" destId="{47C4D2FD-D505-42E2-8147-F68FA20904AB}" srcOrd="2" destOrd="0" presId="urn:microsoft.com/office/officeart/2005/8/layout/hierarchy6"/>
    <dgm:cxn modelId="{F968855B-DC8C-4F34-964A-B1A463883785}" type="presParOf" srcId="{47C4D2FD-D505-42E2-8147-F68FA20904AB}" destId="{8DD8D045-173F-436A-8064-82411B57B0F7}" srcOrd="0" destOrd="0" presId="urn:microsoft.com/office/officeart/2005/8/layout/hierarchy6"/>
    <dgm:cxn modelId="{A4DB797B-C6C9-42D0-B1F4-6ABAFA9E120E}" type="presParOf" srcId="{47C4D2FD-D505-42E2-8147-F68FA20904AB}" destId="{B378B5AA-4040-4185-ABDB-3ADE169336A1}" srcOrd="1" destOrd="0" presId="urn:microsoft.com/office/officeart/2005/8/layout/hierarchy6"/>
    <dgm:cxn modelId="{931A58D4-CCD4-4E31-B515-1EBCBA7F7A87}" type="presParOf" srcId="{21B2A8E3-91FF-40DC-A2BE-89A0C8145E68}" destId="{879AF12A-0602-420D-AABF-5F5861B74E0F}" srcOrd="3" destOrd="0" presId="urn:microsoft.com/office/officeart/2005/8/layout/hierarchy6"/>
    <dgm:cxn modelId="{CBCA7300-5ACC-4172-9EB4-07296AD9722A}" type="presParOf" srcId="{879AF12A-0602-420D-AABF-5F5861B74E0F}" destId="{2746B9DF-BC44-4DB0-92B8-A933C96067F9}" srcOrd="0" destOrd="0" presId="urn:microsoft.com/office/officeart/2005/8/layout/hierarchy6"/>
    <dgm:cxn modelId="{2D1DAA3D-3451-4D6B-AD0A-9097E5833501}" type="presParOf" srcId="{21B2A8E3-91FF-40DC-A2BE-89A0C8145E68}" destId="{E5C3C17F-8237-435E-9F62-EC66F2162FC2}" srcOrd="4" destOrd="0" presId="urn:microsoft.com/office/officeart/2005/8/layout/hierarchy6"/>
    <dgm:cxn modelId="{E6452112-161C-462C-8FF2-70891D665B26}" type="presParOf" srcId="{E5C3C17F-8237-435E-9F62-EC66F2162FC2}" destId="{D002E472-C140-47D2-B128-B259E35945F8}" srcOrd="0" destOrd="0" presId="urn:microsoft.com/office/officeart/2005/8/layout/hierarchy6"/>
    <dgm:cxn modelId="{BCC78C78-BECF-44E8-A364-48B62EED89CA}" type="presParOf" srcId="{E5C3C17F-8237-435E-9F62-EC66F2162FC2}" destId="{38FBB4D5-AC16-407F-BE6D-59A6AED616F5}" srcOrd="1" destOrd="0" presId="urn:microsoft.com/office/officeart/2005/8/layout/hierarchy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D2890A-5BBC-42B4-A686-B01F844C3691}">
      <dsp:nvSpPr>
        <dsp:cNvPr id="0" name=""/>
        <dsp:cNvSpPr/>
      </dsp:nvSpPr>
      <dsp:spPr>
        <a:xfrm>
          <a:off x="0" y="55136"/>
          <a:ext cx="1466460" cy="11685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COA &amp; Partner Agree Client is Eligible Prospect for Lending</a:t>
          </a:r>
        </a:p>
      </dsp:txBody>
      <dsp:txXfrm>
        <a:off x="34227" y="89363"/>
        <a:ext cx="1398006" cy="1100131"/>
      </dsp:txXfrm>
    </dsp:sp>
    <dsp:sp modelId="{804BF6C1-5E16-4463-B87F-A728EBB66C15}">
      <dsp:nvSpPr>
        <dsp:cNvPr id="0" name=""/>
        <dsp:cNvSpPr/>
      </dsp:nvSpPr>
      <dsp:spPr>
        <a:xfrm>
          <a:off x="1613106" y="457587"/>
          <a:ext cx="310889" cy="3636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613106" y="530323"/>
        <a:ext cx="217622" cy="218210"/>
      </dsp:txXfrm>
    </dsp:sp>
    <dsp:sp modelId="{964D8256-7FEF-442E-A6B5-F7E02ECEF667}">
      <dsp:nvSpPr>
        <dsp:cNvPr id="0" name=""/>
        <dsp:cNvSpPr/>
      </dsp:nvSpPr>
      <dsp:spPr>
        <a:xfrm>
          <a:off x="2053044" y="55136"/>
          <a:ext cx="1466460" cy="11685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Loan Referral Team Contacts Client to Start Application</a:t>
          </a:r>
        </a:p>
      </dsp:txBody>
      <dsp:txXfrm>
        <a:off x="2087271" y="89363"/>
        <a:ext cx="1398006" cy="1100131"/>
      </dsp:txXfrm>
    </dsp:sp>
    <dsp:sp modelId="{06F40245-0A8C-4BB4-BDB9-F821EFB6CA2E}">
      <dsp:nvSpPr>
        <dsp:cNvPr id="0" name=""/>
        <dsp:cNvSpPr/>
      </dsp:nvSpPr>
      <dsp:spPr>
        <a:xfrm>
          <a:off x="3666150" y="457587"/>
          <a:ext cx="310889" cy="3636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666150" y="530323"/>
        <a:ext cx="217622" cy="218210"/>
      </dsp:txXfrm>
    </dsp:sp>
    <dsp:sp modelId="{CA4415F8-2D98-4715-95D5-24AA9F95A44C}">
      <dsp:nvSpPr>
        <dsp:cNvPr id="0" name=""/>
        <dsp:cNvSpPr/>
      </dsp:nvSpPr>
      <dsp:spPr>
        <a:xfrm>
          <a:off x="4106088" y="55136"/>
          <a:ext cx="1466460" cy="11685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a:t>Client is Warm Transferred to Loan Partner to Complete Application</a:t>
          </a:r>
          <a:r>
            <a:rPr lang="en-US" sz="1200" kern="1200">
              <a:latin typeface="Calibri Light" panose="020F0302020204030204"/>
            </a:rPr>
            <a:t> </a:t>
          </a:r>
          <a:endParaRPr lang="en-US" sz="1200" kern="1200"/>
        </a:p>
      </dsp:txBody>
      <dsp:txXfrm>
        <a:off x="4140315" y="89363"/>
        <a:ext cx="1398006" cy="1100131"/>
      </dsp:txXfrm>
    </dsp:sp>
    <dsp:sp modelId="{EE0D9BF4-4E14-43DD-9EF7-BEB097DBE86C}">
      <dsp:nvSpPr>
        <dsp:cNvPr id="0" name=""/>
        <dsp:cNvSpPr/>
      </dsp:nvSpPr>
      <dsp:spPr>
        <a:xfrm>
          <a:off x="5719194" y="457587"/>
          <a:ext cx="310889" cy="3636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5719194" y="530323"/>
        <a:ext cx="217622" cy="218210"/>
      </dsp:txXfrm>
    </dsp:sp>
    <dsp:sp modelId="{AE1BD250-218B-4741-AC8E-D6DC7BC132E1}">
      <dsp:nvSpPr>
        <dsp:cNvPr id="0" name=""/>
        <dsp:cNvSpPr/>
      </dsp:nvSpPr>
      <dsp:spPr>
        <a:xfrm>
          <a:off x="6159133" y="55136"/>
          <a:ext cx="1466460" cy="11685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Decision is Made by Loan Partner if they can Lend to our Client</a:t>
          </a:r>
        </a:p>
      </dsp:txBody>
      <dsp:txXfrm>
        <a:off x="6193360" y="89363"/>
        <a:ext cx="1398006" cy="1100131"/>
      </dsp:txXfrm>
    </dsp:sp>
    <dsp:sp modelId="{4227D8EC-CF12-40CB-A3A7-D888E43D3F1A}">
      <dsp:nvSpPr>
        <dsp:cNvPr id="0" name=""/>
        <dsp:cNvSpPr/>
      </dsp:nvSpPr>
      <dsp:spPr>
        <a:xfrm>
          <a:off x="7772239" y="457587"/>
          <a:ext cx="310889" cy="3636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7772239" y="530323"/>
        <a:ext cx="217622" cy="218210"/>
      </dsp:txXfrm>
    </dsp:sp>
    <dsp:sp modelId="{54DB38CC-BE5A-471D-B453-8B260D196FAE}">
      <dsp:nvSpPr>
        <dsp:cNvPr id="0" name=""/>
        <dsp:cNvSpPr/>
      </dsp:nvSpPr>
      <dsp:spPr>
        <a:xfrm>
          <a:off x="8212177" y="55136"/>
          <a:ext cx="1466460" cy="11685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Loan Contract is Signed and Funds sent to GH- Customer Company name updates in QuickBase</a:t>
          </a:r>
        </a:p>
      </dsp:txBody>
      <dsp:txXfrm>
        <a:off x="8246404" y="89363"/>
        <a:ext cx="1398006" cy="1100131"/>
      </dsp:txXfrm>
    </dsp:sp>
    <dsp:sp modelId="{17DB2791-FB74-4170-B7CE-685B37C65B8F}">
      <dsp:nvSpPr>
        <dsp:cNvPr id="0" name=""/>
        <dsp:cNvSpPr/>
      </dsp:nvSpPr>
      <dsp:spPr>
        <a:xfrm>
          <a:off x="9825283" y="457587"/>
          <a:ext cx="310889" cy="3636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9825283" y="530323"/>
        <a:ext cx="217622" cy="218210"/>
      </dsp:txXfrm>
    </dsp:sp>
    <dsp:sp modelId="{889A3F9E-5147-49E9-ADB6-FB874ACE3E84}">
      <dsp:nvSpPr>
        <dsp:cNvPr id="0" name=""/>
        <dsp:cNvSpPr/>
      </dsp:nvSpPr>
      <dsp:spPr>
        <a:xfrm>
          <a:off x="10265221" y="55136"/>
          <a:ext cx="1466460" cy="11685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a:latin typeface="Calibri Light" panose="020F0302020204030204"/>
            </a:rPr>
            <a:t>DC Client Support Contacts Client for Funded Call and Sets Expectations for Expedited Graduation</a:t>
          </a:r>
        </a:p>
      </dsp:txBody>
      <dsp:txXfrm>
        <a:off x="10299448" y="89363"/>
        <a:ext cx="1398006" cy="11001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D2890A-5BBC-42B4-A686-B01F844C3691}">
      <dsp:nvSpPr>
        <dsp:cNvPr id="0" name=""/>
        <dsp:cNvSpPr/>
      </dsp:nvSpPr>
      <dsp:spPr>
        <a:xfrm>
          <a:off x="5728" y="6803"/>
          <a:ext cx="1775791" cy="12652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PRT Expedites Settled Debt</a:t>
          </a:r>
          <a:endParaRPr lang="en-US" sz="1500" kern="1200"/>
        </a:p>
      </dsp:txBody>
      <dsp:txXfrm>
        <a:off x="42786" y="43861"/>
        <a:ext cx="1701675" cy="1191135"/>
      </dsp:txXfrm>
    </dsp:sp>
    <dsp:sp modelId="{804BF6C1-5E16-4463-B87F-A728EBB66C15}">
      <dsp:nvSpPr>
        <dsp:cNvPr id="0" name=""/>
        <dsp:cNvSpPr/>
      </dsp:nvSpPr>
      <dsp:spPr>
        <a:xfrm>
          <a:off x="1959099" y="419230"/>
          <a:ext cx="376467" cy="4403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959099" y="507309"/>
        <a:ext cx="263527" cy="264238"/>
      </dsp:txXfrm>
    </dsp:sp>
    <dsp:sp modelId="{964D8256-7FEF-442E-A6B5-F7E02ECEF667}">
      <dsp:nvSpPr>
        <dsp:cNvPr id="0" name=""/>
        <dsp:cNvSpPr/>
      </dsp:nvSpPr>
      <dsp:spPr>
        <a:xfrm>
          <a:off x="2491836" y="6803"/>
          <a:ext cx="1775791" cy="12652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Negotiations is Assigned to Eligible Accounts to Settle</a:t>
          </a:r>
          <a:endParaRPr lang="en-US" sz="1500" kern="1200"/>
        </a:p>
      </dsp:txBody>
      <dsp:txXfrm>
        <a:off x="2528894" y="43861"/>
        <a:ext cx="1701675" cy="1191135"/>
      </dsp:txXfrm>
    </dsp:sp>
    <dsp:sp modelId="{06F40245-0A8C-4BB4-BDB9-F821EFB6CA2E}">
      <dsp:nvSpPr>
        <dsp:cNvPr id="0" name=""/>
        <dsp:cNvSpPr/>
      </dsp:nvSpPr>
      <dsp:spPr>
        <a:xfrm>
          <a:off x="4445207" y="419230"/>
          <a:ext cx="376467" cy="4403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4445207" y="507309"/>
        <a:ext cx="263527" cy="264238"/>
      </dsp:txXfrm>
    </dsp:sp>
    <dsp:sp modelId="{CA4415F8-2D98-4715-95D5-24AA9F95A44C}">
      <dsp:nvSpPr>
        <dsp:cNvPr id="0" name=""/>
        <dsp:cNvSpPr/>
      </dsp:nvSpPr>
      <dsp:spPr>
        <a:xfrm>
          <a:off x="4977945" y="6803"/>
          <a:ext cx="1775791" cy="12652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Day 31 of Funding DC Negotiations is Assigned by Client</a:t>
          </a:r>
          <a:endParaRPr lang="en-US" sz="1500" kern="1200"/>
        </a:p>
      </dsp:txBody>
      <dsp:txXfrm>
        <a:off x="5015003" y="43861"/>
        <a:ext cx="1701675" cy="1191135"/>
      </dsp:txXfrm>
    </dsp:sp>
    <dsp:sp modelId="{EE0D9BF4-4E14-43DD-9EF7-BEB097DBE86C}">
      <dsp:nvSpPr>
        <dsp:cNvPr id="0" name=""/>
        <dsp:cNvSpPr/>
      </dsp:nvSpPr>
      <dsp:spPr>
        <a:xfrm>
          <a:off x="6931316" y="419230"/>
          <a:ext cx="376467" cy="4403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6931316" y="507309"/>
        <a:ext cx="263527" cy="264238"/>
      </dsp:txXfrm>
    </dsp:sp>
    <dsp:sp modelId="{98062640-F565-42C2-B0D9-1946FED5C142}">
      <dsp:nvSpPr>
        <dsp:cNvPr id="0" name=""/>
        <dsp:cNvSpPr/>
      </dsp:nvSpPr>
      <dsp:spPr>
        <a:xfrm>
          <a:off x="7464053" y="6803"/>
          <a:ext cx="1775791" cy="12652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All Creditors are Settled and DC Client Support Reviews for Pre-Grad Readiness</a:t>
          </a:r>
        </a:p>
      </dsp:txBody>
      <dsp:txXfrm>
        <a:off x="7501111" y="43861"/>
        <a:ext cx="1701675" cy="1191135"/>
      </dsp:txXfrm>
    </dsp:sp>
    <dsp:sp modelId="{3260A931-4BC1-4865-AAB1-4709E51C9B6C}">
      <dsp:nvSpPr>
        <dsp:cNvPr id="0" name=""/>
        <dsp:cNvSpPr/>
      </dsp:nvSpPr>
      <dsp:spPr>
        <a:xfrm>
          <a:off x="9417424" y="419230"/>
          <a:ext cx="376467" cy="4403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9417424" y="507309"/>
        <a:ext cx="263527" cy="264238"/>
      </dsp:txXfrm>
    </dsp:sp>
    <dsp:sp modelId="{889A3F9E-5147-49E9-ADB6-FB874ACE3E84}">
      <dsp:nvSpPr>
        <dsp:cNvPr id="0" name=""/>
        <dsp:cNvSpPr/>
      </dsp:nvSpPr>
      <dsp:spPr>
        <a:xfrm>
          <a:off x="9950161" y="6803"/>
          <a:ext cx="1775791" cy="12652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DC Client Support Contacts Client for Graduation Call and Lending Partner Expectations</a:t>
          </a:r>
        </a:p>
      </dsp:txBody>
      <dsp:txXfrm>
        <a:off x="9987219" y="43861"/>
        <a:ext cx="1701675" cy="11911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C293C5-636E-410B-A053-02C066A1BB81}">
      <dsp:nvSpPr>
        <dsp:cNvPr id="0" name=""/>
        <dsp:cNvSpPr/>
      </dsp:nvSpPr>
      <dsp:spPr>
        <a:xfrm>
          <a:off x="0" y="373363"/>
          <a:ext cx="8145101" cy="2003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2150" tIns="499872" rIns="632150" bIns="128016"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kern="1200">
              <a:latin typeface="Calibri"/>
              <a:ea typeface="Calibri"/>
              <a:cs typeface="Calibri"/>
            </a:rPr>
            <a:t>Ensure the account has not already been added/removed</a:t>
          </a:r>
        </a:p>
        <a:p>
          <a:pPr marL="171450" lvl="1" indent="-171450" algn="l" defTabSz="800100">
            <a:lnSpc>
              <a:spcPct val="90000"/>
            </a:lnSpc>
            <a:spcBef>
              <a:spcPct val="0"/>
            </a:spcBef>
            <a:spcAft>
              <a:spcPct val="15000"/>
            </a:spcAft>
            <a:buFont typeface="Arial" panose="020B0604020202020204" pitchFamily="34" charset="0"/>
            <a:buChar char="•"/>
          </a:pPr>
          <a:r>
            <a:rPr lang="en-US" sz="1800" kern="1200"/>
            <a:t>Encourage client to keep all eligible accounts in program</a:t>
          </a:r>
        </a:p>
        <a:p>
          <a:pPr marL="171450" lvl="1" indent="-171450" algn="l" defTabSz="800100" rtl="0">
            <a:lnSpc>
              <a:spcPct val="90000"/>
            </a:lnSpc>
            <a:spcBef>
              <a:spcPct val="0"/>
            </a:spcBef>
            <a:spcAft>
              <a:spcPct val="15000"/>
            </a:spcAft>
            <a:buChar char="•"/>
          </a:pPr>
          <a:r>
            <a:rPr lang="en-US" sz="1800" kern="1200">
              <a:latin typeface="Calibri"/>
              <a:ea typeface="Calibri"/>
              <a:cs typeface="Calibri"/>
            </a:rPr>
            <a:t>Obtain authorization recording and email </a:t>
          </a:r>
          <a:r>
            <a:rPr lang="en-US" sz="1800" b="1" kern="1200">
              <a:latin typeface="Calibri"/>
              <a:ea typeface="Calibri"/>
              <a:cs typeface="Calibri"/>
              <a:hlinkClick xmlns:r="http://schemas.openxmlformats.org/officeDocument/2006/relationships" r:id="rId1"/>
            </a:rPr>
            <a:t>DCLoanAdmin</a:t>
          </a:r>
          <a:r>
            <a:rPr lang="en-US" sz="1800" b="0" kern="1200">
              <a:latin typeface="Calibri"/>
              <a:ea typeface="Calibri"/>
              <a:cs typeface="Calibri"/>
              <a:hlinkClick xmlns:r="http://schemas.openxmlformats.org/officeDocument/2006/relationships" r:id="rId1"/>
            </a:rPr>
            <a:t>@clearoneadvantage.com</a:t>
          </a:r>
          <a:r>
            <a:rPr lang="en-US" sz="1800" b="0" kern="1200">
              <a:latin typeface="Calibri"/>
              <a:ea typeface="Calibri"/>
              <a:cs typeface="Calibri"/>
            </a:rPr>
            <a:t> using the Lending Remove quick reply</a:t>
          </a:r>
        </a:p>
      </dsp:txBody>
      <dsp:txXfrm>
        <a:off x="0" y="373363"/>
        <a:ext cx="8145101" cy="2003400"/>
      </dsp:txXfrm>
    </dsp:sp>
    <dsp:sp modelId="{1275047D-3E06-4766-AA5F-FBB635A3010D}">
      <dsp:nvSpPr>
        <dsp:cNvPr id="0" name=""/>
        <dsp:cNvSpPr/>
      </dsp:nvSpPr>
      <dsp:spPr>
        <a:xfrm>
          <a:off x="407255" y="19123"/>
          <a:ext cx="5701570"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506" tIns="0" rIns="215506" bIns="0" numCol="1" spcCol="1270" anchor="ctr" anchorCtr="0">
          <a:noAutofit/>
        </a:bodyPr>
        <a:lstStyle/>
        <a:p>
          <a:pPr marL="0" lvl="0" indent="0" algn="l" defTabSz="1066800">
            <a:lnSpc>
              <a:spcPct val="90000"/>
            </a:lnSpc>
            <a:spcBef>
              <a:spcPct val="0"/>
            </a:spcBef>
            <a:spcAft>
              <a:spcPct val="35000"/>
            </a:spcAft>
            <a:buNone/>
          </a:pPr>
          <a:r>
            <a:rPr lang="en-US" sz="2400" kern="1200"/>
            <a:t>Client wants to add/remove an account</a:t>
          </a:r>
        </a:p>
      </dsp:txBody>
      <dsp:txXfrm>
        <a:off x="441840" y="53708"/>
        <a:ext cx="5632400" cy="639310"/>
      </dsp:txXfrm>
    </dsp:sp>
    <dsp:sp modelId="{F450BDAE-9799-4698-8D0A-C938205FE471}">
      <dsp:nvSpPr>
        <dsp:cNvPr id="0" name=""/>
        <dsp:cNvSpPr/>
      </dsp:nvSpPr>
      <dsp:spPr>
        <a:xfrm>
          <a:off x="0" y="2860604"/>
          <a:ext cx="8145101" cy="2721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2150" tIns="499872" rIns="632150" bIns="128016"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kern="1200">
              <a:effectLst/>
              <a:latin typeface="Calibri"/>
              <a:ea typeface="Calibri"/>
              <a:cs typeface="Calibri"/>
            </a:rPr>
            <a:t>Advise </a:t>
          </a:r>
          <a:r>
            <a:rPr lang="en-US" sz="1800" b="0" i="0" u="none" kern="1200"/>
            <a:t>client that we do not currently have those terms but that upon approval of the application they will be provided</a:t>
          </a:r>
          <a:r>
            <a:rPr lang="en-US" sz="1800" b="0" i="0" kern="1200"/>
            <a:t>​ all details from their Lending Partner</a:t>
          </a:r>
          <a:endParaRPr lang="en-US" sz="1800" kern="1200"/>
        </a:p>
        <a:p>
          <a:pPr marL="342900" lvl="2" indent="-171450" algn="l" defTabSz="800100">
            <a:lnSpc>
              <a:spcPct val="90000"/>
            </a:lnSpc>
            <a:spcBef>
              <a:spcPct val="0"/>
            </a:spcBef>
            <a:spcAft>
              <a:spcPct val="15000"/>
            </a:spcAft>
            <a:buChar char="•"/>
          </a:pPr>
          <a:r>
            <a:rPr lang="en-US" sz="1800" kern="1200">
              <a:latin typeface="Calibri"/>
              <a:ea typeface="Calibri"/>
              <a:cs typeface="Calibri"/>
            </a:rPr>
            <a:t>“</a:t>
          </a:r>
          <a:r>
            <a:rPr lang="en-US" sz="1800" kern="1200">
              <a:solidFill>
                <a:schemeClr val="accent1">
                  <a:lumMod val="75000"/>
                </a:schemeClr>
              </a:solidFill>
              <a:latin typeface="Calibri"/>
              <a:ea typeface="Calibri"/>
              <a:cs typeface="Calibri"/>
            </a:rPr>
            <a:t>That is a great question. Until the application is submitted and approved, we don’t know what those terms will be. Legally we are unable to discuss those details since we are not the one providing the loan. Once the application is approved, your Lending Partner will go over all of those details with you</a:t>
          </a:r>
          <a:r>
            <a:rPr lang="en-US" sz="1800" kern="1200">
              <a:latin typeface="Calibri"/>
              <a:ea typeface="Calibri"/>
              <a:cs typeface="Calibri"/>
            </a:rPr>
            <a:t>.”</a:t>
          </a:r>
        </a:p>
      </dsp:txBody>
      <dsp:txXfrm>
        <a:off x="0" y="2860604"/>
        <a:ext cx="8145101" cy="2721600"/>
      </dsp:txXfrm>
    </dsp:sp>
    <dsp:sp modelId="{946931AD-5693-4EAA-8A83-A6F0ED278E43}">
      <dsp:nvSpPr>
        <dsp:cNvPr id="0" name=""/>
        <dsp:cNvSpPr/>
      </dsp:nvSpPr>
      <dsp:spPr>
        <a:xfrm>
          <a:off x="407255" y="2506363"/>
          <a:ext cx="5701570"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506" tIns="0" rIns="215506" bIns="0" numCol="1" spcCol="1270" anchor="ctr" anchorCtr="0">
          <a:noAutofit/>
        </a:bodyPr>
        <a:lstStyle/>
        <a:p>
          <a:pPr marL="0" lvl="0" indent="0" algn="l" defTabSz="1066800" rtl="0">
            <a:lnSpc>
              <a:spcPct val="90000"/>
            </a:lnSpc>
            <a:spcBef>
              <a:spcPct val="0"/>
            </a:spcBef>
            <a:spcAft>
              <a:spcPct val="35000"/>
            </a:spcAft>
            <a:buNone/>
          </a:pPr>
          <a:r>
            <a:rPr lang="en-US" sz="2400" kern="1200">
              <a:latin typeface="Arial"/>
              <a:cs typeface="Arial"/>
            </a:rPr>
            <a:t>Client has questions on terms, rate, monthly payment for their Loan</a:t>
          </a:r>
        </a:p>
      </dsp:txBody>
      <dsp:txXfrm>
        <a:off x="441840" y="2540948"/>
        <a:ext cx="5632400" cy="6393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DD6D21-0892-4CAF-84A3-B873C0943259}">
      <dsp:nvSpPr>
        <dsp:cNvPr id="0" name=""/>
        <dsp:cNvSpPr/>
      </dsp:nvSpPr>
      <dsp:spPr>
        <a:xfrm>
          <a:off x="1768" y="515127"/>
          <a:ext cx="2343931" cy="234393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a:latin typeface="Calibri Light" panose="020F0302020204030204"/>
            </a:rPr>
            <a:t>Client has Funded</a:t>
          </a:r>
          <a:endParaRPr lang="en-US" sz="2100" kern="1200"/>
        </a:p>
      </dsp:txBody>
      <dsp:txXfrm>
        <a:off x="345029" y="858388"/>
        <a:ext cx="1657409" cy="1657409"/>
      </dsp:txXfrm>
    </dsp:sp>
    <dsp:sp modelId="{44155284-64C0-49AE-854F-FD09832441BD}">
      <dsp:nvSpPr>
        <dsp:cNvPr id="0" name=""/>
        <dsp:cNvSpPr/>
      </dsp:nvSpPr>
      <dsp:spPr>
        <a:xfrm>
          <a:off x="2536026" y="1007352"/>
          <a:ext cx="1359480" cy="1359480"/>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2716225" y="1527217"/>
        <a:ext cx="999082" cy="319750"/>
      </dsp:txXfrm>
    </dsp:sp>
    <dsp:sp modelId="{08844A65-802C-4EF0-980A-2C7303D64687}">
      <dsp:nvSpPr>
        <dsp:cNvPr id="0" name=""/>
        <dsp:cNvSpPr/>
      </dsp:nvSpPr>
      <dsp:spPr>
        <a:xfrm>
          <a:off x="4085834" y="515127"/>
          <a:ext cx="2343931" cy="234393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a:latin typeface="Calibri Light" panose="020F0302020204030204"/>
            </a:rPr>
            <a:t>Client has Inquires About their Debt Settlement Progress</a:t>
          </a:r>
          <a:endParaRPr lang="en-US" sz="2100" kern="1200"/>
        </a:p>
      </dsp:txBody>
      <dsp:txXfrm>
        <a:off x="4429095" y="858388"/>
        <a:ext cx="1657409" cy="1657409"/>
      </dsp:txXfrm>
    </dsp:sp>
    <dsp:sp modelId="{C02C2191-852A-414A-8DD8-BA32E751E011}">
      <dsp:nvSpPr>
        <dsp:cNvPr id="0" name=""/>
        <dsp:cNvSpPr/>
      </dsp:nvSpPr>
      <dsp:spPr>
        <a:xfrm>
          <a:off x="6620092" y="1007352"/>
          <a:ext cx="1359480" cy="1359480"/>
        </a:xfrm>
        <a:prstGeom prst="mathEqual">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800291" y="1287405"/>
        <a:ext cx="999082" cy="799374"/>
      </dsp:txXfrm>
    </dsp:sp>
    <dsp:sp modelId="{3BB060D5-76C7-41A6-83DA-7B331C05E2EC}">
      <dsp:nvSpPr>
        <dsp:cNvPr id="0" name=""/>
        <dsp:cNvSpPr/>
      </dsp:nvSpPr>
      <dsp:spPr>
        <a:xfrm>
          <a:off x="8169900" y="515127"/>
          <a:ext cx="2343931" cy="234393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a:latin typeface="Calibri Light" panose="020F0302020204030204"/>
            </a:rPr>
            <a:t>DC Client Support</a:t>
          </a:r>
          <a:endParaRPr lang="en-US" sz="2100" kern="1200"/>
        </a:p>
      </dsp:txBody>
      <dsp:txXfrm>
        <a:off x="8513161" y="858388"/>
        <a:ext cx="1657409" cy="165740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B2FC42-B216-4734-83CF-38272BA6FCEB}">
      <dsp:nvSpPr>
        <dsp:cNvPr id="0" name=""/>
        <dsp:cNvSpPr/>
      </dsp:nvSpPr>
      <dsp:spPr>
        <a:xfrm>
          <a:off x="3000" y="3707511"/>
          <a:ext cx="8121999" cy="1709208"/>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Financial Stability</a:t>
          </a:r>
        </a:p>
      </dsp:txBody>
      <dsp:txXfrm>
        <a:off x="53061" y="3757572"/>
        <a:ext cx="8021877" cy="1609086"/>
      </dsp:txXfrm>
    </dsp:sp>
    <dsp:sp modelId="{F4004984-FFD2-4BA4-ADD0-FEFC383BFEE4}">
      <dsp:nvSpPr>
        <dsp:cNvPr id="0" name=""/>
        <dsp:cNvSpPr/>
      </dsp:nvSpPr>
      <dsp:spPr>
        <a:xfrm>
          <a:off x="3000" y="1854729"/>
          <a:ext cx="6009655" cy="1709208"/>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Expedited Graduation from Debt Settlement Company</a:t>
          </a:r>
        </a:p>
      </dsp:txBody>
      <dsp:txXfrm>
        <a:off x="53061" y="1904790"/>
        <a:ext cx="5909533" cy="1609086"/>
      </dsp:txXfrm>
    </dsp:sp>
    <dsp:sp modelId="{0FEA7635-4C93-4C8F-BBFB-84735320C7C5}">
      <dsp:nvSpPr>
        <dsp:cNvPr id="0" name=""/>
        <dsp:cNvSpPr/>
      </dsp:nvSpPr>
      <dsp:spPr>
        <a:xfrm>
          <a:off x="3000" y="1947"/>
          <a:ext cx="1948656" cy="1709208"/>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More COA Contact for Global Authorizations</a:t>
          </a:r>
        </a:p>
      </dsp:txBody>
      <dsp:txXfrm>
        <a:off x="53061" y="52008"/>
        <a:ext cx="1848534" cy="1609086"/>
      </dsp:txXfrm>
    </dsp:sp>
    <dsp:sp modelId="{742210CC-6AF6-48B8-886E-48B97EC47728}">
      <dsp:nvSpPr>
        <dsp:cNvPr id="0" name=""/>
        <dsp:cNvSpPr/>
      </dsp:nvSpPr>
      <dsp:spPr>
        <a:xfrm>
          <a:off x="2033500" y="1947"/>
          <a:ext cx="1948656" cy="1709208"/>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All Unsettled Creditors are Contacted to Obtain Lump-sum Settlements</a:t>
          </a:r>
        </a:p>
      </dsp:txBody>
      <dsp:txXfrm>
        <a:off x="2083561" y="52008"/>
        <a:ext cx="1848534" cy="1609086"/>
      </dsp:txXfrm>
    </dsp:sp>
    <dsp:sp modelId="{27D9E376-7BB5-44D1-9261-2A1E47E2EDB5}">
      <dsp:nvSpPr>
        <dsp:cNvPr id="0" name=""/>
        <dsp:cNvSpPr/>
      </dsp:nvSpPr>
      <dsp:spPr>
        <a:xfrm>
          <a:off x="4063999" y="1947"/>
          <a:ext cx="1948656" cy="1709208"/>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Future Scheduled Drafts are Removed to Utilize Loan Funds</a:t>
          </a:r>
        </a:p>
      </dsp:txBody>
      <dsp:txXfrm>
        <a:off x="4114060" y="52008"/>
        <a:ext cx="1848534" cy="1609086"/>
      </dsp:txXfrm>
    </dsp:sp>
    <dsp:sp modelId="{79FF8279-4F33-4462-BB48-1F7F07C3B476}">
      <dsp:nvSpPr>
        <dsp:cNvPr id="0" name=""/>
        <dsp:cNvSpPr/>
      </dsp:nvSpPr>
      <dsp:spPr>
        <a:xfrm>
          <a:off x="6176343" y="1854729"/>
          <a:ext cx="1948656" cy="1709208"/>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Continuation of Loan Payments for Positive Payment History</a:t>
          </a:r>
        </a:p>
      </dsp:txBody>
      <dsp:txXfrm>
        <a:off x="6226404" y="1904790"/>
        <a:ext cx="1848534" cy="1609086"/>
      </dsp:txXfrm>
    </dsp:sp>
    <dsp:sp modelId="{9588264B-C17E-49AA-ADB5-98C7150F6F18}">
      <dsp:nvSpPr>
        <dsp:cNvPr id="0" name=""/>
        <dsp:cNvSpPr/>
      </dsp:nvSpPr>
      <dsp:spPr>
        <a:xfrm>
          <a:off x="6176343" y="1947"/>
          <a:ext cx="1948656" cy="1709208"/>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Lending Partner Establishes Payment Terms for Loan Funds</a:t>
          </a:r>
        </a:p>
      </dsp:txBody>
      <dsp:txXfrm>
        <a:off x="6226404" y="52008"/>
        <a:ext cx="1848534" cy="16090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02E472-C140-47D2-B128-B259E35945F8}">
      <dsp:nvSpPr>
        <dsp:cNvPr id="0" name=""/>
        <dsp:cNvSpPr/>
      </dsp:nvSpPr>
      <dsp:spPr>
        <a:xfrm>
          <a:off x="0" y="3726854"/>
          <a:ext cx="6499412" cy="15359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0904" tIns="120904" rIns="120904" bIns="120904" numCol="1" spcCol="1270" anchor="t" anchorCtr="0">
          <a:noAutofit/>
        </a:bodyPr>
        <a:lstStyle/>
        <a:p>
          <a:pPr marL="0" lvl="0" indent="0" algn="l" defTabSz="755650" rtl="0">
            <a:lnSpc>
              <a:spcPct val="90000"/>
            </a:lnSpc>
            <a:spcBef>
              <a:spcPct val="0"/>
            </a:spcBef>
            <a:spcAft>
              <a:spcPct val="35000"/>
            </a:spcAft>
            <a:buNone/>
          </a:pPr>
          <a:r>
            <a:rPr lang="en-US" sz="1700" kern="1200">
              <a:latin typeface="Calibri Light" panose="020F0302020204030204"/>
            </a:rPr>
            <a:t>Resolve:</a:t>
          </a:r>
          <a:endParaRPr lang="en-US" sz="1700" kern="1200"/>
        </a:p>
        <a:p>
          <a:pPr marL="114300" lvl="1" indent="-114300" algn="l" defTabSz="577850" rtl="0">
            <a:lnSpc>
              <a:spcPct val="90000"/>
            </a:lnSpc>
            <a:spcBef>
              <a:spcPct val="0"/>
            </a:spcBef>
            <a:spcAft>
              <a:spcPct val="15000"/>
            </a:spcAft>
            <a:buChar char="•"/>
          </a:pPr>
          <a:r>
            <a:rPr lang="en-US" sz="1300" kern="1200">
              <a:latin typeface="Calibri Light" panose="020F0302020204030204"/>
            </a:rPr>
            <a:t>Starting a cancel request &amp; contacting </a:t>
          </a:r>
          <a:r>
            <a:rPr lang="en-US" sz="1300" b="0" i="0" kern="1200">
              <a:latin typeface="Calibri Light" panose="020F0302020204030204"/>
            </a:rPr>
            <a:t>DC Loan Product before submitting to Accounting</a:t>
          </a:r>
        </a:p>
      </dsp:txBody>
      <dsp:txXfrm>
        <a:off x="0" y="3726854"/>
        <a:ext cx="1949823" cy="1535993"/>
      </dsp:txXfrm>
    </dsp:sp>
    <dsp:sp modelId="{8DD8D045-173F-436A-8064-82411B57B0F7}">
      <dsp:nvSpPr>
        <dsp:cNvPr id="0" name=""/>
        <dsp:cNvSpPr/>
      </dsp:nvSpPr>
      <dsp:spPr>
        <a:xfrm>
          <a:off x="0" y="1934861"/>
          <a:ext cx="6499412" cy="15359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0904" tIns="120904" rIns="120904" bIns="120904"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Resolve:</a:t>
          </a:r>
        </a:p>
        <a:p>
          <a:pPr marL="114300" lvl="1" indent="-114300" algn="l" defTabSz="577850" rtl="0">
            <a:lnSpc>
              <a:spcPct val="90000"/>
            </a:lnSpc>
            <a:spcBef>
              <a:spcPct val="0"/>
            </a:spcBef>
            <a:spcAft>
              <a:spcPct val="15000"/>
            </a:spcAft>
            <a:buChar char="•"/>
          </a:pPr>
          <a:r>
            <a:rPr lang="en-US" sz="1300" kern="1200">
              <a:latin typeface="Calibri Light" panose="020F0302020204030204"/>
            </a:rPr>
            <a:t>COA needs to notify the Lending Partner of any changes/rejection of the loan</a:t>
          </a:r>
        </a:p>
      </dsp:txBody>
      <dsp:txXfrm>
        <a:off x="0" y="1934861"/>
        <a:ext cx="1949823" cy="1535993"/>
      </dsp:txXfrm>
    </dsp:sp>
    <dsp:sp modelId="{47F187BB-FC98-4490-AB12-00B0CE9F29A9}">
      <dsp:nvSpPr>
        <dsp:cNvPr id="0" name=""/>
        <dsp:cNvSpPr/>
      </dsp:nvSpPr>
      <dsp:spPr>
        <a:xfrm>
          <a:off x="0" y="142868"/>
          <a:ext cx="6499412" cy="15359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0904" tIns="120904" rIns="120904" bIns="120904" numCol="1" spcCol="1270" anchor="t" anchorCtr="0">
          <a:noAutofit/>
        </a:bodyPr>
        <a:lstStyle/>
        <a:p>
          <a:pPr marL="0" lvl="0" indent="0" algn="l" defTabSz="755650" rtl="0">
            <a:lnSpc>
              <a:spcPct val="90000"/>
            </a:lnSpc>
            <a:spcBef>
              <a:spcPct val="0"/>
            </a:spcBef>
            <a:spcAft>
              <a:spcPct val="35000"/>
            </a:spcAft>
            <a:buNone/>
          </a:pPr>
          <a:r>
            <a:rPr lang="en-US" sz="1700" kern="1200">
              <a:latin typeface="Calibri Light" panose="020F0302020204030204"/>
            </a:rPr>
            <a:t>Discover:</a:t>
          </a:r>
        </a:p>
        <a:p>
          <a:pPr marL="114300" lvl="1" indent="-114300" algn="l" defTabSz="577850">
            <a:lnSpc>
              <a:spcPct val="90000"/>
            </a:lnSpc>
            <a:spcBef>
              <a:spcPct val="0"/>
            </a:spcBef>
            <a:spcAft>
              <a:spcPct val="15000"/>
            </a:spcAft>
            <a:buChar char="•"/>
          </a:pPr>
          <a:r>
            <a:rPr lang="en-US" sz="1300" kern="1200">
              <a:latin typeface="Calibri Light" panose="020F0302020204030204"/>
            </a:rPr>
            <a:t>Does it benefit the client's circumstances to reject the loan offer and maintain their debt settlement program?</a:t>
          </a:r>
          <a:endParaRPr lang="en-US" sz="1300" kern="1200"/>
        </a:p>
      </dsp:txBody>
      <dsp:txXfrm>
        <a:off x="0" y="142868"/>
        <a:ext cx="1949823" cy="1535993"/>
      </dsp:txXfrm>
    </dsp:sp>
    <dsp:sp modelId="{3FB4C982-8A4C-439D-92BD-9FF08B000F95}">
      <dsp:nvSpPr>
        <dsp:cNvPr id="0" name=""/>
        <dsp:cNvSpPr/>
      </dsp:nvSpPr>
      <dsp:spPr>
        <a:xfrm>
          <a:off x="3199627" y="270868"/>
          <a:ext cx="1919992" cy="12799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Calibri Light" panose="020F0302020204030204"/>
            </a:rPr>
            <a:t>Client Requests to Cancel</a:t>
          </a:r>
        </a:p>
      </dsp:txBody>
      <dsp:txXfrm>
        <a:off x="3237117" y="308358"/>
        <a:ext cx="1845012" cy="1205014"/>
      </dsp:txXfrm>
    </dsp:sp>
    <dsp:sp modelId="{3B88B248-DC86-426B-AC98-E3B7F5B5B563}">
      <dsp:nvSpPr>
        <dsp:cNvPr id="0" name=""/>
        <dsp:cNvSpPr/>
      </dsp:nvSpPr>
      <dsp:spPr>
        <a:xfrm>
          <a:off x="4113903" y="1550863"/>
          <a:ext cx="91440" cy="511997"/>
        </a:xfrm>
        <a:custGeom>
          <a:avLst/>
          <a:gdLst/>
          <a:ahLst/>
          <a:cxnLst/>
          <a:rect l="0" t="0" r="0" b="0"/>
          <a:pathLst>
            <a:path>
              <a:moveTo>
                <a:pt x="45720" y="0"/>
              </a:moveTo>
              <a:lnTo>
                <a:pt x="45720" y="5119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D23FE1-F814-438D-A706-38B21997285A}">
      <dsp:nvSpPr>
        <dsp:cNvPr id="0" name=""/>
        <dsp:cNvSpPr/>
      </dsp:nvSpPr>
      <dsp:spPr>
        <a:xfrm>
          <a:off x="3199627" y="2062861"/>
          <a:ext cx="1919992" cy="12799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Calibri Light" panose="020F0302020204030204"/>
            </a:rPr>
            <a:t>How far has the client gotten in the DC Pipeline</a:t>
          </a:r>
        </a:p>
      </dsp:txBody>
      <dsp:txXfrm>
        <a:off x="3237117" y="2100351"/>
        <a:ext cx="1845012" cy="1205014"/>
      </dsp:txXfrm>
    </dsp:sp>
    <dsp:sp modelId="{78B2E837-6D33-49CE-8677-3D32D4E2A935}">
      <dsp:nvSpPr>
        <dsp:cNvPr id="0" name=""/>
        <dsp:cNvSpPr/>
      </dsp:nvSpPr>
      <dsp:spPr>
        <a:xfrm>
          <a:off x="2911628" y="3342855"/>
          <a:ext cx="1247995" cy="511997"/>
        </a:xfrm>
        <a:custGeom>
          <a:avLst/>
          <a:gdLst/>
          <a:ahLst/>
          <a:cxnLst/>
          <a:rect l="0" t="0" r="0" b="0"/>
          <a:pathLst>
            <a:path>
              <a:moveTo>
                <a:pt x="1247995" y="0"/>
              </a:moveTo>
              <a:lnTo>
                <a:pt x="1247995" y="255998"/>
              </a:lnTo>
              <a:lnTo>
                <a:pt x="0" y="255998"/>
              </a:lnTo>
              <a:lnTo>
                <a:pt x="0" y="51199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7515A9-3180-4420-8434-1C1B2ADC70A8}">
      <dsp:nvSpPr>
        <dsp:cNvPr id="0" name=""/>
        <dsp:cNvSpPr/>
      </dsp:nvSpPr>
      <dsp:spPr>
        <a:xfrm>
          <a:off x="1951632" y="3854853"/>
          <a:ext cx="1919992" cy="12799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Calibri Light" panose="020F0302020204030204"/>
            </a:rPr>
            <a:t>Debt Settlement Option</a:t>
          </a:r>
        </a:p>
      </dsp:txBody>
      <dsp:txXfrm>
        <a:off x="1989122" y="3892343"/>
        <a:ext cx="1845012" cy="1205014"/>
      </dsp:txXfrm>
    </dsp:sp>
    <dsp:sp modelId="{28F9D623-876E-4996-95F4-BD47F5C1CC33}">
      <dsp:nvSpPr>
        <dsp:cNvPr id="0" name=""/>
        <dsp:cNvSpPr/>
      </dsp:nvSpPr>
      <dsp:spPr>
        <a:xfrm>
          <a:off x="4159623" y="3342855"/>
          <a:ext cx="1247995" cy="511997"/>
        </a:xfrm>
        <a:custGeom>
          <a:avLst/>
          <a:gdLst/>
          <a:ahLst/>
          <a:cxnLst/>
          <a:rect l="0" t="0" r="0" b="0"/>
          <a:pathLst>
            <a:path>
              <a:moveTo>
                <a:pt x="0" y="0"/>
              </a:moveTo>
              <a:lnTo>
                <a:pt x="0" y="255998"/>
              </a:lnTo>
              <a:lnTo>
                <a:pt x="1247995" y="255998"/>
              </a:lnTo>
              <a:lnTo>
                <a:pt x="1247995" y="51199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4C93B7-F258-41FE-B47E-A18D9771110F}">
      <dsp:nvSpPr>
        <dsp:cNvPr id="0" name=""/>
        <dsp:cNvSpPr/>
      </dsp:nvSpPr>
      <dsp:spPr>
        <a:xfrm>
          <a:off x="4447622" y="3854853"/>
          <a:ext cx="1919992" cy="12799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Calibri Light" panose="020F0302020204030204"/>
            </a:rPr>
            <a:t>Finalizing Cancel</a:t>
          </a:r>
        </a:p>
      </dsp:txBody>
      <dsp:txXfrm>
        <a:off x="4485112" y="3892343"/>
        <a:ext cx="1845012" cy="120501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architecture">
  <dgm:title val="Architecture Layout"/>
  <dgm:desc val="Use to show hierarchical relationships that build from the bottom up. This layout works well for showing architectural components or objects that build on other objects."/>
  <dgm:catLst>
    <dgm:cat type="hierarchy" pri="4500"/>
    <dgm:cat type="list" pri="24500"/>
    <dgm:cat type="relationship" pri="10500"/>
    <dgm:cat type="officeonline" pri="7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b"/>
        </dgm:alg>
      </dgm:if>
      <dgm:else name="Name3">
        <dgm:alg type="lin">
          <dgm:param type="linDir" val="fromR"/>
          <dgm:param type="nodeVertAlign" val="b"/>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B"/>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b"/>
              </dgm:alg>
            </dgm:if>
            <dgm:else name="Name1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B"/>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b"/>
                    </dgm:alg>
                  </dgm:if>
                  <dgm:else name="Name17">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B"/>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b"/>
                          </dgm:alg>
                        </dgm:if>
                        <dgm:else name="Name24">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B"/>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b"/>
                                </dgm:alg>
                              </dgm:if>
                              <dgm:else name="Name3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E15AC3-DA88-4394-827E-FB984D7BC7B4}"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292758-140D-4C12-B98E-ADDC41F4C53E}" type="slidenum">
              <a:rPr lang="en-US" smtClean="0"/>
              <a:t>‹#›</a:t>
            </a:fld>
            <a:endParaRPr lang="en-US"/>
          </a:p>
        </p:txBody>
      </p:sp>
    </p:spTree>
    <p:extLst>
      <p:ext uri="{BB962C8B-B14F-4D97-AF65-F5344CB8AC3E}">
        <p14:creationId xmlns:p14="http://schemas.microsoft.com/office/powerpoint/2010/main" val="937135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2</a:t>
            </a:fld>
            <a:endParaRPr lang="en-US"/>
          </a:p>
        </p:txBody>
      </p:sp>
    </p:spTree>
    <p:extLst>
      <p:ext uri="{BB962C8B-B14F-4D97-AF65-F5344CB8AC3E}">
        <p14:creationId xmlns:p14="http://schemas.microsoft.com/office/powerpoint/2010/main" val="501599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3</a:t>
            </a:fld>
            <a:endParaRPr lang="en-US"/>
          </a:p>
        </p:txBody>
      </p:sp>
    </p:spTree>
    <p:extLst>
      <p:ext uri="{BB962C8B-B14F-4D97-AF65-F5344CB8AC3E}">
        <p14:creationId xmlns:p14="http://schemas.microsoft.com/office/powerpoint/2010/main" val="172948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4</a:t>
            </a:fld>
            <a:endParaRPr lang="en-US"/>
          </a:p>
        </p:txBody>
      </p:sp>
    </p:spTree>
    <p:extLst>
      <p:ext uri="{BB962C8B-B14F-4D97-AF65-F5344CB8AC3E}">
        <p14:creationId xmlns:p14="http://schemas.microsoft.com/office/powerpoint/2010/main" val="820075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5</a:t>
            </a:fld>
            <a:endParaRPr lang="en-US"/>
          </a:p>
        </p:txBody>
      </p:sp>
    </p:spTree>
    <p:extLst>
      <p:ext uri="{BB962C8B-B14F-4D97-AF65-F5344CB8AC3E}">
        <p14:creationId xmlns:p14="http://schemas.microsoft.com/office/powerpoint/2010/main" val="4187056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6</a:t>
            </a:fld>
            <a:endParaRPr lang="en-US"/>
          </a:p>
        </p:txBody>
      </p:sp>
    </p:spTree>
    <p:extLst>
      <p:ext uri="{BB962C8B-B14F-4D97-AF65-F5344CB8AC3E}">
        <p14:creationId xmlns:p14="http://schemas.microsoft.com/office/powerpoint/2010/main" val="3949177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7</a:t>
            </a:fld>
            <a:endParaRPr lang="en-US"/>
          </a:p>
        </p:txBody>
      </p:sp>
    </p:spTree>
    <p:extLst>
      <p:ext uri="{BB962C8B-B14F-4D97-AF65-F5344CB8AC3E}">
        <p14:creationId xmlns:p14="http://schemas.microsoft.com/office/powerpoint/2010/main" val="1078243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8</a:t>
            </a:fld>
            <a:endParaRPr lang="en-US"/>
          </a:p>
        </p:txBody>
      </p:sp>
    </p:spTree>
    <p:extLst>
      <p:ext uri="{BB962C8B-B14F-4D97-AF65-F5344CB8AC3E}">
        <p14:creationId xmlns:p14="http://schemas.microsoft.com/office/powerpoint/2010/main" val="1329778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9</a:t>
            </a:fld>
            <a:endParaRPr lang="en-US"/>
          </a:p>
        </p:txBody>
      </p:sp>
    </p:spTree>
    <p:extLst>
      <p:ext uri="{BB962C8B-B14F-4D97-AF65-F5344CB8AC3E}">
        <p14:creationId xmlns:p14="http://schemas.microsoft.com/office/powerpoint/2010/main" val="3543027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Customerervice@theoneloan.com"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3" Type="http://schemas.microsoft.com/office/2007/relationships/diagramDrawing" Target="../diagrams/drawing2.xml"/><Relationship Id="rId18" Type="http://schemas.openxmlformats.org/officeDocument/2006/relationships/image" Target="../media/image9.png"/><Relationship Id="rId26"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12.svg"/><Relationship Id="rId34" Type="http://schemas.openxmlformats.org/officeDocument/2006/relationships/image" Target="../media/image25.png"/><Relationship Id="rId7" Type="http://schemas.openxmlformats.org/officeDocument/2006/relationships/diagramColors" Target="../diagrams/colors1.xml"/><Relationship Id="rId12" Type="http://schemas.openxmlformats.org/officeDocument/2006/relationships/diagramColors" Target="../diagrams/colors2.xml"/><Relationship Id="rId17" Type="http://schemas.openxmlformats.org/officeDocument/2006/relationships/image" Target="../media/image8.svg"/><Relationship Id="rId25" Type="http://schemas.openxmlformats.org/officeDocument/2006/relationships/image" Target="../media/image16.svg"/><Relationship Id="rId33" Type="http://schemas.openxmlformats.org/officeDocument/2006/relationships/image" Target="../media/image24.svg"/><Relationship Id="rId2" Type="http://schemas.openxmlformats.org/officeDocument/2006/relationships/notesSlide" Target="../notesSlides/notesSlide2.xml"/><Relationship Id="rId16" Type="http://schemas.openxmlformats.org/officeDocument/2006/relationships/image" Target="../media/image7.png"/><Relationship Id="rId20" Type="http://schemas.openxmlformats.org/officeDocument/2006/relationships/image" Target="../media/image11.png"/><Relationship Id="rId29" Type="http://schemas.openxmlformats.org/officeDocument/2006/relationships/image" Target="../media/image20.svg"/><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24" Type="http://schemas.openxmlformats.org/officeDocument/2006/relationships/image" Target="../media/image15.png"/><Relationship Id="rId32" Type="http://schemas.openxmlformats.org/officeDocument/2006/relationships/image" Target="../media/image23.png"/><Relationship Id="rId5" Type="http://schemas.openxmlformats.org/officeDocument/2006/relationships/diagramLayout" Target="../diagrams/layout1.xml"/><Relationship Id="rId15" Type="http://schemas.openxmlformats.org/officeDocument/2006/relationships/image" Target="../media/image6.svg"/><Relationship Id="rId23" Type="http://schemas.openxmlformats.org/officeDocument/2006/relationships/image" Target="../media/image14.svg"/><Relationship Id="rId28" Type="http://schemas.openxmlformats.org/officeDocument/2006/relationships/image" Target="../media/image19.png"/><Relationship Id="rId10" Type="http://schemas.openxmlformats.org/officeDocument/2006/relationships/diagramLayout" Target="../diagrams/layout2.xml"/><Relationship Id="rId19" Type="http://schemas.openxmlformats.org/officeDocument/2006/relationships/image" Target="../media/image10.svg"/><Relationship Id="rId31" Type="http://schemas.openxmlformats.org/officeDocument/2006/relationships/image" Target="../media/image22.svg"/><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image" Target="../media/image5.png"/><Relationship Id="rId22" Type="http://schemas.openxmlformats.org/officeDocument/2006/relationships/image" Target="../media/image13.png"/><Relationship Id="rId27" Type="http://schemas.openxmlformats.org/officeDocument/2006/relationships/image" Target="../media/image18.svg"/><Relationship Id="rId30" Type="http://schemas.openxmlformats.org/officeDocument/2006/relationships/image" Target="../media/image21.png"/><Relationship Id="rId35" Type="http://schemas.openxmlformats.org/officeDocument/2006/relationships/image" Target="../media/image26.svg"/><Relationship Id="rId8" Type="http://schemas.microsoft.com/office/2007/relationships/diagramDrawing" Target="../diagrams/drawing1.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B8B49ED-6693-497D-8823-F50F891E8D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3" name="Rectangle 72">
            <a:extLst>
              <a:ext uri="{FF2B5EF4-FFF2-40B4-BE49-F238E27FC236}">
                <a16:creationId xmlns:a16="http://schemas.microsoft.com/office/drawing/2014/main" id="{8DCD3BD4-4F32-431E-A9C3-8D2DA60CD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id="{336AAC24-A98C-465E-AFEE-69D698E773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9149158 w 12192000"/>
              <a:gd name="connsiteY0" fmla="*/ 2038490 h 6858000"/>
              <a:gd name="connsiteX1" fmla="*/ 9164184 w 12192000"/>
              <a:gd name="connsiteY1" fmla="*/ 2044026 h 6858000"/>
              <a:gd name="connsiteX2" fmla="*/ 9172532 w 12192000"/>
              <a:gd name="connsiteY2" fmla="*/ 2045543 h 6858000"/>
              <a:gd name="connsiteX3" fmla="*/ 9171580 w 12192000"/>
              <a:gd name="connsiteY3" fmla="*/ 2056997 h 6858000"/>
              <a:gd name="connsiteX4" fmla="*/ 9161257 w 12192000"/>
              <a:gd name="connsiteY4" fmla="*/ 2098605 h 6858000"/>
              <a:gd name="connsiteX5" fmla="*/ 9138232 w 12192000"/>
              <a:gd name="connsiteY5" fmla="*/ 2059518 h 6858000"/>
              <a:gd name="connsiteX6" fmla="*/ 9149158 w 12192000"/>
              <a:gd name="connsiteY6" fmla="*/ 2038490 h 6858000"/>
              <a:gd name="connsiteX7" fmla="*/ 9177606 w 12192000"/>
              <a:gd name="connsiteY7" fmla="*/ 1977215 h 6858000"/>
              <a:gd name="connsiteX8" fmla="*/ 9181592 w 12192000"/>
              <a:gd name="connsiteY8" fmla="*/ 1987782 h 6858000"/>
              <a:gd name="connsiteX9" fmla="*/ 9181923 w 12192000"/>
              <a:gd name="connsiteY9" fmla="*/ 1998627 h 6858000"/>
              <a:gd name="connsiteX10" fmla="*/ 9182316 w 12192000"/>
              <a:gd name="connsiteY10" fmla="*/ 2031066 h 6858000"/>
              <a:gd name="connsiteX11" fmla="*/ 9182278 w 12192000"/>
              <a:gd name="connsiteY11" fmla="*/ 2047313 h 6858000"/>
              <a:gd name="connsiteX12" fmla="*/ 9172532 w 12192000"/>
              <a:gd name="connsiteY12" fmla="*/ 2045543 h 6858000"/>
              <a:gd name="connsiteX13" fmla="*/ 9173842 w 12192000"/>
              <a:gd name="connsiteY13" fmla="*/ 2029805 h 6858000"/>
              <a:gd name="connsiteX14" fmla="*/ 9177334 w 12192000"/>
              <a:gd name="connsiteY14" fmla="*/ 1979903 h 6858000"/>
              <a:gd name="connsiteX15" fmla="*/ 3696300 w 12192000"/>
              <a:gd name="connsiteY15" fmla="*/ 1578900 h 6858000"/>
              <a:gd name="connsiteX16" fmla="*/ 3738823 w 12192000"/>
              <a:gd name="connsiteY16" fmla="*/ 1596298 h 6858000"/>
              <a:gd name="connsiteX17" fmla="*/ 3714409 w 12192000"/>
              <a:gd name="connsiteY17" fmla="*/ 1593618 h 6858000"/>
              <a:gd name="connsiteX18" fmla="*/ 3693161 w 12192000"/>
              <a:gd name="connsiteY18" fmla="*/ 1582501 h 6858000"/>
              <a:gd name="connsiteX19" fmla="*/ 3696300 w 12192000"/>
              <a:gd name="connsiteY19" fmla="*/ 1578900 h 6858000"/>
              <a:gd name="connsiteX20" fmla="*/ 3918454 w 12192000"/>
              <a:gd name="connsiteY20" fmla="*/ 1175387 h 6858000"/>
              <a:gd name="connsiteX21" fmla="*/ 4173607 w 12192000"/>
              <a:gd name="connsiteY21" fmla="*/ 1280040 h 6858000"/>
              <a:gd name="connsiteX22" fmla="*/ 4170135 w 12192000"/>
              <a:gd name="connsiteY22" fmla="*/ 1283683 h 6858000"/>
              <a:gd name="connsiteX23" fmla="*/ 3918454 w 12192000"/>
              <a:gd name="connsiteY23" fmla="*/ 1175387 h 6858000"/>
              <a:gd name="connsiteX24" fmla="*/ 8109090 w 12192000"/>
              <a:gd name="connsiteY24" fmla="*/ 602108 h 6858000"/>
              <a:gd name="connsiteX25" fmla="*/ 8113034 w 12192000"/>
              <a:gd name="connsiteY25" fmla="*/ 602645 h 6858000"/>
              <a:gd name="connsiteX26" fmla="*/ 8111220 w 12192000"/>
              <a:gd name="connsiteY26" fmla="*/ 603405 h 6858000"/>
              <a:gd name="connsiteX27" fmla="*/ 8489536 w 12192000"/>
              <a:gd name="connsiteY27" fmla="*/ 389280 h 6858000"/>
              <a:gd name="connsiteX28" fmla="*/ 8470194 w 12192000"/>
              <a:gd name="connsiteY28" fmla="*/ 397527 h 6858000"/>
              <a:gd name="connsiteX29" fmla="*/ 8373511 w 12192000"/>
              <a:gd name="connsiteY29" fmla="*/ 465608 h 6858000"/>
              <a:gd name="connsiteX30" fmla="*/ 8231753 w 12192000"/>
              <a:gd name="connsiteY30" fmla="*/ 560890 h 6858000"/>
              <a:gd name="connsiteX31" fmla="*/ 8199967 w 12192000"/>
              <a:gd name="connsiteY31" fmla="*/ 553465 h 6858000"/>
              <a:gd name="connsiteX32" fmla="*/ 8175616 w 12192000"/>
              <a:gd name="connsiteY32" fmla="*/ 546483 h 6858000"/>
              <a:gd name="connsiteX33" fmla="*/ 8128578 w 12192000"/>
              <a:gd name="connsiteY33" fmla="*/ 563992 h 6858000"/>
              <a:gd name="connsiteX34" fmla="*/ 8104845 w 12192000"/>
              <a:gd name="connsiteY34" fmla="*/ 593172 h 6858000"/>
              <a:gd name="connsiteX35" fmla="*/ 8105615 w 12192000"/>
              <a:gd name="connsiteY35" fmla="*/ 599991 h 6858000"/>
              <a:gd name="connsiteX36" fmla="*/ 8109090 w 12192000"/>
              <a:gd name="connsiteY36" fmla="*/ 602108 h 6858000"/>
              <a:gd name="connsiteX37" fmla="*/ 8092049 w 12192000"/>
              <a:gd name="connsiteY37" fmla="*/ 599788 h 6858000"/>
              <a:gd name="connsiteX38" fmla="*/ 8047646 w 12192000"/>
              <a:gd name="connsiteY38" fmla="*/ 588557 h 6858000"/>
              <a:gd name="connsiteX39" fmla="*/ 7793637 w 12192000"/>
              <a:gd name="connsiteY39" fmla="*/ 681868 h 6858000"/>
              <a:gd name="connsiteX40" fmla="*/ 6007741 w 12192000"/>
              <a:gd name="connsiteY40" fmla="*/ 1095470 h 6858000"/>
              <a:gd name="connsiteX41" fmla="*/ 5902533 w 12192000"/>
              <a:gd name="connsiteY41" fmla="*/ 1103650 h 6858000"/>
              <a:gd name="connsiteX42" fmla="*/ 5164222 w 12192000"/>
              <a:gd name="connsiteY42" fmla="*/ 1163546 h 6858000"/>
              <a:gd name="connsiteX43" fmla="*/ 4395075 w 12192000"/>
              <a:gd name="connsiteY43" fmla="*/ 1082763 h 6858000"/>
              <a:gd name="connsiteX44" fmla="*/ 3939440 w 12192000"/>
              <a:gd name="connsiteY44" fmla="*/ 891265 h 6858000"/>
              <a:gd name="connsiteX45" fmla="*/ 3747894 w 12192000"/>
              <a:gd name="connsiteY45" fmla="*/ 801994 h 6858000"/>
              <a:gd name="connsiteX46" fmla="*/ 3569553 w 12192000"/>
              <a:gd name="connsiteY46" fmla="*/ 697970 h 6858000"/>
              <a:gd name="connsiteX47" fmla="*/ 3507813 w 12192000"/>
              <a:gd name="connsiteY47" fmla="*/ 680216 h 6858000"/>
              <a:gd name="connsiteX48" fmla="*/ 3490455 w 12192000"/>
              <a:gd name="connsiteY48" fmla="*/ 682587 h 6858000"/>
              <a:gd name="connsiteX49" fmla="*/ 3477246 w 12192000"/>
              <a:gd name="connsiteY49" fmla="*/ 691971 h 6858000"/>
              <a:gd name="connsiteX50" fmla="*/ 3484273 w 12192000"/>
              <a:gd name="connsiteY50" fmla="*/ 701857 h 6858000"/>
              <a:gd name="connsiteX51" fmla="*/ 3495638 w 12192000"/>
              <a:gd name="connsiteY51" fmla="*/ 705849 h 6858000"/>
              <a:gd name="connsiteX52" fmla="*/ 3548914 w 12192000"/>
              <a:gd name="connsiteY52" fmla="*/ 733487 h 6858000"/>
              <a:gd name="connsiteX53" fmla="*/ 3551504 w 12192000"/>
              <a:gd name="connsiteY53" fmla="*/ 753036 h 6858000"/>
              <a:gd name="connsiteX54" fmla="*/ 3562075 w 12192000"/>
              <a:gd name="connsiteY54" fmla="*/ 765715 h 6858000"/>
              <a:gd name="connsiteX55" fmla="*/ 3605942 w 12192000"/>
              <a:gd name="connsiteY55" fmla="*/ 772481 h 6858000"/>
              <a:gd name="connsiteX56" fmla="*/ 3499309 w 12192000"/>
              <a:gd name="connsiteY56" fmla="*/ 737079 h 6858000"/>
              <a:gd name="connsiteX57" fmla="*/ 3473788 w 12192000"/>
              <a:gd name="connsiteY57" fmla="*/ 711717 h 6858000"/>
              <a:gd name="connsiteX58" fmla="*/ 3437248 w 12192000"/>
              <a:gd name="connsiteY58" fmla="*/ 714263 h 6858000"/>
              <a:gd name="connsiteX59" fmla="*/ 3413254 w 12192000"/>
              <a:gd name="connsiteY59" fmla="*/ 712874 h 6858000"/>
              <a:gd name="connsiteX60" fmla="*/ 3362511 w 12192000"/>
              <a:gd name="connsiteY60" fmla="*/ 677414 h 6858000"/>
              <a:gd name="connsiteX61" fmla="*/ 3344467 w 12192000"/>
              <a:gd name="connsiteY61" fmla="*/ 679599 h 6858000"/>
              <a:gd name="connsiteX62" fmla="*/ 3347971 w 12192000"/>
              <a:gd name="connsiteY62" fmla="*/ 692328 h 6858000"/>
              <a:gd name="connsiteX63" fmla="*/ 3363008 w 12192000"/>
              <a:gd name="connsiteY63" fmla="*/ 711713 h 6858000"/>
              <a:gd name="connsiteX64" fmla="*/ 3362637 w 12192000"/>
              <a:gd name="connsiteY64" fmla="*/ 727058 h 6858000"/>
              <a:gd name="connsiteX65" fmla="*/ 3376167 w 12192000"/>
              <a:gd name="connsiteY65" fmla="*/ 759779 h 6858000"/>
              <a:gd name="connsiteX66" fmla="*/ 3406203 w 12192000"/>
              <a:gd name="connsiteY66" fmla="*/ 808483 h 6858000"/>
              <a:gd name="connsiteX67" fmla="*/ 3420116 w 12192000"/>
              <a:gd name="connsiteY67" fmla="*/ 820757 h 6858000"/>
              <a:gd name="connsiteX68" fmla="*/ 3429194 w 12192000"/>
              <a:gd name="connsiteY68" fmla="*/ 825831 h 6858000"/>
              <a:gd name="connsiteX69" fmla="*/ 3619149 w 12192000"/>
              <a:gd name="connsiteY69" fmla="*/ 1006561 h 6858000"/>
              <a:gd name="connsiteX70" fmla="*/ 3818654 w 12192000"/>
              <a:gd name="connsiteY70" fmla="*/ 1120369 h 6858000"/>
              <a:gd name="connsiteX71" fmla="*/ 3824021 w 12192000"/>
              <a:gd name="connsiteY71" fmla="*/ 1125355 h 6858000"/>
              <a:gd name="connsiteX72" fmla="*/ 3736668 w 12192000"/>
              <a:gd name="connsiteY72" fmla="*/ 1107215 h 6858000"/>
              <a:gd name="connsiteX73" fmla="*/ 3540174 w 12192000"/>
              <a:gd name="connsiteY73" fmla="*/ 1014247 h 6858000"/>
              <a:gd name="connsiteX74" fmla="*/ 3421640 w 12192000"/>
              <a:gd name="connsiteY74" fmla="*/ 955861 h 6858000"/>
              <a:gd name="connsiteX75" fmla="*/ 3404753 w 12192000"/>
              <a:gd name="connsiteY75" fmla="*/ 944484 h 6858000"/>
              <a:gd name="connsiteX76" fmla="*/ 3393138 w 12192000"/>
              <a:gd name="connsiteY76" fmla="*/ 941865 h 6858000"/>
              <a:gd name="connsiteX77" fmla="*/ 3385712 w 12192000"/>
              <a:gd name="connsiteY77" fmla="*/ 952159 h 6858000"/>
              <a:gd name="connsiteX78" fmla="*/ 3398641 w 12192000"/>
              <a:gd name="connsiteY78" fmla="*/ 986025 h 6858000"/>
              <a:gd name="connsiteX79" fmla="*/ 3489975 w 12192000"/>
              <a:gd name="connsiteY79" fmla="*/ 1045560 h 6858000"/>
              <a:gd name="connsiteX80" fmla="*/ 3617273 w 12192000"/>
              <a:gd name="connsiteY80" fmla="*/ 1114697 h 6858000"/>
              <a:gd name="connsiteX81" fmla="*/ 3623898 w 12192000"/>
              <a:gd name="connsiteY81" fmla="*/ 1123556 h 6858000"/>
              <a:gd name="connsiteX82" fmla="*/ 3552438 w 12192000"/>
              <a:gd name="connsiteY82" fmla="*/ 1090606 h 6858000"/>
              <a:gd name="connsiteX83" fmla="*/ 3482417 w 12192000"/>
              <a:gd name="connsiteY83" fmla="*/ 1059092 h 6858000"/>
              <a:gd name="connsiteX84" fmla="*/ 3463468 w 12192000"/>
              <a:gd name="connsiteY84" fmla="*/ 1057629 h 6858000"/>
              <a:gd name="connsiteX85" fmla="*/ 3459472 w 12192000"/>
              <a:gd name="connsiteY85" fmla="*/ 1074217 h 6858000"/>
              <a:gd name="connsiteX86" fmla="*/ 3494211 w 12192000"/>
              <a:gd name="connsiteY86" fmla="*/ 1112153 h 6858000"/>
              <a:gd name="connsiteX87" fmla="*/ 3663137 w 12192000"/>
              <a:gd name="connsiteY87" fmla="*/ 1205775 h 6858000"/>
              <a:gd name="connsiteX88" fmla="*/ 3748466 w 12192000"/>
              <a:gd name="connsiteY88" fmla="*/ 1260936 h 6858000"/>
              <a:gd name="connsiteX89" fmla="*/ 3753142 w 12192000"/>
              <a:gd name="connsiteY89" fmla="*/ 1276208 h 6858000"/>
              <a:gd name="connsiteX90" fmla="*/ 3791960 w 12192000"/>
              <a:gd name="connsiteY90" fmla="*/ 1298886 h 6858000"/>
              <a:gd name="connsiteX91" fmla="*/ 3816039 w 12192000"/>
              <a:gd name="connsiteY91" fmla="*/ 1301606 h 6858000"/>
              <a:gd name="connsiteX92" fmla="*/ 4094439 w 12192000"/>
              <a:gd name="connsiteY92" fmla="*/ 1448806 h 6858000"/>
              <a:gd name="connsiteX93" fmla="*/ 4222870 w 12192000"/>
              <a:gd name="connsiteY93" fmla="*/ 1493379 h 6858000"/>
              <a:gd name="connsiteX94" fmla="*/ 4223141 w 12192000"/>
              <a:gd name="connsiteY94" fmla="*/ 1497641 h 6858000"/>
              <a:gd name="connsiteX95" fmla="*/ 4222428 w 12192000"/>
              <a:gd name="connsiteY95" fmla="*/ 1502292 h 6858000"/>
              <a:gd name="connsiteX96" fmla="*/ 4039973 w 12192000"/>
              <a:gd name="connsiteY96" fmla="*/ 1434198 h 6858000"/>
              <a:gd name="connsiteX97" fmla="*/ 3564773 w 12192000"/>
              <a:gd name="connsiteY97" fmla="*/ 1226279 h 6858000"/>
              <a:gd name="connsiteX98" fmla="*/ 3420650 w 12192000"/>
              <a:gd name="connsiteY98" fmla="*/ 1141464 h 6858000"/>
              <a:gd name="connsiteX99" fmla="*/ 3320669 w 12192000"/>
              <a:gd name="connsiteY99" fmla="*/ 1088883 h 6858000"/>
              <a:gd name="connsiteX100" fmla="*/ 3270102 w 12192000"/>
              <a:gd name="connsiteY100" fmla="*/ 1082659 h 6858000"/>
              <a:gd name="connsiteX101" fmla="*/ 3251648 w 12192000"/>
              <a:gd name="connsiteY101" fmla="*/ 1094290 h 6858000"/>
              <a:gd name="connsiteX102" fmla="*/ 3263506 w 12192000"/>
              <a:gd name="connsiteY102" fmla="*/ 1106005 h 6858000"/>
              <a:gd name="connsiteX103" fmla="*/ 3268636 w 12192000"/>
              <a:gd name="connsiteY103" fmla="*/ 1107265 h 6858000"/>
              <a:gd name="connsiteX104" fmla="*/ 3325089 w 12192000"/>
              <a:gd name="connsiteY104" fmla="*/ 1137201 h 6858000"/>
              <a:gd name="connsiteX105" fmla="*/ 3326003 w 12192000"/>
              <a:gd name="connsiteY105" fmla="*/ 1151585 h 6858000"/>
              <a:gd name="connsiteX106" fmla="*/ 3336410 w 12192000"/>
              <a:gd name="connsiteY106" fmla="*/ 1166967 h 6858000"/>
              <a:gd name="connsiteX107" fmla="*/ 3375112 w 12192000"/>
              <a:gd name="connsiteY107" fmla="*/ 1171943 h 6858000"/>
              <a:gd name="connsiteX108" fmla="*/ 3326222 w 12192000"/>
              <a:gd name="connsiteY108" fmla="*/ 1170885 h 6858000"/>
              <a:gd name="connsiteX109" fmla="*/ 3254679 w 12192000"/>
              <a:gd name="connsiteY109" fmla="*/ 1120765 h 6858000"/>
              <a:gd name="connsiteX110" fmla="*/ 3242188 w 12192000"/>
              <a:gd name="connsiteY110" fmla="*/ 1109662 h 6858000"/>
              <a:gd name="connsiteX111" fmla="*/ 3211499 w 12192000"/>
              <a:gd name="connsiteY111" fmla="*/ 1114184 h 6858000"/>
              <a:gd name="connsiteX112" fmla="*/ 3185849 w 12192000"/>
              <a:gd name="connsiteY112" fmla="*/ 1113265 h 6858000"/>
              <a:gd name="connsiteX113" fmla="*/ 3135843 w 12192000"/>
              <a:gd name="connsiteY113" fmla="*/ 1078789 h 6858000"/>
              <a:gd name="connsiteX114" fmla="*/ 3119118 w 12192000"/>
              <a:gd name="connsiteY114" fmla="*/ 1080546 h 6858000"/>
              <a:gd name="connsiteX115" fmla="*/ 3120198 w 12192000"/>
              <a:gd name="connsiteY115" fmla="*/ 1092226 h 6858000"/>
              <a:gd name="connsiteX116" fmla="*/ 3131691 w 12192000"/>
              <a:gd name="connsiteY116" fmla="*/ 1108819 h 6858000"/>
              <a:gd name="connsiteX117" fmla="*/ 3129914 w 12192000"/>
              <a:gd name="connsiteY117" fmla="*/ 1139097 h 6858000"/>
              <a:gd name="connsiteX118" fmla="*/ 3133955 w 12192000"/>
              <a:gd name="connsiteY118" fmla="*/ 1154983 h 6858000"/>
              <a:gd name="connsiteX119" fmla="*/ 3178170 w 12192000"/>
              <a:gd name="connsiteY119" fmla="*/ 1214855 h 6858000"/>
              <a:gd name="connsiteX120" fmla="*/ 3185378 w 12192000"/>
              <a:gd name="connsiteY120" fmla="*/ 1222303 h 6858000"/>
              <a:gd name="connsiteX121" fmla="*/ 3206608 w 12192000"/>
              <a:gd name="connsiteY121" fmla="*/ 1233153 h 6858000"/>
              <a:gd name="connsiteX122" fmla="*/ 3379140 w 12192000"/>
              <a:gd name="connsiteY122" fmla="*/ 1399351 h 6858000"/>
              <a:gd name="connsiteX123" fmla="*/ 3603118 w 12192000"/>
              <a:gd name="connsiteY123" fmla="*/ 1527375 h 6858000"/>
              <a:gd name="connsiteX124" fmla="*/ 3524809 w 12192000"/>
              <a:gd name="connsiteY124" fmla="*/ 1513774 h 6858000"/>
              <a:gd name="connsiteX125" fmla="*/ 3327498 w 12192000"/>
              <a:gd name="connsiteY125" fmla="*/ 1423859 h 6858000"/>
              <a:gd name="connsiteX126" fmla="*/ 3192949 w 12192000"/>
              <a:gd name="connsiteY126" fmla="*/ 1357211 h 6858000"/>
              <a:gd name="connsiteX127" fmla="*/ 3180259 w 12192000"/>
              <a:gd name="connsiteY127" fmla="*/ 1348280 h 6858000"/>
              <a:gd name="connsiteX128" fmla="*/ 3166204 w 12192000"/>
              <a:gd name="connsiteY128" fmla="*/ 1344345 h 6858000"/>
              <a:gd name="connsiteX129" fmla="*/ 3159212 w 12192000"/>
              <a:gd name="connsiteY129" fmla="*/ 1356197 h 6858000"/>
              <a:gd name="connsiteX130" fmla="*/ 3181004 w 12192000"/>
              <a:gd name="connsiteY130" fmla="*/ 1397043 h 6858000"/>
              <a:gd name="connsiteX131" fmla="*/ 3273385 w 12192000"/>
              <a:gd name="connsiteY131" fmla="*/ 1451888 h 6858000"/>
              <a:gd name="connsiteX132" fmla="*/ 3401776 w 12192000"/>
              <a:gd name="connsiteY132" fmla="*/ 1527602 h 6858000"/>
              <a:gd name="connsiteX133" fmla="*/ 3318130 w 12192000"/>
              <a:gd name="connsiteY133" fmla="*/ 1488342 h 6858000"/>
              <a:gd name="connsiteX134" fmla="*/ 3253694 w 12192000"/>
              <a:gd name="connsiteY134" fmla="*/ 1459909 h 6858000"/>
              <a:gd name="connsiteX135" fmla="*/ 3236182 w 12192000"/>
              <a:gd name="connsiteY135" fmla="*/ 1459882 h 6858000"/>
              <a:gd name="connsiteX136" fmla="*/ 3233020 w 12192000"/>
              <a:gd name="connsiteY136" fmla="*/ 1473687 h 6858000"/>
              <a:gd name="connsiteX137" fmla="*/ 3272474 w 12192000"/>
              <a:gd name="connsiteY137" fmla="*/ 1516958 h 6858000"/>
              <a:gd name="connsiteX138" fmla="*/ 3341300 w 12192000"/>
              <a:gd name="connsiteY138" fmla="*/ 1556133 h 6858000"/>
              <a:gd name="connsiteX139" fmla="*/ 3267359 w 12192000"/>
              <a:gd name="connsiteY139" fmla="*/ 1553009 h 6858000"/>
              <a:gd name="connsiteX140" fmla="*/ 3329832 w 12192000"/>
              <a:gd name="connsiteY140" fmla="*/ 1587586 h 6858000"/>
              <a:gd name="connsiteX141" fmla="*/ 3421490 w 12192000"/>
              <a:gd name="connsiteY141" fmla="*/ 1599301 h 6858000"/>
              <a:gd name="connsiteX142" fmla="*/ 3459923 w 12192000"/>
              <a:gd name="connsiteY142" fmla="*/ 1621220 h 6858000"/>
              <a:gd name="connsiteX143" fmla="*/ 3497490 w 12192000"/>
              <a:gd name="connsiteY143" fmla="*/ 1645392 h 6858000"/>
              <a:gd name="connsiteX144" fmla="*/ 3507803 w 12192000"/>
              <a:gd name="connsiteY144" fmla="*/ 1669911 h 6858000"/>
              <a:gd name="connsiteX145" fmla="*/ 3543290 w 12192000"/>
              <a:gd name="connsiteY145" fmla="*/ 1703729 h 6858000"/>
              <a:gd name="connsiteX146" fmla="*/ 3546999 w 12192000"/>
              <a:gd name="connsiteY146" fmla="*/ 1703818 h 6858000"/>
              <a:gd name="connsiteX147" fmla="*/ 3572295 w 12192000"/>
              <a:gd name="connsiteY147" fmla="*/ 1720349 h 6858000"/>
              <a:gd name="connsiteX148" fmla="*/ 3596922 w 12192000"/>
              <a:gd name="connsiteY148" fmla="*/ 1736961 h 6858000"/>
              <a:gd name="connsiteX149" fmla="*/ 3602119 w 12192000"/>
              <a:gd name="connsiteY149" fmla="*/ 1739285 h 6858000"/>
              <a:gd name="connsiteX150" fmla="*/ 3734798 w 12192000"/>
              <a:gd name="connsiteY150" fmla="*/ 1845349 h 6858000"/>
              <a:gd name="connsiteX151" fmla="*/ 3743174 w 12192000"/>
              <a:gd name="connsiteY151" fmla="*/ 1849972 h 6858000"/>
              <a:gd name="connsiteX152" fmla="*/ 3478101 w 12192000"/>
              <a:gd name="connsiteY152" fmla="*/ 1864630 h 6858000"/>
              <a:gd name="connsiteX153" fmla="*/ 3135293 w 12192000"/>
              <a:gd name="connsiteY153" fmla="*/ 1816496 h 6858000"/>
              <a:gd name="connsiteX154" fmla="*/ 3158510 w 12192000"/>
              <a:gd name="connsiteY154" fmla="*/ 1863880 h 6858000"/>
              <a:gd name="connsiteX155" fmla="*/ 3148907 w 12192000"/>
              <a:gd name="connsiteY155" fmla="*/ 1908797 h 6858000"/>
              <a:gd name="connsiteX156" fmla="*/ 3150229 w 12192000"/>
              <a:gd name="connsiteY156" fmla="*/ 2003660 h 6858000"/>
              <a:gd name="connsiteX157" fmla="*/ 3154219 w 12192000"/>
              <a:gd name="connsiteY157" fmla="*/ 2018746 h 6858000"/>
              <a:gd name="connsiteX158" fmla="*/ 3079313 w 12192000"/>
              <a:gd name="connsiteY158" fmla="*/ 2037482 h 6858000"/>
              <a:gd name="connsiteX159" fmla="*/ 3545961 w 12192000"/>
              <a:gd name="connsiteY159" fmla="*/ 2248584 h 6858000"/>
              <a:gd name="connsiteX160" fmla="*/ 3242382 w 12192000"/>
              <a:gd name="connsiteY160" fmla="*/ 2234890 h 6858000"/>
              <a:gd name="connsiteX161" fmla="*/ 3206852 w 12192000"/>
              <a:gd name="connsiteY161" fmla="*/ 2322137 h 6858000"/>
              <a:gd name="connsiteX162" fmla="*/ 3352854 w 12192000"/>
              <a:gd name="connsiteY162" fmla="*/ 2378270 h 6858000"/>
              <a:gd name="connsiteX163" fmla="*/ 3414532 w 12192000"/>
              <a:gd name="connsiteY163" fmla="*/ 2516826 h 6858000"/>
              <a:gd name="connsiteX164" fmla="*/ 3397577 w 12192000"/>
              <a:gd name="connsiteY164" fmla="*/ 2652556 h 6858000"/>
              <a:gd name="connsiteX165" fmla="*/ 3339773 w 12192000"/>
              <a:gd name="connsiteY165" fmla="*/ 2701969 h 6858000"/>
              <a:gd name="connsiteX166" fmla="*/ 3257041 w 12192000"/>
              <a:gd name="connsiteY166" fmla="*/ 2788223 h 6858000"/>
              <a:gd name="connsiteX167" fmla="*/ 3205892 w 12192000"/>
              <a:gd name="connsiteY167" fmla="*/ 2841661 h 6858000"/>
              <a:gd name="connsiteX168" fmla="*/ 3016267 w 12192000"/>
              <a:gd name="connsiteY168" fmla="*/ 2846107 h 6858000"/>
              <a:gd name="connsiteX169" fmla="*/ 3275450 w 12192000"/>
              <a:gd name="connsiteY169" fmla="*/ 2934701 h 6858000"/>
              <a:gd name="connsiteX170" fmla="*/ 3071009 w 12192000"/>
              <a:gd name="connsiteY170" fmla="*/ 2944432 h 6858000"/>
              <a:gd name="connsiteX171" fmla="*/ 3005039 w 12192000"/>
              <a:gd name="connsiteY171" fmla="*/ 2960743 h 6858000"/>
              <a:gd name="connsiteX172" fmla="*/ 3045255 w 12192000"/>
              <a:gd name="connsiteY172" fmla="*/ 2994795 h 6858000"/>
              <a:gd name="connsiteX173" fmla="*/ 3198769 w 12192000"/>
              <a:gd name="connsiteY173" fmla="*/ 3041966 h 6858000"/>
              <a:gd name="connsiteX174" fmla="*/ 3518098 w 12192000"/>
              <a:gd name="connsiteY174" fmla="*/ 3181525 h 6858000"/>
              <a:gd name="connsiteX175" fmla="*/ 3214876 w 12192000"/>
              <a:gd name="connsiteY175" fmla="*/ 3136382 h 6858000"/>
              <a:gd name="connsiteX176" fmla="*/ 3540876 w 12192000"/>
              <a:gd name="connsiteY176" fmla="*/ 3280232 h 6858000"/>
              <a:gd name="connsiteX177" fmla="*/ 3614558 w 12192000"/>
              <a:gd name="connsiteY177" fmla="*/ 3332242 h 6858000"/>
              <a:gd name="connsiteX178" fmla="*/ 3765439 w 12192000"/>
              <a:gd name="connsiteY178" fmla="*/ 3465091 h 6858000"/>
              <a:gd name="connsiteX179" fmla="*/ 3759506 w 12192000"/>
              <a:gd name="connsiteY179" fmla="*/ 3482990 h 6858000"/>
              <a:gd name="connsiteX180" fmla="*/ 3594905 w 12192000"/>
              <a:gd name="connsiteY180" fmla="*/ 3478499 h 6858000"/>
              <a:gd name="connsiteX181" fmla="*/ 3814430 w 12192000"/>
              <a:gd name="connsiteY181" fmla="*/ 3578876 h 6858000"/>
              <a:gd name="connsiteX182" fmla="*/ 4039126 w 12192000"/>
              <a:gd name="connsiteY182" fmla="*/ 3649369 h 6858000"/>
              <a:gd name="connsiteX183" fmla="*/ 3883152 w 12192000"/>
              <a:gd name="connsiteY183" fmla="*/ 3653497 h 6858000"/>
              <a:gd name="connsiteX184" fmla="*/ 3666446 w 12192000"/>
              <a:gd name="connsiteY184" fmla="*/ 3623911 h 6858000"/>
              <a:gd name="connsiteX185" fmla="*/ 3593589 w 12192000"/>
              <a:gd name="connsiteY185" fmla="*/ 3653674 h 6858000"/>
              <a:gd name="connsiteX186" fmla="*/ 3801238 w 12192000"/>
              <a:gd name="connsiteY186" fmla="*/ 3720862 h 6858000"/>
              <a:gd name="connsiteX187" fmla="*/ 3919545 w 12192000"/>
              <a:gd name="connsiteY187" fmla="*/ 3749213 h 6858000"/>
              <a:gd name="connsiteX188" fmla="*/ 3968059 w 12192000"/>
              <a:gd name="connsiteY188" fmla="*/ 3776085 h 6858000"/>
              <a:gd name="connsiteX189" fmla="*/ 4107750 w 12192000"/>
              <a:gd name="connsiteY189" fmla="*/ 3875932 h 6858000"/>
              <a:gd name="connsiteX190" fmla="*/ 4504087 w 12192000"/>
              <a:gd name="connsiteY190" fmla="*/ 3955698 h 6858000"/>
              <a:gd name="connsiteX191" fmla="*/ 5880284 w 12192000"/>
              <a:gd name="connsiteY191" fmla="*/ 3998656 h 6858000"/>
              <a:gd name="connsiteX192" fmla="*/ 8461494 w 12192000"/>
              <a:gd name="connsiteY192" fmla="*/ 3007971 h 6858000"/>
              <a:gd name="connsiteX193" fmla="*/ 8587378 w 12192000"/>
              <a:gd name="connsiteY193" fmla="*/ 2896089 h 6858000"/>
              <a:gd name="connsiteX194" fmla="*/ 8693826 w 12192000"/>
              <a:gd name="connsiteY194" fmla="*/ 2796225 h 6858000"/>
              <a:gd name="connsiteX195" fmla="*/ 8633488 w 12192000"/>
              <a:gd name="connsiteY195" fmla="*/ 2774007 h 6858000"/>
              <a:gd name="connsiteX196" fmla="*/ 8707444 w 12192000"/>
              <a:gd name="connsiteY196" fmla="*/ 2682105 h 6858000"/>
              <a:gd name="connsiteX197" fmla="*/ 8942552 w 12192000"/>
              <a:gd name="connsiteY197" fmla="*/ 2397549 h 6858000"/>
              <a:gd name="connsiteX198" fmla="*/ 9049260 w 12192000"/>
              <a:gd name="connsiteY198" fmla="*/ 2328253 h 6858000"/>
              <a:gd name="connsiteX199" fmla="*/ 9174304 w 12192000"/>
              <a:gd name="connsiteY199" fmla="*/ 2171379 h 6858000"/>
              <a:gd name="connsiteX200" fmla="*/ 9182228 w 12192000"/>
              <a:gd name="connsiteY200" fmla="*/ 2067678 h 6858000"/>
              <a:gd name="connsiteX201" fmla="*/ 9182278 w 12192000"/>
              <a:gd name="connsiteY201" fmla="*/ 2047313 h 6858000"/>
              <a:gd name="connsiteX202" fmla="*/ 9184334 w 12192000"/>
              <a:gd name="connsiteY202" fmla="*/ 2047686 h 6858000"/>
              <a:gd name="connsiteX203" fmla="*/ 9185124 w 12192000"/>
              <a:gd name="connsiteY203" fmla="*/ 1997142 h 6858000"/>
              <a:gd name="connsiteX204" fmla="*/ 9181592 w 12192000"/>
              <a:gd name="connsiteY204" fmla="*/ 1987782 h 6858000"/>
              <a:gd name="connsiteX205" fmla="*/ 9181190 w 12192000"/>
              <a:gd name="connsiteY205" fmla="*/ 1974586 h 6858000"/>
              <a:gd name="connsiteX206" fmla="*/ 9180252 w 12192000"/>
              <a:gd name="connsiteY206" fmla="*/ 1963164 h 6858000"/>
              <a:gd name="connsiteX207" fmla="*/ 9178804 w 12192000"/>
              <a:gd name="connsiteY207" fmla="*/ 1965349 h 6858000"/>
              <a:gd name="connsiteX208" fmla="*/ 9177606 w 12192000"/>
              <a:gd name="connsiteY208" fmla="*/ 1977215 h 6858000"/>
              <a:gd name="connsiteX209" fmla="*/ 9169614 w 12192000"/>
              <a:gd name="connsiteY209" fmla="*/ 1956030 h 6858000"/>
              <a:gd name="connsiteX210" fmla="*/ 9046406 w 12192000"/>
              <a:gd name="connsiteY210" fmla="*/ 1838718 h 6858000"/>
              <a:gd name="connsiteX211" fmla="*/ 8960873 w 12192000"/>
              <a:gd name="connsiteY211" fmla="*/ 1764524 h 6858000"/>
              <a:gd name="connsiteX212" fmla="*/ 8946755 w 12192000"/>
              <a:gd name="connsiteY212" fmla="*/ 1690806 h 6858000"/>
              <a:gd name="connsiteX213" fmla="*/ 8786897 w 12192000"/>
              <a:gd name="connsiteY213" fmla="*/ 1665607 h 6858000"/>
              <a:gd name="connsiteX214" fmla="*/ 8924505 w 12192000"/>
              <a:gd name="connsiteY214" fmla="*/ 1489227 h 6858000"/>
              <a:gd name="connsiteX215" fmla="*/ 8937122 w 12192000"/>
              <a:gd name="connsiteY215" fmla="*/ 1454681 h 6858000"/>
              <a:gd name="connsiteX216" fmla="*/ 8841119 w 12192000"/>
              <a:gd name="connsiteY216" fmla="*/ 1348202 h 6858000"/>
              <a:gd name="connsiteX217" fmla="*/ 8825548 w 12192000"/>
              <a:gd name="connsiteY217" fmla="*/ 1331028 h 6858000"/>
              <a:gd name="connsiteX218" fmla="*/ 8790413 w 12192000"/>
              <a:gd name="connsiteY218" fmla="*/ 1297436 h 6858000"/>
              <a:gd name="connsiteX219" fmla="*/ 8695944 w 12192000"/>
              <a:gd name="connsiteY219" fmla="*/ 1299752 h 6858000"/>
              <a:gd name="connsiteX220" fmla="*/ 8743050 w 12192000"/>
              <a:gd name="connsiteY220" fmla="*/ 1267471 h 6858000"/>
              <a:gd name="connsiteX221" fmla="*/ 8831902 w 12192000"/>
              <a:gd name="connsiteY221" fmla="*/ 1166250 h 6858000"/>
              <a:gd name="connsiteX222" fmla="*/ 8763628 w 12192000"/>
              <a:gd name="connsiteY222" fmla="*/ 1088084 h 6858000"/>
              <a:gd name="connsiteX223" fmla="*/ 8744052 w 12192000"/>
              <a:gd name="connsiteY223" fmla="*/ 1076766 h 6858000"/>
              <a:gd name="connsiteX224" fmla="*/ 8767977 w 12192000"/>
              <a:gd name="connsiteY224" fmla="*/ 1055883 h 6858000"/>
              <a:gd name="connsiteX225" fmla="*/ 8815418 w 12192000"/>
              <a:gd name="connsiteY225" fmla="*/ 986519 h 6858000"/>
              <a:gd name="connsiteX226" fmla="*/ 8839356 w 12192000"/>
              <a:gd name="connsiteY226" fmla="*/ 939330 h 6858000"/>
              <a:gd name="connsiteX227" fmla="*/ 8869964 w 12192000"/>
              <a:gd name="connsiteY227" fmla="*/ 917639 h 6858000"/>
              <a:gd name="connsiteX228" fmla="*/ 8876013 w 12192000"/>
              <a:gd name="connsiteY228" fmla="*/ 901606 h 6858000"/>
              <a:gd name="connsiteX229" fmla="*/ 8855230 w 12192000"/>
              <a:gd name="connsiteY229" fmla="*/ 828963 h 6858000"/>
              <a:gd name="connsiteX230" fmla="*/ 8844988 w 12192000"/>
              <a:gd name="connsiteY230" fmla="*/ 810876 h 6858000"/>
              <a:gd name="connsiteX231" fmla="*/ 8768255 w 12192000"/>
              <a:gd name="connsiteY231" fmla="*/ 747963 h 6858000"/>
              <a:gd name="connsiteX232" fmla="*/ 8692953 w 12192000"/>
              <a:gd name="connsiteY232" fmla="*/ 638707 h 6858000"/>
              <a:gd name="connsiteX233" fmla="*/ 8674423 w 12192000"/>
              <a:gd name="connsiteY233" fmla="*/ 564449 h 6858000"/>
              <a:gd name="connsiteX234" fmla="*/ 8667642 w 12192000"/>
              <a:gd name="connsiteY234" fmla="*/ 547822 h 6858000"/>
              <a:gd name="connsiteX235" fmla="*/ 8661198 w 12192000"/>
              <a:gd name="connsiteY235" fmla="*/ 478275 h 6858000"/>
              <a:gd name="connsiteX236" fmla="*/ 8645813 w 12192000"/>
              <a:gd name="connsiteY236" fmla="*/ 464032 h 6858000"/>
              <a:gd name="connsiteX237" fmla="*/ 8512338 w 12192000"/>
              <a:gd name="connsiteY237" fmla="*/ 477784 h 6858000"/>
              <a:gd name="connsiteX238" fmla="*/ 8481050 w 12192000"/>
              <a:gd name="connsiteY238" fmla="*/ 430572 h 6858000"/>
              <a:gd name="connsiteX239" fmla="*/ 8498220 w 12192000"/>
              <a:gd name="connsiteY239" fmla="*/ 404064 h 6858000"/>
              <a:gd name="connsiteX240" fmla="*/ 8489536 w 12192000"/>
              <a:gd name="connsiteY240" fmla="*/ 389280 h 6858000"/>
              <a:gd name="connsiteX241" fmla="*/ 0 w 12192000"/>
              <a:gd name="connsiteY241" fmla="*/ 0 h 6858000"/>
              <a:gd name="connsiteX242" fmla="*/ 12192000 w 12192000"/>
              <a:gd name="connsiteY242" fmla="*/ 0 h 6858000"/>
              <a:gd name="connsiteX243" fmla="*/ 12192000 w 12192000"/>
              <a:gd name="connsiteY243" fmla="*/ 6858000 h 6858000"/>
              <a:gd name="connsiteX244" fmla="*/ 0 w 12192000"/>
              <a:gd name="connsiteY2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Lst>
            <a:rect l="l" t="t" r="r" b="b"/>
            <a:pathLst>
              <a:path w="12192000" h="6858000">
                <a:moveTo>
                  <a:pt x="9149158" y="2038490"/>
                </a:moveTo>
                <a:cubicBezTo>
                  <a:pt x="9152630" y="2038396"/>
                  <a:pt x="9157442" y="2039945"/>
                  <a:pt x="9164184" y="2044026"/>
                </a:cubicBezTo>
                <a:lnTo>
                  <a:pt x="9172532" y="2045543"/>
                </a:lnTo>
                <a:lnTo>
                  <a:pt x="9171580" y="2056997"/>
                </a:lnTo>
                <a:cubicBezTo>
                  <a:pt x="9169082" y="2082897"/>
                  <a:pt x="9165822" y="2102884"/>
                  <a:pt x="9161257" y="2098605"/>
                </a:cubicBezTo>
                <a:cubicBezTo>
                  <a:pt x="9149066" y="2086928"/>
                  <a:pt x="9130962" y="2077578"/>
                  <a:pt x="9138232" y="2059518"/>
                </a:cubicBezTo>
                <a:cubicBezTo>
                  <a:pt x="9140394" y="2053821"/>
                  <a:pt x="9138743" y="2038771"/>
                  <a:pt x="9149158" y="2038490"/>
                </a:cubicBezTo>
                <a:close/>
                <a:moveTo>
                  <a:pt x="9177606" y="1977215"/>
                </a:moveTo>
                <a:lnTo>
                  <a:pt x="9181592" y="1987782"/>
                </a:lnTo>
                <a:lnTo>
                  <a:pt x="9181923" y="1998627"/>
                </a:lnTo>
                <a:cubicBezTo>
                  <a:pt x="9182120" y="2008276"/>
                  <a:pt x="9182258" y="2019324"/>
                  <a:pt x="9182316" y="2031066"/>
                </a:cubicBezTo>
                <a:lnTo>
                  <a:pt x="9182278" y="2047313"/>
                </a:lnTo>
                <a:lnTo>
                  <a:pt x="9172532" y="2045543"/>
                </a:lnTo>
                <a:lnTo>
                  <a:pt x="9173842" y="2029805"/>
                </a:lnTo>
                <a:cubicBezTo>
                  <a:pt x="9175210" y="2011268"/>
                  <a:pt x="9176320" y="1992822"/>
                  <a:pt x="9177334" y="1979903"/>
                </a:cubicBezTo>
                <a:close/>
                <a:moveTo>
                  <a:pt x="3696300" y="1578900"/>
                </a:moveTo>
                <a:cubicBezTo>
                  <a:pt x="3710474" y="1584699"/>
                  <a:pt x="3724648" y="1590499"/>
                  <a:pt x="3738823" y="1596298"/>
                </a:cubicBezTo>
                <a:cubicBezTo>
                  <a:pt x="3731018" y="1595365"/>
                  <a:pt x="3722545" y="1594511"/>
                  <a:pt x="3714409" y="1593618"/>
                </a:cubicBezTo>
                <a:cubicBezTo>
                  <a:pt x="3707437" y="1589899"/>
                  <a:pt x="3700149" y="1586487"/>
                  <a:pt x="3693161" y="1582501"/>
                </a:cubicBezTo>
                <a:cubicBezTo>
                  <a:pt x="3694096" y="1581313"/>
                  <a:pt x="3695364" y="1580088"/>
                  <a:pt x="3696300" y="1578900"/>
                </a:cubicBezTo>
                <a:close/>
                <a:moveTo>
                  <a:pt x="3918454" y="1175387"/>
                </a:moveTo>
                <a:cubicBezTo>
                  <a:pt x="4003499" y="1210184"/>
                  <a:pt x="4088562" y="1245245"/>
                  <a:pt x="4173607" y="1280040"/>
                </a:cubicBezTo>
                <a:cubicBezTo>
                  <a:pt x="4172338" y="1281268"/>
                  <a:pt x="4171404" y="1282454"/>
                  <a:pt x="4170135" y="1283683"/>
                </a:cubicBezTo>
                <a:cubicBezTo>
                  <a:pt x="4077511" y="1256783"/>
                  <a:pt x="3989628" y="1225016"/>
                  <a:pt x="3918454" y="1175387"/>
                </a:cubicBezTo>
                <a:close/>
                <a:moveTo>
                  <a:pt x="8109090" y="602108"/>
                </a:moveTo>
                <a:lnTo>
                  <a:pt x="8113034" y="602645"/>
                </a:lnTo>
                <a:cubicBezTo>
                  <a:pt x="8117145" y="603257"/>
                  <a:pt x="8117456" y="603522"/>
                  <a:pt x="8111220" y="603405"/>
                </a:cubicBezTo>
                <a:close/>
                <a:moveTo>
                  <a:pt x="8489536" y="389280"/>
                </a:moveTo>
                <a:cubicBezTo>
                  <a:pt x="8479909" y="386150"/>
                  <a:pt x="8475270" y="392618"/>
                  <a:pt x="8470194" y="397527"/>
                </a:cubicBezTo>
                <a:cubicBezTo>
                  <a:pt x="8442581" y="423957"/>
                  <a:pt x="8407160" y="444085"/>
                  <a:pt x="8373511" y="465608"/>
                </a:cubicBezTo>
                <a:cubicBezTo>
                  <a:pt x="8325315" y="496678"/>
                  <a:pt x="8274262" y="525140"/>
                  <a:pt x="8231753" y="560890"/>
                </a:cubicBezTo>
                <a:cubicBezTo>
                  <a:pt x="8220884" y="569991"/>
                  <a:pt x="8202133" y="566357"/>
                  <a:pt x="8199967" y="553465"/>
                </a:cubicBezTo>
                <a:cubicBezTo>
                  <a:pt x="8197799" y="540575"/>
                  <a:pt x="8188778" y="541668"/>
                  <a:pt x="8175616" y="546483"/>
                </a:cubicBezTo>
                <a:cubicBezTo>
                  <a:pt x="8159813" y="552155"/>
                  <a:pt x="8144012" y="557828"/>
                  <a:pt x="8128578" y="563992"/>
                </a:cubicBezTo>
                <a:cubicBezTo>
                  <a:pt x="8112493" y="570503"/>
                  <a:pt x="8105752" y="580983"/>
                  <a:pt x="8104845" y="593172"/>
                </a:cubicBezTo>
                <a:cubicBezTo>
                  <a:pt x="8104654" y="595478"/>
                  <a:pt x="8104732" y="598018"/>
                  <a:pt x="8105615" y="599991"/>
                </a:cubicBezTo>
                <a:lnTo>
                  <a:pt x="8109090" y="602108"/>
                </a:lnTo>
                <a:lnTo>
                  <a:pt x="8092049" y="599788"/>
                </a:lnTo>
                <a:cubicBezTo>
                  <a:pt x="8074125" y="597229"/>
                  <a:pt x="8051995" y="593399"/>
                  <a:pt x="8047646" y="588557"/>
                </a:cubicBezTo>
                <a:cubicBezTo>
                  <a:pt x="8047278" y="588065"/>
                  <a:pt x="7852240" y="650342"/>
                  <a:pt x="7793637" y="681868"/>
                </a:cubicBezTo>
                <a:cubicBezTo>
                  <a:pt x="7757179" y="701583"/>
                  <a:pt x="7034011" y="1031296"/>
                  <a:pt x="6007741" y="1095470"/>
                </a:cubicBezTo>
                <a:cubicBezTo>
                  <a:pt x="5971519" y="1097710"/>
                  <a:pt x="5937353" y="1100506"/>
                  <a:pt x="5902533" y="1103650"/>
                </a:cubicBezTo>
                <a:cubicBezTo>
                  <a:pt x="5594429" y="1129961"/>
                  <a:pt x="5292360" y="1161179"/>
                  <a:pt x="5164222" y="1163546"/>
                </a:cubicBezTo>
                <a:cubicBezTo>
                  <a:pt x="5063988" y="1165217"/>
                  <a:pt x="4549164" y="1138992"/>
                  <a:pt x="4395075" y="1082763"/>
                </a:cubicBezTo>
                <a:cubicBezTo>
                  <a:pt x="4237527" y="1025076"/>
                  <a:pt x="4088158" y="958345"/>
                  <a:pt x="3939440" y="891265"/>
                </a:cubicBezTo>
                <a:cubicBezTo>
                  <a:pt x="3874968" y="862299"/>
                  <a:pt x="3806689" y="837016"/>
                  <a:pt x="3747894" y="801994"/>
                </a:cubicBezTo>
                <a:cubicBezTo>
                  <a:pt x="3689082" y="766706"/>
                  <a:pt x="3632839" y="729495"/>
                  <a:pt x="3569553" y="697970"/>
                </a:cubicBezTo>
                <a:cubicBezTo>
                  <a:pt x="3551464" y="688887"/>
                  <a:pt x="3533327" y="679005"/>
                  <a:pt x="3507813" y="680216"/>
                </a:cubicBezTo>
                <a:cubicBezTo>
                  <a:pt x="3502099" y="680371"/>
                  <a:pt x="3496101" y="681365"/>
                  <a:pt x="3490455" y="682587"/>
                </a:cubicBezTo>
                <a:cubicBezTo>
                  <a:pt x="3484140" y="683888"/>
                  <a:pt x="3479298" y="687159"/>
                  <a:pt x="3477246" y="691971"/>
                </a:cubicBezTo>
                <a:cubicBezTo>
                  <a:pt x="3475230" y="697315"/>
                  <a:pt x="3479426" y="699760"/>
                  <a:pt x="3484273" y="701857"/>
                </a:cubicBezTo>
                <a:cubicBezTo>
                  <a:pt x="3487733" y="703316"/>
                  <a:pt x="3491260" y="705843"/>
                  <a:pt x="3495638" y="705849"/>
                </a:cubicBezTo>
                <a:cubicBezTo>
                  <a:pt x="3523576" y="705686"/>
                  <a:pt x="3534967" y="720681"/>
                  <a:pt x="3548914" y="733487"/>
                </a:cubicBezTo>
                <a:cubicBezTo>
                  <a:pt x="3554984" y="738925"/>
                  <a:pt x="3561304" y="742991"/>
                  <a:pt x="3551504" y="753036"/>
                </a:cubicBezTo>
                <a:cubicBezTo>
                  <a:pt x="3542974" y="761854"/>
                  <a:pt x="3552584" y="764716"/>
                  <a:pt x="3562075" y="765715"/>
                </a:cubicBezTo>
                <a:cubicBezTo>
                  <a:pt x="3575293" y="767067"/>
                  <a:pt x="3590630" y="764672"/>
                  <a:pt x="3605942" y="772481"/>
                </a:cubicBezTo>
                <a:cubicBezTo>
                  <a:pt x="3550860" y="779958"/>
                  <a:pt x="3525860" y="757484"/>
                  <a:pt x="3499309" y="737079"/>
                </a:cubicBezTo>
                <a:cubicBezTo>
                  <a:pt x="3489410" y="729689"/>
                  <a:pt x="3482419" y="720334"/>
                  <a:pt x="3473788" y="711717"/>
                </a:cubicBezTo>
                <a:cubicBezTo>
                  <a:pt x="3463019" y="701211"/>
                  <a:pt x="3451290" y="702093"/>
                  <a:pt x="3437248" y="714263"/>
                </a:cubicBezTo>
                <a:cubicBezTo>
                  <a:pt x="3424810" y="725164"/>
                  <a:pt x="3418411" y="725135"/>
                  <a:pt x="3413254" y="712874"/>
                </a:cubicBezTo>
                <a:cubicBezTo>
                  <a:pt x="3405299" y="693706"/>
                  <a:pt x="3389031" y="681450"/>
                  <a:pt x="3362511" y="677414"/>
                </a:cubicBezTo>
                <a:cubicBezTo>
                  <a:pt x="3356728" y="676504"/>
                  <a:pt x="3349492" y="673891"/>
                  <a:pt x="3344467" y="679599"/>
                </a:cubicBezTo>
                <a:cubicBezTo>
                  <a:pt x="3340061" y="684428"/>
                  <a:pt x="3344392" y="689004"/>
                  <a:pt x="3347971" y="692328"/>
                </a:cubicBezTo>
                <a:cubicBezTo>
                  <a:pt x="3354407" y="698260"/>
                  <a:pt x="3360162" y="704004"/>
                  <a:pt x="3363008" y="711713"/>
                </a:cubicBezTo>
                <a:cubicBezTo>
                  <a:pt x="3365019" y="716838"/>
                  <a:pt x="3367062" y="722495"/>
                  <a:pt x="3362637" y="727058"/>
                </a:cubicBezTo>
                <a:cubicBezTo>
                  <a:pt x="3344342" y="746453"/>
                  <a:pt x="3358884" y="752745"/>
                  <a:pt x="3376167" y="759779"/>
                </a:cubicBezTo>
                <a:cubicBezTo>
                  <a:pt x="3400002" y="769239"/>
                  <a:pt x="3410177" y="786259"/>
                  <a:pt x="3406203" y="808483"/>
                </a:cubicBezTo>
                <a:cubicBezTo>
                  <a:pt x="3404757" y="817516"/>
                  <a:pt x="3406433" y="822682"/>
                  <a:pt x="3420116" y="820757"/>
                </a:cubicBezTo>
                <a:cubicBezTo>
                  <a:pt x="3425463" y="820110"/>
                  <a:pt x="3426984" y="822878"/>
                  <a:pt x="3429194" y="825831"/>
                </a:cubicBezTo>
                <a:cubicBezTo>
                  <a:pt x="3476758" y="896035"/>
                  <a:pt x="3542778" y="954609"/>
                  <a:pt x="3619149" y="1006561"/>
                </a:cubicBezTo>
                <a:cubicBezTo>
                  <a:pt x="3681093" y="1048718"/>
                  <a:pt x="3748746" y="1085351"/>
                  <a:pt x="3818654" y="1120369"/>
                </a:cubicBezTo>
                <a:cubicBezTo>
                  <a:pt x="3820742" y="1121458"/>
                  <a:pt x="3822850" y="1122813"/>
                  <a:pt x="3824021" y="1125355"/>
                </a:cubicBezTo>
                <a:cubicBezTo>
                  <a:pt x="3791940" y="1123873"/>
                  <a:pt x="3763844" y="1116270"/>
                  <a:pt x="3736668" y="1107215"/>
                </a:cubicBezTo>
                <a:cubicBezTo>
                  <a:pt x="3664431" y="1083216"/>
                  <a:pt x="3602610" y="1048291"/>
                  <a:pt x="3540174" y="1014247"/>
                </a:cubicBezTo>
                <a:cubicBezTo>
                  <a:pt x="3502142" y="993353"/>
                  <a:pt x="3463159" y="973379"/>
                  <a:pt x="3421640" y="955861"/>
                </a:cubicBezTo>
                <a:cubicBezTo>
                  <a:pt x="3414719" y="952940"/>
                  <a:pt x="3409737" y="948712"/>
                  <a:pt x="3404753" y="944484"/>
                </a:cubicBezTo>
                <a:cubicBezTo>
                  <a:pt x="3401911" y="942144"/>
                  <a:pt x="3398417" y="940152"/>
                  <a:pt x="3393138" y="941865"/>
                </a:cubicBezTo>
                <a:cubicBezTo>
                  <a:pt x="3386540" y="944006"/>
                  <a:pt x="3386126" y="948083"/>
                  <a:pt x="3385712" y="952159"/>
                </a:cubicBezTo>
                <a:cubicBezTo>
                  <a:pt x="3384520" y="965187"/>
                  <a:pt x="3389594" y="976116"/>
                  <a:pt x="3398641" y="986025"/>
                </a:cubicBezTo>
                <a:cubicBezTo>
                  <a:pt x="3422140" y="1011364"/>
                  <a:pt x="3455589" y="1029056"/>
                  <a:pt x="3489975" y="1045560"/>
                </a:cubicBezTo>
                <a:cubicBezTo>
                  <a:pt x="3534421" y="1066751"/>
                  <a:pt x="3577600" y="1089169"/>
                  <a:pt x="3617273" y="1114697"/>
                </a:cubicBezTo>
                <a:cubicBezTo>
                  <a:pt x="3620082" y="1116503"/>
                  <a:pt x="3625178" y="1117229"/>
                  <a:pt x="3623898" y="1123556"/>
                </a:cubicBezTo>
                <a:cubicBezTo>
                  <a:pt x="3599276" y="1112313"/>
                  <a:pt x="3576007" y="1101173"/>
                  <a:pt x="3552438" y="1090606"/>
                </a:cubicBezTo>
                <a:cubicBezTo>
                  <a:pt x="3529203" y="1079998"/>
                  <a:pt x="3505634" y="1069432"/>
                  <a:pt x="3482417" y="1059092"/>
                </a:cubicBezTo>
                <a:cubicBezTo>
                  <a:pt x="3476868" y="1056543"/>
                  <a:pt x="3470899" y="1052702"/>
                  <a:pt x="3463468" y="1057629"/>
                </a:cubicBezTo>
                <a:cubicBezTo>
                  <a:pt x="3455703" y="1062595"/>
                  <a:pt x="3457128" y="1069134"/>
                  <a:pt x="3459472" y="1074217"/>
                </a:cubicBezTo>
                <a:cubicBezTo>
                  <a:pt x="3466821" y="1089165"/>
                  <a:pt x="3478729" y="1101681"/>
                  <a:pt x="3494211" y="1112153"/>
                </a:cubicBezTo>
                <a:cubicBezTo>
                  <a:pt x="3546907" y="1146573"/>
                  <a:pt x="3606933" y="1174465"/>
                  <a:pt x="3663137" y="1205775"/>
                </a:cubicBezTo>
                <a:cubicBezTo>
                  <a:pt x="3693512" y="1222766"/>
                  <a:pt x="3721631" y="1241370"/>
                  <a:pt x="3748466" y="1260936"/>
                </a:cubicBezTo>
                <a:cubicBezTo>
                  <a:pt x="3754470" y="1265310"/>
                  <a:pt x="3754440" y="1270144"/>
                  <a:pt x="3753142" y="1276208"/>
                </a:cubicBezTo>
                <a:cubicBezTo>
                  <a:pt x="3747968" y="1300726"/>
                  <a:pt x="3758834" y="1307462"/>
                  <a:pt x="3791960" y="1298886"/>
                </a:cubicBezTo>
                <a:cubicBezTo>
                  <a:pt x="3802234" y="1296299"/>
                  <a:pt x="3809336" y="1296782"/>
                  <a:pt x="3816039" y="1301606"/>
                </a:cubicBezTo>
                <a:cubicBezTo>
                  <a:pt x="3897299" y="1361555"/>
                  <a:pt x="3991895" y="1408883"/>
                  <a:pt x="4094439" y="1448806"/>
                </a:cubicBezTo>
                <a:cubicBezTo>
                  <a:pt x="4136210" y="1464953"/>
                  <a:pt x="4179249" y="1479874"/>
                  <a:pt x="4222870" y="1493379"/>
                </a:cubicBezTo>
                <a:cubicBezTo>
                  <a:pt x="4222955" y="1494711"/>
                  <a:pt x="4223057" y="1496309"/>
                  <a:pt x="4223141" y="1497641"/>
                </a:cubicBezTo>
                <a:cubicBezTo>
                  <a:pt x="4222925" y="1499546"/>
                  <a:pt x="4222659" y="1500653"/>
                  <a:pt x="4222428" y="1502292"/>
                </a:cubicBezTo>
                <a:cubicBezTo>
                  <a:pt x="4160784" y="1480767"/>
                  <a:pt x="4099761" y="1458363"/>
                  <a:pt x="4039973" y="1434198"/>
                </a:cubicBezTo>
                <a:cubicBezTo>
                  <a:pt x="3877889" y="1368737"/>
                  <a:pt x="3722432" y="1296301"/>
                  <a:pt x="3564773" y="1226279"/>
                </a:cubicBezTo>
                <a:cubicBezTo>
                  <a:pt x="3511752" y="1202636"/>
                  <a:pt x="3468897" y="1169442"/>
                  <a:pt x="3420650" y="1141464"/>
                </a:cubicBezTo>
                <a:cubicBezTo>
                  <a:pt x="3388486" y="1122812"/>
                  <a:pt x="3357590" y="1102932"/>
                  <a:pt x="3320669" y="1088883"/>
                </a:cubicBezTo>
                <a:cubicBezTo>
                  <a:pt x="3305491" y="1083205"/>
                  <a:pt x="3289697" y="1078406"/>
                  <a:pt x="3270102" y="1082659"/>
                </a:cubicBezTo>
                <a:cubicBezTo>
                  <a:pt x="3262467" y="1084389"/>
                  <a:pt x="3253881" y="1087040"/>
                  <a:pt x="3251648" y="1094290"/>
                </a:cubicBezTo>
                <a:cubicBezTo>
                  <a:pt x="3249750" y="1101498"/>
                  <a:pt x="3256970" y="1103846"/>
                  <a:pt x="3263506" y="1106005"/>
                </a:cubicBezTo>
                <a:cubicBezTo>
                  <a:pt x="3265227" y="1106604"/>
                  <a:pt x="3266966" y="1107467"/>
                  <a:pt x="3268636" y="1107265"/>
                </a:cubicBezTo>
                <a:cubicBezTo>
                  <a:pt x="3300482" y="1105018"/>
                  <a:pt x="3309121" y="1124372"/>
                  <a:pt x="3325089" y="1137201"/>
                </a:cubicBezTo>
                <a:cubicBezTo>
                  <a:pt x="3330055" y="1141164"/>
                  <a:pt x="3330677" y="1145651"/>
                  <a:pt x="3326003" y="1151585"/>
                </a:cubicBezTo>
                <a:cubicBezTo>
                  <a:pt x="3317592" y="1162266"/>
                  <a:pt x="3324211" y="1165760"/>
                  <a:pt x="3336410" y="1166967"/>
                </a:cubicBezTo>
                <a:cubicBezTo>
                  <a:pt x="3348608" y="1168175"/>
                  <a:pt x="3361690" y="1167395"/>
                  <a:pt x="3375112" y="1171943"/>
                </a:cubicBezTo>
                <a:cubicBezTo>
                  <a:pt x="3354718" y="1179513"/>
                  <a:pt x="3340011" y="1175927"/>
                  <a:pt x="3326222" y="1170885"/>
                </a:cubicBezTo>
                <a:cubicBezTo>
                  <a:pt x="3295216" y="1159877"/>
                  <a:pt x="3274464" y="1140648"/>
                  <a:pt x="3254679" y="1120765"/>
                </a:cubicBezTo>
                <a:cubicBezTo>
                  <a:pt x="3250733" y="1116948"/>
                  <a:pt x="3247420" y="1112518"/>
                  <a:pt x="3242188" y="1109662"/>
                </a:cubicBezTo>
                <a:cubicBezTo>
                  <a:pt x="3232391" y="1103869"/>
                  <a:pt x="3222316" y="1104284"/>
                  <a:pt x="3211499" y="1114184"/>
                </a:cubicBezTo>
                <a:cubicBezTo>
                  <a:pt x="3197173" y="1127194"/>
                  <a:pt x="3191777" y="1127042"/>
                  <a:pt x="3185849" y="1113265"/>
                </a:cubicBezTo>
                <a:cubicBezTo>
                  <a:pt x="3177929" y="1094629"/>
                  <a:pt x="3162028" y="1082865"/>
                  <a:pt x="3135843" y="1078789"/>
                </a:cubicBezTo>
                <a:cubicBezTo>
                  <a:pt x="3130396" y="1077837"/>
                  <a:pt x="3124578" y="1076395"/>
                  <a:pt x="3119118" y="1080546"/>
                </a:cubicBezTo>
                <a:cubicBezTo>
                  <a:pt x="3113359" y="1085269"/>
                  <a:pt x="3117622" y="1088780"/>
                  <a:pt x="3120198" y="1092226"/>
                </a:cubicBezTo>
                <a:cubicBezTo>
                  <a:pt x="3123912" y="1097682"/>
                  <a:pt x="3128295" y="1103057"/>
                  <a:pt x="3131691" y="1108819"/>
                </a:cubicBezTo>
                <a:cubicBezTo>
                  <a:pt x="3137665" y="1118027"/>
                  <a:pt x="3139328" y="1128295"/>
                  <a:pt x="3129914" y="1139097"/>
                </a:cubicBezTo>
                <a:cubicBezTo>
                  <a:pt x="3123003" y="1146915"/>
                  <a:pt x="3123960" y="1151361"/>
                  <a:pt x="3133955" y="1154983"/>
                </a:cubicBezTo>
                <a:cubicBezTo>
                  <a:pt x="3165979" y="1166136"/>
                  <a:pt x="3186931" y="1183194"/>
                  <a:pt x="3178170" y="1214855"/>
                </a:cubicBezTo>
                <a:cubicBezTo>
                  <a:pt x="3176770" y="1219320"/>
                  <a:pt x="3179046" y="1223338"/>
                  <a:pt x="3185378" y="1222303"/>
                </a:cubicBezTo>
                <a:cubicBezTo>
                  <a:pt x="3199361" y="1219805"/>
                  <a:pt x="3202140" y="1226447"/>
                  <a:pt x="3206608" y="1233153"/>
                </a:cubicBezTo>
                <a:cubicBezTo>
                  <a:pt x="3250090" y="1297409"/>
                  <a:pt x="3310389" y="1350771"/>
                  <a:pt x="3379140" y="1399351"/>
                </a:cubicBezTo>
                <a:cubicBezTo>
                  <a:pt x="3447189" y="1447479"/>
                  <a:pt x="3522881" y="1488775"/>
                  <a:pt x="3603118" y="1527375"/>
                </a:cubicBezTo>
                <a:cubicBezTo>
                  <a:pt x="3581296" y="1528405"/>
                  <a:pt x="3552602" y="1521951"/>
                  <a:pt x="3524809" y="1513774"/>
                </a:cubicBezTo>
                <a:cubicBezTo>
                  <a:pt x="3451354" y="1491802"/>
                  <a:pt x="3389901" y="1457369"/>
                  <a:pt x="3327498" y="1423859"/>
                </a:cubicBezTo>
                <a:cubicBezTo>
                  <a:pt x="3283917" y="1400416"/>
                  <a:pt x="3241288" y="1376052"/>
                  <a:pt x="3192949" y="1357211"/>
                </a:cubicBezTo>
                <a:cubicBezTo>
                  <a:pt x="3187434" y="1355196"/>
                  <a:pt x="3183538" y="1352177"/>
                  <a:pt x="3180259" y="1348280"/>
                </a:cubicBezTo>
                <a:cubicBezTo>
                  <a:pt x="3177348" y="1344874"/>
                  <a:pt x="3173119" y="1341896"/>
                  <a:pt x="3166204" y="1344345"/>
                </a:cubicBezTo>
                <a:cubicBezTo>
                  <a:pt x="3159306" y="1347059"/>
                  <a:pt x="3158942" y="1351935"/>
                  <a:pt x="3159212" y="1356197"/>
                </a:cubicBezTo>
                <a:cubicBezTo>
                  <a:pt x="3161232" y="1372059"/>
                  <a:pt x="3167827" y="1385754"/>
                  <a:pt x="3181004" y="1397043"/>
                </a:cubicBezTo>
                <a:cubicBezTo>
                  <a:pt x="3206688" y="1419701"/>
                  <a:pt x="3240037" y="1435794"/>
                  <a:pt x="3273385" y="1451888"/>
                </a:cubicBezTo>
                <a:cubicBezTo>
                  <a:pt x="3319573" y="1473941"/>
                  <a:pt x="3362569" y="1498797"/>
                  <a:pt x="3401776" y="1527602"/>
                </a:cubicBezTo>
                <a:cubicBezTo>
                  <a:pt x="3374012" y="1514591"/>
                  <a:pt x="3346230" y="1501313"/>
                  <a:pt x="3318130" y="1488342"/>
                </a:cubicBezTo>
                <a:cubicBezTo>
                  <a:pt x="3296969" y="1478558"/>
                  <a:pt x="3275173" y="1469387"/>
                  <a:pt x="3253694" y="1459909"/>
                </a:cubicBezTo>
                <a:cubicBezTo>
                  <a:pt x="3248495" y="1457587"/>
                  <a:pt x="3242945" y="1455038"/>
                  <a:pt x="3236182" y="1459882"/>
                </a:cubicBezTo>
                <a:cubicBezTo>
                  <a:pt x="3230053" y="1464115"/>
                  <a:pt x="3231378" y="1469055"/>
                  <a:pt x="3233020" y="1473687"/>
                </a:cubicBezTo>
                <a:cubicBezTo>
                  <a:pt x="3239235" y="1491993"/>
                  <a:pt x="3254236" y="1505477"/>
                  <a:pt x="3272474" y="1516958"/>
                </a:cubicBezTo>
                <a:cubicBezTo>
                  <a:pt x="3294559" y="1530657"/>
                  <a:pt x="3317595" y="1543436"/>
                  <a:pt x="3341300" y="1556133"/>
                </a:cubicBezTo>
                <a:cubicBezTo>
                  <a:pt x="3316637" y="1554825"/>
                  <a:pt x="3291973" y="1553517"/>
                  <a:pt x="3267359" y="1553009"/>
                </a:cubicBezTo>
                <a:cubicBezTo>
                  <a:pt x="3280352" y="1582573"/>
                  <a:pt x="3306470" y="1585584"/>
                  <a:pt x="3329832" y="1587586"/>
                </a:cubicBezTo>
                <a:cubicBezTo>
                  <a:pt x="3361297" y="1589949"/>
                  <a:pt x="3391527" y="1594072"/>
                  <a:pt x="3421490" y="1599301"/>
                </a:cubicBezTo>
                <a:cubicBezTo>
                  <a:pt x="3434412" y="1606594"/>
                  <a:pt x="3447319" y="1613621"/>
                  <a:pt x="3459923" y="1621220"/>
                </a:cubicBezTo>
                <a:cubicBezTo>
                  <a:pt x="3472880" y="1629046"/>
                  <a:pt x="3485168" y="1636952"/>
                  <a:pt x="3497490" y="1645392"/>
                </a:cubicBezTo>
                <a:cubicBezTo>
                  <a:pt x="3506301" y="1651572"/>
                  <a:pt x="3516714" y="1656484"/>
                  <a:pt x="3507803" y="1669911"/>
                </a:cubicBezTo>
                <a:cubicBezTo>
                  <a:pt x="3503816" y="1676032"/>
                  <a:pt x="3534148" y="1702959"/>
                  <a:pt x="3543290" y="1703729"/>
                </a:cubicBezTo>
                <a:cubicBezTo>
                  <a:pt x="3544644" y="1703834"/>
                  <a:pt x="3545996" y="1703940"/>
                  <a:pt x="3546999" y="1703818"/>
                </a:cubicBezTo>
                <a:cubicBezTo>
                  <a:pt x="3566312" y="1700405"/>
                  <a:pt x="3571232" y="1708935"/>
                  <a:pt x="3572295" y="1720349"/>
                </a:cubicBezTo>
                <a:cubicBezTo>
                  <a:pt x="3573341" y="1731497"/>
                  <a:pt x="3570880" y="1745753"/>
                  <a:pt x="3596922" y="1736961"/>
                </a:cubicBezTo>
                <a:cubicBezTo>
                  <a:pt x="3599895" y="1736064"/>
                  <a:pt x="3600664" y="1737582"/>
                  <a:pt x="3602119" y="1739285"/>
                </a:cubicBezTo>
                <a:cubicBezTo>
                  <a:pt x="3633888" y="1783486"/>
                  <a:pt x="3684678" y="1814377"/>
                  <a:pt x="3734798" y="1845349"/>
                </a:cubicBezTo>
                <a:cubicBezTo>
                  <a:pt x="3737590" y="1846890"/>
                  <a:pt x="3740383" y="1848430"/>
                  <a:pt x="3743174" y="1849972"/>
                </a:cubicBezTo>
                <a:cubicBezTo>
                  <a:pt x="3692460" y="1846720"/>
                  <a:pt x="3526297" y="1854765"/>
                  <a:pt x="3478101" y="1864630"/>
                </a:cubicBezTo>
                <a:cubicBezTo>
                  <a:pt x="3435216" y="1873314"/>
                  <a:pt x="3187933" y="1844748"/>
                  <a:pt x="3135293" y="1816496"/>
                </a:cubicBezTo>
                <a:cubicBezTo>
                  <a:pt x="3129987" y="1844249"/>
                  <a:pt x="3145700" y="1853084"/>
                  <a:pt x="3158510" y="1863880"/>
                </a:cubicBezTo>
                <a:cubicBezTo>
                  <a:pt x="3176652" y="1879130"/>
                  <a:pt x="3180104" y="1891061"/>
                  <a:pt x="3148907" y="1908797"/>
                </a:cubicBezTo>
                <a:cubicBezTo>
                  <a:pt x="3059526" y="1959351"/>
                  <a:pt x="3060614" y="1960561"/>
                  <a:pt x="3150229" y="2003660"/>
                </a:cubicBezTo>
                <a:cubicBezTo>
                  <a:pt x="3154391" y="2005572"/>
                  <a:pt x="3152878" y="2013539"/>
                  <a:pt x="3154219" y="2018746"/>
                </a:cubicBezTo>
                <a:cubicBezTo>
                  <a:pt x="3132340" y="2029448"/>
                  <a:pt x="3104621" y="2011868"/>
                  <a:pt x="3079313" y="2037482"/>
                </a:cubicBezTo>
                <a:cubicBezTo>
                  <a:pt x="3200844" y="2121812"/>
                  <a:pt x="3382216" y="2194063"/>
                  <a:pt x="3545961" y="2248584"/>
                </a:cubicBezTo>
                <a:cubicBezTo>
                  <a:pt x="3418859" y="2288406"/>
                  <a:pt x="3336249" y="2212515"/>
                  <a:pt x="3242382" y="2234890"/>
                </a:cubicBezTo>
                <a:cubicBezTo>
                  <a:pt x="3196963" y="2267233"/>
                  <a:pt x="3340047" y="2293389"/>
                  <a:pt x="3206852" y="2322137"/>
                </a:cubicBezTo>
                <a:cubicBezTo>
                  <a:pt x="3266485" y="2338535"/>
                  <a:pt x="3311047" y="2356223"/>
                  <a:pt x="3352854" y="2378270"/>
                </a:cubicBezTo>
                <a:cubicBezTo>
                  <a:pt x="3427094" y="2417864"/>
                  <a:pt x="3443161" y="2448130"/>
                  <a:pt x="3414532" y="2516826"/>
                </a:cubicBezTo>
                <a:cubicBezTo>
                  <a:pt x="3395525" y="2562076"/>
                  <a:pt x="3366606" y="2605038"/>
                  <a:pt x="3397577" y="2652556"/>
                </a:cubicBezTo>
                <a:cubicBezTo>
                  <a:pt x="3418842" y="2685144"/>
                  <a:pt x="3412947" y="2708944"/>
                  <a:pt x="3339773" y="2701969"/>
                </a:cubicBezTo>
                <a:cubicBezTo>
                  <a:pt x="3260852" y="2694617"/>
                  <a:pt x="3233446" y="2729610"/>
                  <a:pt x="3257041" y="2788223"/>
                </a:cubicBezTo>
                <a:cubicBezTo>
                  <a:pt x="3272229" y="2825841"/>
                  <a:pt x="3259642" y="2839714"/>
                  <a:pt x="3205892" y="2841661"/>
                </a:cubicBezTo>
                <a:cubicBezTo>
                  <a:pt x="3146428" y="2843763"/>
                  <a:pt x="3088665" y="2824990"/>
                  <a:pt x="3016267" y="2846107"/>
                </a:cubicBezTo>
                <a:cubicBezTo>
                  <a:pt x="3079284" y="2910414"/>
                  <a:pt x="3202965" y="2875032"/>
                  <a:pt x="3275450" y="2934701"/>
                </a:cubicBezTo>
                <a:cubicBezTo>
                  <a:pt x="3194271" y="2944802"/>
                  <a:pt x="3132104" y="2952064"/>
                  <a:pt x="3071009" y="2944432"/>
                </a:cubicBezTo>
                <a:cubicBezTo>
                  <a:pt x="3045559" y="2941340"/>
                  <a:pt x="3017770" y="2938533"/>
                  <a:pt x="3005039" y="2960743"/>
                </a:cubicBezTo>
                <a:cubicBezTo>
                  <a:pt x="2989910" y="2987540"/>
                  <a:pt x="3024584" y="2992735"/>
                  <a:pt x="3045255" y="2994795"/>
                </a:cubicBezTo>
                <a:cubicBezTo>
                  <a:pt x="3103524" y="3000354"/>
                  <a:pt x="3149512" y="3024578"/>
                  <a:pt x="3198769" y="3041966"/>
                </a:cubicBezTo>
                <a:cubicBezTo>
                  <a:pt x="3306591" y="3080177"/>
                  <a:pt x="3424230" y="3108608"/>
                  <a:pt x="3518098" y="3181525"/>
                </a:cubicBezTo>
                <a:cubicBezTo>
                  <a:pt x="3405474" y="3173693"/>
                  <a:pt x="3319103" y="3133957"/>
                  <a:pt x="3214876" y="3136382"/>
                </a:cubicBezTo>
                <a:cubicBezTo>
                  <a:pt x="3309623" y="3201944"/>
                  <a:pt x="3428070" y="3237794"/>
                  <a:pt x="3540876" y="3280232"/>
                </a:cubicBezTo>
                <a:cubicBezTo>
                  <a:pt x="3572951" y="3292185"/>
                  <a:pt x="3605372" y="3298995"/>
                  <a:pt x="3614558" y="3332242"/>
                </a:cubicBezTo>
                <a:cubicBezTo>
                  <a:pt x="3632460" y="3396643"/>
                  <a:pt x="3676382" y="3446619"/>
                  <a:pt x="3765439" y="3465091"/>
                </a:cubicBezTo>
                <a:cubicBezTo>
                  <a:pt x="3766125" y="3465276"/>
                  <a:pt x="3762072" y="3475699"/>
                  <a:pt x="3759506" y="3482990"/>
                </a:cubicBezTo>
                <a:cubicBezTo>
                  <a:pt x="3706514" y="3491555"/>
                  <a:pt x="3662256" y="3457457"/>
                  <a:pt x="3594905" y="3478499"/>
                </a:cubicBezTo>
                <a:cubicBezTo>
                  <a:pt x="3663098" y="3523656"/>
                  <a:pt x="3720597" y="3564741"/>
                  <a:pt x="3814430" y="3578876"/>
                </a:cubicBezTo>
                <a:cubicBezTo>
                  <a:pt x="3889563" y="3590177"/>
                  <a:pt x="3981512" y="3590582"/>
                  <a:pt x="4039126" y="3649369"/>
                </a:cubicBezTo>
                <a:cubicBezTo>
                  <a:pt x="3977790" y="3669682"/>
                  <a:pt x="3930328" y="3659325"/>
                  <a:pt x="3883152" y="3653497"/>
                </a:cubicBezTo>
                <a:cubicBezTo>
                  <a:pt x="3810528" y="3644576"/>
                  <a:pt x="3739087" y="3633097"/>
                  <a:pt x="3666446" y="3623911"/>
                </a:cubicBezTo>
                <a:cubicBezTo>
                  <a:pt x="3638957" y="3620530"/>
                  <a:pt x="3608896" y="3619071"/>
                  <a:pt x="3593589" y="3653674"/>
                </a:cubicBezTo>
                <a:cubicBezTo>
                  <a:pt x="3684581" y="3649631"/>
                  <a:pt x="3741824" y="3686720"/>
                  <a:pt x="3801238" y="3720862"/>
                </a:cubicBezTo>
                <a:cubicBezTo>
                  <a:pt x="3834791" y="3740152"/>
                  <a:pt x="3862819" y="3767894"/>
                  <a:pt x="3919545" y="3749213"/>
                </a:cubicBezTo>
                <a:cubicBezTo>
                  <a:pt x="3949563" y="3739403"/>
                  <a:pt x="3970044" y="3754371"/>
                  <a:pt x="3968059" y="3776085"/>
                </a:cubicBezTo>
                <a:cubicBezTo>
                  <a:pt x="3961477" y="3852579"/>
                  <a:pt x="4033657" y="3870411"/>
                  <a:pt x="4107750" y="3875932"/>
                </a:cubicBezTo>
                <a:cubicBezTo>
                  <a:pt x="4247829" y="3886613"/>
                  <a:pt x="4367192" y="3936847"/>
                  <a:pt x="4504087" y="3955698"/>
                </a:cubicBezTo>
                <a:cubicBezTo>
                  <a:pt x="4637239" y="3973931"/>
                  <a:pt x="5630348" y="4013091"/>
                  <a:pt x="5880284" y="3998656"/>
                </a:cubicBezTo>
                <a:cubicBezTo>
                  <a:pt x="7409751" y="3910310"/>
                  <a:pt x="8457142" y="3018967"/>
                  <a:pt x="8461494" y="3007971"/>
                </a:cubicBezTo>
                <a:cubicBezTo>
                  <a:pt x="8481448" y="2956432"/>
                  <a:pt x="8537247" y="2928466"/>
                  <a:pt x="8587378" y="2896089"/>
                </a:cubicBezTo>
                <a:cubicBezTo>
                  <a:pt x="8631032" y="2867717"/>
                  <a:pt x="8677604" y="2837649"/>
                  <a:pt x="8693826" y="2796225"/>
                </a:cubicBezTo>
                <a:cubicBezTo>
                  <a:pt x="8715249" y="2741288"/>
                  <a:pt x="8647790" y="2792407"/>
                  <a:pt x="8633488" y="2774007"/>
                </a:cubicBezTo>
                <a:cubicBezTo>
                  <a:pt x="8658507" y="2743865"/>
                  <a:pt x="8698366" y="2714075"/>
                  <a:pt x="8707444" y="2682105"/>
                </a:cubicBezTo>
                <a:cubicBezTo>
                  <a:pt x="8739824" y="2566518"/>
                  <a:pt x="8819561" y="2475526"/>
                  <a:pt x="8942552" y="2397549"/>
                </a:cubicBezTo>
                <a:cubicBezTo>
                  <a:pt x="8977822" y="2375023"/>
                  <a:pt x="8999812" y="2339612"/>
                  <a:pt x="9049260" y="2328253"/>
                </a:cubicBezTo>
                <a:cubicBezTo>
                  <a:pt x="9159134" y="2303404"/>
                  <a:pt x="9118356" y="2218151"/>
                  <a:pt x="9174304" y="2171379"/>
                </a:cubicBezTo>
                <a:cubicBezTo>
                  <a:pt x="9179581" y="2166982"/>
                  <a:pt x="9181728" y="2117398"/>
                  <a:pt x="9182228" y="2067678"/>
                </a:cubicBezTo>
                <a:lnTo>
                  <a:pt x="9182278" y="2047313"/>
                </a:lnTo>
                <a:lnTo>
                  <a:pt x="9184334" y="2047686"/>
                </a:lnTo>
                <a:cubicBezTo>
                  <a:pt x="9192950" y="2042242"/>
                  <a:pt x="9192359" y="2022485"/>
                  <a:pt x="9185124" y="1997142"/>
                </a:cubicBezTo>
                <a:lnTo>
                  <a:pt x="9181592" y="1987782"/>
                </a:lnTo>
                <a:lnTo>
                  <a:pt x="9181190" y="1974586"/>
                </a:lnTo>
                <a:cubicBezTo>
                  <a:pt x="9180902" y="1968441"/>
                  <a:pt x="9180584" y="1964399"/>
                  <a:pt x="9180252" y="1963164"/>
                </a:cubicBezTo>
                <a:cubicBezTo>
                  <a:pt x="9179760" y="1961378"/>
                  <a:pt x="9179284" y="1962333"/>
                  <a:pt x="9178804" y="1965349"/>
                </a:cubicBezTo>
                <a:lnTo>
                  <a:pt x="9177606" y="1977215"/>
                </a:lnTo>
                <a:lnTo>
                  <a:pt x="9169614" y="1956030"/>
                </a:lnTo>
                <a:cubicBezTo>
                  <a:pt x="9143144" y="1898537"/>
                  <a:pt x="9095234" y="1836160"/>
                  <a:pt x="9046406" y="1838718"/>
                </a:cubicBezTo>
                <a:cubicBezTo>
                  <a:pt x="9077129" y="1760642"/>
                  <a:pt x="9077129" y="1760642"/>
                  <a:pt x="8960873" y="1764524"/>
                </a:cubicBezTo>
                <a:cubicBezTo>
                  <a:pt x="9002330" y="1712259"/>
                  <a:pt x="9001568" y="1700272"/>
                  <a:pt x="8946755" y="1690806"/>
                </a:cubicBezTo>
                <a:cubicBezTo>
                  <a:pt x="8893980" y="1681628"/>
                  <a:pt x="8836186" y="1683529"/>
                  <a:pt x="8786897" y="1665607"/>
                </a:cubicBezTo>
                <a:cubicBezTo>
                  <a:pt x="8827191" y="1600331"/>
                  <a:pt x="8835148" y="1529576"/>
                  <a:pt x="8924505" y="1489227"/>
                </a:cubicBezTo>
                <a:cubicBezTo>
                  <a:pt x="8938584" y="1482958"/>
                  <a:pt x="8947122" y="1463671"/>
                  <a:pt x="8937122" y="1454681"/>
                </a:cubicBezTo>
                <a:cubicBezTo>
                  <a:pt x="8901654" y="1421129"/>
                  <a:pt x="8944526" y="1343460"/>
                  <a:pt x="8841119" y="1348202"/>
                </a:cubicBezTo>
                <a:cubicBezTo>
                  <a:pt x="8828354" y="1348673"/>
                  <a:pt x="8816185" y="1342631"/>
                  <a:pt x="8825548" y="1331028"/>
                </a:cubicBezTo>
                <a:cubicBezTo>
                  <a:pt x="8857711" y="1291432"/>
                  <a:pt x="8816096" y="1298887"/>
                  <a:pt x="8790413" y="1297436"/>
                </a:cubicBezTo>
                <a:cubicBezTo>
                  <a:pt x="8759333" y="1295832"/>
                  <a:pt x="8725565" y="1315490"/>
                  <a:pt x="8695944" y="1299752"/>
                </a:cubicBezTo>
                <a:cubicBezTo>
                  <a:pt x="8701338" y="1278697"/>
                  <a:pt x="8726082" y="1275968"/>
                  <a:pt x="8743050" y="1267471"/>
                </a:cubicBezTo>
                <a:cubicBezTo>
                  <a:pt x="8792636" y="1242406"/>
                  <a:pt x="8832648" y="1215014"/>
                  <a:pt x="8831902" y="1166250"/>
                </a:cubicBezTo>
                <a:cubicBezTo>
                  <a:pt x="8831416" y="1126849"/>
                  <a:pt x="8834560" y="1091573"/>
                  <a:pt x="8763628" y="1088084"/>
                </a:cubicBezTo>
                <a:cubicBezTo>
                  <a:pt x="8752484" y="1087556"/>
                  <a:pt x="8746480" y="1083182"/>
                  <a:pt x="8744052" y="1076766"/>
                </a:cubicBezTo>
                <a:cubicBezTo>
                  <a:pt x="8751664" y="1069402"/>
                  <a:pt x="8758926" y="1061811"/>
                  <a:pt x="8767977" y="1055883"/>
                </a:cubicBezTo>
                <a:cubicBezTo>
                  <a:pt x="8798386" y="1036363"/>
                  <a:pt x="8807604" y="1011893"/>
                  <a:pt x="8815418" y="986519"/>
                </a:cubicBezTo>
                <a:cubicBezTo>
                  <a:pt x="8820450" y="970342"/>
                  <a:pt x="8826500" y="954308"/>
                  <a:pt x="8839356" y="939330"/>
                </a:cubicBezTo>
                <a:cubicBezTo>
                  <a:pt x="8847184" y="930060"/>
                  <a:pt x="8857152" y="922680"/>
                  <a:pt x="8869964" y="917639"/>
                </a:cubicBezTo>
                <a:cubicBezTo>
                  <a:pt x="8881119" y="913066"/>
                  <a:pt x="8884190" y="908399"/>
                  <a:pt x="8876013" y="901606"/>
                </a:cubicBezTo>
                <a:cubicBezTo>
                  <a:pt x="8852888" y="882126"/>
                  <a:pt x="8842659" y="858937"/>
                  <a:pt x="8855230" y="828963"/>
                </a:cubicBezTo>
                <a:cubicBezTo>
                  <a:pt x="8859032" y="819911"/>
                  <a:pt x="8855550" y="812818"/>
                  <a:pt x="8844988" y="810876"/>
                </a:cubicBezTo>
                <a:cubicBezTo>
                  <a:pt x="8801020" y="802512"/>
                  <a:pt x="8788328" y="772374"/>
                  <a:pt x="8768255" y="747963"/>
                </a:cubicBezTo>
                <a:cubicBezTo>
                  <a:pt x="8739786" y="713294"/>
                  <a:pt x="8713605" y="677543"/>
                  <a:pt x="8692953" y="638707"/>
                </a:cubicBezTo>
                <a:cubicBezTo>
                  <a:pt x="8680700" y="615495"/>
                  <a:pt x="8668800" y="592509"/>
                  <a:pt x="8674423" y="564449"/>
                </a:cubicBezTo>
                <a:cubicBezTo>
                  <a:pt x="8675670" y="557588"/>
                  <a:pt x="8672308" y="552358"/>
                  <a:pt x="8667642" y="547822"/>
                </a:cubicBezTo>
                <a:cubicBezTo>
                  <a:pt x="8647856" y="527939"/>
                  <a:pt x="8648704" y="504214"/>
                  <a:pt x="8661198" y="478275"/>
                </a:cubicBezTo>
                <a:cubicBezTo>
                  <a:pt x="8668953" y="462573"/>
                  <a:pt x="8667832" y="460828"/>
                  <a:pt x="8645813" y="464032"/>
                </a:cubicBezTo>
                <a:cubicBezTo>
                  <a:pt x="8601088" y="470255"/>
                  <a:pt x="8556732" y="476969"/>
                  <a:pt x="8512338" y="477784"/>
                </a:cubicBezTo>
                <a:cubicBezTo>
                  <a:pt x="8462562" y="478712"/>
                  <a:pt x="8445778" y="468934"/>
                  <a:pt x="8481050" y="430572"/>
                </a:cubicBezTo>
                <a:cubicBezTo>
                  <a:pt x="8488612" y="422408"/>
                  <a:pt x="8495122" y="413567"/>
                  <a:pt x="8498220" y="404064"/>
                </a:cubicBezTo>
                <a:cubicBezTo>
                  <a:pt x="8500436" y="396549"/>
                  <a:pt x="8497776" y="391771"/>
                  <a:pt x="8489536" y="389280"/>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p:cNvSpPr>
            <a:spLocks noGrp="1"/>
          </p:cNvSpPr>
          <p:nvPr>
            <p:ph type="ctrTitle"/>
          </p:nvPr>
        </p:nvSpPr>
        <p:spPr>
          <a:xfrm>
            <a:off x="1524000" y="4063296"/>
            <a:ext cx="9144000" cy="1152663"/>
          </a:xfrm>
        </p:spPr>
        <p:txBody>
          <a:bodyPr anchor="ctr">
            <a:normAutofit/>
          </a:bodyPr>
          <a:lstStyle/>
          <a:p>
            <a:r>
              <a:rPr lang="en-US" sz="4400"/>
              <a:t>Debt Consolidation </a:t>
            </a:r>
          </a:p>
        </p:txBody>
      </p:sp>
      <p:sp>
        <p:nvSpPr>
          <p:cNvPr id="3" name="Subtitle 2"/>
          <p:cNvSpPr>
            <a:spLocks noGrp="1"/>
          </p:cNvSpPr>
          <p:nvPr>
            <p:ph type="subTitle" idx="1"/>
          </p:nvPr>
        </p:nvSpPr>
        <p:spPr>
          <a:xfrm>
            <a:off x="1524000" y="5329534"/>
            <a:ext cx="9144000" cy="646785"/>
          </a:xfrm>
        </p:spPr>
        <p:txBody>
          <a:bodyPr vert="horz" lIns="91440" tIns="45720" rIns="91440" bIns="45720" rtlCol="0" anchor="t">
            <a:normAutofit fontScale="77500" lnSpcReduction="20000"/>
          </a:bodyPr>
          <a:lstStyle/>
          <a:p>
            <a:r>
              <a:rPr lang="en-US"/>
              <a:t>Loan Partners with ClearOne</a:t>
            </a:r>
          </a:p>
          <a:p>
            <a:r>
              <a:rPr lang="en-US">
                <a:cs typeface="Calibri"/>
              </a:rPr>
              <a:t>Updated 7/26/23</a:t>
            </a:r>
          </a:p>
        </p:txBody>
      </p:sp>
      <p:pic>
        <p:nvPicPr>
          <p:cNvPr id="1026" name="Picture 2">
            <a:extLst>
              <a:ext uri="{FF2B5EF4-FFF2-40B4-BE49-F238E27FC236}">
                <a16:creationId xmlns:a16="http://schemas.microsoft.com/office/drawing/2014/main" id="{DED4E96F-2854-4E6B-8D02-3AE43FF6643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48596" y="1910795"/>
            <a:ext cx="3217333" cy="1083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1524000" y="-19407"/>
            <a:ext cx="9095153" cy="522771"/>
          </a:xfrm>
        </p:spPr>
        <p:txBody>
          <a:bodyPr>
            <a:normAutofit/>
          </a:bodyPr>
          <a:lstStyle/>
          <a:p>
            <a:r>
              <a:rPr lang="en-US" sz="2000">
                <a:latin typeface="Arial" panose="020B0604020202020204" pitchFamily="34" charset="0"/>
                <a:cs typeface="Arial" panose="020B0604020202020204" pitchFamily="34" charset="0"/>
              </a:rPr>
              <a:t>Lending Partners</a:t>
            </a:r>
          </a:p>
        </p:txBody>
      </p:sp>
      <p:graphicFrame>
        <p:nvGraphicFramePr>
          <p:cNvPr id="17" name="Table 17">
            <a:extLst>
              <a:ext uri="{FF2B5EF4-FFF2-40B4-BE49-F238E27FC236}">
                <a16:creationId xmlns:a16="http://schemas.microsoft.com/office/drawing/2014/main" id="{1B59A373-BAF0-416B-8C7D-ADE10FF9C737}"/>
              </a:ext>
            </a:extLst>
          </p:cNvPr>
          <p:cNvGraphicFramePr>
            <a:graphicFrameLocks noGrp="1"/>
          </p:cNvGraphicFramePr>
          <p:nvPr>
            <p:ph sz="half" idx="2"/>
            <p:extLst>
              <p:ext uri="{D42A27DB-BD31-4B8C-83A1-F6EECF244321}">
                <p14:modId xmlns:p14="http://schemas.microsoft.com/office/powerpoint/2010/main" val="2415343087"/>
              </p:ext>
            </p:extLst>
          </p:nvPr>
        </p:nvGraphicFramePr>
        <p:xfrm>
          <a:off x="-57509" y="503207"/>
          <a:ext cx="6123622" cy="6309360"/>
        </p:xfrm>
        <a:graphic>
          <a:graphicData uri="http://schemas.openxmlformats.org/drawingml/2006/table">
            <a:tbl>
              <a:tblPr firstRow="1" bandRow="1">
                <a:tableStyleId>{5C22544A-7EE6-4342-B048-85BDC9FD1C3A}</a:tableStyleId>
              </a:tblPr>
              <a:tblGrid>
                <a:gridCol w="871248">
                  <a:extLst>
                    <a:ext uri="{9D8B030D-6E8A-4147-A177-3AD203B41FA5}">
                      <a16:colId xmlns:a16="http://schemas.microsoft.com/office/drawing/2014/main" val="1640677637"/>
                    </a:ext>
                  </a:extLst>
                </a:gridCol>
                <a:gridCol w="1242507">
                  <a:extLst>
                    <a:ext uri="{9D8B030D-6E8A-4147-A177-3AD203B41FA5}">
                      <a16:colId xmlns:a16="http://schemas.microsoft.com/office/drawing/2014/main" val="4104619091"/>
                    </a:ext>
                  </a:extLst>
                </a:gridCol>
                <a:gridCol w="4009867">
                  <a:extLst>
                    <a:ext uri="{9D8B030D-6E8A-4147-A177-3AD203B41FA5}">
                      <a16:colId xmlns:a16="http://schemas.microsoft.com/office/drawing/2014/main" val="4068427515"/>
                    </a:ext>
                  </a:extLst>
                </a:gridCol>
              </a:tblGrid>
              <a:tr h="601469">
                <a:tc>
                  <a:txBody>
                    <a:bodyPr/>
                    <a:lstStyle/>
                    <a:p>
                      <a:r>
                        <a:rPr lang="en-US" sz="1600" dirty="0"/>
                        <a:t>When to Contact</a:t>
                      </a:r>
                    </a:p>
                  </a:txBody>
                  <a:tcPr/>
                </a:tc>
                <a:tc>
                  <a:txBody>
                    <a:bodyPr/>
                    <a:lstStyle/>
                    <a:p>
                      <a:r>
                        <a:rPr lang="en-US" sz="1600" dirty="0"/>
                        <a:t>Who to Contact</a:t>
                      </a:r>
                    </a:p>
                  </a:txBody>
                  <a:tcPr/>
                </a:tc>
                <a:tc>
                  <a:txBody>
                    <a:bodyPr/>
                    <a:lstStyle/>
                    <a:p>
                      <a:r>
                        <a:rPr lang="en-US" sz="1600" dirty="0"/>
                        <a:t>How to Contact</a:t>
                      </a:r>
                    </a:p>
                  </a:txBody>
                  <a:tcPr/>
                </a:tc>
                <a:extLst>
                  <a:ext uri="{0D108BD9-81ED-4DB2-BD59-A6C34878D82A}">
                    <a16:rowId xmlns:a16="http://schemas.microsoft.com/office/drawing/2014/main" val="1936224627"/>
                  </a:ext>
                </a:extLst>
              </a:tr>
              <a:tr h="985385">
                <a:tc>
                  <a:txBody>
                    <a:bodyPr/>
                    <a:lstStyle/>
                    <a:p>
                      <a:pPr lvl="0">
                        <a:buNone/>
                      </a:pPr>
                      <a:r>
                        <a:rPr lang="en-US" sz="1400" dirty="0"/>
                        <a:t>Pre-Funding </a:t>
                      </a:r>
                    </a:p>
                    <a:p>
                      <a:pPr lvl="0">
                        <a:buNone/>
                      </a:pPr>
                      <a:r>
                        <a:rPr lang="en-US" sz="1400" dirty="0"/>
                        <a:t>"Eligible for Application"</a:t>
                      </a:r>
                    </a:p>
                  </a:txBody>
                  <a:tcPr/>
                </a:tc>
                <a:tc>
                  <a:txBody>
                    <a:bodyPr/>
                    <a:lstStyle/>
                    <a:p>
                      <a:pPr lvl="0">
                        <a:buNone/>
                      </a:pPr>
                      <a:r>
                        <a:rPr lang="en-US" sz="1400" dirty="0"/>
                        <a:t>Loan Referral Team</a:t>
                      </a:r>
                    </a:p>
                  </a:txBody>
                  <a:tcPr/>
                </a:tc>
                <a:tc>
                  <a:txBody>
                    <a:bodyPr/>
                    <a:lstStyle/>
                    <a:p>
                      <a:pPr marL="285750" lvl="0" indent="-285750">
                        <a:buFont typeface="Arial"/>
                        <a:buChar char="•"/>
                      </a:pPr>
                      <a:r>
                        <a:rPr lang="en-US" sz="1400" u="none" dirty="0"/>
                        <a:t>Thank the client for their interest but advise that we are not currently accepting applications through </a:t>
                      </a:r>
                      <a:r>
                        <a:rPr lang="en-US" sz="1400" u="none" dirty="0" err="1"/>
                        <a:t>OneLoan</a:t>
                      </a:r>
                      <a:r>
                        <a:rPr lang="en-US" sz="1400" u="none" dirty="0"/>
                        <a:t> and that if they are eligible for LUSA we will reach out to them</a:t>
                      </a:r>
                    </a:p>
                  </a:txBody>
                  <a:tcPr/>
                </a:tc>
                <a:extLst>
                  <a:ext uri="{0D108BD9-81ED-4DB2-BD59-A6C34878D82A}">
                    <a16:rowId xmlns:a16="http://schemas.microsoft.com/office/drawing/2014/main" val="4184156672"/>
                  </a:ext>
                </a:extLst>
              </a:tr>
              <a:tr h="985385">
                <a:tc>
                  <a:txBody>
                    <a:bodyPr/>
                    <a:lstStyle/>
                    <a:p>
                      <a:r>
                        <a:rPr lang="en-US" sz="1400" dirty="0"/>
                        <a:t>Pre-Funding with Application in Progress</a:t>
                      </a:r>
                    </a:p>
                  </a:txBody>
                  <a:tcPr/>
                </a:tc>
                <a:tc>
                  <a:txBody>
                    <a:bodyPr/>
                    <a:lstStyle/>
                    <a:p>
                      <a:r>
                        <a:rPr lang="en-US" sz="1400" dirty="0" err="1"/>
                        <a:t>OneLoan</a:t>
                      </a:r>
                      <a:r>
                        <a:rPr lang="en-US" sz="1400" dirty="0"/>
                        <a:t> Direct</a:t>
                      </a:r>
                    </a:p>
                  </a:txBody>
                  <a:tcPr/>
                </a:tc>
                <a:tc>
                  <a:txBody>
                    <a:bodyPr/>
                    <a:lstStyle/>
                    <a:p>
                      <a:pPr marL="285750" marR="0" lvl="0" indent="-285750" algn="l">
                        <a:lnSpc>
                          <a:spcPct val="100000"/>
                        </a:lnSpc>
                        <a:spcBef>
                          <a:spcPts val="0"/>
                        </a:spcBef>
                        <a:spcAft>
                          <a:spcPts val="0"/>
                        </a:spcAft>
                        <a:buClr>
                          <a:srgbClr val="000000"/>
                        </a:buClr>
                        <a:buFont typeface="Arial,Sans-Serif"/>
                        <a:buChar char="•"/>
                      </a:pPr>
                      <a:r>
                        <a:rPr lang="en-US" sz="1400" b="0" i="0" u="sng" strike="noStrike" noProof="0" dirty="0"/>
                        <a:t>InContact: </a:t>
                      </a:r>
                      <a:br>
                        <a:rPr lang="en-US" sz="1400" b="0" i="0" u="sng" strike="noStrike" noProof="0" dirty="0"/>
                      </a:br>
                      <a:r>
                        <a:rPr lang="en-US" sz="1400" kern="1200" noProof="0" dirty="0">
                          <a:solidFill>
                            <a:schemeClr val="accent1">
                              <a:lumMod val="75000"/>
                            </a:schemeClr>
                          </a:solidFill>
                          <a:latin typeface="+mn-lt"/>
                          <a:ea typeface="+mn-ea"/>
                          <a:cs typeface="+mn-cs"/>
                        </a:rPr>
                        <a:t>'DC CS Inbound'</a:t>
                      </a:r>
                    </a:p>
                    <a:p>
                      <a:pPr marL="285750" marR="0" lvl="0" indent="-285750" algn="l">
                        <a:lnSpc>
                          <a:spcPct val="100000"/>
                        </a:lnSpc>
                        <a:spcBef>
                          <a:spcPts val="0"/>
                        </a:spcBef>
                        <a:spcAft>
                          <a:spcPts val="0"/>
                        </a:spcAft>
                        <a:buClr>
                          <a:srgbClr val="000000"/>
                        </a:buClr>
                        <a:buFont typeface="Arial,Sans-Serif"/>
                        <a:buChar char="•"/>
                      </a:pPr>
                      <a:r>
                        <a:rPr lang="en-US" sz="1400" b="0" i="0" u="sng" strike="noStrike" noProof="0" dirty="0">
                          <a:solidFill>
                            <a:schemeClr val="tx1"/>
                          </a:solidFill>
                          <a:latin typeface="Calibri"/>
                        </a:rPr>
                        <a:t>Email:</a:t>
                      </a:r>
                      <a:endParaRPr lang="en-US" sz="1400" b="0" i="0" u="none" strike="noStrike" noProof="0" dirty="0">
                        <a:solidFill>
                          <a:schemeClr val="tx1"/>
                        </a:solidFill>
                        <a:latin typeface="Calibri"/>
                      </a:endParaRPr>
                    </a:p>
                    <a:p>
                      <a:pPr marL="742950" marR="0" lvl="1" indent="-285750" algn="l">
                        <a:lnSpc>
                          <a:spcPct val="100000"/>
                        </a:lnSpc>
                        <a:spcBef>
                          <a:spcPts val="0"/>
                        </a:spcBef>
                        <a:spcAft>
                          <a:spcPts val="0"/>
                        </a:spcAft>
                        <a:buClr>
                          <a:srgbClr val="000000"/>
                        </a:buClr>
                        <a:buFont typeface="Arial,Sans-Serif"/>
                        <a:buChar char="•"/>
                      </a:pPr>
                      <a:r>
                        <a:rPr lang="en-US" sz="1400" b="0" i="0" u="none" strike="noStrike" noProof="0" dirty="0">
                          <a:solidFill>
                            <a:schemeClr val="tx1"/>
                          </a:solidFill>
                          <a:latin typeface="Calibri"/>
                          <a:hlinkClick r:id="rId3"/>
                        </a:rPr>
                        <a:t>Customerservice</a:t>
                      </a:r>
                      <a:r>
                        <a:rPr lang="en-US" sz="1400" b="0" i="0" u="none" strike="noStrike" noProof="0" dirty="0">
                          <a:solidFill>
                            <a:schemeClr val="tx1"/>
                          </a:solidFill>
                          <a:latin typeface="Calibri"/>
                          <a:hlinkClick r:id="rId3">
                            <a:extLst>
                              <a:ext uri="{A12FA001-AC4F-418D-AE19-62706E023703}">
                                <ahyp:hlinkClr xmlns:ahyp="http://schemas.microsoft.com/office/drawing/2018/hyperlinkcolor" val="tx"/>
                              </a:ext>
                            </a:extLst>
                          </a:hlinkClick>
                        </a:rPr>
                        <a:t>@theoneloan.com</a:t>
                      </a:r>
                      <a:endParaRPr lang="en-US" sz="1400" b="0" i="0" u="none" strike="noStrike" noProof="0" dirty="0">
                        <a:solidFill>
                          <a:schemeClr val="accent1">
                            <a:lumMod val="75000"/>
                          </a:schemeClr>
                        </a:solidFill>
                        <a:hlinkClick r:id="rId3">
                          <a:extLst>
                            <a:ext uri="{A12FA001-AC4F-418D-AE19-62706E023703}">
                              <ahyp:hlinkClr xmlns:ahyp="http://schemas.microsoft.com/office/drawing/2018/hyperlinkcolor" val="tx"/>
                            </a:ext>
                          </a:extLst>
                        </a:hlinkClick>
                      </a:endParaRPr>
                    </a:p>
                  </a:txBody>
                  <a:tcPr/>
                </a:tc>
                <a:extLst>
                  <a:ext uri="{0D108BD9-81ED-4DB2-BD59-A6C34878D82A}">
                    <a16:rowId xmlns:a16="http://schemas.microsoft.com/office/drawing/2014/main" val="867938066"/>
                  </a:ext>
                </a:extLst>
              </a:tr>
              <a:tr h="1138952">
                <a:tc>
                  <a:txBody>
                    <a:bodyPr/>
                    <a:lstStyle/>
                    <a:p>
                      <a:pPr lvl="0">
                        <a:buNone/>
                      </a:pPr>
                      <a:r>
                        <a:rPr lang="en-US" sz="1400" dirty="0"/>
                        <a:t>Post-Funding with Debt Settlement Concerns</a:t>
                      </a:r>
                    </a:p>
                  </a:txBody>
                  <a:tcPr/>
                </a:tc>
                <a:tc>
                  <a:txBody>
                    <a:bodyPr/>
                    <a:lstStyle/>
                    <a:p>
                      <a:pPr lvl="0">
                        <a:buNone/>
                      </a:pPr>
                      <a:r>
                        <a:rPr lang="en-US" sz="1400" dirty="0"/>
                        <a:t>Debt Consolidation Client Support</a:t>
                      </a:r>
                    </a:p>
                  </a:txBody>
                  <a:tcPr/>
                </a:tc>
                <a:tc>
                  <a:txBody>
                    <a:bodyPr/>
                    <a:lstStyle/>
                    <a:p>
                      <a:pPr marL="285750" marR="0" lvl="0" indent="-285750" algn="l">
                        <a:lnSpc>
                          <a:spcPct val="100000"/>
                        </a:lnSpc>
                        <a:spcBef>
                          <a:spcPts val="0"/>
                        </a:spcBef>
                        <a:spcAft>
                          <a:spcPts val="0"/>
                        </a:spcAft>
                        <a:buClr>
                          <a:srgbClr val="000000"/>
                        </a:buClr>
                        <a:buFont typeface="Arial,Sans-Serif"/>
                        <a:buChar char="•"/>
                      </a:pPr>
                      <a:r>
                        <a:rPr lang="en-US" sz="1400" b="0" i="0" u="sng" strike="noStrike" noProof="0" dirty="0"/>
                        <a:t>InContact: </a:t>
                      </a:r>
                      <a:br>
                        <a:rPr lang="en-US" sz="1400" b="0" i="0" u="sng" strike="noStrike" noProof="0" dirty="0"/>
                      </a:br>
                      <a:r>
                        <a:rPr lang="en-US" sz="1400" kern="1200" noProof="0" dirty="0">
                          <a:solidFill>
                            <a:schemeClr val="accent1">
                              <a:lumMod val="75000"/>
                            </a:schemeClr>
                          </a:solidFill>
                          <a:latin typeface="+mn-lt"/>
                          <a:ea typeface="+mn-ea"/>
                          <a:cs typeface="+mn-cs"/>
                        </a:rPr>
                        <a:t>'DC CS Inbound'</a:t>
                      </a:r>
                    </a:p>
                    <a:p>
                      <a:pPr marL="285750" marR="0" lvl="0" indent="-285750" algn="l">
                        <a:lnSpc>
                          <a:spcPct val="100000"/>
                        </a:lnSpc>
                        <a:spcBef>
                          <a:spcPts val="0"/>
                        </a:spcBef>
                        <a:spcAft>
                          <a:spcPts val="0"/>
                        </a:spcAft>
                        <a:buClr>
                          <a:srgbClr val="000000"/>
                        </a:buClr>
                        <a:buFont typeface="Arial,Sans-Serif"/>
                        <a:buChar char="•"/>
                      </a:pPr>
                      <a:r>
                        <a:rPr lang="en-US" sz="1400" b="0" i="0" u="sng" strike="noStrike" noProof="0" dirty="0">
                          <a:solidFill>
                            <a:schemeClr val="tx1"/>
                          </a:solidFill>
                          <a:latin typeface="Calibri"/>
                        </a:rPr>
                        <a:t>Email:</a:t>
                      </a:r>
                      <a:endParaRPr lang="en-US" sz="1400" b="0" i="0" u="none" strike="noStrike" noProof="0" dirty="0"/>
                    </a:p>
                    <a:p>
                      <a:pPr marL="742950" marR="0" lvl="1" indent="-285750" algn="l">
                        <a:lnSpc>
                          <a:spcPct val="100000"/>
                        </a:lnSpc>
                        <a:spcBef>
                          <a:spcPts val="0"/>
                        </a:spcBef>
                        <a:spcAft>
                          <a:spcPts val="0"/>
                        </a:spcAft>
                        <a:buClr>
                          <a:srgbClr val="000000"/>
                        </a:buClr>
                        <a:buFont typeface="Arial,Sans-Serif"/>
                        <a:buChar char="•"/>
                      </a:pPr>
                      <a:r>
                        <a:rPr lang="en-US" sz="1400" b="0" i="0" u="none" strike="noStrike" noProof="0" dirty="0">
                          <a:solidFill>
                            <a:schemeClr val="tx1"/>
                          </a:solidFill>
                          <a:latin typeface="Calibri"/>
                          <a:hlinkClick r:id="rId3"/>
                        </a:rPr>
                        <a:t>Customerservice</a:t>
                      </a:r>
                      <a:r>
                        <a:rPr lang="en-US" sz="1400" b="0" i="0" u="none" strike="noStrike" noProof="0" dirty="0">
                          <a:solidFill>
                            <a:schemeClr val="tx1"/>
                          </a:solidFill>
                          <a:latin typeface="Calibri"/>
                          <a:hlinkClick r:id="rId3">
                            <a:extLst>
                              <a:ext uri="{A12FA001-AC4F-418D-AE19-62706E023703}">
                                <ahyp:hlinkClr xmlns:ahyp="http://schemas.microsoft.com/office/drawing/2018/hyperlinkcolor" val="tx"/>
                              </a:ext>
                            </a:extLst>
                          </a:hlinkClick>
                        </a:rPr>
                        <a:t>@theoneloan.com</a:t>
                      </a:r>
                      <a:endParaRPr lang="en-US" dirty="0"/>
                    </a:p>
                    <a:p>
                      <a:pPr marL="742950" marR="0" lvl="1" indent="-285750" algn="l">
                        <a:lnSpc>
                          <a:spcPct val="100000"/>
                        </a:lnSpc>
                        <a:spcBef>
                          <a:spcPts val="0"/>
                        </a:spcBef>
                        <a:spcAft>
                          <a:spcPts val="0"/>
                        </a:spcAft>
                        <a:buFont typeface="Arial"/>
                        <a:buChar char="•"/>
                      </a:pPr>
                      <a:r>
                        <a:rPr lang="en-US" sz="1400" b="0" i="0" u="none" strike="noStrike" noProof="0" dirty="0">
                          <a:solidFill>
                            <a:schemeClr val="tx1"/>
                          </a:solidFill>
                          <a:latin typeface="Calibri"/>
                        </a:rPr>
                        <a:t>Allow 24-72 business hours for response</a:t>
                      </a:r>
                    </a:p>
                  </a:txBody>
                  <a:tcPr/>
                </a:tc>
                <a:extLst>
                  <a:ext uri="{0D108BD9-81ED-4DB2-BD59-A6C34878D82A}">
                    <a16:rowId xmlns:a16="http://schemas.microsoft.com/office/drawing/2014/main" val="1431417372"/>
                  </a:ext>
                </a:extLst>
              </a:tr>
              <a:tr h="831819">
                <a:tc>
                  <a:txBody>
                    <a:bodyPr/>
                    <a:lstStyle/>
                    <a:p>
                      <a:r>
                        <a:rPr lang="en-US" sz="1400" dirty="0"/>
                        <a:t>Post-Funding with Loan Concerns</a:t>
                      </a:r>
                    </a:p>
                  </a:txBody>
                  <a:tcPr/>
                </a:tc>
                <a:tc>
                  <a:txBody>
                    <a:bodyPr/>
                    <a:lstStyle/>
                    <a:p>
                      <a:r>
                        <a:rPr lang="en-US" sz="1400" dirty="0" err="1"/>
                        <a:t>OneLoan</a:t>
                      </a:r>
                      <a:r>
                        <a:rPr lang="en-US" sz="1400" dirty="0"/>
                        <a:t> Direct</a:t>
                      </a:r>
                    </a:p>
                  </a:txBody>
                  <a:tcPr/>
                </a:tc>
                <a:tc>
                  <a:txBody>
                    <a:bodyPr/>
                    <a:lstStyle/>
                    <a:p>
                      <a:pPr marL="285750" indent="-285750">
                        <a:buFont typeface="Arial"/>
                        <a:buChar char="•"/>
                      </a:pPr>
                      <a:r>
                        <a:rPr lang="en-US" sz="1400" u="sng" dirty="0"/>
                        <a:t>OLD Loan Servicing:</a:t>
                      </a:r>
                      <a:br>
                        <a:rPr lang="en-US" sz="1400" dirty="0"/>
                      </a:br>
                      <a:r>
                        <a:rPr lang="en-US" sz="1400" dirty="0">
                          <a:solidFill>
                            <a:schemeClr val="accent1">
                              <a:lumMod val="75000"/>
                            </a:schemeClr>
                          </a:solidFill>
                        </a:rPr>
                        <a:t>(833) 743-1707</a:t>
                      </a:r>
                    </a:p>
                    <a:p>
                      <a:pPr lvl="0">
                        <a:buNone/>
                      </a:pPr>
                      <a:endParaRPr lang="en-US" sz="1400"/>
                    </a:p>
                  </a:txBody>
                  <a:tcPr/>
                </a:tc>
                <a:extLst>
                  <a:ext uri="{0D108BD9-81ED-4DB2-BD59-A6C34878D82A}">
                    <a16:rowId xmlns:a16="http://schemas.microsoft.com/office/drawing/2014/main" val="1836949688"/>
                  </a:ext>
                </a:extLst>
              </a:tr>
            </a:tbl>
          </a:graphicData>
        </a:graphic>
      </p:graphicFrame>
      <p:graphicFrame>
        <p:nvGraphicFramePr>
          <p:cNvPr id="18" name="Table 18">
            <a:extLst>
              <a:ext uri="{FF2B5EF4-FFF2-40B4-BE49-F238E27FC236}">
                <a16:creationId xmlns:a16="http://schemas.microsoft.com/office/drawing/2014/main" id="{E8332F4C-614B-4F1D-8AAE-5923BBB1281E}"/>
              </a:ext>
            </a:extLst>
          </p:cNvPr>
          <p:cNvGraphicFramePr>
            <a:graphicFrameLocks noGrp="1"/>
          </p:cNvGraphicFramePr>
          <p:nvPr>
            <p:ph sz="quarter" idx="4"/>
            <p:extLst>
              <p:ext uri="{D42A27DB-BD31-4B8C-83A1-F6EECF244321}">
                <p14:modId xmlns:p14="http://schemas.microsoft.com/office/powerpoint/2010/main" val="1206529003"/>
              </p:ext>
            </p:extLst>
          </p:nvPr>
        </p:nvGraphicFramePr>
        <p:xfrm>
          <a:off x="6067245" y="1710905"/>
          <a:ext cx="5987655" cy="3809868"/>
        </p:xfrm>
        <a:graphic>
          <a:graphicData uri="http://schemas.openxmlformats.org/drawingml/2006/table">
            <a:tbl>
              <a:tblPr firstRow="1" bandRow="1">
                <a:tableStyleId>{5C22544A-7EE6-4342-B048-85BDC9FD1C3A}</a:tableStyleId>
              </a:tblPr>
              <a:tblGrid>
                <a:gridCol w="1971260">
                  <a:extLst>
                    <a:ext uri="{9D8B030D-6E8A-4147-A177-3AD203B41FA5}">
                      <a16:colId xmlns:a16="http://schemas.microsoft.com/office/drawing/2014/main" val="3111886382"/>
                    </a:ext>
                  </a:extLst>
                </a:gridCol>
                <a:gridCol w="1632857">
                  <a:extLst>
                    <a:ext uri="{9D8B030D-6E8A-4147-A177-3AD203B41FA5}">
                      <a16:colId xmlns:a16="http://schemas.microsoft.com/office/drawing/2014/main" val="1178882794"/>
                    </a:ext>
                  </a:extLst>
                </a:gridCol>
                <a:gridCol w="2383538">
                  <a:extLst>
                    <a:ext uri="{9D8B030D-6E8A-4147-A177-3AD203B41FA5}">
                      <a16:colId xmlns:a16="http://schemas.microsoft.com/office/drawing/2014/main" val="780639369"/>
                    </a:ext>
                  </a:extLst>
                </a:gridCol>
              </a:tblGrid>
              <a:tr h="512329">
                <a:tc>
                  <a:txBody>
                    <a:bodyPr/>
                    <a:lstStyle/>
                    <a:p>
                      <a:r>
                        <a:rPr lang="en-US" sz="1600"/>
                        <a:t>When To Contact</a:t>
                      </a:r>
                    </a:p>
                  </a:txBody>
                  <a:tcPr/>
                </a:tc>
                <a:tc>
                  <a:txBody>
                    <a:bodyPr/>
                    <a:lstStyle/>
                    <a:p>
                      <a:r>
                        <a:rPr lang="en-US" sz="1600"/>
                        <a:t>Who to Contact</a:t>
                      </a:r>
                    </a:p>
                  </a:txBody>
                  <a:tcPr/>
                </a:tc>
                <a:tc>
                  <a:txBody>
                    <a:bodyPr/>
                    <a:lstStyle/>
                    <a:p>
                      <a:r>
                        <a:rPr lang="en-US" sz="1600"/>
                        <a:t>How to Contact</a:t>
                      </a:r>
                    </a:p>
                  </a:txBody>
                  <a:tcPr/>
                </a:tc>
                <a:extLst>
                  <a:ext uri="{0D108BD9-81ED-4DB2-BD59-A6C34878D82A}">
                    <a16:rowId xmlns:a16="http://schemas.microsoft.com/office/drawing/2014/main" val="431650530"/>
                  </a:ext>
                </a:extLst>
              </a:tr>
              <a:tr h="996714">
                <a:tc>
                  <a:txBody>
                    <a:bodyPr/>
                    <a:lstStyle/>
                    <a:p>
                      <a:pPr lvl="0">
                        <a:buNone/>
                      </a:pPr>
                      <a:r>
                        <a:rPr lang="en-US" sz="1400"/>
                        <a:t>Pre-Funding </a:t>
                      </a:r>
                    </a:p>
                    <a:p>
                      <a:pPr lvl="0">
                        <a:buNone/>
                      </a:pPr>
                      <a:r>
                        <a:rPr lang="en-US" sz="1400"/>
                        <a:t>"Eligible for Application"</a:t>
                      </a:r>
                      <a:endParaRPr lang="en-US"/>
                    </a:p>
                  </a:txBody>
                  <a:tcPr/>
                </a:tc>
                <a:tc>
                  <a:txBody>
                    <a:bodyPr/>
                    <a:lstStyle/>
                    <a:p>
                      <a:pPr lvl="0">
                        <a:buNone/>
                      </a:pPr>
                      <a:r>
                        <a:rPr lang="en-US" sz="1400"/>
                        <a:t>Loan Referral Team</a:t>
                      </a:r>
                    </a:p>
                  </a:txBody>
                  <a:tcPr/>
                </a:tc>
                <a:tc>
                  <a:txBody>
                    <a:bodyPr/>
                    <a:lstStyle/>
                    <a:p>
                      <a:pPr marL="285750" lvl="0" indent="-285750">
                        <a:buFont typeface="Arial"/>
                        <a:buChar char="•"/>
                      </a:pPr>
                      <a:r>
                        <a:rPr lang="en-US" sz="1400" u="sng"/>
                        <a:t>InContact:</a:t>
                      </a:r>
                      <a:r>
                        <a:rPr lang="en-US" sz="1400"/>
                        <a:t> </a:t>
                      </a:r>
                      <a:br>
                        <a:rPr lang="en-US" sz="1400"/>
                      </a:br>
                      <a:r>
                        <a:rPr lang="en-US" sz="1400">
                          <a:solidFill>
                            <a:schemeClr val="accent1">
                              <a:lumMod val="75000"/>
                            </a:schemeClr>
                          </a:solidFill>
                        </a:rPr>
                        <a:t>‘Loan Referral Team’</a:t>
                      </a:r>
                      <a:endParaRPr lang="en-US" sz="1600">
                        <a:solidFill>
                          <a:schemeClr val="accent1">
                            <a:lumMod val="75000"/>
                          </a:schemeClr>
                        </a:solidFill>
                      </a:endParaRPr>
                    </a:p>
                    <a:p>
                      <a:pPr marL="285750" lvl="0" indent="-285750">
                        <a:buFont typeface="Arial"/>
                        <a:buChar char="•"/>
                      </a:pPr>
                      <a:r>
                        <a:rPr lang="en-US" sz="1400" u="sng"/>
                        <a:t>Email Distro:</a:t>
                      </a:r>
                      <a:r>
                        <a:rPr lang="en-US" sz="1400"/>
                        <a:t> </a:t>
                      </a:r>
                      <a:r>
                        <a:rPr lang="en-US" sz="1400">
                          <a:solidFill>
                            <a:schemeClr val="accent1">
                              <a:lumMod val="75000"/>
                            </a:schemeClr>
                          </a:solidFill>
                        </a:rPr>
                        <a:t>'LoanReferralTeam'</a:t>
                      </a:r>
                      <a:endParaRPr lang="en-US">
                        <a:solidFill>
                          <a:schemeClr val="accent1">
                            <a:lumMod val="75000"/>
                          </a:schemeClr>
                        </a:solidFill>
                      </a:endParaRPr>
                    </a:p>
                  </a:txBody>
                  <a:tcPr/>
                </a:tc>
                <a:extLst>
                  <a:ext uri="{0D108BD9-81ED-4DB2-BD59-A6C34878D82A}">
                    <a16:rowId xmlns:a16="http://schemas.microsoft.com/office/drawing/2014/main" val="1041735337"/>
                  </a:ext>
                </a:extLst>
              </a:tr>
              <a:tr h="549589">
                <a:tc>
                  <a:txBody>
                    <a:bodyPr/>
                    <a:lstStyle/>
                    <a:p>
                      <a:pPr lvl="0">
                        <a:buNone/>
                      </a:pPr>
                      <a:r>
                        <a:rPr lang="en-US" sz="1400"/>
                        <a:t>Pre-Funding with Application in Progress</a:t>
                      </a:r>
                      <a:endParaRPr lang="en-US" sz="1600"/>
                    </a:p>
                  </a:txBody>
                  <a:tcPr/>
                </a:tc>
                <a:tc>
                  <a:txBody>
                    <a:bodyPr/>
                    <a:lstStyle/>
                    <a:p>
                      <a:pPr lvl="0">
                        <a:buNone/>
                      </a:pPr>
                      <a:r>
                        <a:rPr lang="en-US" sz="1400" err="1"/>
                        <a:t>LendingUSA</a:t>
                      </a:r>
                      <a:endParaRPr lang="en-US" sz="1600" err="1"/>
                    </a:p>
                  </a:txBody>
                  <a:tcPr/>
                </a:tc>
                <a:tc>
                  <a:txBody>
                    <a:bodyPr/>
                    <a:lstStyle/>
                    <a:p>
                      <a:pPr marL="285750" lvl="0" indent="-285750">
                        <a:buFont typeface="Arial"/>
                        <a:buChar char="•"/>
                      </a:pPr>
                      <a:r>
                        <a:rPr lang="en-US" sz="1400" b="0" i="0" u="sng" strike="noStrike" noProof="0">
                          <a:latin typeface="Calibri"/>
                        </a:rPr>
                        <a:t>InContact:</a:t>
                      </a:r>
                      <a:br>
                        <a:rPr lang="en-US" sz="1400" b="0" i="0" u="none" strike="noStrike" noProof="0">
                          <a:latin typeface="Calibri"/>
                        </a:rPr>
                      </a:br>
                      <a:r>
                        <a:rPr lang="en-US" sz="1400" b="0" i="0" u="none" strike="noStrike" noProof="0">
                          <a:solidFill>
                            <a:schemeClr val="accent1">
                              <a:lumMod val="75000"/>
                            </a:schemeClr>
                          </a:solidFill>
                          <a:latin typeface="Calibri"/>
                        </a:rPr>
                        <a:t>'</a:t>
                      </a:r>
                      <a:r>
                        <a:rPr lang="en-US" sz="1400" b="0" i="0" u="none" strike="noStrike" noProof="0">
                          <a:solidFill>
                            <a:schemeClr val="accent1">
                              <a:lumMod val="75000"/>
                            </a:schemeClr>
                          </a:solidFill>
                        </a:rPr>
                        <a:t>Lending USA Hot Transfer'</a:t>
                      </a:r>
                      <a:endParaRPr lang="en-US" sz="1600">
                        <a:solidFill>
                          <a:schemeClr val="accent1">
                            <a:lumMod val="75000"/>
                          </a:schemeClr>
                        </a:solidFill>
                      </a:endParaRPr>
                    </a:p>
                  </a:txBody>
                  <a:tcPr/>
                </a:tc>
                <a:extLst>
                  <a:ext uri="{0D108BD9-81ED-4DB2-BD59-A6C34878D82A}">
                    <a16:rowId xmlns:a16="http://schemas.microsoft.com/office/drawing/2014/main" val="1096290828"/>
                  </a:ext>
                </a:extLst>
              </a:tr>
              <a:tr h="996714">
                <a:tc>
                  <a:txBody>
                    <a:bodyPr/>
                    <a:lstStyle/>
                    <a:p>
                      <a:pPr lvl="0">
                        <a:buNone/>
                      </a:pPr>
                      <a:r>
                        <a:rPr lang="en-US" sz="1400"/>
                        <a:t>Post-Funding with Debt Settlement Concerns</a:t>
                      </a:r>
                    </a:p>
                  </a:txBody>
                  <a:tcPr/>
                </a:tc>
                <a:tc>
                  <a:txBody>
                    <a:bodyPr/>
                    <a:lstStyle/>
                    <a:p>
                      <a:pPr lvl="0">
                        <a:buNone/>
                      </a:pPr>
                      <a:r>
                        <a:rPr lang="en-US" sz="1400"/>
                        <a:t>Debt Consolidation Client Support</a:t>
                      </a:r>
                    </a:p>
                  </a:txBody>
                  <a:tcPr/>
                </a:tc>
                <a:tc>
                  <a:txBody>
                    <a:bodyPr/>
                    <a:lstStyle/>
                    <a:p>
                      <a:pPr marL="285750" lvl="0" indent="-285750">
                        <a:buFont typeface="Arial"/>
                        <a:buChar char="•"/>
                      </a:pPr>
                      <a:r>
                        <a:rPr lang="en-US" sz="1400" u="sng"/>
                        <a:t>InContact: </a:t>
                      </a:r>
                      <a:br>
                        <a:rPr lang="en-US" sz="1400"/>
                      </a:br>
                      <a:r>
                        <a:rPr lang="en-US" sz="1400">
                          <a:solidFill>
                            <a:schemeClr val="accent1">
                              <a:lumMod val="75000"/>
                            </a:schemeClr>
                          </a:solidFill>
                        </a:rPr>
                        <a:t>'DC CS Inbound'</a:t>
                      </a:r>
                    </a:p>
                    <a:p>
                      <a:pPr marL="285750" lvl="0" indent="-285750">
                        <a:buFont typeface="Arial"/>
                        <a:buChar char="•"/>
                      </a:pPr>
                      <a:r>
                        <a:rPr lang="en-US" sz="1400" b="0" i="0" u="sng" strike="noStrike" noProof="0">
                          <a:solidFill>
                            <a:schemeClr val="tx1"/>
                          </a:solidFill>
                          <a:latin typeface="Calibri"/>
                        </a:rPr>
                        <a:t>Email Distro</a:t>
                      </a:r>
                      <a:r>
                        <a:rPr lang="en-US" sz="1400" b="0" i="0" u="none" strike="noStrike" noProof="0">
                          <a:solidFill>
                            <a:schemeClr val="tx1"/>
                          </a:solidFill>
                          <a:latin typeface="Calibri"/>
                        </a:rPr>
                        <a:t>:</a:t>
                      </a:r>
                      <a:br>
                        <a:rPr lang="en-US" sz="1400" b="0" i="0" u="none" strike="noStrike" noProof="0">
                          <a:solidFill>
                            <a:srgbClr val="000000"/>
                          </a:solidFill>
                          <a:latin typeface="Calibri"/>
                        </a:rPr>
                      </a:br>
                      <a:r>
                        <a:rPr lang="en-US" sz="1400" b="0" i="0" u="none" strike="noStrike" noProof="0">
                          <a:solidFill>
                            <a:schemeClr val="accent1">
                              <a:lumMod val="75000"/>
                            </a:schemeClr>
                          </a:solidFill>
                          <a:latin typeface="Calibri"/>
                        </a:rPr>
                        <a:t>'</a:t>
                      </a:r>
                      <a:r>
                        <a:rPr lang="en-US" sz="1400" b="0" i="0" u="none" strike="noStrike" noProof="0" err="1">
                          <a:solidFill>
                            <a:schemeClr val="accent1">
                              <a:lumMod val="75000"/>
                            </a:schemeClr>
                          </a:solidFill>
                          <a:latin typeface="Calibri"/>
                        </a:rPr>
                        <a:t>COALoanSupport</a:t>
                      </a:r>
                      <a:r>
                        <a:rPr lang="en-US" sz="1400" b="0" i="0" u="none" strike="noStrike" noProof="0">
                          <a:solidFill>
                            <a:schemeClr val="accent1">
                              <a:lumMod val="75000"/>
                            </a:schemeClr>
                          </a:solidFill>
                          <a:latin typeface="Calibri"/>
                        </a:rPr>
                        <a:t>'</a:t>
                      </a:r>
                      <a:endParaRPr lang="en-US" sz="1400">
                        <a:solidFill>
                          <a:schemeClr val="accent1">
                            <a:lumMod val="75000"/>
                          </a:schemeClr>
                        </a:solidFill>
                      </a:endParaRPr>
                    </a:p>
                  </a:txBody>
                  <a:tcPr/>
                </a:tc>
                <a:extLst>
                  <a:ext uri="{0D108BD9-81ED-4DB2-BD59-A6C34878D82A}">
                    <a16:rowId xmlns:a16="http://schemas.microsoft.com/office/drawing/2014/main" val="1587916588"/>
                  </a:ext>
                </a:extLst>
              </a:tr>
              <a:tr h="754522">
                <a:tc>
                  <a:txBody>
                    <a:bodyPr/>
                    <a:lstStyle/>
                    <a:p>
                      <a:r>
                        <a:rPr lang="en-US" sz="1400"/>
                        <a:t>Post-Funding with Loan Concerns</a:t>
                      </a:r>
                    </a:p>
                  </a:txBody>
                  <a:tcPr/>
                </a:tc>
                <a:tc>
                  <a:txBody>
                    <a:bodyPr/>
                    <a:lstStyle/>
                    <a:p>
                      <a:r>
                        <a:rPr lang="en-US" sz="1400"/>
                        <a:t>Lending USA</a:t>
                      </a:r>
                    </a:p>
                  </a:txBody>
                  <a:tcPr/>
                </a:tc>
                <a:tc>
                  <a:txBody>
                    <a:bodyPr/>
                    <a:lstStyle/>
                    <a:p>
                      <a:pPr marL="285750" lvl="0" indent="-285750">
                        <a:buFont typeface="Arial"/>
                        <a:buChar char="•"/>
                      </a:pPr>
                      <a:r>
                        <a:rPr lang="en-US" sz="1400" b="0" i="0" u="sng" strike="noStrike" noProof="0">
                          <a:latin typeface="Calibri"/>
                        </a:rPr>
                        <a:t>LUSA Loan Servicing:</a:t>
                      </a:r>
                      <a:br>
                        <a:rPr lang="en-US" sz="1400" b="0" i="0" u="sng" strike="noStrike" noProof="0">
                          <a:latin typeface="Calibri"/>
                        </a:rPr>
                      </a:br>
                      <a:r>
                        <a:rPr lang="en-US" sz="1400">
                          <a:solidFill>
                            <a:schemeClr val="accent1">
                              <a:lumMod val="75000"/>
                            </a:schemeClr>
                          </a:solidFill>
                        </a:rPr>
                        <a:t>(800) 994-6177</a:t>
                      </a:r>
                    </a:p>
                  </a:txBody>
                  <a:tcPr/>
                </a:tc>
                <a:extLst>
                  <a:ext uri="{0D108BD9-81ED-4DB2-BD59-A6C34878D82A}">
                    <a16:rowId xmlns:a16="http://schemas.microsoft.com/office/drawing/2014/main" val="2095368180"/>
                  </a:ext>
                </a:extLst>
              </a:tr>
            </a:tbl>
          </a:graphicData>
        </a:graphic>
      </p:graphicFrame>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2</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3959" y="6381497"/>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1552755" y="1286366"/>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7F37CDA5-8963-4DDC-97A6-2112148F6ACE}"/>
              </a:ext>
            </a:extLst>
          </p:cNvPr>
          <p:cNvPicPr>
            <a:picLocks noChangeAspect="1"/>
          </p:cNvPicPr>
          <p:nvPr/>
        </p:nvPicPr>
        <p:blipFill>
          <a:blip r:embed="rId5"/>
          <a:stretch>
            <a:fillRect/>
          </a:stretch>
        </p:blipFill>
        <p:spPr>
          <a:xfrm>
            <a:off x="6126993" y="908682"/>
            <a:ext cx="4884596" cy="755730"/>
          </a:xfrm>
          <a:prstGeom prst="rect">
            <a:avLst/>
          </a:prstGeom>
        </p:spPr>
      </p:pic>
      <p:pic>
        <p:nvPicPr>
          <p:cNvPr id="16" name="Picture 15">
            <a:extLst>
              <a:ext uri="{FF2B5EF4-FFF2-40B4-BE49-F238E27FC236}">
                <a16:creationId xmlns:a16="http://schemas.microsoft.com/office/drawing/2014/main" id="{F117E4F7-C054-452E-8BDF-FA1D959A291A}"/>
              </a:ext>
            </a:extLst>
          </p:cNvPr>
          <p:cNvPicPr>
            <a:picLocks noChangeAspect="1"/>
          </p:cNvPicPr>
          <p:nvPr/>
        </p:nvPicPr>
        <p:blipFill>
          <a:blip r:embed="rId6"/>
          <a:srcRect l="-1807" t="-1463" r="2108" b="1463"/>
          <a:stretch>
            <a:fillRect/>
          </a:stretch>
        </p:blipFill>
        <p:spPr>
          <a:xfrm>
            <a:off x="6240794" y="-396795"/>
            <a:ext cx="4752559" cy="755730"/>
          </a:xfrm>
          <a:prstGeom prst="rect">
            <a:avLst/>
          </a:prstGeom>
        </p:spPr>
      </p:pic>
    </p:spTree>
    <p:extLst>
      <p:ext uri="{BB962C8B-B14F-4D97-AF65-F5344CB8AC3E}">
        <p14:creationId xmlns:p14="http://schemas.microsoft.com/office/powerpoint/2010/main" val="1735433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1588727" y="40522"/>
            <a:ext cx="8854631" cy="431654"/>
          </a:xfrm>
        </p:spPr>
        <p:txBody>
          <a:bodyPr>
            <a:normAutofit/>
          </a:bodyPr>
          <a:lstStyle/>
          <a:p>
            <a:r>
              <a:rPr lang="en-US" sz="2000">
                <a:latin typeface="Arial"/>
                <a:cs typeface="Arial"/>
              </a:rPr>
              <a:t>Lending Process Overview</a:t>
            </a:r>
          </a:p>
        </p:txBody>
      </p:sp>
      <p:sp>
        <p:nvSpPr>
          <p:cNvPr id="3" name="Footer Placeholder 2"/>
          <p:cNvSpPr>
            <a:spLocks noGrp="1"/>
          </p:cNvSpPr>
          <p:nvPr>
            <p:ph type="ftr" sz="quarter" idx="11"/>
          </p:nvPr>
        </p:nvSpPr>
        <p:spPr>
          <a:xfrm>
            <a:off x="4622619" y="6573953"/>
            <a:ext cx="3086100" cy="365125"/>
          </a:xfrm>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3</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3959" y="6381497"/>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1524000" y="394970"/>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Diagram 32">
            <a:extLst>
              <a:ext uri="{FF2B5EF4-FFF2-40B4-BE49-F238E27FC236}">
                <a16:creationId xmlns:a16="http://schemas.microsoft.com/office/drawing/2014/main" id="{7AB5C71A-6A68-48D1-22F3-E6164CED635B}"/>
              </a:ext>
            </a:extLst>
          </p:cNvPr>
          <p:cNvGraphicFramePr/>
          <p:nvPr>
            <p:extLst>
              <p:ext uri="{D42A27DB-BD31-4B8C-83A1-F6EECF244321}">
                <p14:modId xmlns:p14="http://schemas.microsoft.com/office/powerpoint/2010/main" val="1283475144"/>
              </p:ext>
            </p:extLst>
          </p:nvPr>
        </p:nvGraphicFramePr>
        <p:xfrm>
          <a:off x="226911" y="1277741"/>
          <a:ext cx="11731682" cy="12788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5" name="Title 1">
            <a:extLst>
              <a:ext uri="{FF2B5EF4-FFF2-40B4-BE49-F238E27FC236}">
                <a16:creationId xmlns:a16="http://schemas.microsoft.com/office/drawing/2014/main" id="{0AEAD5F3-8CB3-4E3E-374F-0FA2D5C24FF7}"/>
              </a:ext>
            </a:extLst>
          </p:cNvPr>
          <p:cNvSpPr txBox="1">
            <a:spLocks/>
          </p:cNvSpPr>
          <p:nvPr/>
        </p:nvSpPr>
        <p:spPr>
          <a:xfrm>
            <a:off x="226534" y="851441"/>
            <a:ext cx="8854631" cy="4316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a:latin typeface="Arial"/>
                <a:cs typeface="Arial"/>
              </a:rPr>
              <a:t>Pre-Funding</a:t>
            </a:r>
            <a:endParaRPr lang="en-US"/>
          </a:p>
        </p:txBody>
      </p:sp>
      <p:graphicFrame>
        <p:nvGraphicFramePr>
          <p:cNvPr id="96" name="Diagram 95">
            <a:extLst>
              <a:ext uri="{FF2B5EF4-FFF2-40B4-BE49-F238E27FC236}">
                <a16:creationId xmlns:a16="http://schemas.microsoft.com/office/drawing/2014/main" id="{2BE58D62-370C-0244-D22B-C6C0EAA66DF7}"/>
              </a:ext>
            </a:extLst>
          </p:cNvPr>
          <p:cNvGraphicFramePr/>
          <p:nvPr>
            <p:extLst>
              <p:ext uri="{D42A27DB-BD31-4B8C-83A1-F6EECF244321}">
                <p14:modId xmlns:p14="http://schemas.microsoft.com/office/powerpoint/2010/main" val="2262289407"/>
              </p:ext>
            </p:extLst>
          </p:nvPr>
        </p:nvGraphicFramePr>
        <p:xfrm>
          <a:off x="179874" y="4137592"/>
          <a:ext cx="11731682" cy="127885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09" name="Title 1">
            <a:extLst>
              <a:ext uri="{FF2B5EF4-FFF2-40B4-BE49-F238E27FC236}">
                <a16:creationId xmlns:a16="http://schemas.microsoft.com/office/drawing/2014/main" id="{F6495F4F-D15C-0AEE-4391-49301CB9CB7A}"/>
              </a:ext>
            </a:extLst>
          </p:cNvPr>
          <p:cNvSpPr txBox="1">
            <a:spLocks/>
          </p:cNvSpPr>
          <p:nvPr/>
        </p:nvSpPr>
        <p:spPr>
          <a:xfrm>
            <a:off x="179497" y="3711293"/>
            <a:ext cx="8854631" cy="4316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a:latin typeface="Arial"/>
                <a:cs typeface="Arial"/>
              </a:rPr>
              <a:t>Post-Funding</a:t>
            </a:r>
            <a:endParaRPr lang="en-US"/>
          </a:p>
        </p:txBody>
      </p:sp>
      <p:pic>
        <p:nvPicPr>
          <p:cNvPr id="75" name="Graphic 75" descr="Comment Like with solid fill">
            <a:extLst>
              <a:ext uri="{FF2B5EF4-FFF2-40B4-BE49-F238E27FC236}">
                <a16:creationId xmlns:a16="http://schemas.microsoft.com/office/drawing/2014/main" id="{711EE97C-F8C9-E14A-7705-1D290525F23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13443" y="2409371"/>
            <a:ext cx="869043" cy="869043"/>
          </a:xfrm>
          <a:prstGeom prst="rect">
            <a:avLst/>
          </a:prstGeom>
        </p:spPr>
      </p:pic>
      <p:pic>
        <p:nvPicPr>
          <p:cNvPr id="76" name="Graphic 76" descr="Speaker phone with solid fill">
            <a:extLst>
              <a:ext uri="{FF2B5EF4-FFF2-40B4-BE49-F238E27FC236}">
                <a16:creationId xmlns:a16="http://schemas.microsoft.com/office/drawing/2014/main" id="{9E96F11B-1ECE-4B25-720F-CD6370C2FF76}"/>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572657" y="2409371"/>
            <a:ext cx="869043" cy="869043"/>
          </a:xfrm>
          <a:prstGeom prst="rect">
            <a:avLst/>
          </a:prstGeom>
        </p:spPr>
      </p:pic>
      <p:pic>
        <p:nvPicPr>
          <p:cNvPr id="77" name="Graphic 77" descr="Share with solid fill">
            <a:extLst>
              <a:ext uri="{FF2B5EF4-FFF2-40B4-BE49-F238E27FC236}">
                <a16:creationId xmlns:a16="http://schemas.microsoft.com/office/drawing/2014/main" id="{A1A235E6-7993-8884-12CF-A3FD7519DF92}"/>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704442" y="2554515"/>
            <a:ext cx="723901" cy="723901"/>
          </a:xfrm>
          <a:prstGeom prst="rect">
            <a:avLst/>
          </a:prstGeom>
        </p:spPr>
      </p:pic>
      <p:pic>
        <p:nvPicPr>
          <p:cNvPr id="78" name="Graphic 78" descr="Scales of justice with solid fill">
            <a:extLst>
              <a:ext uri="{FF2B5EF4-FFF2-40B4-BE49-F238E27FC236}">
                <a16:creationId xmlns:a16="http://schemas.microsoft.com/office/drawing/2014/main" id="{C7CFAA72-D957-67AE-3F1D-88D972BCF964}"/>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745514" y="2527300"/>
            <a:ext cx="723901" cy="723901"/>
          </a:xfrm>
          <a:prstGeom prst="rect">
            <a:avLst/>
          </a:prstGeom>
        </p:spPr>
      </p:pic>
      <p:pic>
        <p:nvPicPr>
          <p:cNvPr id="79" name="Graphic 79" descr="Contract with solid fill">
            <a:extLst>
              <a:ext uri="{FF2B5EF4-FFF2-40B4-BE49-F238E27FC236}">
                <a16:creationId xmlns:a16="http://schemas.microsoft.com/office/drawing/2014/main" id="{713D2F4C-FE05-47D8-9AB5-D628C0CE7882}"/>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822871" y="2554515"/>
            <a:ext cx="760186" cy="751115"/>
          </a:xfrm>
          <a:prstGeom prst="rect">
            <a:avLst/>
          </a:prstGeom>
        </p:spPr>
      </p:pic>
      <p:pic>
        <p:nvPicPr>
          <p:cNvPr id="80" name="Graphic 80" descr="Call center with solid fill">
            <a:extLst>
              <a:ext uri="{FF2B5EF4-FFF2-40B4-BE49-F238E27FC236}">
                <a16:creationId xmlns:a16="http://schemas.microsoft.com/office/drawing/2014/main" id="{37C16EFA-4AB9-800E-0BE6-7AD70BD28183}"/>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0827657" y="2554514"/>
            <a:ext cx="723901" cy="723901"/>
          </a:xfrm>
          <a:prstGeom prst="rect">
            <a:avLst/>
          </a:prstGeom>
        </p:spPr>
      </p:pic>
      <p:pic>
        <p:nvPicPr>
          <p:cNvPr id="81" name="Graphic 81" descr="Loan with solid fill">
            <a:extLst>
              <a:ext uri="{FF2B5EF4-FFF2-40B4-BE49-F238E27FC236}">
                <a16:creationId xmlns:a16="http://schemas.microsoft.com/office/drawing/2014/main" id="{006495D3-87FC-5925-2945-4EA0A76B2B5A}"/>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67657" y="5502729"/>
            <a:ext cx="760186" cy="751114"/>
          </a:xfrm>
          <a:prstGeom prst="rect">
            <a:avLst/>
          </a:prstGeom>
        </p:spPr>
      </p:pic>
      <p:pic>
        <p:nvPicPr>
          <p:cNvPr id="82" name="Graphic 82" descr="Handshake with solid fill">
            <a:extLst>
              <a:ext uri="{FF2B5EF4-FFF2-40B4-BE49-F238E27FC236}">
                <a16:creationId xmlns:a16="http://schemas.microsoft.com/office/drawing/2014/main" id="{0BD9E114-03DE-72F0-B5D7-E5EA0CEC29A7}"/>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225800" y="5529943"/>
            <a:ext cx="723901" cy="723900"/>
          </a:xfrm>
          <a:prstGeom prst="rect">
            <a:avLst/>
          </a:prstGeom>
        </p:spPr>
      </p:pic>
      <p:pic>
        <p:nvPicPr>
          <p:cNvPr id="166" name="Graphic 166" descr="Meeting with solid fill">
            <a:extLst>
              <a:ext uri="{FF2B5EF4-FFF2-40B4-BE49-F238E27FC236}">
                <a16:creationId xmlns:a16="http://schemas.microsoft.com/office/drawing/2014/main" id="{359C63F7-EFCB-9ABB-994E-69DC34626650}"/>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5684157" y="5502729"/>
            <a:ext cx="723901" cy="723900"/>
          </a:xfrm>
          <a:prstGeom prst="rect">
            <a:avLst/>
          </a:prstGeom>
        </p:spPr>
      </p:pic>
      <p:pic>
        <p:nvPicPr>
          <p:cNvPr id="167" name="Graphic 167" descr="Graduation cap with solid fill">
            <a:extLst>
              <a:ext uri="{FF2B5EF4-FFF2-40B4-BE49-F238E27FC236}">
                <a16:creationId xmlns:a16="http://schemas.microsoft.com/office/drawing/2014/main" id="{AED0BD0C-2F0B-CF87-F9C1-8D456D9E43FD}"/>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0664371" y="5502729"/>
            <a:ext cx="760186" cy="751114"/>
          </a:xfrm>
          <a:prstGeom prst="rect">
            <a:avLst/>
          </a:prstGeom>
        </p:spPr>
      </p:pic>
      <p:pic>
        <p:nvPicPr>
          <p:cNvPr id="168" name="Graphic 168" descr="Checklist with solid fill">
            <a:extLst>
              <a:ext uri="{FF2B5EF4-FFF2-40B4-BE49-F238E27FC236}">
                <a16:creationId xmlns:a16="http://schemas.microsoft.com/office/drawing/2014/main" id="{67507821-90E8-062D-970B-A119619EF18B}"/>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8133443" y="5502730"/>
            <a:ext cx="760186" cy="751114"/>
          </a:xfrm>
          <a:prstGeom prst="rect">
            <a:avLst/>
          </a:prstGeom>
        </p:spPr>
      </p:pic>
    </p:spTree>
    <p:extLst>
      <p:ext uri="{BB962C8B-B14F-4D97-AF65-F5344CB8AC3E}">
        <p14:creationId xmlns:p14="http://schemas.microsoft.com/office/powerpoint/2010/main" val="807807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1588727" y="40522"/>
            <a:ext cx="8854631" cy="431654"/>
          </a:xfrm>
        </p:spPr>
        <p:txBody>
          <a:bodyPr>
            <a:normAutofit/>
          </a:bodyPr>
          <a:lstStyle/>
          <a:p>
            <a:r>
              <a:rPr lang="en-US" sz="2000">
                <a:latin typeface="Arial" panose="020B0604020202020204" pitchFamily="34" charset="0"/>
                <a:cs typeface="Arial" panose="020B0604020202020204" pitchFamily="34" charset="0"/>
              </a:rPr>
              <a:t>Before GH Funding</a:t>
            </a:r>
          </a:p>
        </p:txBody>
      </p:sp>
      <p:sp>
        <p:nvSpPr>
          <p:cNvPr id="3" name="Footer Placeholder 2"/>
          <p:cNvSpPr>
            <a:spLocks noGrp="1"/>
          </p:cNvSpPr>
          <p:nvPr>
            <p:ph type="ftr" sz="quarter" idx="11"/>
          </p:nvPr>
        </p:nvSpPr>
        <p:spPr>
          <a:xfrm>
            <a:off x="4622619" y="6573953"/>
            <a:ext cx="3086100" cy="365125"/>
          </a:xfrm>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4</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3959" y="6381497"/>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1524000" y="394970"/>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Diagram 5">
            <a:extLst>
              <a:ext uri="{FF2B5EF4-FFF2-40B4-BE49-F238E27FC236}">
                <a16:creationId xmlns:a16="http://schemas.microsoft.com/office/drawing/2014/main" id="{97A0395C-DDED-4027-8942-B5C0D8722AE6}"/>
              </a:ext>
            </a:extLst>
          </p:cNvPr>
          <p:cNvGraphicFramePr/>
          <p:nvPr>
            <p:extLst>
              <p:ext uri="{D42A27DB-BD31-4B8C-83A1-F6EECF244321}">
                <p14:modId xmlns:p14="http://schemas.microsoft.com/office/powerpoint/2010/main" val="878439527"/>
              </p:ext>
            </p:extLst>
          </p:nvPr>
        </p:nvGraphicFramePr>
        <p:xfrm>
          <a:off x="2089135" y="632587"/>
          <a:ext cx="8145101" cy="560132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61908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1588727" y="40522"/>
            <a:ext cx="8854631" cy="431654"/>
          </a:xfrm>
        </p:spPr>
        <p:txBody>
          <a:bodyPr>
            <a:normAutofit/>
          </a:bodyPr>
          <a:lstStyle/>
          <a:p>
            <a:r>
              <a:rPr lang="en-US" sz="2000">
                <a:latin typeface="Arial"/>
                <a:cs typeface="Arial"/>
              </a:rPr>
              <a:t>Debt Consolidation Client Support</a:t>
            </a:r>
            <a:endParaRPr lang="en-US"/>
          </a:p>
        </p:txBody>
      </p:sp>
      <p:sp>
        <p:nvSpPr>
          <p:cNvPr id="3" name="Footer Placeholder 2"/>
          <p:cNvSpPr>
            <a:spLocks noGrp="1"/>
          </p:cNvSpPr>
          <p:nvPr>
            <p:ph type="ftr" sz="quarter" idx="11"/>
          </p:nvPr>
        </p:nvSpPr>
        <p:spPr>
          <a:xfrm>
            <a:off x="4622619" y="6573953"/>
            <a:ext cx="3086100" cy="365125"/>
          </a:xfrm>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5</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3959" y="6381497"/>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1524000" y="394970"/>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Diagram 17">
            <a:extLst>
              <a:ext uri="{FF2B5EF4-FFF2-40B4-BE49-F238E27FC236}">
                <a16:creationId xmlns:a16="http://schemas.microsoft.com/office/drawing/2014/main" id="{7D3F3234-94B5-1DA3-748D-9348B7E8DAE1}"/>
              </a:ext>
            </a:extLst>
          </p:cNvPr>
          <p:cNvGraphicFramePr>
            <a:graphicFrameLocks noGrp="1"/>
          </p:cNvGraphicFramePr>
          <p:nvPr>
            <p:extLst>
              <p:ext uri="{D42A27DB-BD31-4B8C-83A1-F6EECF244321}">
                <p14:modId xmlns:p14="http://schemas.microsoft.com/office/powerpoint/2010/main" val="90223457"/>
              </p:ext>
            </p:extLst>
          </p:nvPr>
        </p:nvGraphicFramePr>
        <p:xfrm>
          <a:off x="757518" y="436096"/>
          <a:ext cx="10515600" cy="33741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7" name="Rectangle: Rounded Corners 36">
            <a:extLst>
              <a:ext uri="{FF2B5EF4-FFF2-40B4-BE49-F238E27FC236}">
                <a16:creationId xmlns:a16="http://schemas.microsoft.com/office/drawing/2014/main" id="{3859AF36-4410-F925-90E9-3FE671F9FC07}"/>
              </a:ext>
            </a:extLst>
          </p:cNvPr>
          <p:cNvSpPr/>
          <p:nvPr/>
        </p:nvSpPr>
        <p:spPr>
          <a:xfrm>
            <a:off x="871284" y="3491753"/>
            <a:ext cx="2330823" cy="2734235"/>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ea typeface="Calibri"/>
                <a:cs typeface="Calibri"/>
              </a:rPr>
              <a:t>COA DC Status: "Funded 0-30"</a:t>
            </a:r>
          </a:p>
          <a:p>
            <a:pPr algn="ctr"/>
            <a:endParaRPr lang="en-US">
              <a:solidFill>
                <a:schemeClr val="tx1"/>
              </a:solidFill>
              <a:ea typeface="Calibri"/>
              <a:cs typeface="Calibri"/>
            </a:endParaRPr>
          </a:p>
          <a:p>
            <a:pPr algn="ctr"/>
            <a:r>
              <a:rPr lang="en-US">
                <a:solidFill>
                  <a:schemeClr val="tx1"/>
                </a:solidFill>
                <a:ea typeface="Calibri"/>
                <a:cs typeface="Calibri"/>
              </a:rPr>
              <a:t>GH has funds pending from Loan Partner</a:t>
            </a:r>
          </a:p>
        </p:txBody>
      </p:sp>
      <p:sp>
        <p:nvSpPr>
          <p:cNvPr id="38" name="Rectangle: Rounded Corners 37">
            <a:extLst>
              <a:ext uri="{FF2B5EF4-FFF2-40B4-BE49-F238E27FC236}">
                <a16:creationId xmlns:a16="http://schemas.microsoft.com/office/drawing/2014/main" id="{C76D3FA2-BFD5-3ED3-EEC7-8BC381832213}"/>
              </a:ext>
            </a:extLst>
          </p:cNvPr>
          <p:cNvSpPr/>
          <p:nvPr/>
        </p:nvSpPr>
        <p:spPr>
          <a:xfrm>
            <a:off x="4625789" y="3491753"/>
            <a:ext cx="2940422" cy="2734235"/>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pPr>
            <a:r>
              <a:rPr lang="en-US">
                <a:solidFill>
                  <a:schemeClr val="tx1"/>
                </a:solidFill>
                <a:ea typeface="Calibri" panose="020F0502020204030204"/>
                <a:cs typeface="Calibri" panose="020F0502020204030204"/>
              </a:rPr>
              <a:t>Adding/Removing Debt</a:t>
            </a:r>
            <a:endParaRPr lang="en-US"/>
          </a:p>
          <a:p>
            <a:pPr marL="285750" indent="-285750">
              <a:buFont typeface="Arial"/>
              <a:buChar char="•"/>
            </a:pPr>
            <a:r>
              <a:rPr lang="en-US">
                <a:solidFill>
                  <a:schemeClr val="tx1"/>
                </a:solidFill>
                <a:ea typeface="Calibri" panose="020F0502020204030204"/>
                <a:cs typeface="Calibri" panose="020F0502020204030204"/>
              </a:rPr>
              <a:t>Settlement Concerns</a:t>
            </a:r>
          </a:p>
          <a:p>
            <a:pPr marL="285750" indent="-285750">
              <a:buFont typeface="Arial"/>
              <a:buChar char="•"/>
            </a:pPr>
            <a:r>
              <a:rPr lang="en-US">
                <a:solidFill>
                  <a:schemeClr val="tx1"/>
                </a:solidFill>
                <a:ea typeface="Calibri" panose="020F0502020204030204"/>
                <a:cs typeface="Calibri" panose="020F0502020204030204"/>
              </a:rPr>
              <a:t>Draft Concerns</a:t>
            </a:r>
          </a:p>
          <a:p>
            <a:pPr marL="285750" indent="-285750">
              <a:buFont typeface="Arial"/>
              <a:buChar char="•"/>
            </a:pPr>
            <a:r>
              <a:rPr lang="en-US">
                <a:solidFill>
                  <a:schemeClr val="tx1"/>
                </a:solidFill>
                <a:ea typeface="Calibri" panose="020F0502020204030204"/>
                <a:cs typeface="Calibri" panose="020F0502020204030204"/>
              </a:rPr>
              <a:t>Graduation Inquires </a:t>
            </a:r>
          </a:p>
        </p:txBody>
      </p:sp>
      <p:sp>
        <p:nvSpPr>
          <p:cNvPr id="39" name="Rectangle: Rounded Corners 38">
            <a:extLst>
              <a:ext uri="{FF2B5EF4-FFF2-40B4-BE49-F238E27FC236}">
                <a16:creationId xmlns:a16="http://schemas.microsoft.com/office/drawing/2014/main" id="{BE615914-C0FF-4AFA-1A16-6DF2A3287018}"/>
              </a:ext>
            </a:extLst>
          </p:cNvPr>
          <p:cNvSpPr/>
          <p:nvPr/>
        </p:nvSpPr>
        <p:spPr>
          <a:xfrm>
            <a:off x="8776446" y="3491753"/>
            <a:ext cx="2904562" cy="2734235"/>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a:solidFill>
                  <a:schemeClr val="tx1"/>
                </a:solidFill>
                <a:ea typeface="Calibri"/>
                <a:cs typeface="Calibri"/>
              </a:rPr>
              <a:t>InContact: </a:t>
            </a:r>
          </a:p>
          <a:p>
            <a:pPr lvl="1"/>
            <a:r>
              <a:rPr lang="en-US" sz="1400">
                <a:solidFill>
                  <a:schemeClr val="tx1"/>
                </a:solidFill>
                <a:ea typeface="Calibri"/>
                <a:cs typeface="Calibri"/>
              </a:rPr>
              <a:t>'DC CS Inbound' </a:t>
            </a:r>
            <a:endParaRPr lang="en-US">
              <a:solidFill>
                <a:schemeClr val="tx1"/>
              </a:solidFill>
              <a:ea typeface="Calibri"/>
              <a:cs typeface="Calibri"/>
            </a:endParaRPr>
          </a:p>
          <a:p>
            <a:r>
              <a:rPr lang="en-US">
                <a:solidFill>
                  <a:schemeClr val="tx1"/>
                </a:solidFill>
                <a:ea typeface="Calibri"/>
                <a:cs typeface="Calibri"/>
              </a:rPr>
              <a:t>Inbound</a:t>
            </a:r>
            <a:r>
              <a:rPr lang="en-US" sz="1400">
                <a:solidFill>
                  <a:schemeClr val="tx1"/>
                </a:solidFill>
                <a:ea typeface="Calibri"/>
                <a:cs typeface="Calibri"/>
              </a:rPr>
              <a:t> </a:t>
            </a:r>
            <a:r>
              <a:rPr lang="en-US">
                <a:solidFill>
                  <a:schemeClr val="tx1"/>
                </a:solidFill>
                <a:ea typeface="Calibri"/>
                <a:cs typeface="Calibri"/>
              </a:rPr>
              <a:t>Number: </a:t>
            </a:r>
            <a:endParaRPr lang="en-US">
              <a:solidFill>
                <a:schemeClr val="tx1"/>
              </a:solidFill>
              <a:ea typeface="+mn-lt"/>
              <a:cs typeface="+mn-lt"/>
            </a:endParaRPr>
          </a:p>
          <a:p>
            <a:pPr lvl="1"/>
            <a:r>
              <a:rPr lang="en-US" sz="1400">
                <a:solidFill>
                  <a:schemeClr val="tx1"/>
                </a:solidFill>
                <a:ea typeface="+mn-lt"/>
                <a:cs typeface="+mn-lt"/>
              </a:rPr>
              <a:t>877.365.0672</a:t>
            </a:r>
          </a:p>
          <a:p>
            <a:r>
              <a:rPr lang="en-US">
                <a:solidFill>
                  <a:schemeClr val="tx1"/>
                </a:solidFill>
                <a:ea typeface="Calibri"/>
                <a:cs typeface="Calibri"/>
              </a:rPr>
              <a:t>Inbound Email:</a:t>
            </a:r>
          </a:p>
          <a:p>
            <a:pPr lvl="1"/>
            <a:r>
              <a:rPr lang="en-US" sz="1400" u="sng">
                <a:solidFill>
                  <a:schemeClr val="tx1"/>
                </a:solidFill>
                <a:ea typeface="+mn-lt"/>
                <a:cs typeface="+mn-lt"/>
              </a:rPr>
              <a:t>coaloansupport@clearoneadvantage.com</a:t>
            </a:r>
            <a:r>
              <a:rPr lang="en-US" sz="1400">
                <a:solidFill>
                  <a:schemeClr val="tx1"/>
                </a:solidFill>
                <a:ea typeface="+mn-lt"/>
                <a:cs typeface="+mn-lt"/>
              </a:rPr>
              <a:t> </a:t>
            </a:r>
            <a:endParaRPr lang="en-US" sz="1400">
              <a:solidFill>
                <a:schemeClr val="tx1"/>
              </a:solidFill>
            </a:endParaRPr>
          </a:p>
          <a:p>
            <a:endParaRPr lang="en-US" sz="1400">
              <a:solidFill>
                <a:schemeClr val="tx1"/>
              </a:solidFill>
              <a:ea typeface="Calibri"/>
              <a:cs typeface="Calibri"/>
            </a:endParaRPr>
          </a:p>
        </p:txBody>
      </p:sp>
    </p:spTree>
    <p:extLst>
      <p:ext uri="{BB962C8B-B14F-4D97-AF65-F5344CB8AC3E}">
        <p14:creationId xmlns:p14="http://schemas.microsoft.com/office/powerpoint/2010/main" val="3039029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1588727" y="40522"/>
            <a:ext cx="8854631" cy="431654"/>
          </a:xfrm>
        </p:spPr>
        <p:txBody>
          <a:bodyPr>
            <a:normAutofit/>
          </a:bodyPr>
          <a:lstStyle/>
          <a:p>
            <a:r>
              <a:rPr lang="en-US" sz="2000">
                <a:latin typeface="Arial"/>
                <a:ea typeface="+mj-lt"/>
                <a:cs typeface="+mj-lt"/>
              </a:rPr>
              <a:t>Contacting DC CS</a:t>
            </a:r>
          </a:p>
        </p:txBody>
      </p:sp>
      <p:sp>
        <p:nvSpPr>
          <p:cNvPr id="3" name="Footer Placeholder 2"/>
          <p:cNvSpPr>
            <a:spLocks noGrp="1"/>
          </p:cNvSpPr>
          <p:nvPr>
            <p:ph type="ftr" sz="quarter" idx="11"/>
          </p:nvPr>
        </p:nvSpPr>
        <p:spPr>
          <a:xfrm>
            <a:off x="4622619" y="6573953"/>
            <a:ext cx="3086100" cy="365125"/>
          </a:xfrm>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6</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3959" y="6381497"/>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1524000" y="394970"/>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Graphical user interface, application&#10;&#10;Description automatically generated">
            <a:extLst>
              <a:ext uri="{FF2B5EF4-FFF2-40B4-BE49-F238E27FC236}">
                <a16:creationId xmlns:a16="http://schemas.microsoft.com/office/drawing/2014/main" id="{5DDB32A6-7AC3-FC43-5723-323C2502A20C}"/>
              </a:ext>
            </a:extLst>
          </p:cNvPr>
          <p:cNvPicPr>
            <a:picLocks noGrp="1" noChangeAspect="1"/>
          </p:cNvPicPr>
          <p:nvPr/>
        </p:nvPicPr>
        <p:blipFill>
          <a:blip r:embed="rId4"/>
          <a:stretch>
            <a:fillRect/>
          </a:stretch>
        </p:blipFill>
        <p:spPr>
          <a:xfrm>
            <a:off x="347552" y="865298"/>
            <a:ext cx="11614278" cy="5123775"/>
          </a:xfrm>
          <a:prstGeom prst="rect">
            <a:avLst/>
          </a:prstGeom>
        </p:spPr>
      </p:pic>
      <p:sp>
        <p:nvSpPr>
          <p:cNvPr id="21" name="TextBox 2">
            <a:extLst>
              <a:ext uri="{FF2B5EF4-FFF2-40B4-BE49-F238E27FC236}">
                <a16:creationId xmlns:a16="http://schemas.microsoft.com/office/drawing/2014/main" id="{EA0527D8-D6FF-03E4-05F4-34A2359AA52F}"/>
              </a:ext>
            </a:extLst>
          </p:cNvPr>
          <p:cNvSpPr txBox="1"/>
          <p:nvPr/>
        </p:nvSpPr>
        <p:spPr>
          <a:xfrm>
            <a:off x="4317305" y="2302702"/>
            <a:ext cx="6845473" cy="923330"/>
          </a:xfrm>
          <a:prstGeom prst="rect">
            <a:avLst/>
          </a:prstGeom>
          <a:solidFill>
            <a:schemeClr val="accent1">
              <a:lumMod val="20000"/>
              <a:lumOff val="80000"/>
            </a:schemeClr>
          </a:solidFill>
          <a:ln w="12700">
            <a:solidFill>
              <a:schemeClr val="accent1"/>
            </a:solid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cs typeface="Calibri"/>
              </a:rPr>
              <a:t>InContact:</a:t>
            </a:r>
          </a:p>
          <a:p>
            <a:pPr marL="285750" indent="-285750">
              <a:buFont typeface="Arial"/>
              <a:buChar char="•"/>
            </a:pPr>
            <a:r>
              <a:rPr lang="en-US">
                <a:cs typeface="Calibri"/>
              </a:rPr>
              <a:t>Calling the 'DCCS' Skill- the IVR will identify the assigned DC CS agent and call that agent directly if they are logged into InContact</a:t>
            </a:r>
          </a:p>
        </p:txBody>
      </p:sp>
      <p:sp>
        <p:nvSpPr>
          <p:cNvPr id="22" name="TextBox 3">
            <a:extLst>
              <a:ext uri="{FF2B5EF4-FFF2-40B4-BE49-F238E27FC236}">
                <a16:creationId xmlns:a16="http://schemas.microsoft.com/office/drawing/2014/main" id="{05771B94-5183-4802-DC91-360A8DE8CF3D}"/>
              </a:ext>
            </a:extLst>
          </p:cNvPr>
          <p:cNvSpPr txBox="1"/>
          <p:nvPr/>
        </p:nvSpPr>
        <p:spPr>
          <a:xfrm>
            <a:off x="4317304" y="1415441"/>
            <a:ext cx="4611665" cy="646331"/>
          </a:xfrm>
          <a:prstGeom prst="rect">
            <a:avLst/>
          </a:prstGeom>
          <a:solidFill>
            <a:schemeClr val="accent1">
              <a:lumMod val="20000"/>
              <a:lumOff val="80000"/>
            </a:schemeClr>
          </a:solidFill>
          <a:ln w="12700">
            <a:solidFill>
              <a:schemeClr val="accent1"/>
            </a:solid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cs typeface="Calibri"/>
              </a:rPr>
              <a:t>QuickBase:</a:t>
            </a:r>
          </a:p>
          <a:p>
            <a:pPr marL="285750" indent="-285750">
              <a:buFont typeface="Arial"/>
              <a:buChar char="•"/>
            </a:pPr>
            <a:r>
              <a:rPr lang="en-US">
                <a:cs typeface="Calibri"/>
              </a:rPr>
              <a:t>Client Page &gt; DC Lending Tab</a:t>
            </a:r>
          </a:p>
        </p:txBody>
      </p:sp>
    </p:spTree>
    <p:extLst>
      <p:ext uri="{BB962C8B-B14F-4D97-AF65-F5344CB8AC3E}">
        <p14:creationId xmlns:p14="http://schemas.microsoft.com/office/powerpoint/2010/main" val="2442728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1588727" y="40522"/>
            <a:ext cx="8854631" cy="431654"/>
          </a:xfrm>
        </p:spPr>
        <p:txBody>
          <a:bodyPr>
            <a:normAutofit/>
          </a:bodyPr>
          <a:lstStyle/>
          <a:p>
            <a:r>
              <a:rPr lang="en-US" sz="2000">
                <a:latin typeface="Arial" panose="020B0604020202020204" pitchFamily="34" charset="0"/>
                <a:cs typeface="Arial" panose="020B0604020202020204" pitchFamily="34" charset="0"/>
              </a:rPr>
              <a:t>Client Empowerment</a:t>
            </a:r>
          </a:p>
        </p:txBody>
      </p:sp>
      <p:sp>
        <p:nvSpPr>
          <p:cNvPr id="3" name="Footer Placeholder 2"/>
          <p:cNvSpPr>
            <a:spLocks noGrp="1"/>
          </p:cNvSpPr>
          <p:nvPr>
            <p:ph type="ftr" sz="quarter" idx="11"/>
          </p:nvPr>
        </p:nvSpPr>
        <p:spPr>
          <a:xfrm>
            <a:off x="4622619" y="6573953"/>
            <a:ext cx="3086100" cy="365125"/>
          </a:xfrm>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7</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3959" y="6381497"/>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1524000" y="394970"/>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Diagram 7">
            <a:extLst>
              <a:ext uri="{FF2B5EF4-FFF2-40B4-BE49-F238E27FC236}">
                <a16:creationId xmlns:a16="http://schemas.microsoft.com/office/drawing/2014/main" id="{CA4A647D-7C11-4D91-911D-4FA05375BFD5}"/>
              </a:ext>
            </a:extLst>
          </p:cNvPr>
          <p:cNvGraphicFramePr/>
          <p:nvPr>
            <p:extLst>
              <p:ext uri="{D42A27DB-BD31-4B8C-83A1-F6EECF244321}">
                <p14:modId xmlns:p14="http://schemas.microsoft.com/office/powerpoint/2010/main" val="3596697593"/>
              </p:ext>
            </p:extLst>
          </p:nvPr>
        </p:nvGraphicFramePr>
        <p:xfrm>
          <a:off x="2032000" y="879592"/>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8" name="TextBox 47">
            <a:extLst>
              <a:ext uri="{FF2B5EF4-FFF2-40B4-BE49-F238E27FC236}">
                <a16:creationId xmlns:a16="http://schemas.microsoft.com/office/drawing/2014/main" id="{822DB907-A6ED-41AE-BED7-FC81171EC704}"/>
              </a:ext>
            </a:extLst>
          </p:cNvPr>
          <p:cNvSpPr txBox="1"/>
          <p:nvPr/>
        </p:nvSpPr>
        <p:spPr>
          <a:xfrm>
            <a:off x="2033881" y="47225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All Clients Gain:</a:t>
            </a:r>
          </a:p>
        </p:txBody>
      </p:sp>
    </p:spTree>
    <p:extLst>
      <p:ext uri="{BB962C8B-B14F-4D97-AF65-F5344CB8AC3E}">
        <p14:creationId xmlns:p14="http://schemas.microsoft.com/office/powerpoint/2010/main" val="247179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1524000" y="29107"/>
            <a:ext cx="6238461" cy="496266"/>
          </a:xfrm>
        </p:spPr>
        <p:txBody>
          <a:bodyPr>
            <a:normAutofit/>
          </a:bodyPr>
          <a:lstStyle/>
          <a:p>
            <a:r>
              <a:rPr lang="en-US" sz="2000">
                <a:latin typeface="Arial"/>
                <a:cs typeface="Arial"/>
              </a:rPr>
              <a:t>Client Relations &amp; Canceling</a:t>
            </a: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8</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3959" y="6381497"/>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1524000" y="394970"/>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Diagram 7">
            <a:extLst>
              <a:ext uri="{FF2B5EF4-FFF2-40B4-BE49-F238E27FC236}">
                <a16:creationId xmlns:a16="http://schemas.microsoft.com/office/drawing/2014/main" id="{94E0715A-5C4A-4940-8914-2471C3993D85}"/>
              </a:ext>
            </a:extLst>
          </p:cNvPr>
          <p:cNvGraphicFramePr/>
          <p:nvPr>
            <p:extLst>
              <p:ext uri="{D42A27DB-BD31-4B8C-83A1-F6EECF244321}">
                <p14:modId xmlns:p14="http://schemas.microsoft.com/office/powerpoint/2010/main" val="1031852983"/>
              </p:ext>
            </p:extLst>
          </p:nvPr>
        </p:nvGraphicFramePr>
        <p:xfrm>
          <a:off x="1497106" y="1134035"/>
          <a:ext cx="6499412" cy="54057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890" name="TextBox 5889">
            <a:extLst>
              <a:ext uri="{FF2B5EF4-FFF2-40B4-BE49-F238E27FC236}">
                <a16:creationId xmlns:a16="http://schemas.microsoft.com/office/drawing/2014/main" id="{3195641E-1FD2-4C61-BD11-100429EBDC70}"/>
              </a:ext>
            </a:extLst>
          </p:cNvPr>
          <p:cNvSpPr txBox="1"/>
          <p:nvPr/>
        </p:nvSpPr>
        <p:spPr>
          <a:xfrm>
            <a:off x="8023413" y="3101788"/>
            <a:ext cx="355002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Pre-funding: Client will not incur any cost of the loan and cancel can proceed as normal</a:t>
            </a:r>
            <a:endParaRPr lang="en-US" sz="1200">
              <a:cs typeface="Calibri" panose="020F0502020204030204"/>
            </a:endParaRPr>
          </a:p>
          <a:p>
            <a:endParaRPr lang="en-US" sz="1200">
              <a:ea typeface="+mn-lt"/>
              <a:cs typeface="+mn-lt"/>
            </a:endParaRPr>
          </a:p>
          <a:p>
            <a:r>
              <a:rPr lang="en-US" sz="1200">
                <a:ea typeface="+mn-lt"/>
                <a:cs typeface="+mn-lt"/>
              </a:rPr>
              <a:t>Post-funding: Any money used to expedite/settle is client's responsibility to the Lending Partner. Any funds in GH must be returned to Lending Partner before cancel is finalized in QB to reduce the principle of the loan</a:t>
            </a:r>
            <a:endParaRPr lang="en-US" sz="1200">
              <a:cs typeface="Calibri" panose="020F0502020204030204"/>
            </a:endParaRPr>
          </a:p>
        </p:txBody>
      </p:sp>
      <p:sp>
        <p:nvSpPr>
          <p:cNvPr id="6885" name="TextBox 6884">
            <a:extLst>
              <a:ext uri="{FF2B5EF4-FFF2-40B4-BE49-F238E27FC236}">
                <a16:creationId xmlns:a16="http://schemas.microsoft.com/office/drawing/2014/main" id="{14EB6D4D-C8AD-4BB5-BE77-2926F1D59BA2}"/>
              </a:ext>
            </a:extLst>
          </p:cNvPr>
          <p:cNvSpPr txBox="1"/>
          <p:nvPr/>
        </p:nvSpPr>
        <p:spPr>
          <a:xfrm>
            <a:off x="8023413" y="5441577"/>
            <a:ext cx="355002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Calibri" panose="020F0502020204030204"/>
              </a:rPr>
              <a:t>If client is saved by offering to maintain debt settlement program for unsettled accounts, customer company name will need to be addressed before changes in calc can be saved. </a:t>
            </a:r>
          </a:p>
        </p:txBody>
      </p:sp>
      <p:sp>
        <p:nvSpPr>
          <p:cNvPr id="41" name="Rectangle: Rounded Corners 40">
            <a:extLst>
              <a:ext uri="{FF2B5EF4-FFF2-40B4-BE49-F238E27FC236}">
                <a16:creationId xmlns:a16="http://schemas.microsoft.com/office/drawing/2014/main" id="{AD234B7E-9849-6377-716A-4AB4566337E5}"/>
              </a:ext>
            </a:extLst>
          </p:cNvPr>
          <p:cNvSpPr/>
          <p:nvPr/>
        </p:nvSpPr>
        <p:spPr>
          <a:xfrm>
            <a:off x="1497106" y="533400"/>
            <a:ext cx="9144000" cy="4751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ea typeface="Calibri"/>
                <a:cs typeface="Calibri"/>
              </a:rPr>
              <a:t>DC Client Support will attempt to soft save &amp; warm transfer to CR for cancels that need additional support</a:t>
            </a:r>
            <a:endParaRPr lang="en-US" sz="1600"/>
          </a:p>
        </p:txBody>
      </p:sp>
    </p:spTree>
    <p:extLst>
      <p:ext uri="{BB962C8B-B14F-4D97-AF65-F5344CB8AC3E}">
        <p14:creationId xmlns:p14="http://schemas.microsoft.com/office/powerpoint/2010/main" val="103348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0" y="532"/>
            <a:ext cx="6238461" cy="496266"/>
          </a:xfrm>
        </p:spPr>
        <p:txBody>
          <a:bodyPr>
            <a:normAutofit/>
          </a:bodyPr>
          <a:lstStyle/>
          <a:p>
            <a:r>
              <a:rPr lang="en-US" sz="2000">
                <a:latin typeface="Arial"/>
                <a:cs typeface="Arial"/>
              </a:rPr>
              <a:t>COA DC Statuses</a:t>
            </a:r>
          </a:p>
        </p:txBody>
      </p:sp>
      <p:sp>
        <p:nvSpPr>
          <p:cNvPr id="3" name="Footer Placeholder 2"/>
          <p:cNvSpPr>
            <a:spLocks noGrp="1"/>
          </p:cNvSpPr>
          <p:nvPr>
            <p:ph type="ftr" sz="quarter" idx="11"/>
          </p:nvPr>
        </p:nvSpPr>
        <p:spPr>
          <a:xfrm>
            <a:off x="8079922" y="97064"/>
            <a:ext cx="4114800" cy="365125"/>
          </a:xfrm>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9</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20745" y="81390"/>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385445"/>
            <a:ext cx="10668000" cy="55244"/>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1" name="Table 51">
            <a:extLst>
              <a:ext uri="{FF2B5EF4-FFF2-40B4-BE49-F238E27FC236}">
                <a16:creationId xmlns:a16="http://schemas.microsoft.com/office/drawing/2014/main" id="{7A171DEF-98FB-4F06-A46B-66C0BB32A4AF}"/>
              </a:ext>
            </a:extLst>
          </p:cNvPr>
          <p:cNvGraphicFramePr>
            <a:graphicFrameLocks noGrp="1"/>
          </p:cNvGraphicFramePr>
          <p:nvPr>
            <p:extLst>
              <p:ext uri="{D42A27DB-BD31-4B8C-83A1-F6EECF244321}">
                <p14:modId xmlns:p14="http://schemas.microsoft.com/office/powerpoint/2010/main" val="3936746775"/>
              </p:ext>
            </p:extLst>
          </p:nvPr>
        </p:nvGraphicFramePr>
        <p:xfrm>
          <a:off x="81052" y="561436"/>
          <a:ext cx="12017650" cy="6054935"/>
        </p:xfrm>
        <a:graphic>
          <a:graphicData uri="http://schemas.openxmlformats.org/drawingml/2006/table">
            <a:tbl>
              <a:tblPr firstRow="1" bandRow="1">
                <a:tableStyleId>{5C22544A-7EE6-4342-B048-85BDC9FD1C3A}</a:tableStyleId>
              </a:tblPr>
              <a:tblGrid>
                <a:gridCol w="3585881">
                  <a:extLst>
                    <a:ext uri="{9D8B030D-6E8A-4147-A177-3AD203B41FA5}">
                      <a16:colId xmlns:a16="http://schemas.microsoft.com/office/drawing/2014/main" val="1790842653"/>
                    </a:ext>
                  </a:extLst>
                </a:gridCol>
                <a:gridCol w="1613647">
                  <a:extLst>
                    <a:ext uri="{9D8B030D-6E8A-4147-A177-3AD203B41FA5}">
                      <a16:colId xmlns:a16="http://schemas.microsoft.com/office/drawing/2014/main" val="3999127123"/>
                    </a:ext>
                  </a:extLst>
                </a:gridCol>
                <a:gridCol w="6818122">
                  <a:extLst>
                    <a:ext uri="{9D8B030D-6E8A-4147-A177-3AD203B41FA5}">
                      <a16:colId xmlns:a16="http://schemas.microsoft.com/office/drawing/2014/main" val="1159960476"/>
                    </a:ext>
                  </a:extLst>
                </a:gridCol>
              </a:tblGrid>
              <a:tr h="352295">
                <a:tc>
                  <a:txBody>
                    <a:bodyPr/>
                    <a:lstStyle/>
                    <a:p>
                      <a:r>
                        <a:rPr lang="en-US" sz="1600"/>
                        <a:t>Status Name</a:t>
                      </a:r>
                    </a:p>
                  </a:txBody>
                  <a:tcPr/>
                </a:tc>
                <a:tc>
                  <a:txBody>
                    <a:bodyPr/>
                    <a:lstStyle/>
                    <a:p>
                      <a:pPr lvl="0">
                        <a:buNone/>
                      </a:pPr>
                      <a:r>
                        <a:rPr lang="en-US" sz="1600"/>
                        <a:t>Team</a:t>
                      </a:r>
                      <a:endParaRPr lang="en-US"/>
                    </a:p>
                  </a:txBody>
                  <a:tcPr/>
                </a:tc>
                <a:tc>
                  <a:txBody>
                    <a:bodyPr/>
                    <a:lstStyle/>
                    <a:p>
                      <a:r>
                        <a:rPr lang="en-US" sz="1600"/>
                        <a:t>Description</a:t>
                      </a:r>
                    </a:p>
                  </a:txBody>
                  <a:tcPr/>
                </a:tc>
                <a:extLst>
                  <a:ext uri="{0D108BD9-81ED-4DB2-BD59-A6C34878D82A}">
                    <a16:rowId xmlns:a16="http://schemas.microsoft.com/office/drawing/2014/main" val="4148548688"/>
                  </a:ext>
                </a:extLst>
              </a:tr>
              <a:tr h="293579">
                <a:tc>
                  <a:txBody>
                    <a:bodyPr/>
                    <a:lstStyle/>
                    <a:p>
                      <a:r>
                        <a:rPr lang="en-US" sz="1200"/>
                        <a:t>Eligible for Application</a:t>
                      </a:r>
                    </a:p>
                  </a:txBody>
                  <a:tcPr/>
                </a:tc>
                <a:tc>
                  <a:txBody>
                    <a:bodyPr/>
                    <a:lstStyle/>
                    <a:p>
                      <a:pPr lvl="0">
                        <a:buNone/>
                      </a:pPr>
                      <a:r>
                        <a:rPr lang="en-US" sz="1200"/>
                        <a:t>LRT</a:t>
                      </a:r>
                      <a:endParaRPr lang="en-US"/>
                    </a:p>
                  </a:txBody>
                  <a:tcPr/>
                </a:tc>
                <a:tc>
                  <a:txBody>
                    <a:bodyPr/>
                    <a:lstStyle/>
                    <a:p>
                      <a:r>
                        <a:rPr lang="en-US" sz="1200"/>
                        <a:t>Client has been pre-selected and has not spoken with Loan Referral Team yet</a:t>
                      </a:r>
                    </a:p>
                  </a:txBody>
                  <a:tcPr/>
                </a:tc>
                <a:extLst>
                  <a:ext uri="{0D108BD9-81ED-4DB2-BD59-A6C34878D82A}">
                    <a16:rowId xmlns:a16="http://schemas.microsoft.com/office/drawing/2014/main" val="2869691157"/>
                  </a:ext>
                </a:extLst>
              </a:tr>
              <a:tr h="303365">
                <a:tc>
                  <a:txBody>
                    <a:bodyPr/>
                    <a:lstStyle/>
                    <a:p>
                      <a:r>
                        <a:rPr lang="en-US" sz="1200"/>
                        <a:t>Application Processing</a:t>
                      </a:r>
                    </a:p>
                  </a:txBody>
                  <a:tcPr/>
                </a:tc>
                <a:tc>
                  <a:txBody>
                    <a:bodyPr/>
                    <a:lstStyle/>
                    <a:p>
                      <a:pPr lvl="0">
                        <a:buNone/>
                      </a:pPr>
                      <a:r>
                        <a:rPr lang="en-US" sz="1200"/>
                        <a:t>Loan Partner</a:t>
                      </a:r>
                      <a:endParaRPr lang="en-US"/>
                    </a:p>
                  </a:txBody>
                  <a:tcPr/>
                </a:tc>
                <a:tc>
                  <a:txBody>
                    <a:bodyPr/>
                    <a:lstStyle/>
                    <a:p>
                      <a:r>
                        <a:rPr lang="en-US" sz="1200"/>
                        <a:t>Client has started application and it is being processed by Loan Partner</a:t>
                      </a:r>
                    </a:p>
                  </a:txBody>
                  <a:tcPr/>
                </a:tc>
                <a:extLst>
                  <a:ext uri="{0D108BD9-81ED-4DB2-BD59-A6C34878D82A}">
                    <a16:rowId xmlns:a16="http://schemas.microsoft.com/office/drawing/2014/main" val="2701620667"/>
                  </a:ext>
                </a:extLst>
              </a:tr>
              <a:tr h="293579">
                <a:tc>
                  <a:txBody>
                    <a:bodyPr/>
                    <a:lstStyle/>
                    <a:p>
                      <a:r>
                        <a:rPr lang="en-US" sz="1200"/>
                        <a:t>Application Info Need</a:t>
                      </a:r>
                    </a:p>
                  </a:txBody>
                  <a:tcPr/>
                </a:tc>
                <a:tc>
                  <a:txBody>
                    <a:bodyPr/>
                    <a:lstStyle/>
                    <a:p>
                      <a:pPr lvl="0">
                        <a:buNone/>
                      </a:pPr>
                      <a:r>
                        <a:rPr lang="en-US" sz="1200"/>
                        <a:t>Loan Partner</a:t>
                      </a:r>
                      <a:endParaRPr lang="en-US"/>
                    </a:p>
                  </a:txBody>
                  <a:tcPr/>
                </a:tc>
                <a:tc>
                  <a:txBody>
                    <a:bodyPr/>
                    <a:lstStyle/>
                    <a:p>
                      <a:r>
                        <a:rPr lang="en-US" sz="1200"/>
                        <a:t>Loan Partner is requesting additional information from the client for their application</a:t>
                      </a:r>
                    </a:p>
                  </a:txBody>
                  <a:tcPr/>
                </a:tc>
                <a:extLst>
                  <a:ext uri="{0D108BD9-81ED-4DB2-BD59-A6C34878D82A}">
                    <a16:rowId xmlns:a16="http://schemas.microsoft.com/office/drawing/2014/main" val="3006764066"/>
                  </a:ext>
                </a:extLst>
              </a:tr>
              <a:tr h="303365">
                <a:tc>
                  <a:txBody>
                    <a:bodyPr/>
                    <a:lstStyle/>
                    <a:p>
                      <a:r>
                        <a:rPr lang="en-US" sz="1200"/>
                        <a:t>Application Declined</a:t>
                      </a:r>
                    </a:p>
                  </a:txBody>
                  <a:tcPr/>
                </a:tc>
                <a:tc>
                  <a:txBody>
                    <a:bodyPr/>
                    <a:lstStyle/>
                    <a:p>
                      <a:pPr lvl="0">
                        <a:buNone/>
                      </a:pPr>
                      <a:r>
                        <a:rPr lang="en-US" sz="1200"/>
                        <a:t>DSP </a:t>
                      </a:r>
                      <a:r>
                        <a:rPr lang="en-US" sz="1200" err="1"/>
                        <a:t>con't</a:t>
                      </a:r>
                      <a:r>
                        <a:rPr lang="en-US" sz="1200"/>
                        <a:t>.</a:t>
                      </a:r>
                      <a:endParaRPr lang="en-US"/>
                    </a:p>
                  </a:txBody>
                  <a:tcPr/>
                </a:tc>
                <a:tc>
                  <a:txBody>
                    <a:bodyPr/>
                    <a:lstStyle/>
                    <a:p>
                      <a:r>
                        <a:rPr lang="en-US" sz="1200"/>
                        <a:t>Application was declined, client will receive loan decision reasons from Loan Partner</a:t>
                      </a:r>
                    </a:p>
                  </a:txBody>
                  <a:tcPr/>
                </a:tc>
                <a:extLst>
                  <a:ext uri="{0D108BD9-81ED-4DB2-BD59-A6C34878D82A}">
                    <a16:rowId xmlns:a16="http://schemas.microsoft.com/office/drawing/2014/main" val="1404063679"/>
                  </a:ext>
                </a:extLst>
              </a:tr>
              <a:tr h="303365">
                <a:tc>
                  <a:txBody>
                    <a:bodyPr/>
                    <a:lstStyle/>
                    <a:p>
                      <a:r>
                        <a:rPr lang="en-US" sz="1200"/>
                        <a:t>Funding Form Processing</a:t>
                      </a:r>
                    </a:p>
                  </a:txBody>
                  <a:tcPr/>
                </a:tc>
                <a:tc>
                  <a:txBody>
                    <a:bodyPr/>
                    <a:lstStyle/>
                    <a:p>
                      <a:pPr lvl="0">
                        <a:buNone/>
                      </a:pPr>
                      <a:r>
                        <a:rPr lang="en-US" sz="1200"/>
                        <a:t>COA Quality</a:t>
                      </a:r>
                      <a:endParaRPr lang="en-US"/>
                    </a:p>
                  </a:txBody>
                  <a:tcPr/>
                </a:tc>
                <a:tc>
                  <a:txBody>
                    <a:bodyPr/>
                    <a:lstStyle/>
                    <a:p>
                      <a:r>
                        <a:rPr lang="en-US" sz="1200"/>
                        <a:t>ClearOne is confirming payoff amount for Loan Partner</a:t>
                      </a:r>
                    </a:p>
                  </a:txBody>
                  <a:tcPr/>
                </a:tc>
                <a:extLst>
                  <a:ext uri="{0D108BD9-81ED-4DB2-BD59-A6C34878D82A}">
                    <a16:rowId xmlns:a16="http://schemas.microsoft.com/office/drawing/2014/main" val="3186761921"/>
                  </a:ext>
                </a:extLst>
              </a:tr>
              <a:tr h="293579">
                <a:tc>
                  <a:txBody>
                    <a:bodyPr/>
                    <a:lstStyle/>
                    <a:p>
                      <a:r>
                        <a:rPr lang="en-US" sz="1200"/>
                        <a:t>Application Pending Approval</a:t>
                      </a:r>
                    </a:p>
                  </a:txBody>
                  <a:tcPr/>
                </a:tc>
                <a:tc>
                  <a:txBody>
                    <a:bodyPr/>
                    <a:lstStyle/>
                    <a:p>
                      <a:pPr lvl="0">
                        <a:buNone/>
                      </a:pPr>
                      <a:r>
                        <a:rPr lang="en-US" sz="1200"/>
                        <a:t>Loan Partner</a:t>
                      </a:r>
                      <a:endParaRPr lang="en-US"/>
                    </a:p>
                  </a:txBody>
                  <a:tcPr/>
                </a:tc>
                <a:tc>
                  <a:txBody>
                    <a:bodyPr/>
                    <a:lstStyle/>
                    <a:p>
                      <a:r>
                        <a:rPr lang="en-US" sz="1200"/>
                        <a:t>Client's application is progressing and waiting for Loan Partner action</a:t>
                      </a:r>
                    </a:p>
                  </a:txBody>
                  <a:tcPr/>
                </a:tc>
                <a:extLst>
                  <a:ext uri="{0D108BD9-81ED-4DB2-BD59-A6C34878D82A}">
                    <a16:rowId xmlns:a16="http://schemas.microsoft.com/office/drawing/2014/main" val="2175638499"/>
                  </a:ext>
                </a:extLst>
              </a:tr>
              <a:tr h="281214">
                <a:tc>
                  <a:txBody>
                    <a:bodyPr/>
                    <a:lstStyle/>
                    <a:p>
                      <a:r>
                        <a:rPr lang="en-US" sz="1200"/>
                        <a:t>DC Contract Awaiting Signature</a:t>
                      </a:r>
                    </a:p>
                  </a:txBody>
                  <a:tcPr/>
                </a:tc>
                <a:tc>
                  <a:txBody>
                    <a:bodyPr/>
                    <a:lstStyle/>
                    <a:p>
                      <a:pPr lvl="0">
                        <a:buNone/>
                      </a:pPr>
                      <a:r>
                        <a:rPr lang="en-US" sz="1200"/>
                        <a:t>Loan Partner</a:t>
                      </a:r>
                      <a:endParaRPr lang="en-US"/>
                    </a:p>
                  </a:txBody>
                  <a:tcPr/>
                </a:tc>
                <a:tc>
                  <a:txBody>
                    <a:bodyPr/>
                    <a:lstStyle/>
                    <a:p>
                      <a:r>
                        <a:rPr lang="en-US" sz="1200"/>
                        <a:t>Client's loan contract was sent by the Loan Partner</a:t>
                      </a:r>
                    </a:p>
                  </a:txBody>
                  <a:tcPr/>
                </a:tc>
                <a:extLst>
                  <a:ext uri="{0D108BD9-81ED-4DB2-BD59-A6C34878D82A}">
                    <a16:rowId xmlns:a16="http://schemas.microsoft.com/office/drawing/2014/main" val="12362488"/>
                  </a:ext>
                </a:extLst>
              </a:tr>
              <a:tr h="293579">
                <a:tc>
                  <a:txBody>
                    <a:bodyPr/>
                    <a:lstStyle/>
                    <a:p>
                      <a:pPr lvl="0">
                        <a:buNone/>
                      </a:pPr>
                      <a:r>
                        <a:rPr lang="en-US" sz="1200"/>
                        <a:t>Funded</a:t>
                      </a:r>
                    </a:p>
                  </a:txBody>
                  <a:tcPr/>
                </a:tc>
                <a:tc>
                  <a:txBody>
                    <a:bodyPr/>
                    <a:lstStyle/>
                    <a:p>
                      <a:pPr lvl="0">
                        <a:buNone/>
                      </a:pPr>
                      <a:r>
                        <a:rPr lang="en-US" sz="1200"/>
                        <a:t>DCCS &amp; Negotiations</a:t>
                      </a:r>
                      <a:endParaRPr lang="en-US"/>
                    </a:p>
                  </a:txBody>
                  <a:tcPr/>
                </a:tc>
                <a:tc>
                  <a:txBody>
                    <a:bodyPr/>
                    <a:lstStyle/>
                    <a:p>
                      <a:pPr lvl="0">
                        <a:buNone/>
                      </a:pPr>
                      <a:r>
                        <a:rPr lang="en-US" sz="1200"/>
                        <a:t>Client has loan funds in Global Holdings and Negotiations is being prioritized</a:t>
                      </a:r>
                    </a:p>
                  </a:txBody>
                  <a:tcPr/>
                </a:tc>
                <a:extLst>
                  <a:ext uri="{0D108BD9-81ED-4DB2-BD59-A6C34878D82A}">
                    <a16:rowId xmlns:a16="http://schemas.microsoft.com/office/drawing/2014/main" val="1551714189"/>
                  </a:ext>
                </a:extLst>
              </a:tr>
              <a:tr h="342509">
                <a:tc>
                  <a:txBody>
                    <a:bodyPr/>
                    <a:lstStyle/>
                    <a:p>
                      <a:pPr lvl="0">
                        <a:buNone/>
                      </a:pPr>
                      <a:r>
                        <a:rPr lang="en-US" sz="1200"/>
                        <a:t>Funded- Awaiting COS</a:t>
                      </a:r>
                    </a:p>
                  </a:txBody>
                  <a:tcPr/>
                </a:tc>
                <a:tc>
                  <a:txBody>
                    <a:bodyPr/>
                    <a:lstStyle/>
                    <a:p>
                      <a:pPr lvl="0">
                        <a:buNone/>
                      </a:pPr>
                      <a:r>
                        <a:rPr lang="en-US" sz="1200"/>
                        <a:t>DC PRT</a:t>
                      </a:r>
                      <a:endParaRPr lang="en-US"/>
                    </a:p>
                  </a:txBody>
                  <a:tcPr/>
                </a:tc>
                <a:tc>
                  <a:txBody>
                    <a:bodyPr/>
                    <a:lstStyle/>
                    <a:p>
                      <a:pPr lvl="0">
                        <a:buNone/>
                      </a:pPr>
                      <a:r>
                        <a:rPr lang="en-US" sz="1200" err="1"/>
                        <a:t>LendingUSA</a:t>
                      </a:r>
                      <a:r>
                        <a:rPr lang="en-US" sz="1200"/>
                        <a:t> has requested documentation regarding settlements</a:t>
                      </a:r>
                    </a:p>
                  </a:txBody>
                  <a:tcPr/>
                </a:tc>
                <a:extLst>
                  <a:ext uri="{0D108BD9-81ED-4DB2-BD59-A6C34878D82A}">
                    <a16:rowId xmlns:a16="http://schemas.microsoft.com/office/drawing/2014/main" val="3369357814"/>
                  </a:ext>
                </a:extLst>
              </a:tr>
              <a:tr h="293579">
                <a:tc>
                  <a:txBody>
                    <a:bodyPr/>
                    <a:lstStyle/>
                    <a:p>
                      <a:pPr lvl="0">
                        <a:buNone/>
                      </a:pPr>
                      <a:r>
                        <a:rPr lang="en-US" sz="1200"/>
                        <a:t>Client Rejected Loan Offer</a:t>
                      </a:r>
                    </a:p>
                  </a:txBody>
                  <a:tcPr/>
                </a:tc>
                <a:tc>
                  <a:txBody>
                    <a:bodyPr/>
                    <a:lstStyle/>
                    <a:p>
                      <a:pPr lvl="0">
                        <a:buNone/>
                      </a:pPr>
                      <a:r>
                        <a:rPr lang="en-US" sz="1200"/>
                        <a:t>DSP </a:t>
                      </a:r>
                      <a:r>
                        <a:rPr lang="en-US" sz="1200" err="1"/>
                        <a:t>con't</a:t>
                      </a:r>
                      <a:r>
                        <a:rPr lang="en-US" sz="1200"/>
                        <a:t>.</a:t>
                      </a:r>
                      <a:endParaRPr lang="en-US"/>
                    </a:p>
                  </a:txBody>
                  <a:tcPr/>
                </a:tc>
                <a:tc>
                  <a:txBody>
                    <a:bodyPr/>
                    <a:lstStyle/>
                    <a:p>
                      <a:pPr lvl="0">
                        <a:buNone/>
                      </a:pPr>
                      <a:r>
                        <a:rPr lang="en-US" sz="1200"/>
                        <a:t>Client turned down lending opportunity</a:t>
                      </a:r>
                    </a:p>
                  </a:txBody>
                  <a:tcPr/>
                </a:tc>
                <a:extLst>
                  <a:ext uri="{0D108BD9-81ED-4DB2-BD59-A6C34878D82A}">
                    <a16:rowId xmlns:a16="http://schemas.microsoft.com/office/drawing/2014/main" val="1822870237"/>
                  </a:ext>
                </a:extLst>
              </a:tr>
              <a:tr h="313151">
                <a:tc>
                  <a:txBody>
                    <a:bodyPr/>
                    <a:lstStyle/>
                    <a:p>
                      <a:pPr lvl="0">
                        <a:buNone/>
                      </a:pPr>
                      <a:r>
                        <a:rPr lang="en-US" sz="1200"/>
                        <a:t>Loan Offer Expired</a:t>
                      </a:r>
                    </a:p>
                  </a:txBody>
                  <a:tcPr/>
                </a:tc>
                <a:tc>
                  <a:txBody>
                    <a:bodyPr/>
                    <a:lstStyle/>
                    <a:p>
                      <a:pPr lvl="0">
                        <a:buNone/>
                      </a:pPr>
                      <a:r>
                        <a:rPr lang="en-US" sz="1200"/>
                        <a:t>DSP </a:t>
                      </a:r>
                      <a:r>
                        <a:rPr lang="en-US" sz="1200" err="1"/>
                        <a:t>con't</a:t>
                      </a:r>
                      <a:r>
                        <a:rPr lang="en-US" sz="1200"/>
                        <a:t>.</a:t>
                      </a:r>
                      <a:endParaRPr lang="en-US"/>
                    </a:p>
                  </a:txBody>
                  <a:tcPr/>
                </a:tc>
                <a:tc>
                  <a:txBody>
                    <a:bodyPr/>
                    <a:lstStyle/>
                    <a:p>
                      <a:pPr lvl="0">
                        <a:buNone/>
                      </a:pPr>
                      <a:r>
                        <a:rPr lang="en-US" sz="1200"/>
                        <a:t>Client's application went unaddressed, to inquire about restarting process contact Loan Referral Team</a:t>
                      </a:r>
                    </a:p>
                  </a:txBody>
                  <a:tcPr/>
                </a:tc>
                <a:extLst>
                  <a:ext uri="{0D108BD9-81ED-4DB2-BD59-A6C34878D82A}">
                    <a16:rowId xmlns:a16="http://schemas.microsoft.com/office/drawing/2014/main" val="4212006909"/>
                  </a:ext>
                </a:extLst>
              </a:tr>
              <a:tr h="303365">
                <a:tc>
                  <a:txBody>
                    <a:bodyPr/>
                    <a:lstStyle/>
                    <a:p>
                      <a:pPr lvl="0">
                        <a:buNone/>
                      </a:pPr>
                      <a:r>
                        <a:rPr lang="en-US" sz="1200"/>
                        <a:t>Lending Underwriting Disqualified Client</a:t>
                      </a:r>
                    </a:p>
                  </a:txBody>
                  <a:tcPr/>
                </a:tc>
                <a:tc>
                  <a:txBody>
                    <a:bodyPr/>
                    <a:lstStyle/>
                    <a:p>
                      <a:pPr lvl="0">
                        <a:buNone/>
                      </a:pPr>
                      <a:r>
                        <a:rPr lang="en-US" sz="1200"/>
                        <a:t>DSP </a:t>
                      </a:r>
                      <a:r>
                        <a:rPr lang="en-US" sz="1200" err="1"/>
                        <a:t>con't</a:t>
                      </a:r>
                      <a:r>
                        <a:rPr lang="en-US" sz="1200"/>
                        <a:t>.</a:t>
                      </a:r>
                      <a:endParaRPr lang="en-US"/>
                    </a:p>
                  </a:txBody>
                  <a:tcPr/>
                </a:tc>
                <a:tc>
                  <a:txBody>
                    <a:bodyPr/>
                    <a:lstStyle/>
                    <a:p>
                      <a:pPr lvl="0">
                        <a:buNone/>
                      </a:pPr>
                      <a:r>
                        <a:rPr lang="en-US" sz="1200"/>
                        <a:t>Lending Partner was not able to extend loan per lending decision &amp; will notify client</a:t>
                      </a:r>
                    </a:p>
                  </a:txBody>
                  <a:tcPr/>
                </a:tc>
                <a:extLst>
                  <a:ext uri="{0D108BD9-81ED-4DB2-BD59-A6C34878D82A}">
                    <a16:rowId xmlns:a16="http://schemas.microsoft.com/office/drawing/2014/main" val="2669444000"/>
                  </a:ext>
                </a:extLst>
              </a:tr>
              <a:tr h="293579">
                <a:tc>
                  <a:txBody>
                    <a:bodyPr/>
                    <a:lstStyle/>
                    <a:p>
                      <a:pPr lvl="0">
                        <a:buNone/>
                      </a:pPr>
                      <a:r>
                        <a:rPr lang="en-US" sz="1200"/>
                        <a:t>Funded- All Debt Settled with Uncleared Payments</a:t>
                      </a:r>
                    </a:p>
                  </a:txBody>
                  <a:tcPr/>
                </a:tc>
                <a:tc>
                  <a:txBody>
                    <a:bodyPr/>
                    <a:lstStyle/>
                    <a:p>
                      <a:pPr lvl="0">
                        <a:buNone/>
                      </a:pPr>
                      <a:r>
                        <a:rPr lang="en-US" sz="1200"/>
                        <a:t>DC PRT</a:t>
                      </a:r>
                      <a:endParaRPr lang="en-US"/>
                    </a:p>
                  </a:txBody>
                  <a:tcPr/>
                </a:tc>
                <a:tc>
                  <a:txBody>
                    <a:bodyPr/>
                    <a:lstStyle/>
                    <a:p>
                      <a:pPr lvl="0">
                        <a:buNone/>
                      </a:pPr>
                      <a:r>
                        <a:rPr lang="en-US" sz="1200"/>
                        <a:t>One or more payments need to be expedited to creditors</a:t>
                      </a:r>
                    </a:p>
                  </a:txBody>
                  <a:tcPr/>
                </a:tc>
                <a:extLst>
                  <a:ext uri="{0D108BD9-81ED-4DB2-BD59-A6C34878D82A}">
                    <a16:rowId xmlns:a16="http://schemas.microsoft.com/office/drawing/2014/main" val="1609258126"/>
                  </a:ext>
                </a:extLst>
              </a:tr>
              <a:tr h="303365">
                <a:tc>
                  <a:txBody>
                    <a:bodyPr/>
                    <a:lstStyle/>
                    <a:p>
                      <a:pPr lvl="0">
                        <a:buNone/>
                      </a:pPr>
                      <a:r>
                        <a:rPr lang="en-US" sz="1200"/>
                        <a:t>Funded- All Debt PIF with Open Requests</a:t>
                      </a:r>
                    </a:p>
                  </a:txBody>
                  <a:tcPr/>
                </a:tc>
                <a:tc>
                  <a:txBody>
                    <a:bodyPr/>
                    <a:lstStyle/>
                    <a:p>
                      <a:pPr lvl="0">
                        <a:buNone/>
                      </a:pPr>
                      <a:r>
                        <a:rPr lang="en-US" sz="1200"/>
                        <a:t>Request Owner</a:t>
                      </a:r>
                      <a:endParaRPr lang="en-US"/>
                    </a:p>
                  </a:txBody>
                  <a:tcPr/>
                </a:tc>
                <a:tc>
                  <a:txBody>
                    <a:bodyPr/>
                    <a:lstStyle/>
                    <a:p>
                      <a:pPr lvl="0">
                        <a:buNone/>
                      </a:pPr>
                      <a:r>
                        <a:rPr lang="en-US" sz="1200"/>
                        <a:t>Open requests need to be addressed before client can graduate</a:t>
                      </a:r>
                    </a:p>
                  </a:txBody>
                  <a:tcPr/>
                </a:tc>
                <a:extLst>
                  <a:ext uri="{0D108BD9-81ED-4DB2-BD59-A6C34878D82A}">
                    <a16:rowId xmlns:a16="http://schemas.microsoft.com/office/drawing/2014/main" val="3528988806"/>
                  </a:ext>
                </a:extLst>
              </a:tr>
              <a:tr h="303365">
                <a:tc>
                  <a:txBody>
                    <a:bodyPr/>
                    <a:lstStyle/>
                    <a:p>
                      <a:pPr lvl="0">
                        <a:buNone/>
                      </a:pPr>
                      <a:r>
                        <a:rPr lang="en-US" sz="1200"/>
                        <a:t>Funded- All Debt Settled with Pending GA</a:t>
                      </a:r>
                    </a:p>
                  </a:txBody>
                  <a:tcPr/>
                </a:tc>
                <a:tc>
                  <a:txBody>
                    <a:bodyPr/>
                    <a:lstStyle/>
                    <a:p>
                      <a:pPr lvl="0">
                        <a:buNone/>
                      </a:pPr>
                      <a:r>
                        <a:rPr lang="en-US" sz="1200"/>
                        <a:t>BPO - BB</a:t>
                      </a:r>
                      <a:endParaRPr lang="en-US"/>
                    </a:p>
                  </a:txBody>
                  <a:tcPr/>
                </a:tc>
                <a:tc>
                  <a:txBody>
                    <a:bodyPr/>
                    <a:lstStyle/>
                    <a:p>
                      <a:pPr lvl="0">
                        <a:buNone/>
                      </a:pPr>
                      <a:r>
                        <a:rPr lang="en-US" sz="1200"/>
                        <a:t>Client's Global Auth is required to make payments to final creditor(s)</a:t>
                      </a:r>
                    </a:p>
                  </a:txBody>
                  <a:tcPr/>
                </a:tc>
                <a:extLst>
                  <a:ext uri="{0D108BD9-81ED-4DB2-BD59-A6C34878D82A}">
                    <a16:rowId xmlns:a16="http://schemas.microsoft.com/office/drawing/2014/main" val="890704276"/>
                  </a:ext>
                </a:extLst>
              </a:tr>
              <a:tr h="283793">
                <a:tc>
                  <a:txBody>
                    <a:bodyPr/>
                    <a:lstStyle/>
                    <a:p>
                      <a:pPr lvl="0">
                        <a:buNone/>
                      </a:pPr>
                      <a:r>
                        <a:rPr lang="en-US" sz="1200"/>
                        <a:t>Funded All Debt PIF with Advance Uncollected</a:t>
                      </a:r>
                    </a:p>
                  </a:txBody>
                  <a:tcPr/>
                </a:tc>
                <a:tc>
                  <a:txBody>
                    <a:bodyPr/>
                    <a:lstStyle/>
                    <a:p>
                      <a:pPr lvl="0">
                        <a:buNone/>
                      </a:pPr>
                      <a:r>
                        <a:rPr lang="en-US" sz="1200"/>
                        <a:t>DC PRT</a:t>
                      </a:r>
                      <a:endParaRPr lang="en-US"/>
                    </a:p>
                  </a:txBody>
                  <a:tcPr/>
                </a:tc>
                <a:tc>
                  <a:txBody>
                    <a:bodyPr/>
                    <a:lstStyle/>
                    <a:p>
                      <a:pPr lvl="0">
                        <a:buNone/>
                      </a:pPr>
                      <a:r>
                        <a:rPr lang="en-US" sz="1200"/>
                        <a:t>An outstanding advance needs to be assessed by Accounting</a:t>
                      </a:r>
                    </a:p>
                  </a:txBody>
                  <a:tcPr/>
                </a:tc>
                <a:extLst>
                  <a:ext uri="{0D108BD9-81ED-4DB2-BD59-A6C34878D82A}">
                    <a16:rowId xmlns:a16="http://schemas.microsoft.com/office/drawing/2014/main" val="1960679159"/>
                  </a:ext>
                </a:extLst>
              </a:tr>
              <a:tr h="303365">
                <a:tc>
                  <a:txBody>
                    <a:bodyPr/>
                    <a:lstStyle/>
                    <a:p>
                      <a:pPr lvl="0">
                        <a:buNone/>
                      </a:pPr>
                      <a:r>
                        <a:rPr lang="en-US" sz="1200"/>
                        <a:t>Funded- Refund Ready</a:t>
                      </a:r>
                    </a:p>
                  </a:txBody>
                  <a:tcPr/>
                </a:tc>
                <a:tc>
                  <a:txBody>
                    <a:bodyPr/>
                    <a:lstStyle/>
                    <a:p>
                      <a:pPr lvl="0">
                        <a:buNone/>
                      </a:pPr>
                      <a:r>
                        <a:rPr lang="en-US" sz="1200"/>
                        <a:t>DC PRT</a:t>
                      </a:r>
                    </a:p>
                  </a:txBody>
                  <a:tcPr/>
                </a:tc>
                <a:tc>
                  <a:txBody>
                    <a:bodyPr/>
                    <a:lstStyle/>
                    <a:p>
                      <a:pPr lvl="0">
                        <a:buNone/>
                      </a:pPr>
                      <a:r>
                        <a:rPr lang="en-US" sz="1200"/>
                        <a:t>Client has a balance in Global that needs to be sent to Lending Partner by Program Graduation Team</a:t>
                      </a:r>
                    </a:p>
                  </a:txBody>
                  <a:tcPr/>
                </a:tc>
                <a:extLst>
                  <a:ext uri="{0D108BD9-81ED-4DB2-BD59-A6C34878D82A}">
                    <a16:rowId xmlns:a16="http://schemas.microsoft.com/office/drawing/2014/main" val="94192682"/>
                  </a:ext>
                </a:extLst>
              </a:tr>
              <a:tr h="293579">
                <a:tc>
                  <a:txBody>
                    <a:bodyPr/>
                    <a:lstStyle/>
                    <a:p>
                      <a:pPr lvl="0">
                        <a:buNone/>
                      </a:pPr>
                      <a:r>
                        <a:rPr lang="en-US" sz="1200"/>
                        <a:t>Funded- Graduation Eligible</a:t>
                      </a:r>
                    </a:p>
                  </a:txBody>
                  <a:tcPr/>
                </a:tc>
                <a:tc>
                  <a:txBody>
                    <a:bodyPr/>
                    <a:lstStyle/>
                    <a:p>
                      <a:pPr lvl="0">
                        <a:buNone/>
                      </a:pPr>
                      <a:r>
                        <a:rPr lang="en-US" sz="1200"/>
                        <a:t>DC PRT</a:t>
                      </a:r>
                    </a:p>
                  </a:txBody>
                  <a:tcPr/>
                </a:tc>
                <a:tc>
                  <a:txBody>
                    <a:bodyPr/>
                    <a:lstStyle/>
                    <a:p>
                      <a:pPr lvl="0">
                        <a:buNone/>
                      </a:pPr>
                      <a:r>
                        <a:rPr lang="en-US" sz="1200"/>
                        <a:t>Client meets all requirements to graduate from debt settlement program</a:t>
                      </a:r>
                    </a:p>
                  </a:txBody>
                  <a:tcPr/>
                </a:tc>
                <a:extLst>
                  <a:ext uri="{0D108BD9-81ED-4DB2-BD59-A6C34878D82A}">
                    <a16:rowId xmlns:a16="http://schemas.microsoft.com/office/drawing/2014/main" val="182755371"/>
                  </a:ext>
                </a:extLst>
              </a:tr>
              <a:tr h="303365">
                <a:tc>
                  <a:txBody>
                    <a:bodyPr/>
                    <a:lstStyle/>
                    <a:p>
                      <a:pPr lvl="0">
                        <a:buNone/>
                      </a:pPr>
                      <a:r>
                        <a:rPr lang="en-US" sz="1200"/>
                        <a:t>Funded- Graduation Complete</a:t>
                      </a:r>
                    </a:p>
                  </a:txBody>
                  <a:tcPr/>
                </a:tc>
                <a:tc>
                  <a:txBody>
                    <a:bodyPr/>
                    <a:lstStyle/>
                    <a:p>
                      <a:pPr lvl="0">
                        <a:buNone/>
                      </a:pPr>
                      <a:r>
                        <a:rPr lang="en-US" sz="1200"/>
                        <a:t>Loan Partner</a:t>
                      </a:r>
                      <a:endParaRPr lang="en-US"/>
                    </a:p>
                  </a:txBody>
                  <a:tcPr/>
                </a:tc>
                <a:tc>
                  <a:txBody>
                    <a:bodyPr/>
                    <a:lstStyle/>
                    <a:p>
                      <a:pPr lvl="0">
                        <a:buNone/>
                      </a:pPr>
                      <a:r>
                        <a:rPr lang="en-US" sz="1200"/>
                        <a:t>Client is completed with ClearOne</a:t>
                      </a:r>
                    </a:p>
                  </a:txBody>
                  <a:tcPr/>
                </a:tc>
                <a:extLst>
                  <a:ext uri="{0D108BD9-81ED-4DB2-BD59-A6C34878D82A}">
                    <a16:rowId xmlns:a16="http://schemas.microsoft.com/office/drawing/2014/main" val="2969068700"/>
                  </a:ext>
                </a:extLst>
              </a:tr>
            </a:tbl>
          </a:graphicData>
        </a:graphic>
      </p:graphicFrame>
    </p:spTree>
    <p:extLst>
      <p:ext uri="{BB962C8B-B14F-4D97-AF65-F5344CB8AC3E}">
        <p14:creationId xmlns:p14="http://schemas.microsoft.com/office/powerpoint/2010/main" val="411026617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fca21091-4343-4232-a795-e59481497cb5">
      <UserInfo>
        <DisplayName>Michelle Spiegel</DisplayName>
        <AccountId>40</AccountId>
        <AccountType/>
      </UserInfo>
      <UserInfo>
        <DisplayName>Christina Borrello</DisplayName>
        <AccountId>23</AccountId>
        <AccountType/>
      </UserInfo>
      <UserInfo>
        <DisplayName>Candice Jackson</DisplayName>
        <AccountId>27</AccountId>
        <AccountType/>
      </UserInfo>
      <UserInfo>
        <DisplayName>Joseph LaFrancesca</DisplayName>
        <AccountId>39</AccountId>
        <AccountType/>
      </UserInfo>
      <UserInfo>
        <DisplayName>Jamie Speiden</DisplayName>
        <AccountId>47</AccountId>
        <AccountType/>
      </UserInfo>
      <UserInfo>
        <DisplayName>Jeffrey Enos</DisplayName>
        <AccountId>58</AccountId>
        <AccountType/>
      </UserInfo>
      <UserInfo>
        <DisplayName>Laura Engle</DisplayName>
        <AccountId>63</AccountId>
        <AccountType/>
      </UserInfo>
      <UserInfo>
        <DisplayName>Jamar Lewis</DisplayName>
        <AccountId>64</AccountId>
        <AccountType/>
      </UserInfo>
    </SharedWithUsers>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1e6db6382f9bf0a238767834c1ba2e8">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0d55a77fe706b52e8d7bff5f40b8e9f5"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7CB8E87-FB6C-4E1A-A760-692B27AEC2E3}">
  <ds:schemaRefs>
    <ds:schemaRef ds:uri="dfbadaf6-90cf-41d3-a0ba-bbd98d259036"/>
    <ds:schemaRef ds:uri="fca21091-4343-4232-a795-e59481497cb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5862500-EA6C-4F24-A506-F7FF79417AF6}">
  <ds:schemaRefs>
    <ds:schemaRef ds:uri="http://schemas.microsoft.com/sharepoint/v3/contenttype/forms"/>
  </ds:schemaRefs>
</ds:datastoreItem>
</file>

<file path=customXml/itemProps3.xml><?xml version="1.0" encoding="utf-8"?>
<ds:datastoreItem xmlns:ds="http://schemas.openxmlformats.org/officeDocument/2006/customXml" ds:itemID="{6E28AB7B-270A-4027-93A0-39E90BCD75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9</Slides>
  <Notes>8</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Debt Consolidation </vt:lpstr>
      <vt:lpstr>Lending Partners</vt:lpstr>
      <vt:lpstr>Lending Process Overview</vt:lpstr>
      <vt:lpstr>Before GH Funding</vt:lpstr>
      <vt:lpstr>Debt Consolidation Client Support</vt:lpstr>
      <vt:lpstr>Contacting DC CS</vt:lpstr>
      <vt:lpstr>Client Empowerment</vt:lpstr>
      <vt:lpstr>Client Relations &amp; Canceling</vt:lpstr>
      <vt:lpstr>COA DC Statuses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Debt Consolidation </dc:title>
  <dc:creator/>
  <cp:revision>20</cp:revision>
  <dcterms:created xsi:type="dcterms:W3CDTF">2022-02-10T12:39:53Z</dcterms:created>
  <dcterms:modified xsi:type="dcterms:W3CDTF">2026-02-12T20:11:08Z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ComplianceAssetId">
    <vt:lpwstr/>
  </property>
  <property fmtid="{D5CDD505-2E9C-101B-9397-08002B2CF9AE}" pid="4" name="_ExtendedDescription">
    <vt:lpwstr/>
  </property>
  <property fmtid="{D5CDD505-2E9C-101B-9397-08002B2CF9AE}" pid="5" name="TriggerFlowInfo">
    <vt:lpwstr/>
  </property>
  <property fmtid="{D5CDD505-2E9C-101B-9397-08002B2CF9AE}" pid="6" name="MediaServiceImageTags">
    <vt:lpwstr/>
  </property>
</Properties>
</file>