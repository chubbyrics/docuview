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1960" r:id="rId5"/>
    <p:sldId id="1968" r:id="rId6"/>
    <p:sldId id="1961" r:id="rId7"/>
    <p:sldId id="1962" r:id="rId8"/>
    <p:sldId id="1963" r:id="rId9"/>
    <p:sldId id="1964" r:id="rId10"/>
    <p:sldId id="1959" r:id="rId11"/>
    <p:sldId id="1965" r:id="rId12"/>
    <p:sldId id="1966" r:id="rId13"/>
    <p:sldId id="19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CCD257-1924-48B4-ABE1-D2A8FF896A4B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F4986-152B-4AC0-9052-D3D62F3AB1BC}">
      <dgm:prSet phldrT="[Text]" custT="1"/>
      <dgm:spPr/>
      <dgm:t>
        <a:bodyPr/>
        <a:lstStyle/>
        <a:p>
          <a:r>
            <a:rPr lang="en-US" sz="1200"/>
            <a:t>To Address Alert</a:t>
          </a:r>
        </a:p>
      </dgm:t>
    </dgm:pt>
    <dgm:pt modelId="{5820A6B7-3910-4586-9BCC-F48123A9B168}" type="parTrans" cxnId="{F6CAA96F-359E-4D9D-A7C3-2C88250BF544}">
      <dgm:prSet/>
      <dgm:spPr/>
      <dgm:t>
        <a:bodyPr/>
        <a:lstStyle/>
        <a:p>
          <a:endParaRPr lang="en-US" sz="1200"/>
        </a:p>
      </dgm:t>
    </dgm:pt>
    <dgm:pt modelId="{2A807A4D-A848-4E45-99C3-3CA74C1F6B76}" type="sibTrans" cxnId="{F6CAA96F-359E-4D9D-A7C3-2C88250BF544}">
      <dgm:prSet/>
      <dgm:spPr/>
      <dgm:t>
        <a:bodyPr/>
        <a:lstStyle/>
        <a:p>
          <a:endParaRPr lang="en-US" sz="1200"/>
        </a:p>
      </dgm:t>
    </dgm:pt>
    <dgm:pt modelId="{47A2AAB9-F029-4401-8E2D-88B73DD6DD30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/>
            <a:t>Advise client of what is needed</a:t>
          </a:r>
        </a:p>
      </dgm:t>
    </dgm:pt>
    <dgm:pt modelId="{4C51953B-7220-4832-A805-7B71C7BB5D64}" type="parTrans" cxnId="{E03BE32E-DA18-48F9-8D31-C2E3FAD709D3}">
      <dgm:prSet/>
      <dgm:spPr/>
      <dgm:t>
        <a:bodyPr/>
        <a:lstStyle/>
        <a:p>
          <a:endParaRPr lang="en-US" sz="1200"/>
        </a:p>
      </dgm:t>
    </dgm:pt>
    <dgm:pt modelId="{BB1AB9A8-1314-4427-952B-C1B469A4F457}" type="sibTrans" cxnId="{E03BE32E-DA18-48F9-8D31-C2E3FAD709D3}">
      <dgm:prSet/>
      <dgm:spPr/>
      <dgm:t>
        <a:bodyPr/>
        <a:lstStyle/>
        <a:p>
          <a:endParaRPr lang="en-US" sz="1200"/>
        </a:p>
      </dgm:t>
    </dgm:pt>
    <dgm:pt modelId="{B6E3F004-2638-4569-98AF-AEE176948C28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/>
            <a:t>Social Security Information</a:t>
          </a:r>
        </a:p>
      </dgm:t>
    </dgm:pt>
    <dgm:pt modelId="{9DE1B155-4190-4DC5-B686-3202D5917170}" type="parTrans" cxnId="{7C5B652B-DFF7-4D69-B7E3-D9BBECE3BDF9}">
      <dgm:prSet/>
      <dgm:spPr/>
      <dgm:t>
        <a:bodyPr/>
        <a:lstStyle/>
        <a:p>
          <a:endParaRPr lang="en-US" sz="1200"/>
        </a:p>
      </dgm:t>
    </dgm:pt>
    <dgm:pt modelId="{21798666-1F1A-4342-AD6F-ACAFA5DAE009}" type="sibTrans" cxnId="{7C5B652B-DFF7-4D69-B7E3-D9BBECE3BDF9}">
      <dgm:prSet/>
      <dgm:spPr/>
      <dgm:t>
        <a:bodyPr/>
        <a:lstStyle/>
        <a:p>
          <a:endParaRPr lang="en-US" sz="1200"/>
        </a:p>
      </dgm:t>
    </dgm:pt>
    <dgm:pt modelId="{B9E64C20-BBD0-4C31-8AB6-C70135CD03C5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/>
            <a:t>Provide client with your email or the fax number (443.279.2875) to submit documentation</a:t>
          </a:r>
          <a:endParaRPr lang="en-US" sz="1000"/>
        </a:p>
      </dgm:t>
    </dgm:pt>
    <dgm:pt modelId="{963A4E0D-A0FF-4047-9818-11D27F6344A7}" type="parTrans" cxnId="{0650F469-C905-425F-9121-7C22EBC79266}">
      <dgm:prSet/>
      <dgm:spPr/>
      <dgm:t>
        <a:bodyPr/>
        <a:lstStyle/>
        <a:p>
          <a:endParaRPr lang="en-US" sz="1200"/>
        </a:p>
      </dgm:t>
    </dgm:pt>
    <dgm:pt modelId="{96D42D38-296C-4451-82E9-66B100F845B9}" type="sibTrans" cxnId="{0650F469-C905-425F-9121-7C22EBC79266}">
      <dgm:prSet/>
      <dgm:spPr/>
      <dgm:t>
        <a:bodyPr/>
        <a:lstStyle/>
        <a:p>
          <a:endParaRPr lang="en-US" sz="1200"/>
        </a:p>
      </dgm:t>
    </dgm:pt>
    <dgm:pt modelId="{60E082F0-8DAE-43D8-B577-FC76B6504FE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/>
            <a:t>If client must contact Global Holdings, provide their number (</a:t>
          </a:r>
          <a:r>
            <a:rPr lang="en-US" sz="1000" b="1" i="0"/>
            <a:t>1.877.271.1550</a:t>
          </a:r>
          <a:r>
            <a:rPr lang="en-US" sz="1000" b="1"/>
            <a:t>)</a:t>
          </a:r>
        </a:p>
      </dgm:t>
    </dgm:pt>
    <dgm:pt modelId="{55FCBE38-B6FA-4E9C-9E0C-D922B1B06B9A}" type="parTrans" cxnId="{2595888D-4D96-4087-9C4F-608622A7D9EF}">
      <dgm:prSet/>
      <dgm:spPr/>
      <dgm:t>
        <a:bodyPr/>
        <a:lstStyle/>
        <a:p>
          <a:endParaRPr lang="en-US" sz="1200"/>
        </a:p>
      </dgm:t>
    </dgm:pt>
    <dgm:pt modelId="{95511720-180D-4D6D-8123-AB2A07974A67}" type="sibTrans" cxnId="{2595888D-4D96-4087-9C4F-608622A7D9EF}">
      <dgm:prSet/>
      <dgm:spPr/>
      <dgm:t>
        <a:bodyPr/>
        <a:lstStyle/>
        <a:p>
          <a:endParaRPr lang="en-US" sz="1200"/>
        </a:p>
      </dgm:t>
    </dgm:pt>
    <dgm:pt modelId="{AA8751ED-0CA9-40CD-BD5E-DE522462CD08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/>
            <a:t>Notate request with what documentation the client is sending or when they will contact Global</a:t>
          </a:r>
        </a:p>
      </dgm:t>
    </dgm:pt>
    <dgm:pt modelId="{C0E31E21-1EBF-4B7C-946D-F236D987621B}" type="parTrans" cxnId="{9E437F05-EDA3-46E3-9B99-AD331635A352}">
      <dgm:prSet/>
      <dgm:spPr/>
      <dgm:t>
        <a:bodyPr/>
        <a:lstStyle/>
        <a:p>
          <a:endParaRPr lang="en-US" sz="1200"/>
        </a:p>
      </dgm:t>
    </dgm:pt>
    <dgm:pt modelId="{DED23118-1A55-4A62-BD75-10FAA62549DD}" type="sibTrans" cxnId="{9E437F05-EDA3-46E3-9B99-AD331635A352}">
      <dgm:prSet/>
      <dgm:spPr/>
      <dgm:t>
        <a:bodyPr/>
        <a:lstStyle/>
        <a:p>
          <a:endParaRPr lang="en-US" sz="1200"/>
        </a:p>
      </dgm:t>
    </dgm:pt>
    <dgm:pt modelId="{3DCA973F-0D2D-4FF0-9379-A0446736B02C}">
      <dgm:prSet phldrT="[Text]" custT="1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sz="1000"/>
            <a:t>Proof of residence/</a:t>
          </a:r>
          <a:r>
            <a:rPr lang="en-US" sz="1000">
              <a:latin typeface="Calibri Light" panose="020F0302020204030204"/>
            </a:rPr>
            <a:t>address</a:t>
          </a:r>
        </a:p>
      </dgm:t>
    </dgm:pt>
    <dgm:pt modelId="{8CCB0FDB-9BD7-4146-8BA7-42478881978D}" type="sibTrans" cxnId="{89CB88DF-310A-4C8B-ADEF-530C3DE2C2C0}">
      <dgm:prSet/>
      <dgm:spPr/>
      <dgm:t>
        <a:bodyPr/>
        <a:lstStyle/>
        <a:p>
          <a:endParaRPr lang="en-US" sz="1200"/>
        </a:p>
      </dgm:t>
    </dgm:pt>
    <dgm:pt modelId="{F2E6F483-62F0-4E7E-A759-E36006460C52}" type="parTrans" cxnId="{89CB88DF-310A-4C8B-ADEF-530C3DE2C2C0}">
      <dgm:prSet/>
      <dgm:spPr/>
      <dgm:t>
        <a:bodyPr/>
        <a:lstStyle/>
        <a:p>
          <a:endParaRPr lang="en-US" sz="1200"/>
        </a:p>
      </dgm:t>
    </dgm:pt>
    <dgm:pt modelId="{D396FDD3-8544-496A-8157-F278E21FB3B3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/>
            <a:t>Once documentation is received or client has contacted Global</a:t>
          </a:r>
        </a:p>
      </dgm:t>
    </dgm:pt>
    <dgm:pt modelId="{9455ED5C-684F-42BA-9E9C-E957FB62EEB7}" type="parTrans" cxnId="{EC81EAB4-0561-4F83-A787-FA4668052370}">
      <dgm:prSet/>
      <dgm:spPr/>
      <dgm:t>
        <a:bodyPr/>
        <a:lstStyle/>
        <a:p>
          <a:endParaRPr lang="en-US" sz="1200"/>
        </a:p>
      </dgm:t>
    </dgm:pt>
    <dgm:pt modelId="{0F0AAE20-72C2-47EE-AA01-EF7F7C26AFEC}" type="sibTrans" cxnId="{EC81EAB4-0561-4F83-A787-FA4668052370}">
      <dgm:prSet/>
      <dgm:spPr/>
      <dgm:t>
        <a:bodyPr/>
        <a:lstStyle/>
        <a:p>
          <a:endParaRPr lang="en-US" sz="1200"/>
        </a:p>
      </dgm:t>
    </dgm:pt>
    <dgm:pt modelId="{8688682D-5BC7-4461-9334-97F66E4FD8D5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0"/>
            <a:t>Notate clients Global Validation Request appropriately</a:t>
          </a:r>
          <a:endParaRPr lang="en-US" sz="1000" b="0" i="1"/>
        </a:p>
      </dgm:t>
    </dgm:pt>
    <dgm:pt modelId="{F322C238-33B7-4F8F-B847-888E306C9A3B}" type="parTrans" cxnId="{4D71EC5D-D42F-48EB-BFB6-21BC386C988F}">
      <dgm:prSet/>
      <dgm:spPr/>
      <dgm:t>
        <a:bodyPr/>
        <a:lstStyle/>
        <a:p>
          <a:endParaRPr lang="en-US" sz="1200"/>
        </a:p>
      </dgm:t>
    </dgm:pt>
    <dgm:pt modelId="{0877ED74-6A90-47CD-9B20-C546AF2FB0A2}" type="sibTrans" cxnId="{4D71EC5D-D42F-48EB-BFB6-21BC386C988F}">
      <dgm:prSet/>
      <dgm:spPr/>
      <dgm:t>
        <a:bodyPr/>
        <a:lstStyle/>
        <a:p>
          <a:endParaRPr lang="en-US" sz="1200"/>
        </a:p>
      </dgm:t>
    </dgm:pt>
    <dgm:pt modelId="{2B62DB5C-C0D0-421F-B4AF-BD7B79EA0EA7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Click on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Add Request </a:t>
          </a:r>
          <a:r>
            <a:rPr lang="en-US" sz="1000" b="0" i="0" kern="1200">
              <a:latin typeface="Calibri" panose="020F0502020204030204"/>
              <a:ea typeface="+mn-ea"/>
              <a:cs typeface="+mn-cs"/>
            </a:rPr>
            <a:t>from the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Request Section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</dgm:t>
    </dgm:pt>
    <dgm:pt modelId="{DCD3763D-26D9-4F9F-99BF-4429B5CE0501}" type="parTrans" cxnId="{50152369-ED6B-43D7-BA39-728AF11E5815}">
      <dgm:prSet/>
      <dgm:spPr/>
      <dgm:t>
        <a:bodyPr/>
        <a:lstStyle/>
        <a:p>
          <a:endParaRPr lang="en-US" sz="1200"/>
        </a:p>
      </dgm:t>
    </dgm:pt>
    <dgm:pt modelId="{EB4A2C0E-56B2-4410-AEAC-364D8E798BF2}" type="sibTrans" cxnId="{50152369-ED6B-43D7-BA39-728AF11E5815}">
      <dgm:prSet/>
      <dgm:spPr/>
      <dgm:t>
        <a:bodyPr/>
        <a:lstStyle/>
        <a:p>
          <a:endParaRPr lang="en-US" sz="1200"/>
        </a:p>
      </dgm:t>
    </dgm:pt>
    <dgm:pt modelId="{24E3A6A7-394D-42F4-B742-A709F2217281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Request Type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Global Validation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</dgm:t>
    </dgm:pt>
    <dgm:pt modelId="{EA5023E1-C291-46C9-87D5-6E30D637505A}" type="parTrans" cxnId="{B36AC19D-FC4E-4C0D-A367-0854A146D765}">
      <dgm:prSet/>
      <dgm:spPr/>
      <dgm:t>
        <a:bodyPr/>
        <a:lstStyle/>
        <a:p>
          <a:endParaRPr lang="en-US" sz="1200"/>
        </a:p>
      </dgm:t>
    </dgm:pt>
    <dgm:pt modelId="{78DF3790-6025-41E6-ACE5-35C1ABF6E939}" type="sibTrans" cxnId="{B36AC19D-FC4E-4C0D-A367-0854A146D765}">
      <dgm:prSet/>
      <dgm:spPr/>
      <dgm:t>
        <a:bodyPr/>
        <a:lstStyle/>
        <a:p>
          <a:endParaRPr lang="en-US" sz="1200"/>
        </a:p>
      </dgm:t>
    </dgm:pt>
    <dgm:pt modelId="{CB4F61C1-29ED-4F6A-B64A-70D0B05B4159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Next Global Occurrence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Today’s date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</dgm:t>
    </dgm:pt>
    <dgm:pt modelId="{06E3EBA1-49D4-444E-91E5-ECE111C9D314}" type="parTrans" cxnId="{32ED409C-4981-4046-A0B8-C8549D7325BE}">
      <dgm:prSet/>
      <dgm:spPr/>
      <dgm:t>
        <a:bodyPr/>
        <a:lstStyle/>
        <a:p>
          <a:endParaRPr lang="en-US" sz="1200"/>
        </a:p>
      </dgm:t>
    </dgm:pt>
    <dgm:pt modelId="{A2D330EC-36AF-4926-8033-453CB50061AC}" type="sibTrans" cxnId="{32ED409C-4981-4046-A0B8-C8549D7325BE}">
      <dgm:prSet/>
      <dgm:spPr/>
      <dgm:t>
        <a:bodyPr/>
        <a:lstStyle/>
        <a:p>
          <a:endParaRPr lang="en-US" sz="1200"/>
        </a:p>
      </dgm:t>
    </dgm:pt>
    <dgm:pt modelId="{C876A2D7-0513-4105-B951-E147EF7A66AB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Responder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Yourself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</dgm:t>
    </dgm:pt>
    <dgm:pt modelId="{E9006352-7B79-4259-8979-C3DCD6917566}" type="parTrans" cxnId="{A0964B0E-5197-469E-8C9E-D5A8378594A4}">
      <dgm:prSet/>
      <dgm:spPr/>
      <dgm:t>
        <a:bodyPr/>
        <a:lstStyle/>
        <a:p>
          <a:endParaRPr lang="en-US" sz="1200"/>
        </a:p>
      </dgm:t>
    </dgm:pt>
    <dgm:pt modelId="{807068F0-9375-4CC4-B14E-824B4255AC13}" type="sibTrans" cxnId="{A0964B0E-5197-469E-8C9E-D5A8378594A4}">
      <dgm:prSet/>
      <dgm:spPr/>
      <dgm:t>
        <a:bodyPr/>
        <a:lstStyle/>
        <a:p>
          <a:endParaRPr lang="en-US" sz="1200"/>
        </a:p>
      </dgm:t>
    </dgm:pt>
    <dgm:pt modelId="{772DB9C1-DE13-4F95-A9F4-1A937F002FB1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Internal Status</a:t>
          </a:r>
          <a:endParaRPr lang="en-US" sz="1000" kern="1200">
            <a:latin typeface="Calibri" panose="020F0502020204030204"/>
            <a:ea typeface="+mn-ea"/>
            <a:cs typeface="+mn-cs"/>
          </a:endParaRPr>
        </a:p>
      </dgm:t>
    </dgm:pt>
    <dgm:pt modelId="{53437C65-FAF8-4E5C-A4C3-96BA90E18207}" type="parTrans" cxnId="{92F6ED3C-03C0-44DC-BA75-0BEA850C40FE}">
      <dgm:prSet/>
      <dgm:spPr/>
      <dgm:t>
        <a:bodyPr/>
        <a:lstStyle/>
        <a:p>
          <a:endParaRPr lang="en-US" sz="1200"/>
        </a:p>
      </dgm:t>
    </dgm:pt>
    <dgm:pt modelId="{4E2B2500-50C9-43DC-AEBD-9065990FA1D5}" type="sibTrans" cxnId="{92F6ED3C-03C0-44DC-BA75-0BEA850C40FE}">
      <dgm:prSet/>
      <dgm:spPr/>
      <dgm:t>
        <a:bodyPr/>
        <a:lstStyle/>
        <a:p>
          <a:endParaRPr lang="en-US" sz="1200"/>
        </a:p>
      </dgm:t>
    </dgm:pt>
    <dgm:pt modelId="{48BEA6B6-7EE9-4BF5-A61E-8796B83662C0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If documentation has already been received, Upload to Global Holding Website</a:t>
          </a:r>
          <a:endParaRPr lang="en-US" sz="1000" i="1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56C07B1D-D30F-4203-AD98-C12794D9B55A}" type="parTrans" cxnId="{E010FE6E-DD2C-42E1-BDE7-8A3337CAF35E}">
      <dgm:prSet/>
      <dgm:spPr/>
      <dgm:t>
        <a:bodyPr/>
        <a:lstStyle/>
        <a:p>
          <a:endParaRPr lang="en-US" sz="1200"/>
        </a:p>
      </dgm:t>
    </dgm:pt>
    <dgm:pt modelId="{44CE2CEA-B818-4FF9-80C6-84BBFC55AA76}" type="sibTrans" cxnId="{E010FE6E-DD2C-42E1-BDE7-8A3337CAF35E}">
      <dgm:prSet/>
      <dgm:spPr/>
      <dgm:t>
        <a:bodyPr/>
        <a:lstStyle/>
        <a:p>
          <a:endParaRPr lang="en-US" sz="1200"/>
        </a:p>
      </dgm:t>
    </dgm:pt>
    <dgm:pt modelId="{343E92C1-A8AA-46D6-B1CA-15D1DCD7AFF7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If waiting for documentation, </a:t>
          </a:r>
          <a:r>
            <a:rPr lang="en-US" sz="1000" i="1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Waiting on Responder</a:t>
          </a:r>
        </a:p>
      </dgm:t>
    </dgm:pt>
    <dgm:pt modelId="{595B2C2B-63D2-4F70-9656-2E39A7B15F47}" type="parTrans" cxnId="{B745BDD4-070B-4274-9DC7-5150E3D919E3}">
      <dgm:prSet/>
      <dgm:spPr/>
      <dgm:t>
        <a:bodyPr/>
        <a:lstStyle/>
        <a:p>
          <a:endParaRPr lang="en-US" sz="1200"/>
        </a:p>
      </dgm:t>
    </dgm:pt>
    <dgm:pt modelId="{BE73CE5E-8187-4DA4-A850-DC57AAE081F3}" type="sibTrans" cxnId="{B745BDD4-070B-4274-9DC7-5150E3D919E3}">
      <dgm:prSet/>
      <dgm:spPr/>
      <dgm:t>
        <a:bodyPr/>
        <a:lstStyle/>
        <a:p>
          <a:endParaRPr lang="en-US" sz="1200"/>
        </a:p>
      </dgm:t>
    </dgm:pt>
    <dgm:pt modelId="{D10D8955-8023-4EEE-9545-CBBED6BE1A89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Request Field = brief description of reason for request and what has been done</a:t>
          </a:r>
        </a:p>
      </dgm:t>
    </dgm:pt>
    <dgm:pt modelId="{CA602324-BF81-4A03-BDE0-6CB910CE783E}" type="parTrans" cxnId="{FF4729DF-3775-4EFF-AE4E-8660B01A7C4F}">
      <dgm:prSet/>
      <dgm:spPr/>
      <dgm:t>
        <a:bodyPr/>
        <a:lstStyle/>
        <a:p>
          <a:endParaRPr lang="en-US" sz="1200"/>
        </a:p>
      </dgm:t>
    </dgm:pt>
    <dgm:pt modelId="{A7B43495-7D4F-4059-9CFD-13E2A8E3EDE2}" type="sibTrans" cxnId="{FF4729DF-3775-4EFF-AE4E-8660B01A7C4F}">
      <dgm:prSet/>
      <dgm:spPr/>
      <dgm:t>
        <a:bodyPr/>
        <a:lstStyle/>
        <a:p>
          <a:endParaRPr lang="en-US" sz="1200"/>
        </a:p>
      </dgm:t>
    </dgm:pt>
    <dgm:pt modelId="{EAE2AC38-6A3B-4E05-AC01-72EDB7F83A86}">
      <dgm:prSet phldrT="[Text]" custT="1"/>
      <dgm:spPr/>
      <dgm:t>
        <a:bodyPr spcFirstLastPara="0" vert="horz" wrap="square" lIns="13970" tIns="13970" rIns="13970" bIns="13970" numCol="1" spcCol="1270" anchor="ctr" anchorCtr="0"/>
        <a:lstStyle/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Attach documentation, if applicable, to the Client File</a:t>
          </a:r>
          <a:endParaRPr lang="en-US" sz="1000" i="1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CC9F84C8-CABA-416D-8055-BCF38C8F27D3}" type="parTrans" cxnId="{D71660DE-32B3-4DBD-B395-0EFE2BC839E8}">
      <dgm:prSet/>
      <dgm:spPr/>
      <dgm:t>
        <a:bodyPr/>
        <a:lstStyle/>
        <a:p>
          <a:endParaRPr lang="en-US" sz="1200"/>
        </a:p>
      </dgm:t>
    </dgm:pt>
    <dgm:pt modelId="{EEE67687-292D-4A34-97D0-2BE1ADB4852A}" type="sibTrans" cxnId="{D71660DE-32B3-4DBD-B395-0EFE2BC839E8}">
      <dgm:prSet/>
      <dgm:spPr/>
      <dgm:t>
        <a:bodyPr/>
        <a:lstStyle/>
        <a:p>
          <a:endParaRPr lang="en-US" sz="1200"/>
        </a:p>
      </dgm:t>
    </dgm:pt>
    <dgm:pt modelId="{AEB98E96-6518-4948-BD4C-AD3CC030C883}">
      <dgm:prSet phldrT="[Text]" custT="1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sz="1000" b="0" i="0">
              <a:latin typeface="Calibri"/>
              <a:ea typeface="Calibri"/>
              <a:cs typeface="Calibri"/>
            </a:rPr>
            <a:t>Upload signed SPAA to the </a:t>
          </a:r>
          <a:r>
            <a:rPr lang="en-US" sz="1000" b="0" i="1">
              <a:latin typeface="Calibri"/>
              <a:ea typeface="Calibri"/>
              <a:cs typeface="Calibri"/>
            </a:rPr>
            <a:t>Crush FTP folder</a:t>
          </a:r>
          <a:r>
            <a:rPr lang="en-US" sz="1000" i="1">
              <a:latin typeface="Calibri"/>
              <a:ea typeface="Calibri"/>
              <a:cs typeface="Calibri"/>
            </a:rPr>
            <a:t> as a PDF file</a:t>
          </a:r>
          <a:endParaRPr lang="en-US" sz="1000"/>
        </a:p>
      </dgm:t>
    </dgm:pt>
    <dgm:pt modelId="{B368EC82-98D7-4115-9BD6-F88E34682AC6}" type="parTrans" cxnId="{2DB1A579-5B10-4FE1-93AF-C3B3FFA9C6A1}">
      <dgm:prSet/>
      <dgm:spPr/>
      <dgm:t>
        <a:bodyPr/>
        <a:lstStyle/>
        <a:p>
          <a:endParaRPr lang="en-US" sz="1200"/>
        </a:p>
      </dgm:t>
    </dgm:pt>
    <dgm:pt modelId="{0DD0617D-C31C-4441-81E5-5D6D8685A237}" type="sibTrans" cxnId="{2DB1A579-5B10-4FE1-93AF-C3B3FFA9C6A1}">
      <dgm:prSet/>
      <dgm:spPr/>
      <dgm:t>
        <a:bodyPr/>
        <a:lstStyle/>
        <a:p>
          <a:endParaRPr lang="en-US" sz="1200"/>
        </a:p>
      </dgm:t>
    </dgm:pt>
    <dgm:pt modelId="{09180CAB-8B02-4C06-A8B2-E4CD9BB9782C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0" i="0"/>
            <a:t>Upload documentation to Client</a:t>
          </a:r>
          <a:r>
            <a:rPr lang="en-US" sz="1000" b="0" i="1"/>
            <a:t> File</a:t>
          </a:r>
        </a:p>
      </dgm:t>
    </dgm:pt>
    <dgm:pt modelId="{538BB073-BB26-40D4-B843-9ABDF50AEEB8}" type="parTrans" cxnId="{9693C440-C81D-45DA-9154-FE6DCC224DD1}">
      <dgm:prSet/>
      <dgm:spPr/>
      <dgm:t>
        <a:bodyPr/>
        <a:lstStyle/>
        <a:p>
          <a:endParaRPr lang="en-US" sz="1200"/>
        </a:p>
      </dgm:t>
    </dgm:pt>
    <dgm:pt modelId="{656C3941-C05E-4DA5-AFB4-D3C2E35E91B7}" type="sibTrans" cxnId="{9693C440-C81D-45DA-9154-FE6DCC224DD1}">
      <dgm:prSet/>
      <dgm:spPr/>
      <dgm:t>
        <a:bodyPr/>
        <a:lstStyle/>
        <a:p>
          <a:endParaRPr lang="en-US" sz="1200"/>
        </a:p>
      </dgm:t>
    </dgm:pt>
    <dgm:pt modelId="{881AAA93-97BC-4A67-83CA-8F71E0EB0EAE}">
      <dgm:prSet phldr="0" custT="1"/>
      <dgm:spPr/>
      <dgm:t>
        <a:bodyPr/>
        <a:lstStyle/>
        <a:p>
          <a:pPr algn="l"/>
          <a:r>
            <a:rPr lang="en-US" sz="1000">
              <a:latin typeface="Calibri Light" panose="020F0302020204030204"/>
            </a:rPr>
            <a:t>ID</a:t>
          </a:r>
          <a:r>
            <a:rPr lang="en-US" sz="1000"/>
            <a:t> – Must be current</a:t>
          </a:r>
        </a:p>
      </dgm:t>
    </dgm:pt>
    <dgm:pt modelId="{61DD8E9E-3303-4F44-9950-5E4D65148F58}" type="parTrans" cxnId="{D31252AD-7C8C-4642-9E89-111A6629433E}">
      <dgm:prSet/>
      <dgm:spPr/>
      <dgm:t>
        <a:bodyPr/>
        <a:lstStyle/>
        <a:p>
          <a:endParaRPr lang="en-US" sz="1200"/>
        </a:p>
      </dgm:t>
    </dgm:pt>
    <dgm:pt modelId="{6CAF1D32-8F4C-4966-B39C-B02DEEA3AC69}" type="sibTrans" cxnId="{D31252AD-7C8C-4642-9E89-111A6629433E}">
      <dgm:prSet/>
      <dgm:spPr/>
      <dgm:t>
        <a:bodyPr/>
        <a:lstStyle/>
        <a:p>
          <a:endParaRPr lang="en-US" sz="1200"/>
        </a:p>
      </dgm:t>
    </dgm:pt>
    <dgm:pt modelId="{3B60CCBD-BD52-4FF7-86E0-61809E817D5F}">
      <dgm:prSet phldrT="[Text]" custT="1"/>
      <dgm:spPr/>
      <dgm:t>
        <a:bodyPr/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1"/>
            <a:t>Once confirmed it has been accepted, mark request as completed</a:t>
          </a:r>
          <a:endParaRPr lang="en-US" sz="1000" i="1" kern="1200">
            <a:latin typeface="Calibri Light"/>
            <a:ea typeface="Calibri Light"/>
            <a:cs typeface="Calibri Light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Calibri" panose="020F0502020204030204"/>
              <a:ea typeface="+mn-ea"/>
              <a:cs typeface="+mn-cs"/>
            </a:rPr>
            <a:t>If Request Needs to be Created</a:t>
          </a:r>
          <a:endParaRPr lang="en-US" sz="1000" b="0" i="1"/>
        </a:p>
      </dgm:t>
    </dgm:pt>
    <dgm:pt modelId="{722EFF26-59D5-468D-A944-A828A51BBAC4}" type="parTrans" cxnId="{52EEE17B-31B2-48B2-93D7-51D6E910CD56}">
      <dgm:prSet/>
      <dgm:spPr/>
      <dgm:t>
        <a:bodyPr/>
        <a:lstStyle/>
        <a:p>
          <a:endParaRPr lang="en-US" sz="1200"/>
        </a:p>
      </dgm:t>
    </dgm:pt>
    <dgm:pt modelId="{7C7578CB-78DD-4109-9FB1-BC56F2E07960}" type="sibTrans" cxnId="{52EEE17B-31B2-48B2-93D7-51D6E910CD56}">
      <dgm:prSet/>
      <dgm:spPr/>
      <dgm:t>
        <a:bodyPr/>
        <a:lstStyle/>
        <a:p>
          <a:endParaRPr lang="en-US" sz="1200"/>
        </a:p>
      </dgm:t>
    </dgm:pt>
    <dgm:pt modelId="{62A80490-E5DB-4A1F-B5F2-129CDFF68FE3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0" i="1"/>
            <a:t>Keep request as pending, in 24rs confirm GH has accepted the document</a:t>
          </a:r>
        </a:p>
      </dgm:t>
    </dgm:pt>
    <dgm:pt modelId="{12D7F0DA-C33A-4963-A43C-EC347D996435}" type="parTrans" cxnId="{ADC7070C-BDAA-4A8B-88D3-9D2103567952}">
      <dgm:prSet/>
      <dgm:spPr/>
      <dgm:t>
        <a:bodyPr/>
        <a:lstStyle/>
        <a:p>
          <a:endParaRPr lang="en-US" sz="1200"/>
        </a:p>
      </dgm:t>
    </dgm:pt>
    <dgm:pt modelId="{1B87660F-4DE9-42B5-9B99-BFB73D52AF42}" type="sibTrans" cxnId="{ADC7070C-BDAA-4A8B-88D3-9D2103567952}">
      <dgm:prSet/>
      <dgm:spPr/>
      <dgm:t>
        <a:bodyPr/>
        <a:lstStyle/>
        <a:p>
          <a:endParaRPr lang="en-US" sz="1200"/>
        </a:p>
      </dgm:t>
    </dgm:pt>
    <dgm:pt modelId="{4D53049B-2FB3-44ED-B38D-0EEA4DC37D6B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endParaRPr lang="en-US" sz="1000" b="1"/>
        </a:p>
      </dgm:t>
    </dgm:pt>
    <dgm:pt modelId="{8E96D077-848F-460A-A4DB-CA9D9456495C}" type="parTrans" cxnId="{4072E8EE-30F3-4ECB-AFF9-615C581F047C}">
      <dgm:prSet/>
      <dgm:spPr/>
      <dgm:t>
        <a:bodyPr/>
        <a:lstStyle/>
        <a:p>
          <a:endParaRPr lang="en-US" sz="1200"/>
        </a:p>
      </dgm:t>
    </dgm:pt>
    <dgm:pt modelId="{46AFDDDD-9972-4A3D-8EB8-CA7A5DFAC2DC}" type="sibTrans" cxnId="{4072E8EE-30F3-4ECB-AFF9-615C581F047C}">
      <dgm:prSet/>
      <dgm:spPr/>
      <dgm:t>
        <a:bodyPr/>
        <a:lstStyle/>
        <a:p>
          <a:endParaRPr lang="en-US" sz="1200"/>
        </a:p>
      </dgm:t>
    </dgm:pt>
    <dgm:pt modelId="{23747D96-7CE9-4121-989F-CE24C414E624}">
      <dgm:prSet phldr="0" custT="1"/>
      <dgm:spPr/>
      <dgm:t>
        <a:bodyPr/>
        <a:lstStyle/>
        <a:p>
          <a:pPr algn="l" rtl="0"/>
          <a:r>
            <a:rPr lang="en-US" sz="1000" b="1" i="0">
              <a:solidFill>
                <a:srgbClr val="FF0000"/>
              </a:solidFill>
              <a:latin typeface="Calibri"/>
              <a:ea typeface="Calibri"/>
              <a:cs typeface="Calibri"/>
            </a:rPr>
            <a:t>Save SPAA with the following naming convention (formatting will matter – match the spaces below)</a:t>
          </a:r>
        </a:p>
      </dgm:t>
    </dgm:pt>
    <dgm:pt modelId="{24081FB6-9460-4494-8957-58E24B6D0C58}" type="parTrans" cxnId="{E4D484B2-9AB5-4BB9-B102-AEC71C7A518B}">
      <dgm:prSet/>
      <dgm:spPr/>
      <dgm:t>
        <a:bodyPr/>
        <a:lstStyle/>
        <a:p>
          <a:endParaRPr lang="en-US" sz="1200"/>
        </a:p>
      </dgm:t>
    </dgm:pt>
    <dgm:pt modelId="{2BED7E18-1666-42EB-83D3-B525354C066F}" type="sibTrans" cxnId="{E4D484B2-9AB5-4BB9-B102-AEC71C7A518B}">
      <dgm:prSet/>
      <dgm:spPr/>
      <dgm:t>
        <a:bodyPr/>
        <a:lstStyle/>
        <a:p>
          <a:endParaRPr lang="en-US" sz="1200"/>
        </a:p>
      </dgm:t>
    </dgm:pt>
    <dgm:pt modelId="{3B9F8867-73B6-45E4-ADFD-F7C4FE4C4790}">
      <dgm:prSet phldr="0" custT="1"/>
      <dgm:spPr/>
      <dgm:t>
        <a:bodyPr/>
        <a:lstStyle/>
        <a:p>
          <a:pPr algn="l"/>
          <a:r>
            <a:rPr lang="en-US" sz="1000" b="1" i="0">
              <a:solidFill>
                <a:srgbClr val="FF0000"/>
              </a:solidFill>
              <a:latin typeface="Calibri"/>
              <a:ea typeface="Calibri"/>
              <a:cs typeface="Calibri"/>
            </a:rPr>
            <a:t>Global Account Number–SPAA</a:t>
          </a:r>
          <a:endParaRPr lang="en-US" sz="1000">
            <a:solidFill>
              <a:srgbClr val="FF0000"/>
            </a:solidFill>
          </a:endParaRPr>
        </a:p>
      </dgm:t>
    </dgm:pt>
    <dgm:pt modelId="{A047A96F-EC21-4052-942F-CDC5687D7C7A}" type="parTrans" cxnId="{52BE11B0-9992-4A1C-A188-947431D0CA4D}">
      <dgm:prSet/>
      <dgm:spPr/>
      <dgm:t>
        <a:bodyPr/>
        <a:lstStyle/>
        <a:p>
          <a:endParaRPr lang="en-US" sz="1200"/>
        </a:p>
      </dgm:t>
    </dgm:pt>
    <dgm:pt modelId="{EB860421-934E-42A4-B525-0A2972D1B48B}" type="sibTrans" cxnId="{52BE11B0-9992-4A1C-A188-947431D0CA4D}">
      <dgm:prSet/>
      <dgm:spPr/>
      <dgm:t>
        <a:bodyPr/>
        <a:lstStyle/>
        <a:p>
          <a:endParaRPr lang="en-US" sz="1200"/>
        </a:p>
      </dgm:t>
    </dgm:pt>
    <dgm:pt modelId="{8CFC8463-ECE9-48D1-BBDC-A4D82EF8FC5C}">
      <dgm:prSet phldr="0" custT="1"/>
      <dgm:spPr/>
      <dgm:t>
        <a:bodyPr/>
        <a:lstStyle/>
        <a:p>
          <a:pPr algn="l"/>
          <a:r>
            <a:rPr lang="en-US" sz="1000" b="1" i="0">
              <a:solidFill>
                <a:srgbClr val="FF0000"/>
              </a:solidFill>
              <a:latin typeface="Calibri"/>
              <a:ea typeface="Calibri"/>
              <a:cs typeface="Calibri"/>
            </a:rPr>
            <a:t>Global Account Number–ID</a:t>
          </a:r>
          <a:endParaRPr lang="en-US" sz="1000">
            <a:solidFill>
              <a:srgbClr val="FF0000"/>
            </a:solidFill>
          </a:endParaRPr>
        </a:p>
      </dgm:t>
    </dgm:pt>
    <dgm:pt modelId="{1267EB2C-5782-4144-B83F-9FFF7749BD38}" type="parTrans" cxnId="{88BC40B3-D616-4F2B-A82A-61EFE27D09BB}">
      <dgm:prSet/>
      <dgm:spPr/>
      <dgm:t>
        <a:bodyPr/>
        <a:lstStyle/>
        <a:p>
          <a:endParaRPr lang="en-US" sz="1200"/>
        </a:p>
      </dgm:t>
    </dgm:pt>
    <dgm:pt modelId="{EDA7AED3-10E0-42C0-94EC-614EB66B9768}" type="sibTrans" cxnId="{88BC40B3-D616-4F2B-A82A-61EFE27D09BB}">
      <dgm:prSet/>
      <dgm:spPr/>
      <dgm:t>
        <a:bodyPr/>
        <a:lstStyle/>
        <a:p>
          <a:endParaRPr lang="en-US" sz="1200"/>
        </a:p>
      </dgm:t>
    </dgm:pt>
    <dgm:pt modelId="{9CFFF97E-C819-410C-A36A-B1FA7E612127}" type="pres">
      <dgm:prSet presAssocID="{73CCD257-1924-48B4-ABE1-D2A8FF896A4B}" presName="linearFlow" presStyleCnt="0">
        <dgm:presLayoutVars>
          <dgm:dir/>
          <dgm:animLvl val="lvl"/>
          <dgm:resizeHandles val="exact"/>
        </dgm:presLayoutVars>
      </dgm:prSet>
      <dgm:spPr/>
    </dgm:pt>
    <dgm:pt modelId="{9D02082D-347D-424B-9814-A9754AA273FB}" type="pres">
      <dgm:prSet presAssocID="{93BF4986-152B-4AC0-9052-D3D62F3AB1BC}" presName="composite" presStyleCnt="0"/>
      <dgm:spPr/>
    </dgm:pt>
    <dgm:pt modelId="{3D86ED76-A602-4A7D-ACE7-8C3EBDA34478}" type="pres">
      <dgm:prSet presAssocID="{93BF4986-152B-4AC0-9052-D3D62F3AB1BC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A950EE7E-09A7-4818-9653-24CE14A99CAF}" type="pres">
      <dgm:prSet presAssocID="{93BF4986-152B-4AC0-9052-D3D62F3AB1BC}" presName="descendantText" presStyleLbl="alignAcc1" presStyleIdx="0" presStyleCnt="1" custScaleY="163471" custLinFactNeighborX="0" custLinFactNeighborY="2755">
        <dgm:presLayoutVars>
          <dgm:bulletEnabled val="1"/>
        </dgm:presLayoutVars>
      </dgm:prSet>
      <dgm:spPr/>
    </dgm:pt>
  </dgm:ptLst>
  <dgm:cxnLst>
    <dgm:cxn modelId="{9E437F05-EDA3-46E3-9B99-AD331635A352}" srcId="{93BF4986-152B-4AC0-9052-D3D62F3AB1BC}" destId="{AA8751ED-0CA9-40CD-BD5E-DE522462CD08}" srcOrd="7" destOrd="0" parTransId="{C0E31E21-1EBF-4B7C-946D-F236D987621B}" sibTransId="{DED23118-1A55-4A62-BD75-10FAA62549DD}"/>
    <dgm:cxn modelId="{ADC7070C-BDAA-4A8B-88D3-9D2103567952}" srcId="{AEB98E96-6518-4948-BD4C-AD3CC030C883}" destId="{62A80490-E5DB-4A1F-B5F2-129CDFF68FE3}" srcOrd="0" destOrd="0" parTransId="{12D7F0DA-C33A-4963-A43C-EC347D996435}" sibTransId="{1B87660F-4DE9-42B5-9B99-BFB73D52AF42}"/>
    <dgm:cxn modelId="{A0964B0E-5197-469E-8C9E-D5A8378594A4}" srcId="{93BF4986-152B-4AC0-9052-D3D62F3AB1BC}" destId="{C876A2D7-0513-4105-B951-E147EF7A66AB}" srcOrd="14" destOrd="0" parTransId="{E9006352-7B79-4259-8979-C3DCD6917566}" sibTransId="{807068F0-9375-4CC4-B14E-824B4255AC13}"/>
    <dgm:cxn modelId="{8B18FB0E-DF47-46FF-9AD3-A3E712F5D2AD}" type="presOf" srcId="{D396FDD3-8544-496A-8157-F278E21FB3B3}" destId="{A950EE7E-09A7-4818-9653-24CE14A99CAF}" srcOrd="0" destOrd="8" presId="urn:microsoft.com/office/officeart/2005/8/layout/chevron2"/>
    <dgm:cxn modelId="{00E53310-634E-496E-9720-75D9A7800C59}" type="presOf" srcId="{4D53049B-2FB3-44ED-B38D-0EEA4DC37D6B}" destId="{A950EE7E-09A7-4818-9653-24CE14A99CAF}" srcOrd="0" destOrd="0" presId="urn:microsoft.com/office/officeart/2005/8/layout/chevron2"/>
    <dgm:cxn modelId="{C4AFC01C-8DAD-44BE-96B5-BBE6FC0D5A8C}" type="presOf" srcId="{23747D96-7CE9-4121-989F-CE24C414E624}" destId="{A950EE7E-09A7-4818-9653-24CE14A99CAF}" srcOrd="0" destOrd="11" presId="urn:microsoft.com/office/officeart/2005/8/layout/chevron2"/>
    <dgm:cxn modelId="{59BD702A-92D9-41F6-922D-C371B56A5F78}" type="presOf" srcId="{772DB9C1-DE13-4F95-A9F4-1A937F002FB1}" destId="{A950EE7E-09A7-4818-9653-24CE14A99CAF}" srcOrd="0" destOrd="21" presId="urn:microsoft.com/office/officeart/2005/8/layout/chevron2"/>
    <dgm:cxn modelId="{7C5B652B-DFF7-4D69-B7E3-D9BBECE3BDF9}" srcId="{93BF4986-152B-4AC0-9052-D3D62F3AB1BC}" destId="{B6E3F004-2638-4569-98AF-AEE176948C28}" srcOrd="4" destOrd="0" parTransId="{9DE1B155-4190-4DC5-B686-3202D5917170}" sibTransId="{21798666-1F1A-4342-AD6F-ACAFA5DAE009}"/>
    <dgm:cxn modelId="{E03BE32E-DA18-48F9-8D31-C2E3FAD709D3}" srcId="{93BF4986-152B-4AC0-9052-D3D62F3AB1BC}" destId="{47A2AAB9-F029-4401-8E2D-88B73DD6DD30}" srcOrd="1" destOrd="0" parTransId="{4C51953B-7220-4832-A805-7B71C7BB5D64}" sibTransId="{BB1AB9A8-1314-4427-952B-C1B469A4F457}"/>
    <dgm:cxn modelId="{C83E212F-0A52-4E2B-A1F6-F1341BDBE9BB}" type="presOf" srcId="{3B9F8867-73B6-45E4-ADFD-F7C4FE4C4790}" destId="{A950EE7E-09A7-4818-9653-24CE14A99CAF}" srcOrd="0" destOrd="12" presId="urn:microsoft.com/office/officeart/2005/8/layout/chevron2"/>
    <dgm:cxn modelId="{83CA9939-ABAF-42A6-BF94-7B0A962EAD0C}" type="presOf" srcId="{62A80490-E5DB-4A1F-B5F2-129CDFF68FE3}" destId="{A950EE7E-09A7-4818-9653-24CE14A99CAF}" srcOrd="0" destOrd="15" presId="urn:microsoft.com/office/officeart/2005/8/layout/chevron2"/>
    <dgm:cxn modelId="{92F6ED3C-03C0-44DC-BA75-0BEA850C40FE}" srcId="{93BF4986-152B-4AC0-9052-D3D62F3AB1BC}" destId="{772DB9C1-DE13-4F95-A9F4-1A937F002FB1}" srcOrd="15" destOrd="0" parTransId="{53437C65-FAF8-4E5C-A4C3-96BA90E18207}" sibTransId="{4E2B2500-50C9-43DC-AEBD-9065990FA1D5}"/>
    <dgm:cxn modelId="{9693C440-C81D-45DA-9154-FE6DCC224DD1}" srcId="{D396FDD3-8544-496A-8157-F278E21FB3B3}" destId="{09180CAB-8B02-4C06-A8B2-E4CD9BB9782C}" srcOrd="1" destOrd="0" parTransId="{538BB073-BB26-40D4-B843-9ABDF50AEEB8}" sibTransId="{656C3941-C05E-4DA5-AFB4-D3C2E35E91B7}"/>
    <dgm:cxn modelId="{4D71EC5D-D42F-48EB-BFB6-21BC386C988F}" srcId="{D396FDD3-8544-496A-8157-F278E21FB3B3}" destId="{8688682D-5BC7-4461-9334-97F66E4FD8D5}" srcOrd="0" destOrd="0" parTransId="{F322C238-33B7-4F8F-B847-888E306C9A3B}" sibTransId="{0877ED74-6A90-47CD-9B20-C546AF2FB0A2}"/>
    <dgm:cxn modelId="{6369FD65-3AF0-445A-AA3B-57AE406A3D73}" type="presOf" srcId="{24E3A6A7-394D-42F4-B742-A709F2217281}" destId="{A950EE7E-09A7-4818-9653-24CE14A99CAF}" srcOrd="0" destOrd="18" presId="urn:microsoft.com/office/officeart/2005/8/layout/chevron2"/>
    <dgm:cxn modelId="{C7EDC248-5744-4EB6-A65A-B1C09F71BC00}" type="presOf" srcId="{B6E3F004-2638-4569-98AF-AEE176948C28}" destId="{A950EE7E-09A7-4818-9653-24CE14A99CAF}" srcOrd="0" destOrd="4" presId="urn:microsoft.com/office/officeart/2005/8/layout/chevron2"/>
    <dgm:cxn modelId="{50152369-ED6B-43D7-BA39-728AF11E5815}" srcId="{93BF4986-152B-4AC0-9052-D3D62F3AB1BC}" destId="{2B62DB5C-C0D0-421F-B4AF-BD7B79EA0EA7}" srcOrd="11" destOrd="0" parTransId="{DCD3763D-26D9-4F9F-99BF-4429B5CE0501}" sibTransId="{EB4A2C0E-56B2-4410-AEAC-364D8E798BF2}"/>
    <dgm:cxn modelId="{0650F469-C905-425F-9121-7C22EBC79266}" srcId="{93BF4986-152B-4AC0-9052-D3D62F3AB1BC}" destId="{B9E64C20-BBD0-4C31-8AB6-C70135CD03C5}" srcOrd="5" destOrd="0" parTransId="{963A4E0D-A0FF-4047-9818-11D27F6344A7}" sibTransId="{96D42D38-296C-4451-82E9-66B100F845B9}"/>
    <dgm:cxn modelId="{E010FE6E-DD2C-42E1-BDE7-8A3337CAF35E}" srcId="{772DB9C1-DE13-4F95-A9F4-1A937F002FB1}" destId="{48BEA6B6-7EE9-4BF5-A61E-8796B83662C0}" srcOrd="0" destOrd="0" parTransId="{56C07B1D-D30F-4203-AD98-C12794D9B55A}" sibTransId="{44CE2CEA-B818-4FF9-80C6-84BBFC55AA76}"/>
    <dgm:cxn modelId="{F6CAA96F-359E-4D9D-A7C3-2C88250BF544}" srcId="{73CCD257-1924-48B4-ABE1-D2A8FF896A4B}" destId="{93BF4986-152B-4AC0-9052-D3D62F3AB1BC}" srcOrd="0" destOrd="0" parTransId="{5820A6B7-3910-4586-9BCC-F48123A9B168}" sibTransId="{2A807A4D-A848-4E45-99C3-3CA74C1F6B76}"/>
    <dgm:cxn modelId="{2DB1A579-5B10-4FE1-93AF-C3B3FFA9C6A1}" srcId="{93BF4986-152B-4AC0-9052-D3D62F3AB1BC}" destId="{AEB98E96-6518-4948-BD4C-AD3CC030C883}" srcOrd="10" destOrd="0" parTransId="{B368EC82-98D7-4115-9BD6-F88E34682AC6}" sibTransId="{0DD0617D-C31C-4441-81E5-5D6D8685A237}"/>
    <dgm:cxn modelId="{09AEDE79-99E3-46E2-AF12-31909EC177A3}" type="presOf" srcId="{47A2AAB9-F029-4401-8E2D-88B73DD6DD30}" destId="{A950EE7E-09A7-4818-9653-24CE14A99CAF}" srcOrd="0" destOrd="1" presId="urn:microsoft.com/office/officeart/2005/8/layout/chevron2"/>
    <dgm:cxn modelId="{1D8AC55A-2487-464C-993A-11F5CE4FA131}" type="presOf" srcId="{343E92C1-A8AA-46D6-B1CA-15D1DCD7AFF7}" destId="{A950EE7E-09A7-4818-9653-24CE14A99CAF}" srcOrd="0" destOrd="23" presId="urn:microsoft.com/office/officeart/2005/8/layout/chevron2"/>
    <dgm:cxn modelId="{B1F8E87A-6D01-4B6F-A1D4-6BE7A9D2AD7B}" type="presOf" srcId="{CB4F61C1-29ED-4F6A-B64A-70D0B05B4159}" destId="{A950EE7E-09A7-4818-9653-24CE14A99CAF}" srcOrd="0" destOrd="19" presId="urn:microsoft.com/office/officeart/2005/8/layout/chevron2"/>
    <dgm:cxn modelId="{52EEE17B-31B2-48B2-93D7-51D6E910CD56}" srcId="{AEB98E96-6518-4948-BD4C-AD3CC030C883}" destId="{3B60CCBD-BD52-4FF7-86E0-61809E817D5F}" srcOrd="1" destOrd="0" parTransId="{722EFF26-59D5-468D-A944-A828A51BBAC4}" sibTransId="{7C7578CB-78DD-4109-9FB1-BC56F2E07960}"/>
    <dgm:cxn modelId="{A2A92187-FCD3-47A4-B452-DA2B7293A9AA}" type="presOf" srcId="{B9E64C20-BBD0-4C31-8AB6-C70135CD03C5}" destId="{A950EE7E-09A7-4818-9653-24CE14A99CAF}" srcOrd="0" destOrd="5" presId="urn:microsoft.com/office/officeart/2005/8/layout/chevron2"/>
    <dgm:cxn modelId="{143E8A87-67E2-4F6F-84D7-7CF02E0E005A}" type="presOf" srcId="{D10D8955-8023-4EEE-9545-CBBED6BE1A89}" destId="{A950EE7E-09A7-4818-9653-24CE14A99CAF}" srcOrd="0" destOrd="24" presId="urn:microsoft.com/office/officeart/2005/8/layout/chevron2"/>
    <dgm:cxn modelId="{2595888D-4D96-4087-9C4F-608622A7D9EF}" srcId="{93BF4986-152B-4AC0-9052-D3D62F3AB1BC}" destId="{60E082F0-8DAE-43D8-B577-FC76B6504FEF}" srcOrd="6" destOrd="0" parTransId="{55FCBE38-B6FA-4E9C-9E0C-D922B1B06B9A}" sibTransId="{95511720-180D-4D6D-8123-AB2A07974A67}"/>
    <dgm:cxn modelId="{A9C50490-738E-455C-A105-BF973AABCCDD}" type="presOf" srcId="{3DCA973F-0D2D-4FF0-9379-A0446736B02C}" destId="{A950EE7E-09A7-4818-9653-24CE14A99CAF}" srcOrd="0" destOrd="2" presId="urn:microsoft.com/office/officeart/2005/8/layout/chevron2"/>
    <dgm:cxn modelId="{AD87D795-2030-4100-98F4-1BC1B21588C0}" type="presOf" srcId="{EAE2AC38-6A3B-4E05-AC01-72EDB7F83A86}" destId="{A950EE7E-09A7-4818-9653-24CE14A99CAF}" srcOrd="0" destOrd="25" presId="urn:microsoft.com/office/officeart/2005/8/layout/chevron2"/>
    <dgm:cxn modelId="{32ED409C-4981-4046-A0B8-C8549D7325BE}" srcId="{93BF4986-152B-4AC0-9052-D3D62F3AB1BC}" destId="{CB4F61C1-29ED-4F6A-B64A-70D0B05B4159}" srcOrd="13" destOrd="0" parTransId="{06E3EBA1-49D4-444E-91E5-ECE111C9D314}" sibTransId="{A2D330EC-36AF-4926-8033-453CB50061AC}"/>
    <dgm:cxn modelId="{B36AC19D-FC4E-4C0D-A367-0854A146D765}" srcId="{93BF4986-152B-4AC0-9052-D3D62F3AB1BC}" destId="{24E3A6A7-394D-42F4-B742-A709F2217281}" srcOrd="12" destOrd="0" parTransId="{EA5023E1-C291-46C9-87D5-6E30D637505A}" sibTransId="{78DF3790-6025-41E6-ACE5-35C1ABF6E939}"/>
    <dgm:cxn modelId="{8BED12A7-9000-4123-922F-5F5E913715B4}" type="presOf" srcId="{09180CAB-8B02-4C06-A8B2-E4CD9BB9782C}" destId="{A950EE7E-09A7-4818-9653-24CE14A99CAF}" srcOrd="0" destOrd="10" presId="urn:microsoft.com/office/officeart/2005/8/layout/chevron2"/>
    <dgm:cxn modelId="{3F952DAD-7957-44C3-A083-5439B55F363B}" type="presOf" srcId="{8CFC8463-ECE9-48D1-BBDC-A4D82EF8FC5C}" destId="{A950EE7E-09A7-4818-9653-24CE14A99CAF}" srcOrd="0" destOrd="13" presId="urn:microsoft.com/office/officeart/2005/8/layout/chevron2"/>
    <dgm:cxn modelId="{D31252AD-7C8C-4642-9E89-111A6629433E}" srcId="{93BF4986-152B-4AC0-9052-D3D62F3AB1BC}" destId="{881AAA93-97BC-4A67-83CA-8F71E0EB0EAE}" srcOrd="3" destOrd="0" parTransId="{61DD8E9E-3303-4F44-9950-5E4D65148F58}" sibTransId="{6CAF1D32-8F4C-4966-B39C-B02DEEA3AC69}"/>
    <dgm:cxn modelId="{52BE11B0-9992-4A1C-A188-947431D0CA4D}" srcId="{23747D96-7CE9-4121-989F-CE24C414E624}" destId="{3B9F8867-73B6-45E4-ADFD-F7C4FE4C4790}" srcOrd="0" destOrd="0" parTransId="{A047A96F-EC21-4052-942F-CDC5687D7C7A}" sibTransId="{EB860421-934E-42A4-B525-0A2972D1B48B}"/>
    <dgm:cxn modelId="{E4D484B2-9AB5-4BB9-B102-AEC71C7A518B}" srcId="{93BF4986-152B-4AC0-9052-D3D62F3AB1BC}" destId="{23747D96-7CE9-4121-989F-CE24C414E624}" srcOrd="9" destOrd="0" parTransId="{24081FB6-9460-4494-8957-58E24B6D0C58}" sibTransId="{2BED7E18-1666-42EB-83D3-B525354C066F}"/>
    <dgm:cxn modelId="{88BC40B3-D616-4F2B-A82A-61EFE27D09BB}" srcId="{23747D96-7CE9-4121-989F-CE24C414E624}" destId="{8CFC8463-ECE9-48D1-BBDC-A4D82EF8FC5C}" srcOrd="1" destOrd="0" parTransId="{1267EB2C-5782-4144-B83F-9FFF7749BD38}" sibTransId="{EDA7AED3-10E0-42C0-94EC-614EB66B9768}"/>
    <dgm:cxn modelId="{EC81EAB4-0561-4F83-A787-FA4668052370}" srcId="{93BF4986-152B-4AC0-9052-D3D62F3AB1BC}" destId="{D396FDD3-8544-496A-8157-F278E21FB3B3}" srcOrd="8" destOrd="0" parTransId="{9455ED5C-684F-42BA-9E9C-E957FB62EEB7}" sibTransId="{0F0AAE20-72C2-47EE-AA01-EF7F7C26AFEC}"/>
    <dgm:cxn modelId="{5B2E0EB5-699D-43E6-9D63-4BB2844E1354}" type="presOf" srcId="{AA8751ED-0CA9-40CD-BD5E-DE522462CD08}" destId="{A950EE7E-09A7-4818-9653-24CE14A99CAF}" srcOrd="0" destOrd="7" presId="urn:microsoft.com/office/officeart/2005/8/layout/chevron2"/>
    <dgm:cxn modelId="{BD3D20BA-F516-4F5C-A8D4-FB697C0E1B11}" type="presOf" srcId="{881AAA93-97BC-4A67-83CA-8F71E0EB0EAE}" destId="{A950EE7E-09A7-4818-9653-24CE14A99CAF}" srcOrd="0" destOrd="3" presId="urn:microsoft.com/office/officeart/2005/8/layout/chevron2"/>
    <dgm:cxn modelId="{0181FEC4-5646-43F6-91D6-AC9463E73068}" type="presOf" srcId="{93BF4986-152B-4AC0-9052-D3D62F3AB1BC}" destId="{3D86ED76-A602-4A7D-ACE7-8C3EBDA34478}" srcOrd="0" destOrd="0" presId="urn:microsoft.com/office/officeart/2005/8/layout/chevron2"/>
    <dgm:cxn modelId="{D2C633C9-2541-4A1C-90A0-42040D34359C}" type="presOf" srcId="{3B60CCBD-BD52-4FF7-86E0-61809E817D5F}" destId="{A950EE7E-09A7-4818-9653-24CE14A99CAF}" srcOrd="0" destOrd="16" presId="urn:microsoft.com/office/officeart/2005/8/layout/chevron2"/>
    <dgm:cxn modelId="{90852FCF-5863-499A-8938-1E3A305C032F}" type="presOf" srcId="{73CCD257-1924-48B4-ABE1-D2A8FF896A4B}" destId="{9CFFF97E-C819-410C-A36A-B1FA7E612127}" srcOrd="0" destOrd="0" presId="urn:microsoft.com/office/officeart/2005/8/layout/chevron2"/>
    <dgm:cxn modelId="{B745BDD4-070B-4274-9DC7-5150E3D919E3}" srcId="{772DB9C1-DE13-4F95-A9F4-1A937F002FB1}" destId="{343E92C1-A8AA-46D6-B1CA-15D1DCD7AFF7}" srcOrd="1" destOrd="0" parTransId="{595B2C2B-63D2-4F70-9656-2E39A7B15F47}" sibTransId="{BE73CE5E-8187-4DA4-A850-DC57AAE081F3}"/>
    <dgm:cxn modelId="{62E59ED5-9ED2-4928-B66F-A9926AE02C1D}" type="presOf" srcId="{2B62DB5C-C0D0-421F-B4AF-BD7B79EA0EA7}" destId="{A950EE7E-09A7-4818-9653-24CE14A99CAF}" srcOrd="0" destOrd="17" presId="urn:microsoft.com/office/officeart/2005/8/layout/chevron2"/>
    <dgm:cxn modelId="{3F9CC9DC-3A4C-4126-9930-D3F976E8F8E9}" type="presOf" srcId="{8688682D-5BC7-4461-9334-97F66E4FD8D5}" destId="{A950EE7E-09A7-4818-9653-24CE14A99CAF}" srcOrd="0" destOrd="9" presId="urn:microsoft.com/office/officeart/2005/8/layout/chevron2"/>
    <dgm:cxn modelId="{D71660DE-32B3-4DBD-B395-0EFE2BC839E8}" srcId="{93BF4986-152B-4AC0-9052-D3D62F3AB1BC}" destId="{EAE2AC38-6A3B-4E05-AC01-72EDB7F83A86}" srcOrd="17" destOrd="0" parTransId="{CC9F84C8-CABA-416D-8055-BCF38C8F27D3}" sibTransId="{EEE67687-292D-4A34-97D0-2BE1ADB4852A}"/>
    <dgm:cxn modelId="{FF4729DF-3775-4EFF-AE4E-8660B01A7C4F}" srcId="{93BF4986-152B-4AC0-9052-D3D62F3AB1BC}" destId="{D10D8955-8023-4EEE-9545-CBBED6BE1A89}" srcOrd="16" destOrd="0" parTransId="{CA602324-BF81-4A03-BDE0-6CB910CE783E}" sibTransId="{A7B43495-7D4F-4059-9CFD-13E2A8E3EDE2}"/>
    <dgm:cxn modelId="{862F87DF-9275-4DDA-BA33-0D40C85F6FC6}" type="presOf" srcId="{AEB98E96-6518-4948-BD4C-AD3CC030C883}" destId="{A950EE7E-09A7-4818-9653-24CE14A99CAF}" srcOrd="0" destOrd="14" presId="urn:microsoft.com/office/officeart/2005/8/layout/chevron2"/>
    <dgm:cxn modelId="{89CB88DF-310A-4C8B-ADEF-530C3DE2C2C0}" srcId="{93BF4986-152B-4AC0-9052-D3D62F3AB1BC}" destId="{3DCA973F-0D2D-4FF0-9379-A0446736B02C}" srcOrd="2" destOrd="0" parTransId="{F2E6F483-62F0-4E7E-A759-E36006460C52}" sibTransId="{8CCB0FDB-9BD7-4146-8BA7-42478881978D}"/>
    <dgm:cxn modelId="{4051D8E1-8581-46E1-BE78-9D2B384A4225}" type="presOf" srcId="{48BEA6B6-7EE9-4BF5-A61E-8796B83662C0}" destId="{A950EE7E-09A7-4818-9653-24CE14A99CAF}" srcOrd="0" destOrd="22" presId="urn:microsoft.com/office/officeart/2005/8/layout/chevron2"/>
    <dgm:cxn modelId="{4072E8EE-30F3-4ECB-AFF9-615C581F047C}" srcId="{93BF4986-152B-4AC0-9052-D3D62F3AB1BC}" destId="{4D53049B-2FB3-44ED-B38D-0EEA4DC37D6B}" srcOrd="0" destOrd="0" parTransId="{8E96D077-848F-460A-A4DB-CA9D9456495C}" sibTransId="{46AFDDDD-9972-4A3D-8EB8-CA7A5DFAC2DC}"/>
    <dgm:cxn modelId="{1DD3EFF6-0F96-444D-BED3-8682FCB43736}" type="presOf" srcId="{C876A2D7-0513-4105-B951-E147EF7A66AB}" destId="{A950EE7E-09A7-4818-9653-24CE14A99CAF}" srcOrd="0" destOrd="20" presId="urn:microsoft.com/office/officeart/2005/8/layout/chevron2"/>
    <dgm:cxn modelId="{55D052FB-9BBA-4F24-8C81-3B6EB1DF3608}" type="presOf" srcId="{60E082F0-8DAE-43D8-B577-FC76B6504FEF}" destId="{A950EE7E-09A7-4818-9653-24CE14A99CAF}" srcOrd="0" destOrd="6" presId="urn:microsoft.com/office/officeart/2005/8/layout/chevron2"/>
    <dgm:cxn modelId="{171BA6C0-59F4-4D13-B28E-08A0CF97AB1B}" type="presParOf" srcId="{9CFFF97E-C819-410C-A36A-B1FA7E612127}" destId="{9D02082D-347D-424B-9814-A9754AA273FB}" srcOrd="0" destOrd="0" presId="urn:microsoft.com/office/officeart/2005/8/layout/chevron2"/>
    <dgm:cxn modelId="{BE2CAD6B-C136-4F20-9EDA-A87816BFE41E}" type="presParOf" srcId="{9D02082D-347D-424B-9814-A9754AA273FB}" destId="{3D86ED76-A602-4A7D-ACE7-8C3EBDA34478}" srcOrd="0" destOrd="0" presId="urn:microsoft.com/office/officeart/2005/8/layout/chevron2"/>
    <dgm:cxn modelId="{3612ABF6-A329-448C-9D5D-C0A4DE616AA1}" type="presParOf" srcId="{9D02082D-347D-424B-9814-A9754AA273FB}" destId="{A950EE7E-09A7-4818-9653-24CE14A99CA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6ED76-A602-4A7D-ACE7-8C3EBDA34478}">
      <dsp:nvSpPr>
        <dsp:cNvPr id="0" name=""/>
        <dsp:cNvSpPr/>
      </dsp:nvSpPr>
      <dsp:spPr>
        <a:xfrm rot="5400000">
          <a:off x="-600914" y="1432195"/>
          <a:ext cx="4006093" cy="28042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Address Alert</a:t>
          </a:r>
        </a:p>
      </dsp:txBody>
      <dsp:txXfrm rot="-5400000">
        <a:off x="1" y="2233414"/>
        <a:ext cx="2804265" cy="1201828"/>
      </dsp:txXfrm>
    </dsp:sp>
    <dsp:sp modelId="{A950EE7E-09A7-4818-9653-24CE14A99CAF}">
      <dsp:nvSpPr>
        <dsp:cNvPr id="0" name=""/>
        <dsp:cNvSpPr/>
      </dsp:nvSpPr>
      <dsp:spPr>
        <a:xfrm rot="5400000">
          <a:off x="3500411" y="-619505"/>
          <a:ext cx="4256721" cy="5649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000" b="1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1" kern="1200"/>
            <a:t>Advise client of what is needed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Proof of residence/</a:t>
          </a:r>
          <a:r>
            <a:rPr lang="en-US" sz="1000" kern="1200">
              <a:latin typeface="Calibri Light" panose="020F0302020204030204"/>
            </a:rPr>
            <a:t>address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Calibri Light" panose="020F0302020204030204"/>
            </a:rPr>
            <a:t>ID</a:t>
          </a:r>
          <a:r>
            <a:rPr lang="en-US" sz="1000" kern="1200"/>
            <a:t> – Must be current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Social Security Information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1" kern="1200"/>
            <a:t>Provide client with your email or the fax number (443.279.2875) to submit documentation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1" kern="1200"/>
            <a:t>If client must contact Global Holdings, provide their number (</a:t>
          </a:r>
          <a:r>
            <a:rPr lang="en-US" sz="1000" b="1" i="0" kern="1200"/>
            <a:t>1.877.271.1550</a:t>
          </a:r>
          <a:r>
            <a:rPr lang="en-US" sz="1000" b="1" kern="1200"/>
            <a:t>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1" kern="1200"/>
            <a:t>Notate request with what documentation the client is sending or when they will contact Global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1" kern="1200"/>
            <a:t>Once documentation is received or client has contacted Global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kern="1200"/>
            <a:t>Notate clients Global Validation Request appropriately</a:t>
          </a:r>
          <a:endParaRPr lang="en-US" sz="1000" b="0" i="1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0" kern="1200"/>
            <a:t>Upload documentation to Client</a:t>
          </a:r>
          <a:r>
            <a:rPr lang="en-US" sz="1000" b="0" i="1" kern="1200"/>
            <a:t> File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solidFill>
                <a:srgbClr val="FF0000"/>
              </a:solidFill>
              <a:latin typeface="Calibri"/>
              <a:ea typeface="Calibri"/>
              <a:cs typeface="Calibri"/>
            </a:rPr>
            <a:t>Save SPAA with the following naming convention (formatting will matter – match the spaces below)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solidFill>
                <a:srgbClr val="FF0000"/>
              </a:solidFill>
              <a:latin typeface="Calibri"/>
              <a:ea typeface="Calibri"/>
              <a:cs typeface="Calibri"/>
            </a:rPr>
            <a:t>Global Account Number–SPAA</a:t>
          </a:r>
          <a:endParaRPr lang="en-US" sz="1000" kern="1200">
            <a:solidFill>
              <a:srgbClr val="FF0000"/>
            </a:solidFill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solidFill>
                <a:srgbClr val="FF0000"/>
              </a:solidFill>
              <a:latin typeface="Calibri"/>
              <a:ea typeface="Calibri"/>
              <a:cs typeface="Calibri"/>
            </a:rPr>
            <a:t>Global Account Number–ID</a:t>
          </a:r>
          <a:endParaRPr lang="en-US" sz="1000" kern="1200">
            <a:solidFill>
              <a:srgbClr val="FF0000"/>
            </a:solidFill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/>
              <a:ea typeface="Calibri"/>
              <a:cs typeface="Calibri"/>
            </a:rPr>
            <a:t>Upload signed SPAA to the </a:t>
          </a:r>
          <a:r>
            <a:rPr lang="en-US" sz="1000" b="0" i="1" kern="1200">
              <a:latin typeface="Calibri"/>
              <a:ea typeface="Calibri"/>
              <a:cs typeface="Calibri"/>
            </a:rPr>
            <a:t>Crush FTP folder</a:t>
          </a:r>
          <a:r>
            <a:rPr lang="en-US" sz="1000" i="1" kern="1200">
              <a:latin typeface="Calibri"/>
              <a:ea typeface="Calibri"/>
              <a:cs typeface="Calibri"/>
            </a:rPr>
            <a:t> as a PDF file</a:t>
          </a:r>
          <a:endParaRPr lang="en-US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b="0" i="1" kern="1200"/>
            <a:t>Keep request as pending, in 24rs confirm GH has accepted the document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1"/>
            <a:t>Once confirmed it has been accepted, mark request as completed</a:t>
          </a:r>
          <a:endParaRPr lang="en-US" sz="1000" i="1" kern="1200">
            <a:latin typeface="Calibri Light"/>
            <a:ea typeface="Calibri Light"/>
            <a:cs typeface="Calibri Light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Calibri" panose="020F0502020204030204"/>
              <a:ea typeface="+mn-ea"/>
              <a:cs typeface="+mn-cs"/>
            </a:rPr>
            <a:t>If Request Needs to be Created</a:t>
          </a:r>
          <a:endParaRPr lang="en-US" sz="1000" b="0" i="1"/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Click on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Add Request </a:t>
          </a:r>
          <a:r>
            <a:rPr lang="en-US" sz="1000" b="0" i="0" kern="1200">
              <a:latin typeface="Calibri" panose="020F0502020204030204"/>
              <a:ea typeface="+mn-ea"/>
              <a:cs typeface="+mn-cs"/>
            </a:rPr>
            <a:t>from the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Request Section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Request Type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Global Validation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Next Global Occurrence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Today’s date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Responder = </a:t>
          </a:r>
          <a:r>
            <a:rPr lang="en-US" sz="1000" b="0" i="1" kern="1200">
              <a:latin typeface="Calibri" panose="020F0502020204030204"/>
              <a:ea typeface="+mn-ea"/>
              <a:cs typeface="+mn-cs"/>
            </a:rPr>
            <a:t>Yourself</a:t>
          </a:r>
          <a:endParaRPr lang="en-US" sz="1000" i="1" kern="1200">
            <a:latin typeface="Calibri" panose="020F0502020204030204"/>
            <a:ea typeface="+mn-ea"/>
            <a:cs typeface="+mn-cs"/>
          </a:endParaRP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US" sz="1000" b="0" i="0" kern="1200">
              <a:latin typeface="Calibri" panose="020F0502020204030204"/>
              <a:ea typeface="+mn-ea"/>
              <a:cs typeface="+mn-cs"/>
            </a:rPr>
            <a:t>Internal Status</a:t>
          </a:r>
          <a:endParaRPr lang="en-US" sz="1000" kern="1200">
            <a:latin typeface="Calibri" panose="020F0502020204030204"/>
            <a:ea typeface="+mn-ea"/>
            <a:cs typeface="+mn-cs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If documentation has already been received, Upload to Global Holding Website</a:t>
          </a:r>
          <a:endParaRPr lang="en-US" sz="1000" i="1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If waiting for documentation, </a:t>
          </a:r>
          <a:r>
            <a:rPr lang="en-US" sz="1000" i="1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Waiting on Responder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Request Field = brief description of reason for request and what has been done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Attach documentation, if applicable, to the Client File</a:t>
          </a:r>
          <a:endParaRPr lang="en-US" sz="1000" i="1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2804265" y="284437"/>
        <a:ext cx="5441217" cy="3841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7T18:34:34.2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27,'106'2,"115"-4,-138-10,-53 7,55-3,-63 8,68-2,162 20,-166-9,1-4,106-7,-52-1,-92 3,0 1,78 14,47 10,-137-20,73 1,-76-6,0 1,60 12,-46-6,1-2,0-2,86-6,-28 1,39-1,157 6,-152 21,-29 0,-88-15,1-2,63 5,285-12,-166-2,-187 0,56-9,21-2,729 11,-406 5,-101-3,-305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7T18:34:38.48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1,'12'5,"0"0,0-1,1-1,0 1,0-2,0 0,13 0,98-2,-66-1,1250 0,-1161 13,-8 1,-118-13,56 0,0 4,138 24,-123-11,0-5,1-3,114-4,-182-6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794E-0FE0-4C03-BECB-FEF0CAAD4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390E-9EB2-4815-A496-32276558C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96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ustomersupport@ghllc.com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4C3574-F18F-4220-9B0C-1973911D76B8}"/>
              </a:ext>
            </a:extLst>
          </p:cNvPr>
          <p:cNvSpPr/>
          <p:nvPr/>
        </p:nvSpPr>
        <p:spPr>
          <a:xfrm flipV="1">
            <a:off x="1702275" y="6793868"/>
            <a:ext cx="5803458" cy="20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Global Validation request should never be withdrawn from agents Responder Queue until flipped to Internal Status as Waiting for Accounting.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4CF00EA-18D8-4F39-8F50-C71F3D2311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0325411"/>
              </p:ext>
            </p:extLst>
          </p:nvPr>
        </p:nvGraphicFramePr>
        <p:xfrm>
          <a:off x="520368" y="1714198"/>
          <a:ext cx="8453279" cy="4842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B059544-6CAC-427A-9B37-1CE87B3B369B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4463" y="703148"/>
            <a:ext cx="3318816" cy="76148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14D491-620D-4158-AA8A-AF3D0B6809B2}"/>
              </a:ext>
            </a:extLst>
          </p:cNvPr>
          <p:cNvSpPr/>
          <p:nvPr/>
        </p:nvSpPr>
        <p:spPr>
          <a:xfrm>
            <a:off x="2212695" y="654068"/>
            <a:ext cx="2768367" cy="868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Whenever you complete a Global Validation dialer call or see alerts that state: Global account failed validation or Multiple Global Accts Open – WILL NOT DRAFT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B123BB0-E5CE-4CA4-8F32-8976D2BE4BCF}"/>
              </a:ext>
            </a:extLst>
          </p:cNvPr>
          <p:cNvSpPr/>
          <p:nvPr/>
        </p:nvSpPr>
        <p:spPr>
          <a:xfrm>
            <a:off x="5064312" y="939786"/>
            <a:ext cx="1184366" cy="243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663A77-91C8-40FF-954C-0F4BCC948AD4}"/>
              </a:ext>
            </a:extLst>
          </p:cNvPr>
          <p:cNvSpPr/>
          <p:nvPr/>
        </p:nvSpPr>
        <p:spPr>
          <a:xfrm>
            <a:off x="6331928" y="627465"/>
            <a:ext cx="2652155" cy="868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Review the request to see what is needed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FB3851-DCEF-453E-9A0D-D08FE0498513}"/>
              </a:ext>
            </a:extLst>
          </p:cNvPr>
          <p:cNvSpPr/>
          <p:nvPr/>
        </p:nvSpPr>
        <p:spPr>
          <a:xfrm>
            <a:off x="0" y="435948"/>
            <a:ext cx="9144000" cy="84051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125880-100D-484E-A647-E29126D2884C}"/>
              </a:ext>
            </a:extLst>
          </p:cNvPr>
          <p:cNvSpPr/>
          <p:nvPr/>
        </p:nvSpPr>
        <p:spPr>
          <a:xfrm>
            <a:off x="0" y="27200"/>
            <a:ext cx="4580636" cy="390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Validation Request</a:t>
            </a:r>
          </a:p>
        </p:txBody>
      </p:sp>
      <p:pic>
        <p:nvPicPr>
          <p:cNvPr id="19" name="Picture 2" descr="ClearOne Advantage">
            <a:extLst>
              <a:ext uri="{FF2B5EF4-FFF2-40B4-BE49-F238E27FC236}">
                <a16:creationId xmlns:a16="http://schemas.microsoft.com/office/drawing/2014/main" id="{23771903-BD2D-4D21-8E82-54F3695F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626" y="74073"/>
            <a:ext cx="1210457" cy="33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8EA26A-9F97-4C2F-2100-07DD8E610152}"/>
              </a:ext>
            </a:extLst>
          </p:cNvPr>
          <p:cNvSpPr txBox="1"/>
          <p:nvPr/>
        </p:nvSpPr>
        <p:spPr>
          <a:xfrm>
            <a:off x="5656495" y="37413"/>
            <a:ext cx="24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Reviewed 7/26/2023</a:t>
            </a:r>
          </a:p>
        </p:txBody>
      </p:sp>
    </p:spTree>
    <p:extLst>
      <p:ext uri="{BB962C8B-B14F-4D97-AF65-F5344CB8AC3E}">
        <p14:creationId xmlns:p14="http://schemas.microsoft.com/office/powerpoint/2010/main" val="144558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80092-881E-233A-D622-44EC06D3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58EC1E-4AA5-98C3-B739-9FA476897E50}"/>
              </a:ext>
            </a:extLst>
          </p:cNvPr>
          <p:cNvSpPr/>
          <p:nvPr/>
        </p:nvSpPr>
        <p:spPr>
          <a:xfrm>
            <a:off x="1638267" y="6228757"/>
            <a:ext cx="5867466" cy="5285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Global Validation request should never be withdrawn from agents Responder Queue until flipped to Internal Status as Waiting for Accounting.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942E1-C159-3192-93C8-E03872B516D9}"/>
              </a:ext>
            </a:extLst>
          </p:cNvPr>
          <p:cNvSpPr/>
          <p:nvPr/>
        </p:nvSpPr>
        <p:spPr>
          <a:xfrm>
            <a:off x="0" y="435948"/>
            <a:ext cx="9144000" cy="84051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7CF60-7294-4E7F-7531-E53A443DE00B}"/>
              </a:ext>
            </a:extLst>
          </p:cNvPr>
          <p:cNvSpPr/>
          <p:nvPr/>
        </p:nvSpPr>
        <p:spPr>
          <a:xfrm>
            <a:off x="0" y="27200"/>
            <a:ext cx="4580636" cy="390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Global Validation Request - Extended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ClearOne Advantage">
            <a:extLst>
              <a:ext uri="{FF2B5EF4-FFF2-40B4-BE49-F238E27FC236}">
                <a16:creationId xmlns:a16="http://schemas.microsoft.com/office/drawing/2014/main" id="{5AAD1575-AC05-0787-AEF9-EB97F1683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626" y="74073"/>
            <a:ext cx="1210457" cy="33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 descr="A blue and white triangle with white text&#10;&#10;AI-generated content may be incorrect.">
            <a:extLst>
              <a:ext uri="{FF2B5EF4-FFF2-40B4-BE49-F238E27FC236}">
                <a16:creationId xmlns:a16="http://schemas.microsoft.com/office/drawing/2014/main" id="{13CD69C8-A257-55C4-2FE1-10A07D6C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19" y="1166813"/>
            <a:ext cx="2657475" cy="452437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A939BA8-5AC2-23C2-0250-B5E36C5CA16A}"/>
              </a:ext>
            </a:extLst>
          </p:cNvPr>
          <p:cNvSpPr txBox="1"/>
          <p:nvPr/>
        </p:nvSpPr>
        <p:spPr>
          <a:xfrm>
            <a:off x="2907792" y="1252728"/>
            <a:ext cx="303580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u="sng">
                <a:latin typeface="Calibri Light"/>
                <a:ea typeface="Calibri Light"/>
                <a:cs typeface="Calibri Light"/>
              </a:rPr>
              <a:t>Additional Global verifications for proof of address challenges: </a:t>
            </a:r>
          </a:p>
          <a:p>
            <a:endParaRPr lang="en-US" sz="1200">
              <a:latin typeface="Calibri Light"/>
              <a:ea typeface="Calibri Light"/>
              <a:cs typeface="Calibri Light"/>
            </a:endParaRPr>
          </a:p>
          <a:p>
            <a:r>
              <a:rPr lang="en-US" sz="1200" b="1">
                <a:latin typeface="Calibri Light"/>
                <a:ea typeface="Calibri Light"/>
                <a:cs typeface="Calibri Light"/>
              </a:rPr>
              <a:t>Military Personnel</a:t>
            </a:r>
            <a:r>
              <a:rPr lang="en-US" sz="1200">
                <a:latin typeface="Calibri Light"/>
                <a:ea typeface="Calibri Light"/>
                <a:cs typeface="Calibri Light"/>
              </a:rPr>
              <a:t> – A letter from a commanding officer on official letterhead advising of the client’s address </a:t>
            </a:r>
          </a:p>
          <a:p>
            <a:r>
              <a:rPr lang="en-US" sz="1200" b="1">
                <a:latin typeface="Calibri Light"/>
                <a:ea typeface="Calibri Light"/>
                <a:cs typeface="Calibri Light"/>
              </a:rPr>
              <a:t>Tribal Members -</a:t>
            </a:r>
            <a:r>
              <a:rPr lang="en-US" sz="1200">
                <a:latin typeface="Calibri Light"/>
                <a:ea typeface="Calibri Light"/>
                <a:cs typeface="Calibri Light"/>
              </a:rPr>
              <a:t> A letter from postal service with directions to get to their house </a:t>
            </a:r>
          </a:p>
          <a:p>
            <a:r>
              <a:rPr lang="en-US" sz="1200" b="1">
                <a:latin typeface="Calibri Light"/>
                <a:ea typeface="Calibri Light"/>
                <a:cs typeface="Calibri Light"/>
              </a:rPr>
              <a:t>Living with a friend or family</a:t>
            </a:r>
            <a:r>
              <a:rPr lang="en-US" sz="1200">
                <a:latin typeface="Calibri Light"/>
                <a:ea typeface="Calibri Light"/>
                <a:cs typeface="Calibri Light"/>
              </a:rPr>
              <a:t> - A letter from the homeowner advising the client lives at their address with a copy of their current utility bill </a:t>
            </a:r>
          </a:p>
          <a:p>
            <a:r>
              <a:rPr lang="en-US" sz="1200" b="1">
                <a:latin typeface="Calibri Light"/>
                <a:ea typeface="Calibri Light"/>
                <a:cs typeface="Calibri Light"/>
              </a:rPr>
              <a:t>Temporary Housing (shelter/hotel)</a:t>
            </a:r>
            <a:r>
              <a:rPr lang="en-US" sz="1200">
                <a:latin typeface="Calibri Light"/>
                <a:ea typeface="Calibri Light"/>
                <a:cs typeface="Calibri Light"/>
              </a:rPr>
              <a:t> - A letter from a shelter manager on official letter head verifying client temporarily resides at that address.</a:t>
            </a:r>
          </a:p>
        </p:txBody>
      </p:sp>
    </p:spTree>
    <p:extLst>
      <p:ext uri="{BB962C8B-B14F-4D97-AF65-F5344CB8AC3E}">
        <p14:creationId xmlns:p14="http://schemas.microsoft.com/office/powerpoint/2010/main" val="192336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44D3DF-F201-A379-876C-8ECF4E7DC439}"/>
              </a:ext>
            </a:extLst>
          </p:cNvPr>
          <p:cNvSpPr/>
          <p:nvPr/>
        </p:nvSpPr>
        <p:spPr>
          <a:xfrm>
            <a:off x="1332000" y="615283"/>
            <a:ext cx="6480000" cy="198000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6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When a client’s Global account has Failed Validation, an alert can be found in the client’s alert section on their main page via QuickBase or in the Global Information section. This is a crucial step to take when finding the root cause of the Failed Global Validation.</a:t>
            </a:r>
          </a:p>
          <a:p>
            <a:endParaRPr lang="en-US" sz="16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6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There are many different reasons a client’s account is unable to be verified via Global. We will briefly summarize those reasons and ways to find them. </a:t>
            </a:r>
          </a:p>
          <a:p>
            <a:r>
              <a:rPr lang="en-US" sz="16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*All Verification Documents need to be saved as PDF. ID included.*</a:t>
            </a:r>
          </a:p>
          <a:p>
            <a:r>
              <a:rPr lang="en-US" sz="16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 </a:t>
            </a:r>
            <a:r>
              <a:rPr lang="en-US" sz="11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(JPEG images no longer accepted)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B2C52-5A0C-4A7D-B2BE-AB6A285342A8}"/>
              </a:ext>
            </a:extLst>
          </p:cNvPr>
          <p:cNvSpPr/>
          <p:nvPr/>
        </p:nvSpPr>
        <p:spPr>
          <a:xfrm>
            <a:off x="0" y="0"/>
            <a:ext cx="5298141" cy="430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Verifying Client’s Needs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C2613B-A1AD-4A86-A8F3-A7E5B8FDB2DD}"/>
              </a:ext>
            </a:extLst>
          </p:cNvPr>
          <p:cNvSpPr/>
          <p:nvPr/>
        </p:nvSpPr>
        <p:spPr>
          <a:xfrm>
            <a:off x="0" y="430306"/>
            <a:ext cx="9144000" cy="6275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ClearOne Advantage">
            <a:extLst>
              <a:ext uri="{FF2B5EF4-FFF2-40B4-BE49-F238E27FC236}">
                <a16:creationId xmlns:a16="http://schemas.microsoft.com/office/drawing/2014/main" id="{DC157470-A859-47FA-A499-CC739887F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669" y="1982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A332729-ED06-48D5-9DE7-F0E74B81B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3" y="2932660"/>
            <a:ext cx="2658425" cy="1796733"/>
          </a:xfrm>
          <a:prstGeom prst="rect">
            <a:avLst/>
          </a:prstGeo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4FEC9B7-8C0D-4B2C-8770-422BADD3D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927" y="2932660"/>
            <a:ext cx="2917227" cy="1796733"/>
          </a:xfrm>
          <a:prstGeom prst="rect">
            <a:avLst/>
          </a:prstGeom>
        </p:spPr>
      </p:pic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7F59AEF3-E23D-4E6D-A5C9-798D6ABACE42}"/>
              </a:ext>
            </a:extLst>
          </p:cNvPr>
          <p:cNvSpPr/>
          <p:nvPr/>
        </p:nvSpPr>
        <p:spPr>
          <a:xfrm>
            <a:off x="3514164" y="3587513"/>
            <a:ext cx="1945341" cy="833718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Checking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ABA50FA-03D2-450D-91F3-DA7840A150F1}"/>
                  </a:ext>
                </a:extLst>
              </p14:cNvPr>
              <p14:cNvContentPartPr/>
              <p14:nvPr/>
            </p14:nvContentPartPr>
            <p14:xfrm>
              <a:off x="286574" y="4221311"/>
              <a:ext cx="2096640" cy="64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ABA50FA-03D2-450D-91F3-DA7840A150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6574" y="4042311"/>
                <a:ext cx="2276280" cy="422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48B77DF-B2A8-4307-92DA-647BD591C5D3}"/>
                  </a:ext>
                </a:extLst>
              </p14:cNvPr>
              <p14:cNvContentPartPr/>
              <p14:nvPr/>
            </p14:nvContentPartPr>
            <p14:xfrm>
              <a:off x="5835614" y="4114391"/>
              <a:ext cx="1004400" cy="45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48B77DF-B2A8-4307-92DA-647BD591C5D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45614" y="3934391"/>
                <a:ext cx="1184040" cy="405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10">
            <a:extLst>
              <a:ext uri="{FF2B5EF4-FFF2-40B4-BE49-F238E27FC236}">
                <a16:creationId xmlns:a16="http://schemas.microsoft.com/office/drawing/2014/main" id="{DFB19BB6-BB59-B14D-2381-74F22A70FD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0381" y="4733624"/>
            <a:ext cx="2743200" cy="191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6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9BFD-F6DA-41D9-A837-A51D69FB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5728447" cy="44823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Documents Needed – Global Notary AK Form/ID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1EEF8-D1B5-4B13-9890-E29910DBE5BC}"/>
              </a:ext>
            </a:extLst>
          </p:cNvPr>
          <p:cNvSpPr/>
          <p:nvPr/>
        </p:nvSpPr>
        <p:spPr>
          <a:xfrm>
            <a:off x="0" y="430306"/>
            <a:ext cx="9144000" cy="6275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7CE9BF14-BCD1-448C-928E-4D91C2695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13" y="681319"/>
            <a:ext cx="4417687" cy="6047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 descr="ClearOne Advantage">
            <a:extLst>
              <a:ext uri="{FF2B5EF4-FFF2-40B4-BE49-F238E27FC236}">
                <a16:creationId xmlns:a16="http://schemas.microsoft.com/office/drawing/2014/main" id="{15C8C6D6-9849-408E-862B-F2D1077AA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669" y="1982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D0BB2F-3301-4E4B-9EC4-68F0627E9131}"/>
              </a:ext>
            </a:extLst>
          </p:cNvPr>
          <p:cNvSpPr/>
          <p:nvPr/>
        </p:nvSpPr>
        <p:spPr>
          <a:xfrm>
            <a:off x="4867835" y="681319"/>
            <a:ext cx="4121852" cy="604705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</a:rPr>
              <a:t>This form is requested normally when a client’s identity cannot be verified. Please reference the bullet points below and picture:</a:t>
            </a: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This form would need to be filled out by the client’s bank.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client’s photo ID would need to be seen on the documentation.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client’s form should look like the picture when being turned in and photo ID must be visible as shown in the photo.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document must be saved as “</a:t>
            </a:r>
            <a:r>
              <a:rPr lang="en-US" err="1">
                <a:solidFill>
                  <a:schemeClr val="tx1"/>
                </a:solidFill>
              </a:rPr>
              <a:t>globalnotaryform</a:t>
            </a:r>
            <a:r>
              <a:rPr lang="en-US">
                <a:solidFill>
                  <a:schemeClr val="tx1"/>
                </a:solidFill>
              </a:rPr>
              <a:t>” all lowercase letters and no spaces. </a:t>
            </a:r>
          </a:p>
        </p:txBody>
      </p:sp>
    </p:spTree>
    <p:extLst>
      <p:ext uri="{BB962C8B-B14F-4D97-AF65-F5344CB8AC3E}">
        <p14:creationId xmlns:p14="http://schemas.microsoft.com/office/powerpoint/2010/main" val="369374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EA07-0E41-485E-ACB2-D0982AA9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86700" cy="48409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Documents Needed – Bank Verification 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90626-3510-4977-B810-46C84071597E}"/>
              </a:ext>
            </a:extLst>
          </p:cNvPr>
          <p:cNvSpPr/>
          <p:nvPr/>
        </p:nvSpPr>
        <p:spPr>
          <a:xfrm>
            <a:off x="0" y="430306"/>
            <a:ext cx="9144000" cy="6275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, table&#10;&#10;Description automatically generated">
            <a:extLst>
              <a:ext uri="{FF2B5EF4-FFF2-40B4-BE49-F238E27FC236}">
                <a16:creationId xmlns:a16="http://schemas.microsoft.com/office/drawing/2014/main" id="{27D0FF92-1E99-4D47-A5C4-A13A6C3A2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56" y="663389"/>
            <a:ext cx="4169632" cy="6015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455C64-E9BB-43C5-98E5-435A7389F8EF}"/>
              </a:ext>
            </a:extLst>
          </p:cNvPr>
          <p:cNvSpPr/>
          <p:nvPr/>
        </p:nvSpPr>
        <p:spPr>
          <a:xfrm>
            <a:off x="4742329" y="663389"/>
            <a:ext cx="4169632" cy="601531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</a:rPr>
              <a:t>This form is requested normally when a client’s identity cannot be verified. Please reference the bullet points below and picture:</a:t>
            </a: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This form is a form that would need to be filled out by the client’s bank and returned.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Directions will be sent along with the document for bank representatives to follow accordingly.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This form will be sent to us directly from Global if the client needs to take the document into their bank to have it filled out.</a:t>
            </a:r>
          </a:p>
        </p:txBody>
      </p:sp>
      <p:pic>
        <p:nvPicPr>
          <p:cNvPr id="7" name="Picture 2" descr="ClearOne Advantage">
            <a:extLst>
              <a:ext uri="{FF2B5EF4-FFF2-40B4-BE49-F238E27FC236}">
                <a16:creationId xmlns:a16="http://schemas.microsoft.com/office/drawing/2014/main" id="{B8CEF930-FA75-4AB3-AE70-4D8DFCC21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669" y="1982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87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649E-2593-4BDB-A59E-5666EA93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56729" cy="502023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Documents Needed – Miscellaneous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CA5ADF-18FA-4F0A-80DD-945C5B56275C}"/>
              </a:ext>
            </a:extLst>
          </p:cNvPr>
          <p:cNvSpPr/>
          <p:nvPr/>
        </p:nvSpPr>
        <p:spPr>
          <a:xfrm>
            <a:off x="0" y="430306"/>
            <a:ext cx="9144000" cy="6275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learOne Advantage">
            <a:extLst>
              <a:ext uri="{FF2B5EF4-FFF2-40B4-BE49-F238E27FC236}">
                <a16:creationId xmlns:a16="http://schemas.microsoft.com/office/drawing/2014/main" id="{822BCFA6-751A-48C4-94C8-2CB6FAEE7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669" y="1982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A81713F2-E5EF-4048-9906-6036821C1A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3" t="-1022" r="453" b="1022"/>
          <a:stretch/>
        </p:blipFill>
        <p:spPr>
          <a:xfrm>
            <a:off x="266984" y="537360"/>
            <a:ext cx="4122997" cy="3045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05B81147-6A8A-41D8-BC12-9C3DE5410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1" y="3657267"/>
            <a:ext cx="4122993" cy="3045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8A6552-EAAF-49D6-862E-536694692756}"/>
              </a:ext>
            </a:extLst>
          </p:cNvPr>
          <p:cNvSpPr/>
          <p:nvPr/>
        </p:nvSpPr>
        <p:spPr>
          <a:xfrm>
            <a:off x="4572000" y="611904"/>
            <a:ext cx="4472863" cy="609072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</a:rPr>
              <a:t>This request isn’t required as often. However, when Global Holdings is requesting forms of POR/UTB via leasing form or special cases where a client may not be able to provide the standard documents needed. Please reference the bullet points below and pictures:</a:t>
            </a: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forms shown in the picture are usually  needed from client’s who are either serving in the military or have retired.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Finding documentation to help validate their account may be a challenge but when you communicate with the client on what is needed, it can be done. </a:t>
            </a:r>
          </a:p>
        </p:txBody>
      </p:sp>
    </p:spTree>
    <p:extLst>
      <p:ext uri="{BB962C8B-B14F-4D97-AF65-F5344CB8AC3E}">
        <p14:creationId xmlns:p14="http://schemas.microsoft.com/office/powerpoint/2010/main" val="99163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Global Validation Request – Validation Documents</a:t>
            </a:r>
            <a:endParaRPr lang="en-US" sz="20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626" y="74073"/>
            <a:ext cx="1210457" cy="33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4359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7521A55-89C8-4107-9183-82314FB99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700048"/>
              </p:ext>
            </p:extLst>
          </p:nvPr>
        </p:nvGraphicFramePr>
        <p:xfrm>
          <a:off x="282219" y="1247085"/>
          <a:ext cx="8573052" cy="5342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684">
                  <a:extLst>
                    <a:ext uri="{9D8B030D-6E8A-4147-A177-3AD203B41FA5}">
                      <a16:colId xmlns:a16="http://schemas.microsoft.com/office/drawing/2014/main" val="3650799254"/>
                    </a:ext>
                  </a:extLst>
                </a:gridCol>
                <a:gridCol w="2857684">
                  <a:extLst>
                    <a:ext uri="{9D8B030D-6E8A-4147-A177-3AD203B41FA5}">
                      <a16:colId xmlns:a16="http://schemas.microsoft.com/office/drawing/2014/main" val="2098269647"/>
                    </a:ext>
                  </a:extLst>
                </a:gridCol>
                <a:gridCol w="2857684">
                  <a:extLst>
                    <a:ext uri="{9D8B030D-6E8A-4147-A177-3AD203B41FA5}">
                      <a16:colId xmlns:a16="http://schemas.microsoft.com/office/drawing/2014/main" val="1713814651"/>
                    </a:ext>
                  </a:extLst>
                </a:gridCol>
              </a:tblGrid>
              <a:tr h="72592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UTB (Proof of Residence) requested: (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documents must be dated within the past 6 months, and match the address listed on the client DAAA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SSN document requested: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ID Requested: (non-U.S. Government issued IDs are not accepted/Temp ID's not Accepted)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82979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When uploaded must be named: Client Proof of Address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When uploaded must be named: Client SSN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When uploaded must be named: Client ID Verification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8515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r>
                        <a:rPr lang="en-US" sz="1200"/>
                        <a:t>Utility Bill (</a:t>
                      </a:r>
                      <a:r>
                        <a:rPr lang="en-US" sz="1200" b="0" i="1" u="none" strike="noStrike" noProof="0">
                          <a:latin typeface="Calibri"/>
                        </a:rPr>
                        <a:t>•Full Service address must be stated. Electronic bills are accepted.</a:t>
                      </a:r>
                      <a:r>
                        <a:rPr lang="en-US" sz="12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Social Security Card (must be signed)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 Driver’s License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961306"/>
                  </a:ext>
                </a:extLst>
              </a:tr>
              <a:tr h="564609">
                <a:tc>
                  <a:txBody>
                    <a:bodyPr/>
                    <a:lstStyle/>
                    <a:p>
                      <a:r>
                        <a:rPr lang="en-US" sz="1200"/>
                        <a:t>Delivery Receipt (</a:t>
                      </a:r>
                      <a:r>
                        <a:rPr lang="en-US" sz="1200" b="0" i="1" u="none" strike="noStrike" noProof="0">
                          <a:latin typeface="Calibri"/>
                        </a:rPr>
                        <a:t>Shipping labels are not accepted)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Social Security Statement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(must be signed)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State ID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76195"/>
                  </a:ext>
                </a:extLst>
              </a:tr>
              <a:tr h="635185">
                <a:tc>
                  <a:txBody>
                    <a:bodyPr/>
                    <a:lstStyle/>
                    <a:p>
                      <a:r>
                        <a:rPr lang="en-US" sz="1200"/>
                        <a:t>Property Tax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 letter from the Social Security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Permanent Resident ID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78752"/>
                  </a:ext>
                </a:extLst>
              </a:tr>
              <a:tr h="262140">
                <a:tc>
                  <a:txBody>
                    <a:bodyPr/>
                    <a:lstStyle/>
                    <a:p>
                      <a:r>
                        <a:rPr lang="en-US" sz="1200"/>
                        <a:t>Homeowner’s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ITIN Card (must be dated within 3 years)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Passport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62273"/>
                  </a:ext>
                </a:extLst>
              </a:tr>
              <a:tr h="252058">
                <a:tc>
                  <a:txBody>
                    <a:bodyPr/>
                    <a:lstStyle/>
                    <a:p>
                      <a:r>
                        <a:rPr lang="en-US" sz="1200"/>
                        <a:t>Home Loan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Tax Return dated &lt; 3 years acceptable if ITIN Statement is &gt; 3 years</a:t>
                      </a:r>
                      <a:endParaRPr lang="en-US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Resident Alien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736427"/>
                  </a:ext>
                </a:extLst>
              </a:tr>
              <a:tr h="433539">
                <a:tc>
                  <a:txBody>
                    <a:bodyPr/>
                    <a:lstStyle/>
                    <a:p>
                      <a:r>
                        <a:rPr lang="en-US" sz="1200"/>
                        <a:t>Something mailed(USPS) to the client’s physical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 Birth Certificate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634355"/>
                  </a:ext>
                </a:extLst>
              </a:tr>
              <a:tr h="433539">
                <a:tc>
                  <a:txBody>
                    <a:bodyPr/>
                    <a:lstStyle/>
                    <a:p>
                      <a:r>
                        <a:rPr lang="en-US" sz="1200"/>
                        <a:t>Valid ID listing physical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 Visa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83993"/>
                  </a:ext>
                </a:extLst>
              </a:tr>
              <a:tr h="433539">
                <a:tc>
                  <a:txBody>
                    <a:bodyPr/>
                    <a:lstStyle/>
                    <a:p>
                      <a:r>
                        <a:rPr lang="en-US" sz="1200"/>
                        <a:t>Lease/Rental agreement (all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9963"/>
                  </a:ext>
                </a:extLst>
              </a:tr>
              <a:tr h="252058">
                <a:tc>
                  <a:txBody>
                    <a:bodyPr/>
                    <a:lstStyle/>
                    <a:p>
                      <a:r>
                        <a:rPr lang="en-US" sz="1200"/>
                        <a:t>Vehicle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57367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1ADE6D-0765-470D-82AA-84A2516FD29D}"/>
              </a:ext>
            </a:extLst>
          </p:cNvPr>
          <p:cNvSpPr/>
          <p:nvPr/>
        </p:nvSpPr>
        <p:spPr>
          <a:xfrm>
            <a:off x="1551995" y="491853"/>
            <a:ext cx="5835486" cy="6460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Here’s a list of documents Global Holdings will accept for validations</a:t>
            </a:r>
          </a:p>
        </p:txBody>
      </p:sp>
    </p:spTree>
    <p:extLst>
      <p:ext uri="{BB962C8B-B14F-4D97-AF65-F5344CB8AC3E}">
        <p14:creationId xmlns:p14="http://schemas.microsoft.com/office/powerpoint/2010/main" val="127331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BA39-BB28-0756-ACAF-071FF448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7" y="-3234"/>
            <a:ext cx="7886700" cy="502170"/>
          </a:xfrm>
        </p:spPr>
        <p:txBody>
          <a:bodyPr>
            <a:normAutofit/>
          </a:bodyPr>
          <a:lstStyle/>
          <a:p>
            <a:r>
              <a:rPr lang="en-US" sz="2000" b="1">
                <a:cs typeface="Calibri Light"/>
              </a:rPr>
              <a:t>Multi Global Accounts Open – WILL NOT DRAFT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C5FA2-6613-1E22-CBB5-29D966D5AAAA}"/>
              </a:ext>
            </a:extLst>
          </p:cNvPr>
          <p:cNvSpPr/>
          <p:nvPr/>
        </p:nvSpPr>
        <p:spPr>
          <a:xfrm>
            <a:off x="0" y="4359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6" name="Picture 1506">
            <a:extLst>
              <a:ext uri="{FF2B5EF4-FFF2-40B4-BE49-F238E27FC236}">
                <a16:creationId xmlns:a16="http://schemas.microsoft.com/office/drawing/2014/main" id="{ACB34BBC-041F-FCE2-8D14-648CE64C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00" y="4657529"/>
            <a:ext cx="2743200" cy="1919416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76B163-1C04-2734-02B0-3AFFFA657CE1}"/>
              </a:ext>
            </a:extLst>
          </p:cNvPr>
          <p:cNvSpPr/>
          <p:nvPr/>
        </p:nvSpPr>
        <p:spPr>
          <a:xfrm>
            <a:off x="2151675" y="657675"/>
            <a:ext cx="4824000" cy="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Inquire if the client is working with a second debt settlement company</a:t>
            </a:r>
            <a:endParaRPr lang="en-US"/>
          </a:p>
        </p:txBody>
      </p:sp>
      <p:sp>
        <p:nvSpPr>
          <p:cNvPr id="5197" name="Rectangle: Rounded Corners 5196">
            <a:extLst>
              <a:ext uri="{FF2B5EF4-FFF2-40B4-BE49-F238E27FC236}">
                <a16:creationId xmlns:a16="http://schemas.microsoft.com/office/drawing/2014/main" id="{DBA0F16E-9879-BE2C-2C7C-157F6AFF8016}"/>
              </a:ext>
            </a:extLst>
          </p:cNvPr>
          <p:cNvSpPr/>
          <p:nvPr/>
        </p:nvSpPr>
        <p:spPr>
          <a:xfrm>
            <a:off x="980549" y="3599549"/>
            <a:ext cx="7488000" cy="84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speaking to client by phone, WT to GH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speaking to client via chat or email – provide GH contact info</a:t>
            </a:r>
            <a:endParaRPr lang="en-US"/>
          </a:p>
        </p:txBody>
      </p:sp>
      <p:sp>
        <p:nvSpPr>
          <p:cNvPr id="5228" name="Rectangle: Rounded Corners 5227">
            <a:extLst>
              <a:ext uri="{FF2B5EF4-FFF2-40B4-BE49-F238E27FC236}">
                <a16:creationId xmlns:a16="http://schemas.microsoft.com/office/drawing/2014/main" id="{28DBA745-EAB4-0AC9-A530-B8504BCAFFFB}"/>
              </a:ext>
            </a:extLst>
          </p:cNvPr>
          <p:cNvSpPr/>
          <p:nvPr/>
        </p:nvSpPr>
        <p:spPr>
          <a:xfrm>
            <a:off x="279675" y="1440674"/>
            <a:ext cx="4149000" cy="59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If yes, client needs to let Global Holdings know that they want to keep both accounts open</a:t>
            </a:r>
            <a:endParaRPr lang="en-US"/>
          </a:p>
        </p:txBody>
      </p:sp>
      <p:sp>
        <p:nvSpPr>
          <p:cNvPr id="5229" name="Rectangle: Rounded Corners 5228">
            <a:extLst>
              <a:ext uri="{FF2B5EF4-FFF2-40B4-BE49-F238E27FC236}">
                <a16:creationId xmlns:a16="http://schemas.microsoft.com/office/drawing/2014/main" id="{13EA4CA4-1C65-F25B-8CBB-27E7F34E41D1}"/>
              </a:ext>
            </a:extLst>
          </p:cNvPr>
          <p:cNvSpPr/>
          <p:nvPr/>
        </p:nvSpPr>
        <p:spPr>
          <a:xfrm>
            <a:off x="4788675" y="1440674"/>
            <a:ext cx="4149000" cy="59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If no client needs to let Global Holdings know to close secondary account</a:t>
            </a:r>
          </a:p>
        </p:txBody>
      </p:sp>
      <p:sp>
        <p:nvSpPr>
          <p:cNvPr id="5244" name="Arrow: Down 5243">
            <a:extLst>
              <a:ext uri="{FF2B5EF4-FFF2-40B4-BE49-F238E27FC236}">
                <a16:creationId xmlns:a16="http://schemas.microsoft.com/office/drawing/2014/main" id="{7D15A326-60A7-9550-1EE9-BD97DA743C50}"/>
              </a:ext>
            </a:extLst>
          </p:cNvPr>
          <p:cNvSpPr/>
          <p:nvPr/>
        </p:nvSpPr>
        <p:spPr>
          <a:xfrm>
            <a:off x="2039184" y="2116296"/>
            <a:ext cx="486000" cy="2880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5" name="Arrow: Down 5244">
            <a:extLst>
              <a:ext uri="{FF2B5EF4-FFF2-40B4-BE49-F238E27FC236}">
                <a16:creationId xmlns:a16="http://schemas.microsoft.com/office/drawing/2014/main" id="{E1C287BA-761F-781F-16A7-945BF8D1E1D9}"/>
              </a:ext>
            </a:extLst>
          </p:cNvPr>
          <p:cNvSpPr/>
          <p:nvPr/>
        </p:nvSpPr>
        <p:spPr>
          <a:xfrm>
            <a:off x="6728184" y="2116296"/>
            <a:ext cx="486000" cy="2880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6" name="Rectangle: Rounded Corners 5245">
            <a:extLst>
              <a:ext uri="{FF2B5EF4-FFF2-40B4-BE49-F238E27FC236}">
                <a16:creationId xmlns:a16="http://schemas.microsoft.com/office/drawing/2014/main" id="{DA4C9BC8-6827-7B17-20EE-5C76475C71A9}"/>
              </a:ext>
            </a:extLst>
          </p:cNvPr>
          <p:cNvSpPr/>
          <p:nvPr/>
        </p:nvSpPr>
        <p:spPr>
          <a:xfrm>
            <a:off x="279675" y="2520674"/>
            <a:ext cx="4149000" cy="59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No GV request required</a:t>
            </a:r>
          </a:p>
        </p:txBody>
      </p:sp>
      <p:sp>
        <p:nvSpPr>
          <p:cNvPr id="5247" name="Rectangle: Rounded Corners 5246">
            <a:extLst>
              <a:ext uri="{FF2B5EF4-FFF2-40B4-BE49-F238E27FC236}">
                <a16:creationId xmlns:a16="http://schemas.microsoft.com/office/drawing/2014/main" id="{67D4CB96-2B72-40C9-14A1-584C38CAC115}"/>
              </a:ext>
            </a:extLst>
          </p:cNvPr>
          <p:cNvSpPr/>
          <p:nvPr/>
        </p:nvSpPr>
        <p:spPr>
          <a:xfrm>
            <a:off x="4788675" y="2520674"/>
            <a:ext cx="4149000" cy="59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 Submit GV Request</a:t>
            </a:r>
          </a:p>
        </p:txBody>
      </p:sp>
      <p:sp>
        <p:nvSpPr>
          <p:cNvPr id="5248" name="Arrow: Down 5247">
            <a:extLst>
              <a:ext uri="{FF2B5EF4-FFF2-40B4-BE49-F238E27FC236}">
                <a16:creationId xmlns:a16="http://schemas.microsoft.com/office/drawing/2014/main" id="{CC404EB2-29F7-8462-3113-F278F2AF6A08}"/>
              </a:ext>
            </a:extLst>
          </p:cNvPr>
          <p:cNvSpPr/>
          <p:nvPr/>
        </p:nvSpPr>
        <p:spPr>
          <a:xfrm rot="-3180000">
            <a:off x="3497184" y="3205296"/>
            <a:ext cx="486000" cy="2880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9" name="Arrow: Down 5248">
            <a:extLst>
              <a:ext uri="{FF2B5EF4-FFF2-40B4-BE49-F238E27FC236}">
                <a16:creationId xmlns:a16="http://schemas.microsoft.com/office/drawing/2014/main" id="{467E9547-7BED-925A-7DF8-2FA4794CB7C3}"/>
              </a:ext>
            </a:extLst>
          </p:cNvPr>
          <p:cNvSpPr/>
          <p:nvPr/>
        </p:nvSpPr>
        <p:spPr>
          <a:xfrm rot="2520000">
            <a:off x="5486184" y="3196296"/>
            <a:ext cx="486000" cy="2880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0" name="Arrow: Down 5249">
            <a:extLst>
              <a:ext uri="{FF2B5EF4-FFF2-40B4-BE49-F238E27FC236}">
                <a16:creationId xmlns:a16="http://schemas.microsoft.com/office/drawing/2014/main" id="{16C8E030-7EEF-7033-FDC4-0B155337A47E}"/>
              </a:ext>
            </a:extLst>
          </p:cNvPr>
          <p:cNvSpPr/>
          <p:nvPr/>
        </p:nvSpPr>
        <p:spPr>
          <a:xfrm>
            <a:off x="4676184" y="4609296"/>
            <a:ext cx="486000" cy="2880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1" name="Rectangle: Rounded Corners 5250">
            <a:extLst>
              <a:ext uri="{FF2B5EF4-FFF2-40B4-BE49-F238E27FC236}">
                <a16:creationId xmlns:a16="http://schemas.microsoft.com/office/drawing/2014/main" id="{B1EBF051-EB74-23EF-E3FB-4E9A197A7980}"/>
              </a:ext>
            </a:extLst>
          </p:cNvPr>
          <p:cNvSpPr/>
          <p:nvPr/>
        </p:nvSpPr>
        <p:spPr>
          <a:xfrm>
            <a:off x="3168674" y="5022674"/>
            <a:ext cx="3501000" cy="846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Calibri"/>
                <a:cs typeface="Calibri"/>
                <a:hlinkClick r:id="rId3"/>
              </a:rPr>
              <a:t>Customersupport@ghllc.com</a:t>
            </a:r>
            <a:endParaRPr lang="en-US"/>
          </a:p>
          <a:p>
            <a:pPr algn="ctr"/>
            <a:r>
              <a:rPr lang="en-US" sz="1600">
                <a:ea typeface="Calibri"/>
                <a:cs typeface="Calibri"/>
              </a:rPr>
              <a:t>1-877-271-1550</a:t>
            </a:r>
          </a:p>
        </p:txBody>
      </p:sp>
    </p:spTree>
    <p:extLst>
      <p:ext uri="{BB962C8B-B14F-4D97-AF65-F5344CB8AC3E}">
        <p14:creationId xmlns:p14="http://schemas.microsoft.com/office/powerpoint/2010/main" val="52335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BA39-BB28-0756-ACAF-071FF448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7" y="-3234"/>
            <a:ext cx="7886700" cy="502170"/>
          </a:xfrm>
        </p:spPr>
        <p:txBody>
          <a:bodyPr>
            <a:normAutofit/>
          </a:bodyPr>
          <a:lstStyle/>
          <a:p>
            <a:r>
              <a:rPr lang="en-US" sz="2000" b="1">
                <a:cs typeface="Calibri Light"/>
              </a:rPr>
              <a:t>Secure Document Upload on the Client Website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C5FA2-6613-1E22-CBB5-29D966D5AAAA}"/>
              </a:ext>
            </a:extLst>
          </p:cNvPr>
          <p:cNvSpPr/>
          <p:nvPr/>
        </p:nvSpPr>
        <p:spPr>
          <a:xfrm>
            <a:off x="0" y="4359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76B163-1C04-2734-02B0-3AFFFA657CE1}"/>
              </a:ext>
            </a:extLst>
          </p:cNvPr>
          <p:cNvSpPr/>
          <p:nvPr/>
        </p:nvSpPr>
        <p:spPr>
          <a:xfrm>
            <a:off x="268324" y="657675"/>
            <a:ext cx="8499782" cy="501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Arial"/>
                <a:cs typeface="Arial"/>
              </a:rPr>
              <a:t> Clients can securely upload their necessary documents, view the document status.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5228" name="Rectangle: Rounded Corners 5227">
            <a:extLst>
              <a:ext uri="{FF2B5EF4-FFF2-40B4-BE49-F238E27FC236}">
                <a16:creationId xmlns:a16="http://schemas.microsoft.com/office/drawing/2014/main" id="{28DBA745-EAB4-0AC9-A530-B8504BCAFFFB}"/>
              </a:ext>
            </a:extLst>
          </p:cNvPr>
          <p:cNvSpPr/>
          <p:nvPr/>
        </p:nvSpPr>
        <p:spPr>
          <a:xfrm>
            <a:off x="266687" y="1440674"/>
            <a:ext cx="8500192" cy="503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Client Website Example: </a:t>
            </a:r>
            <a:r>
              <a:rPr lang="en-US" sz="1400" i="1">
                <a:solidFill>
                  <a:schemeClr val="bg1"/>
                </a:solidFill>
                <a:latin typeface="Arial"/>
                <a:cs typeface="Arial"/>
              </a:rPr>
              <a:t>This example shows the new banner, indicating to clients that their attention is required, and the new Documents tab. </a:t>
            </a:r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 </a:t>
            </a:r>
            <a:endParaRPr lang="en-US" sz="1400">
              <a:solidFill>
                <a:schemeClr val="bg1"/>
              </a:solidFill>
              <a:cs typeface="Calibri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842EB2E-0007-1E49-0692-ED926BB45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879" y="2078182"/>
            <a:ext cx="5525640" cy="466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6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BA39-BB28-0756-ACAF-071FF448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7" y="-3234"/>
            <a:ext cx="7886700" cy="502170"/>
          </a:xfrm>
        </p:spPr>
        <p:txBody>
          <a:bodyPr>
            <a:normAutofit/>
          </a:bodyPr>
          <a:lstStyle/>
          <a:p>
            <a:r>
              <a:rPr lang="en-US" sz="2000" b="1">
                <a:cs typeface="Calibri Light"/>
              </a:rPr>
              <a:t>Secure Document Upload on the Client Website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C5FA2-6613-1E22-CBB5-29D966D5AAAA}"/>
              </a:ext>
            </a:extLst>
          </p:cNvPr>
          <p:cNvSpPr/>
          <p:nvPr/>
        </p:nvSpPr>
        <p:spPr>
          <a:xfrm>
            <a:off x="0" y="4359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76B163-1C04-2734-02B0-3AFFFA657CE1}"/>
              </a:ext>
            </a:extLst>
          </p:cNvPr>
          <p:cNvSpPr/>
          <p:nvPr/>
        </p:nvSpPr>
        <p:spPr>
          <a:xfrm>
            <a:off x="268324" y="657675"/>
            <a:ext cx="8499782" cy="501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/>
                <a:cs typeface="Arial"/>
              </a:rPr>
              <a:t>Documents Page Example:</a:t>
            </a: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 </a:t>
            </a:r>
            <a:r>
              <a:rPr lang="en-US" sz="1400" i="1">
                <a:solidFill>
                  <a:schemeClr val="bg1"/>
                </a:solidFill>
                <a:latin typeface="Arial"/>
                <a:cs typeface="Arial"/>
              </a:rPr>
              <a:t>This is the client’s view of the documents page. A client can view a list of all uploaded documents, see the status, and review rejection reasons. </a:t>
            </a:r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 </a:t>
            </a:r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3BDC82-A95C-9215-C086-951678A1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940452"/>
              </p:ext>
            </p:extLst>
          </p:nvPr>
        </p:nvGraphicFramePr>
        <p:xfrm>
          <a:off x="1462087" y="1321724"/>
          <a:ext cx="5934075" cy="5257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583075413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342025992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457200" fontAlgn="base"/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a.</a:t>
                      </a:r>
                      <a:r>
                        <a:rPr lang="en-US" sz="700">
                          <a:effectLst/>
                          <a:latin typeface="Times New Roman" panose="02020603050405020304" pitchFamily="18" charset="0"/>
                        </a:rPr>
                        <a:t>               </a:t>
                      </a:r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New “Documents” Tab </a:t>
                      </a: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457200" fontAlgn="base"/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b.</a:t>
                      </a:r>
                      <a:r>
                        <a:rPr lang="en-US" sz="700">
                          <a:effectLst/>
                          <a:latin typeface="Times New Roman" panose="02020603050405020304" pitchFamily="18" charset="0"/>
                        </a:rPr>
                        <a:t>               </a:t>
                      </a:r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Outstanding Documents &amp; Status </a:t>
                      </a: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fontAlgn="base"/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c.</a:t>
                      </a:r>
                      <a:r>
                        <a:rPr lang="en-US" sz="700">
                          <a:effectLst/>
                          <a:latin typeface="Times New Roman" panose="02020603050405020304" pitchFamily="18" charset="0"/>
                        </a:rPr>
                        <a:t>               </a:t>
                      </a:r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Accepted Documents  </a:t>
                      </a: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457200" fontAlgn="base"/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d.</a:t>
                      </a:r>
                      <a:r>
                        <a:rPr lang="en-US" sz="700">
                          <a:effectLst/>
                          <a:latin typeface="Times New Roman" panose="02020603050405020304" pitchFamily="18" charset="0"/>
                        </a:rPr>
                        <a:t>               </a:t>
                      </a:r>
                      <a:r>
                        <a:rPr lang="en-US" sz="1150">
                          <a:effectLst/>
                          <a:latin typeface="Arial" panose="020B0604020202020204" pitchFamily="34" charset="0"/>
                        </a:rPr>
                        <a:t>Document Status &amp; Rejection Reasons </a:t>
                      </a: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228760"/>
                  </a:ext>
                </a:extLst>
              </a:tr>
            </a:tbl>
          </a:graphicData>
        </a:graphic>
      </p:graphicFrame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57BAF27-A788-3124-0339-F34D2484A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61" y="1982864"/>
            <a:ext cx="8156864" cy="437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8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>Pending</_Flow_Signoff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7F8B10-87B6-4770-8F6B-46D796C5FD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C088E8-52A0-4D34-8809-A75BD08A70A6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404284-26AF-49FA-B54F-6B5D55B6E0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Documents Needed – Global Notary AK Form/ID</vt:lpstr>
      <vt:lpstr>Documents Needed – Bank Verification Form</vt:lpstr>
      <vt:lpstr>Documents Needed – Miscellaneous </vt:lpstr>
      <vt:lpstr>Global Validation Request – Validation Documents</vt:lpstr>
      <vt:lpstr>Multi Global Accounts Open – WILL NOT DRAFT</vt:lpstr>
      <vt:lpstr>Secure Document Upload on the Client Website </vt:lpstr>
      <vt:lpstr>Secure Document Upload on the Client Website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Cancel without OFC and without Active SIFS</dc:title>
  <dc:creator>Christina Borrello</dc:creator>
  <cp:revision>11</cp:revision>
  <dcterms:created xsi:type="dcterms:W3CDTF">2021-09-02T18:42:54Z</dcterms:created>
  <dcterms:modified xsi:type="dcterms:W3CDTF">2026-02-12T20:10:56Z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