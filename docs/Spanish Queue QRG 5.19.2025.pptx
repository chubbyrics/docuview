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1952" r:id="rId5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DC6A41-D707-4BA2-B419-1D01D1789B7C}" type="doc">
      <dgm:prSet loTypeId="urn:microsoft.com/office/officeart/2005/8/layout/bProcess3" loCatId="process" qsTypeId="urn:microsoft.com/office/officeart/2005/8/quickstyle/3d3" qsCatId="3D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7B9E2A2-1022-4C68-9A40-52B7DBCD3B4C}">
      <dgm:prSet phldrT="[Text]"/>
      <dgm:spPr/>
      <dgm:t>
        <a:bodyPr/>
        <a:lstStyle/>
        <a:p>
          <a:r>
            <a:rPr lang="en-US"/>
            <a:t>Client calls in and asks to speak to someone Spanish speaking</a:t>
          </a:r>
        </a:p>
      </dgm:t>
    </dgm:pt>
    <dgm:pt modelId="{5D68EA54-7A26-43E0-9139-E4D277D6DA12}" type="parTrans" cxnId="{9EE9720C-A407-4111-85C0-8C81EB01BD39}">
      <dgm:prSet/>
      <dgm:spPr/>
      <dgm:t>
        <a:bodyPr/>
        <a:lstStyle/>
        <a:p>
          <a:endParaRPr lang="en-US"/>
        </a:p>
      </dgm:t>
    </dgm:pt>
    <dgm:pt modelId="{FDC578B2-CBFA-435F-907A-89C7FFB40CCC}" type="sibTrans" cxnId="{9EE9720C-A407-4111-85C0-8C81EB01BD39}">
      <dgm:prSet/>
      <dgm:spPr/>
      <dgm:t>
        <a:bodyPr/>
        <a:lstStyle/>
        <a:p>
          <a:endParaRPr lang="en-US"/>
        </a:p>
      </dgm:t>
    </dgm:pt>
    <dgm:pt modelId="{3629C7E6-7A87-430B-90E0-C09122EC6DCD}">
      <dgm:prSet phldrT="[Text]"/>
      <dgm:spPr/>
      <dgm:t>
        <a:bodyPr/>
        <a:lstStyle/>
        <a:p>
          <a:r>
            <a:rPr lang="en-US"/>
            <a:t>Attempt to transfer via InContact - CLG Spanish Inbound skill</a:t>
          </a:r>
        </a:p>
      </dgm:t>
    </dgm:pt>
    <dgm:pt modelId="{039CE14A-8E29-4085-A109-176BF5D21A0A}" type="parTrans" cxnId="{26C67CF0-1078-4CAC-9DE4-B1805D7234B9}">
      <dgm:prSet/>
      <dgm:spPr/>
      <dgm:t>
        <a:bodyPr/>
        <a:lstStyle/>
        <a:p>
          <a:endParaRPr lang="en-US"/>
        </a:p>
      </dgm:t>
    </dgm:pt>
    <dgm:pt modelId="{AB07DB11-A268-4144-BC84-307D2AABFAD4}" type="sibTrans" cxnId="{26C67CF0-1078-4CAC-9DE4-B1805D7234B9}">
      <dgm:prSet/>
      <dgm:spPr/>
      <dgm:t>
        <a:bodyPr/>
        <a:lstStyle/>
        <a:p>
          <a:endParaRPr lang="en-US"/>
        </a:p>
      </dgm:t>
    </dgm:pt>
    <dgm:pt modelId="{C706C5EE-3EE0-4FA6-994A-1ABFC614BC22}">
      <dgm:prSet phldrT="[Text]"/>
      <dgm:spPr/>
      <dgm:t>
        <a:bodyPr/>
        <a:lstStyle/>
        <a:p>
          <a:pPr rtl="0"/>
          <a:r>
            <a:rPr lang="en-US"/>
            <a:t>If no answer after 3 minutes </a:t>
          </a:r>
          <a:r>
            <a:rPr lang="en-US">
              <a:latin typeface="Calibri Light" panose="020F0302020204030204"/>
            </a:rPr>
            <a:t>, advise to client that you will transfer client for them to hold for the next agent</a:t>
          </a:r>
          <a:endParaRPr lang="en-US"/>
        </a:p>
        <a:p>
          <a:pPr rtl="0"/>
          <a:r>
            <a:rPr lang="en-US"/>
            <a:t>If </a:t>
          </a:r>
          <a:r>
            <a:rPr lang="en-US">
              <a:latin typeface="Calibri Light" panose="020F0302020204030204"/>
            </a:rPr>
            <a:t>client prefers to callback, provide CR contact number: </a:t>
          </a:r>
          <a:r>
            <a:rPr lang="en-US" b="0">
              <a:solidFill>
                <a:srgbClr val="000000"/>
              </a:solidFill>
              <a:latin typeface="Calibri Light"/>
              <a:cs typeface="Calibri Light"/>
            </a:rPr>
            <a:t>  </a:t>
          </a:r>
        </a:p>
        <a:p>
          <a:r>
            <a:rPr lang="en-US" b="1">
              <a:solidFill>
                <a:srgbClr val="000000"/>
              </a:solidFill>
              <a:latin typeface="Calibri"/>
              <a:cs typeface="Calibri"/>
            </a:rPr>
            <a:t>CR COA:</a:t>
          </a:r>
          <a:r>
            <a:rPr lang="en-US">
              <a:solidFill>
                <a:srgbClr val="000000"/>
              </a:solidFill>
              <a:latin typeface="Calibri"/>
              <a:cs typeface="Calibri"/>
            </a:rPr>
            <a:t> 888- 744-9361</a:t>
          </a:r>
          <a:br>
            <a:rPr lang="en-US">
              <a:solidFill>
                <a:srgbClr val="000000"/>
              </a:solidFill>
              <a:latin typeface="Calibri"/>
              <a:cs typeface="Calibri"/>
            </a:rPr>
          </a:br>
          <a:r>
            <a:rPr lang="en-US">
              <a:solidFill>
                <a:srgbClr val="000000"/>
              </a:solidFill>
              <a:latin typeface="Calibri"/>
              <a:cs typeface="Calibri"/>
            </a:rPr>
            <a:t>CR AM: 888-768-1787</a:t>
          </a:r>
          <a:br>
            <a:rPr lang="en-US">
              <a:solidFill>
                <a:srgbClr val="000000"/>
              </a:solidFill>
              <a:latin typeface="Calibri"/>
              <a:cs typeface="Calibri"/>
            </a:rPr>
          </a:br>
          <a:r>
            <a:rPr lang="en-US">
              <a:solidFill>
                <a:srgbClr val="000000"/>
              </a:solidFill>
              <a:latin typeface="Calibri"/>
              <a:cs typeface="Calibri"/>
            </a:rPr>
            <a:t>CR Spanish AM: 833-206-0726</a:t>
          </a:r>
          <a:br>
            <a:rPr lang="en-US">
              <a:solidFill>
                <a:srgbClr val="000000"/>
              </a:solidFill>
              <a:latin typeface="Calibri"/>
              <a:cs typeface="Calibri"/>
            </a:rPr>
          </a:br>
          <a:r>
            <a:rPr lang="en-US">
              <a:solidFill>
                <a:srgbClr val="000000"/>
              </a:solidFill>
              <a:latin typeface="Calibri"/>
              <a:cs typeface="Calibri"/>
            </a:rPr>
            <a:t>CR Spanish COA: 833-206-0727 </a:t>
          </a:r>
          <a:endParaRPr lang="en-US"/>
        </a:p>
      </dgm:t>
    </dgm:pt>
    <dgm:pt modelId="{67447F66-6FD0-4E32-8EAB-3D7AD0647DE1}" type="parTrans" cxnId="{A0F3DC6B-C344-4BD1-8522-D8982DAA1C9C}">
      <dgm:prSet/>
      <dgm:spPr/>
      <dgm:t>
        <a:bodyPr/>
        <a:lstStyle/>
        <a:p>
          <a:endParaRPr lang="en-US"/>
        </a:p>
      </dgm:t>
    </dgm:pt>
    <dgm:pt modelId="{DB24F220-F917-4F74-A256-B6DBB8657442}" type="sibTrans" cxnId="{A0F3DC6B-C344-4BD1-8522-D8982DAA1C9C}">
      <dgm:prSet/>
      <dgm:spPr/>
      <dgm:t>
        <a:bodyPr/>
        <a:lstStyle/>
        <a:p>
          <a:endParaRPr lang="en-US"/>
        </a:p>
      </dgm:t>
    </dgm:pt>
    <dgm:pt modelId="{D43FB511-999A-4DC5-AF42-97C3A67982BE}" type="pres">
      <dgm:prSet presAssocID="{FDDC6A41-D707-4BA2-B419-1D01D1789B7C}" presName="Name0" presStyleCnt="0">
        <dgm:presLayoutVars>
          <dgm:dir/>
          <dgm:resizeHandles val="exact"/>
        </dgm:presLayoutVars>
      </dgm:prSet>
      <dgm:spPr/>
    </dgm:pt>
    <dgm:pt modelId="{4EC91FFB-4C30-4C9D-8437-37188355F479}" type="pres">
      <dgm:prSet presAssocID="{27B9E2A2-1022-4C68-9A40-52B7DBCD3B4C}" presName="node" presStyleLbl="node1" presStyleIdx="0" presStyleCnt="3" custScaleY="120692">
        <dgm:presLayoutVars>
          <dgm:bulletEnabled val="1"/>
        </dgm:presLayoutVars>
      </dgm:prSet>
      <dgm:spPr/>
    </dgm:pt>
    <dgm:pt modelId="{76867AC3-0E5B-4E11-955A-1E557494D72F}" type="pres">
      <dgm:prSet presAssocID="{FDC578B2-CBFA-435F-907A-89C7FFB40CCC}" presName="sibTrans" presStyleLbl="sibTrans1D1" presStyleIdx="0" presStyleCnt="2"/>
      <dgm:spPr/>
    </dgm:pt>
    <dgm:pt modelId="{6DA6E2F0-5D97-4A2E-9B11-B0E44E43B85C}" type="pres">
      <dgm:prSet presAssocID="{FDC578B2-CBFA-435F-907A-89C7FFB40CCC}" presName="connectorText" presStyleLbl="sibTrans1D1" presStyleIdx="0" presStyleCnt="2"/>
      <dgm:spPr/>
    </dgm:pt>
    <dgm:pt modelId="{81BD3B9F-5E1E-4FF8-9DF7-0C5CB359967B}" type="pres">
      <dgm:prSet presAssocID="{3629C7E6-7A87-430B-90E0-C09122EC6DCD}" presName="node" presStyleLbl="node1" presStyleIdx="1" presStyleCnt="3" custScaleY="121647">
        <dgm:presLayoutVars>
          <dgm:bulletEnabled val="1"/>
        </dgm:presLayoutVars>
      </dgm:prSet>
      <dgm:spPr/>
    </dgm:pt>
    <dgm:pt modelId="{F6A77814-D829-4A6C-B470-6B80DD2C7F2E}" type="pres">
      <dgm:prSet presAssocID="{AB07DB11-A268-4144-BC84-307D2AABFAD4}" presName="sibTrans" presStyleLbl="sibTrans1D1" presStyleIdx="1" presStyleCnt="2"/>
      <dgm:spPr/>
    </dgm:pt>
    <dgm:pt modelId="{F57EA3A1-5FE0-4070-85B6-8E7F72FF7A2E}" type="pres">
      <dgm:prSet presAssocID="{AB07DB11-A268-4144-BC84-307D2AABFAD4}" presName="connectorText" presStyleLbl="sibTrans1D1" presStyleIdx="1" presStyleCnt="2"/>
      <dgm:spPr/>
    </dgm:pt>
    <dgm:pt modelId="{674C2478-B478-49D5-96B9-2A2DD88153B8}" type="pres">
      <dgm:prSet presAssocID="{C706C5EE-3EE0-4FA6-994A-1ABFC614BC22}" presName="node" presStyleLbl="node1" presStyleIdx="2" presStyleCnt="3" custScaleY="120351">
        <dgm:presLayoutVars>
          <dgm:bulletEnabled val="1"/>
        </dgm:presLayoutVars>
      </dgm:prSet>
      <dgm:spPr/>
    </dgm:pt>
  </dgm:ptLst>
  <dgm:cxnLst>
    <dgm:cxn modelId="{52DC8C09-E94C-4028-9F4A-E912A573DBD6}" type="presOf" srcId="{AB07DB11-A268-4144-BC84-307D2AABFAD4}" destId="{F57EA3A1-5FE0-4070-85B6-8E7F72FF7A2E}" srcOrd="1" destOrd="0" presId="urn:microsoft.com/office/officeart/2005/8/layout/bProcess3"/>
    <dgm:cxn modelId="{9EE9720C-A407-4111-85C0-8C81EB01BD39}" srcId="{FDDC6A41-D707-4BA2-B419-1D01D1789B7C}" destId="{27B9E2A2-1022-4C68-9A40-52B7DBCD3B4C}" srcOrd="0" destOrd="0" parTransId="{5D68EA54-7A26-43E0-9139-E4D277D6DA12}" sibTransId="{FDC578B2-CBFA-435F-907A-89C7FFB40CCC}"/>
    <dgm:cxn modelId="{94EE9B13-B991-4078-A385-B4957B1AC472}" type="presOf" srcId="{FDC578B2-CBFA-435F-907A-89C7FFB40CCC}" destId="{76867AC3-0E5B-4E11-955A-1E557494D72F}" srcOrd="0" destOrd="0" presId="urn:microsoft.com/office/officeart/2005/8/layout/bProcess3"/>
    <dgm:cxn modelId="{F5CA3D27-B6EF-40D0-8E76-04BD82B40BA3}" type="presOf" srcId="{3629C7E6-7A87-430B-90E0-C09122EC6DCD}" destId="{81BD3B9F-5E1E-4FF8-9DF7-0C5CB359967B}" srcOrd="0" destOrd="0" presId="urn:microsoft.com/office/officeart/2005/8/layout/bProcess3"/>
    <dgm:cxn modelId="{D28D6C32-3762-45A5-8E7A-6098C3D3AAC8}" type="presOf" srcId="{27B9E2A2-1022-4C68-9A40-52B7DBCD3B4C}" destId="{4EC91FFB-4C30-4C9D-8437-37188355F479}" srcOrd="0" destOrd="0" presId="urn:microsoft.com/office/officeart/2005/8/layout/bProcess3"/>
    <dgm:cxn modelId="{A0F3DC6B-C344-4BD1-8522-D8982DAA1C9C}" srcId="{FDDC6A41-D707-4BA2-B419-1D01D1789B7C}" destId="{C706C5EE-3EE0-4FA6-994A-1ABFC614BC22}" srcOrd="2" destOrd="0" parTransId="{67447F66-6FD0-4E32-8EAB-3D7AD0647DE1}" sibTransId="{DB24F220-F917-4F74-A256-B6DBB8657442}"/>
    <dgm:cxn modelId="{D1AE0477-DF50-4F52-A901-020293F54275}" type="presOf" srcId="{C706C5EE-3EE0-4FA6-994A-1ABFC614BC22}" destId="{674C2478-B478-49D5-96B9-2A2DD88153B8}" srcOrd="0" destOrd="0" presId="urn:microsoft.com/office/officeart/2005/8/layout/bProcess3"/>
    <dgm:cxn modelId="{44AFBF9B-64ED-470D-AC7C-BB80A2294ED9}" type="presOf" srcId="{AB07DB11-A268-4144-BC84-307D2AABFAD4}" destId="{F6A77814-D829-4A6C-B470-6B80DD2C7F2E}" srcOrd="0" destOrd="0" presId="urn:microsoft.com/office/officeart/2005/8/layout/bProcess3"/>
    <dgm:cxn modelId="{FF3B4BC5-D845-49F9-9F90-DB3EB0FB8B5B}" type="presOf" srcId="{FDDC6A41-D707-4BA2-B419-1D01D1789B7C}" destId="{D43FB511-999A-4DC5-AF42-97C3A67982BE}" srcOrd="0" destOrd="0" presId="urn:microsoft.com/office/officeart/2005/8/layout/bProcess3"/>
    <dgm:cxn modelId="{927551C6-0020-473D-ABCB-AF3DD866F80A}" type="presOf" srcId="{FDC578B2-CBFA-435F-907A-89C7FFB40CCC}" destId="{6DA6E2F0-5D97-4A2E-9B11-B0E44E43B85C}" srcOrd="1" destOrd="0" presId="urn:microsoft.com/office/officeart/2005/8/layout/bProcess3"/>
    <dgm:cxn modelId="{26C67CF0-1078-4CAC-9DE4-B1805D7234B9}" srcId="{FDDC6A41-D707-4BA2-B419-1D01D1789B7C}" destId="{3629C7E6-7A87-430B-90E0-C09122EC6DCD}" srcOrd="1" destOrd="0" parTransId="{039CE14A-8E29-4085-A109-176BF5D21A0A}" sibTransId="{AB07DB11-A268-4144-BC84-307D2AABFAD4}"/>
    <dgm:cxn modelId="{4508D547-EE26-4856-A297-32B937F8E7F9}" type="presParOf" srcId="{D43FB511-999A-4DC5-AF42-97C3A67982BE}" destId="{4EC91FFB-4C30-4C9D-8437-37188355F479}" srcOrd="0" destOrd="0" presId="urn:microsoft.com/office/officeart/2005/8/layout/bProcess3"/>
    <dgm:cxn modelId="{9AE9EF15-EDF8-4785-B0FF-18A2849AB2F1}" type="presParOf" srcId="{D43FB511-999A-4DC5-AF42-97C3A67982BE}" destId="{76867AC3-0E5B-4E11-955A-1E557494D72F}" srcOrd="1" destOrd="0" presId="urn:microsoft.com/office/officeart/2005/8/layout/bProcess3"/>
    <dgm:cxn modelId="{49877B18-59D1-4C20-B96D-260C56F43CA4}" type="presParOf" srcId="{76867AC3-0E5B-4E11-955A-1E557494D72F}" destId="{6DA6E2F0-5D97-4A2E-9B11-B0E44E43B85C}" srcOrd="0" destOrd="0" presId="urn:microsoft.com/office/officeart/2005/8/layout/bProcess3"/>
    <dgm:cxn modelId="{7F3D2756-21EC-4270-988A-FBE6823E07F1}" type="presParOf" srcId="{D43FB511-999A-4DC5-AF42-97C3A67982BE}" destId="{81BD3B9F-5E1E-4FF8-9DF7-0C5CB359967B}" srcOrd="2" destOrd="0" presId="urn:microsoft.com/office/officeart/2005/8/layout/bProcess3"/>
    <dgm:cxn modelId="{77082574-9ABE-43B4-97CB-201276886F63}" type="presParOf" srcId="{D43FB511-999A-4DC5-AF42-97C3A67982BE}" destId="{F6A77814-D829-4A6C-B470-6B80DD2C7F2E}" srcOrd="3" destOrd="0" presId="urn:microsoft.com/office/officeart/2005/8/layout/bProcess3"/>
    <dgm:cxn modelId="{0DFB03E4-E113-41E1-A13D-E9292F126049}" type="presParOf" srcId="{F6A77814-D829-4A6C-B470-6B80DD2C7F2E}" destId="{F57EA3A1-5FE0-4070-85B6-8E7F72FF7A2E}" srcOrd="0" destOrd="0" presId="urn:microsoft.com/office/officeart/2005/8/layout/bProcess3"/>
    <dgm:cxn modelId="{FA314BE1-032D-4F52-B5F0-B20F9A1E7BC3}" type="presParOf" srcId="{D43FB511-999A-4DC5-AF42-97C3A67982BE}" destId="{674C2478-B478-49D5-96B9-2A2DD88153B8}" srcOrd="4" destOrd="0" presId="urn:microsoft.com/office/officeart/2005/8/layout/bProcess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867AC3-0E5B-4E11-955A-1E557494D72F}">
      <dsp:nvSpPr>
        <dsp:cNvPr id="0" name=""/>
        <dsp:cNvSpPr/>
      </dsp:nvSpPr>
      <dsp:spPr>
        <a:xfrm>
          <a:off x="3415270" y="977045"/>
          <a:ext cx="61264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2645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05512" y="1019548"/>
        <a:ext cx="32162" cy="6432"/>
      </dsp:txXfrm>
    </dsp:sp>
    <dsp:sp modelId="{4EC91FFB-4C30-4C9D-8437-37188355F479}">
      <dsp:nvSpPr>
        <dsp:cNvPr id="0" name=""/>
        <dsp:cNvSpPr/>
      </dsp:nvSpPr>
      <dsp:spPr>
        <a:xfrm>
          <a:off x="620352" y="10140"/>
          <a:ext cx="2796717" cy="202524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Client calls in and asks to speak to someone Spanish speaking</a:t>
          </a:r>
        </a:p>
      </dsp:txBody>
      <dsp:txXfrm>
        <a:off x="620352" y="10140"/>
        <a:ext cx="2796717" cy="2025248"/>
      </dsp:txXfrm>
    </dsp:sp>
    <dsp:sp modelId="{F6A77814-D829-4A6C-B470-6B80DD2C7F2E}">
      <dsp:nvSpPr>
        <dsp:cNvPr id="0" name=""/>
        <dsp:cNvSpPr/>
      </dsp:nvSpPr>
      <dsp:spPr>
        <a:xfrm>
          <a:off x="2018711" y="2041602"/>
          <a:ext cx="3439963" cy="612645"/>
        </a:xfrm>
        <a:custGeom>
          <a:avLst/>
          <a:gdLst/>
          <a:ahLst/>
          <a:cxnLst/>
          <a:rect l="0" t="0" r="0" b="0"/>
          <a:pathLst>
            <a:path>
              <a:moveTo>
                <a:pt x="3439963" y="0"/>
              </a:moveTo>
              <a:lnTo>
                <a:pt x="3439963" y="323422"/>
              </a:lnTo>
              <a:lnTo>
                <a:pt x="0" y="323422"/>
              </a:lnTo>
              <a:lnTo>
                <a:pt x="0" y="612645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51203" y="2344708"/>
        <a:ext cx="174979" cy="6432"/>
      </dsp:txXfrm>
    </dsp:sp>
    <dsp:sp modelId="{81BD3B9F-5E1E-4FF8-9DF7-0C5CB359967B}">
      <dsp:nvSpPr>
        <dsp:cNvPr id="0" name=""/>
        <dsp:cNvSpPr/>
      </dsp:nvSpPr>
      <dsp:spPr>
        <a:xfrm>
          <a:off x="4060316" y="2127"/>
          <a:ext cx="2796717" cy="2041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Attempt to transfer via InContact - CLG Spanish Inbound skill</a:t>
          </a:r>
        </a:p>
      </dsp:txBody>
      <dsp:txXfrm>
        <a:off x="4060316" y="2127"/>
        <a:ext cx="2796717" cy="2041274"/>
      </dsp:txXfrm>
    </dsp:sp>
    <dsp:sp modelId="{674C2478-B478-49D5-96B9-2A2DD88153B8}">
      <dsp:nvSpPr>
        <dsp:cNvPr id="0" name=""/>
        <dsp:cNvSpPr/>
      </dsp:nvSpPr>
      <dsp:spPr>
        <a:xfrm>
          <a:off x="620352" y="2686647"/>
          <a:ext cx="2796717" cy="201952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If no answer after 3 minutes </a:t>
          </a:r>
          <a:r>
            <a:rPr lang="en-US" sz="1200" kern="1200">
              <a:latin typeface="Calibri Light" panose="020F0302020204030204"/>
            </a:rPr>
            <a:t>, advise to client that you will transfer client for them to hold for the next agent</a:t>
          </a:r>
          <a:endParaRPr lang="en-US" sz="1200" kern="1200"/>
        </a:p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If </a:t>
          </a:r>
          <a:r>
            <a:rPr lang="en-US" sz="1200" kern="1200">
              <a:latin typeface="Calibri Light" panose="020F0302020204030204"/>
            </a:rPr>
            <a:t>client prefers to callback, provide CR contact number: </a:t>
          </a:r>
          <a:r>
            <a:rPr lang="en-US" sz="1200" b="0" kern="1200">
              <a:solidFill>
                <a:srgbClr val="000000"/>
              </a:solidFill>
              <a:latin typeface="Calibri Light"/>
              <a:cs typeface="Calibri Light"/>
            </a:rPr>
            <a:t> 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rgbClr val="000000"/>
              </a:solidFill>
              <a:latin typeface="Calibri"/>
              <a:cs typeface="Calibri"/>
            </a:rPr>
            <a:t>CR COA:</a:t>
          </a:r>
          <a:r>
            <a:rPr lang="en-US" sz="1200" kern="1200">
              <a:solidFill>
                <a:srgbClr val="000000"/>
              </a:solidFill>
              <a:latin typeface="Calibri"/>
              <a:cs typeface="Calibri"/>
            </a:rPr>
            <a:t> 888- 744-9361</a:t>
          </a:r>
          <a:br>
            <a:rPr lang="en-US" sz="1200" kern="1200">
              <a:solidFill>
                <a:srgbClr val="000000"/>
              </a:solidFill>
              <a:latin typeface="Calibri"/>
              <a:cs typeface="Calibri"/>
            </a:rPr>
          </a:br>
          <a:r>
            <a:rPr lang="en-US" sz="1200" kern="1200">
              <a:solidFill>
                <a:srgbClr val="000000"/>
              </a:solidFill>
              <a:latin typeface="Calibri"/>
              <a:cs typeface="Calibri"/>
            </a:rPr>
            <a:t>CR AM: 888-768-1787</a:t>
          </a:r>
          <a:br>
            <a:rPr lang="en-US" sz="1200" kern="1200">
              <a:solidFill>
                <a:srgbClr val="000000"/>
              </a:solidFill>
              <a:latin typeface="Calibri"/>
              <a:cs typeface="Calibri"/>
            </a:rPr>
          </a:br>
          <a:r>
            <a:rPr lang="en-US" sz="1200" kern="1200">
              <a:solidFill>
                <a:srgbClr val="000000"/>
              </a:solidFill>
              <a:latin typeface="Calibri"/>
              <a:cs typeface="Calibri"/>
            </a:rPr>
            <a:t>CR Spanish AM: 833-206-0726</a:t>
          </a:r>
          <a:br>
            <a:rPr lang="en-US" sz="1200" kern="1200">
              <a:solidFill>
                <a:srgbClr val="000000"/>
              </a:solidFill>
              <a:latin typeface="Calibri"/>
              <a:cs typeface="Calibri"/>
            </a:rPr>
          </a:br>
          <a:r>
            <a:rPr lang="en-US" sz="1200" kern="1200">
              <a:solidFill>
                <a:srgbClr val="000000"/>
              </a:solidFill>
              <a:latin typeface="Calibri"/>
              <a:cs typeface="Calibri"/>
            </a:rPr>
            <a:t>CR Spanish COA: 833-206-0727 </a:t>
          </a:r>
          <a:endParaRPr lang="en-US" sz="1200" kern="1200"/>
        </a:p>
      </dsp:txBody>
      <dsp:txXfrm>
        <a:off x="620352" y="2686647"/>
        <a:ext cx="2796717" cy="20195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68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Spanish Queue Transfer</a:t>
            </a:r>
            <a:endParaRPr lang="en-US" sz="20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1ABEB-D50E-4565-8ABF-7E89056194E5}"/>
              </a:ext>
            </a:extLst>
          </p:cNvPr>
          <p:cNvSpPr/>
          <p:nvPr/>
        </p:nvSpPr>
        <p:spPr>
          <a:xfrm>
            <a:off x="419450" y="704675"/>
            <a:ext cx="8313489" cy="658958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To ensure correct prioritization and proper call volume tracking, our agents taking Spanish Calls.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6B30EF4-F700-49B2-B9F3-21F436A7AE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1659108"/>
              </p:ext>
            </p:extLst>
          </p:nvPr>
        </p:nvGraphicFramePr>
        <p:xfrm>
          <a:off x="-3165" y="1569140"/>
          <a:ext cx="7477387" cy="4708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99539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Props1.xml><?xml version="1.0" encoding="utf-8"?>
<ds:datastoreItem xmlns:ds="http://schemas.openxmlformats.org/officeDocument/2006/customXml" ds:itemID="{687B59EC-8412-4646-95DE-6E2DE60494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BA5092-7189-4DD9-B469-74F2EB4767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C1D25B-C9D7-4A85-9CA8-F1FE7C31EA43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Application>Microsoft Office PowerPoint</Application>
  <PresentationFormat>On-screen Show (4:3)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Spanish Queue Transfer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revision>2</cp:revision>
  <cp:lastPrinted>2020-12-17T16:31:33Z</cp:lastPrinted>
  <dcterms:created xsi:type="dcterms:W3CDTF">2020-07-08T17:20:15Z</dcterms:created>
  <dcterms:modified xsi:type="dcterms:W3CDTF">2026-02-12T20:25:37Z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