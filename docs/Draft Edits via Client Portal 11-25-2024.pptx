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9"/>
  </p:notesMasterIdLst>
  <p:sldIdLst>
    <p:sldId id="1957" r:id="rId5"/>
    <p:sldId id="1958" r:id="rId6"/>
    <p:sldId id="1959" r:id="rId7"/>
    <p:sldId id="1960" r:id="rId8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  <p:cmAuthor id="4" name="Christina Borrello" initials="CB" lastIdx="1" clrIdx="3">
    <p:extLst>
      <p:ext uri="{19B8F6BF-5375-455C-9EA6-DF929625EA0E}">
        <p15:presenceInfo xmlns:p15="http://schemas.microsoft.com/office/powerpoint/2012/main" userId="S::cborrello@clg.clearoneadvantage.com::920200ae-9917-4322-a251-f102818e0e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9EC"/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B05A6-9DF3-EA90-930B-4637DE0CAC53}" v="108" dt="2024-11-25T20:57:33.653"/>
    <p1510:client id="{6C41E478-4905-4894-8F08-129479C37A35}" v="289" dt="2024-11-25T21:22:09.445"/>
    <p1510:client id="{83F98410-9562-C962-169E-F3B4A902524A}" v="7" dt="2024-11-25T21:47:24.567"/>
    <p1510:client id="{C4B3AB22-2C42-DD35-2098-7367A21E6F01}" v="18" dt="2024-11-25T21:02:16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75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0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Draft Edits via Portal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27818FC-6684-300F-5783-035A1B7E3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1" y="653544"/>
            <a:ext cx="5383775" cy="3787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1AE6F-460E-A2DF-6249-409178441A28}"/>
              </a:ext>
            </a:extLst>
          </p:cNvPr>
          <p:cNvSpPr txBox="1"/>
          <p:nvPr/>
        </p:nvSpPr>
        <p:spPr>
          <a:xfrm>
            <a:off x="5660020" y="722412"/>
            <a:ext cx="3259337" cy="43704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                Actions: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en-US"/>
          </a:p>
          <a:p>
            <a:pPr marL="171450" indent="-171450" algn="ctr">
              <a:buFont typeface="Wingdings" panose="05000000000000000000" pitchFamily="2" charset="2"/>
              <a:buChar char="v"/>
            </a:pPr>
            <a:r>
              <a:rPr lang="en-US" sz="1200"/>
              <a:t> </a:t>
            </a:r>
            <a:r>
              <a:rPr lang="en-US" sz="1400"/>
              <a:t>The system should no longer suggest reducing the draft amount or number of drafts when adding a new debt, regardless of the client’s available funds.</a:t>
            </a:r>
          </a:p>
          <a:p>
            <a:pPr marL="171450" indent="-171450" algn="ctr">
              <a:buFont typeface="Wingdings" panose="05000000000000000000" pitchFamily="2" charset="2"/>
              <a:buChar char="v"/>
            </a:pPr>
            <a:endParaRPr lang="en-US" sz="1400">
              <a:cs typeface="Calibri" panose="020F0502020204030204"/>
            </a:endParaRPr>
          </a:p>
          <a:p>
            <a:pPr marL="171450" indent="-171450" algn="ctr">
              <a:buFont typeface="Wingdings" panose="05000000000000000000" pitchFamily="2" charset="2"/>
              <a:buChar char="v"/>
            </a:pPr>
            <a:r>
              <a:rPr lang="en-US" sz="1400"/>
              <a:t>Changes to draft amount or program length made in the program change section should automatically update in the client’s ledger, eliminating the update in the draft or schedule change section.</a:t>
            </a:r>
          </a:p>
          <a:p>
            <a:pPr marL="171450" indent="-171450" algn="ctr">
              <a:buFont typeface="Wingdings" panose="05000000000000000000" pitchFamily="2" charset="2"/>
              <a:buChar char="v"/>
            </a:pPr>
            <a:endParaRPr lang="en-US" sz="1400"/>
          </a:p>
          <a:p>
            <a:pPr marL="171450" indent="-171450" algn="ctr">
              <a:buFont typeface="Wingdings" panose="05000000000000000000" pitchFamily="2" charset="2"/>
              <a:buChar char="v"/>
            </a:pPr>
            <a:r>
              <a:rPr lang="en-US" sz="1400"/>
              <a:t>The system will only allow an unmatched agent to add a max of 12 drafts to the client's program. </a:t>
            </a:r>
          </a:p>
          <a:p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08406-0B0F-5BEB-9BCF-0B39A3A03988}"/>
              </a:ext>
            </a:extLst>
          </p:cNvPr>
          <p:cNvSpPr txBox="1"/>
          <p:nvPr/>
        </p:nvSpPr>
        <p:spPr>
          <a:xfrm>
            <a:off x="1794076" y="4440859"/>
            <a:ext cx="193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Client Portal View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87EBC8E7-3997-2C63-ABF2-ABCC522C2445}"/>
              </a:ext>
            </a:extLst>
          </p:cNvPr>
          <p:cNvSpPr/>
          <p:nvPr/>
        </p:nvSpPr>
        <p:spPr>
          <a:xfrm>
            <a:off x="982460" y="4435206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093C34B4-8873-FF08-8448-E534A1648DBE}"/>
              </a:ext>
            </a:extLst>
          </p:cNvPr>
          <p:cNvSpPr/>
          <p:nvPr/>
        </p:nvSpPr>
        <p:spPr>
          <a:xfrm>
            <a:off x="3896383" y="4435206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2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C7B6293-4714-8201-5B0B-24AA9654F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80" y="1517915"/>
            <a:ext cx="4700370" cy="351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343D3D-866F-EF8C-195A-03BF5A41B447}"/>
              </a:ext>
            </a:extLst>
          </p:cNvPr>
          <p:cNvSpPr txBox="1"/>
          <p:nvPr/>
        </p:nvSpPr>
        <p:spPr>
          <a:xfrm>
            <a:off x="5262113" y="2509978"/>
            <a:ext cx="3683479" cy="8617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b="1"/>
              <a:t>Draft Edit Alert</a:t>
            </a:r>
          </a:p>
          <a:p>
            <a:r>
              <a:rPr lang="en-US" sz="1200"/>
              <a:t>If the client attempts to lower the draft by more </a:t>
            </a:r>
            <a:r>
              <a:rPr lang="en-US" sz="1200">
                <a:cs typeface="Calibri"/>
              </a:rPr>
              <a:t>than 50%, the </a:t>
            </a:r>
            <a:r>
              <a:rPr lang="en-US" sz="1200"/>
              <a:t>client will be directed to reach out via chat for further assistance with request.</a:t>
            </a:r>
            <a:endParaRPr lang="en-US" sz="1200">
              <a:solidFill>
                <a:srgbClr val="22222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008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C408C-DAE5-6A01-1ABF-28BB676F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96139" y="6265816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EAE34-388A-06B2-6AC0-6B736085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56" y="6265816"/>
            <a:ext cx="2057400" cy="365125"/>
          </a:xfrm>
        </p:spPr>
        <p:txBody>
          <a:bodyPr/>
          <a:lstStyle/>
          <a:p>
            <a:fld id="{AAB8DC1C-CF51-4F7D-8E83-F954D2933D5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D6E5C05-83CB-90D7-E46F-CE5FB4ED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6" y="132549"/>
            <a:ext cx="4659374" cy="3263930"/>
          </a:xfrm>
          <a:prstGeom prst="rect">
            <a:avLst/>
          </a:prstGeom>
        </p:spPr>
      </p:pic>
      <p:pic>
        <p:nvPicPr>
          <p:cNvPr id="8" name="Picture 2" descr="ClearOne Advantage">
            <a:extLst>
              <a:ext uri="{FF2B5EF4-FFF2-40B4-BE49-F238E27FC236}">
                <a16:creationId xmlns:a16="http://schemas.microsoft.com/office/drawing/2014/main" id="{B3D58EDF-3CB6-BC42-155C-068AD4045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95" y="6270935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7E850B-C868-426D-6A27-D12B22AB3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70" y="3237942"/>
            <a:ext cx="40671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511874-2B62-B38B-1B85-5C2894B05E79}"/>
              </a:ext>
            </a:extLst>
          </p:cNvPr>
          <p:cNvSpPr/>
          <p:nvPr/>
        </p:nvSpPr>
        <p:spPr>
          <a:xfrm rot="10800000">
            <a:off x="4972360" y="1500579"/>
            <a:ext cx="696672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DF513-EE09-F505-C301-3575B558E518}"/>
              </a:ext>
            </a:extLst>
          </p:cNvPr>
          <p:cNvSpPr txBox="1"/>
          <p:nvPr/>
        </p:nvSpPr>
        <p:spPr>
          <a:xfrm>
            <a:off x="204157" y="4154039"/>
            <a:ext cx="3634468" cy="6771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b="1"/>
              <a:t>Skip Drafts</a:t>
            </a:r>
          </a:p>
          <a:p>
            <a:r>
              <a:rPr lang="en-US" sz="1200"/>
              <a:t>Clients will no longer have the ability to skip their drafts through the portal.</a:t>
            </a:r>
            <a:endParaRPr lang="en-US" sz="12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113B860-04CC-11F6-00CA-AE705468A7FA}"/>
              </a:ext>
            </a:extLst>
          </p:cNvPr>
          <p:cNvSpPr/>
          <p:nvPr/>
        </p:nvSpPr>
        <p:spPr>
          <a:xfrm>
            <a:off x="4035395" y="4252823"/>
            <a:ext cx="536605" cy="3605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01A2F-AF8E-2D54-AB38-A5AF3F210420}"/>
              </a:ext>
            </a:extLst>
          </p:cNvPr>
          <p:cNvSpPr txBox="1"/>
          <p:nvPr/>
        </p:nvSpPr>
        <p:spPr>
          <a:xfrm>
            <a:off x="5817207" y="1157108"/>
            <a:ext cx="3161982" cy="8617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b="1"/>
              <a:t>Edit Drafts</a:t>
            </a:r>
          </a:p>
          <a:p>
            <a:pPr algn="ctr"/>
            <a:r>
              <a:rPr lang="en-US" sz="1200"/>
              <a:t>Here is where client has the ability to edit their drafts and schedule based on their personal needs.</a:t>
            </a:r>
            <a:endParaRPr lang="en-US" sz="1200">
              <a:solidFill>
                <a:srgbClr val="22222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20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EC92C-5B74-6179-5913-505B3310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96139" y="6480836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7D396-BC35-4592-4155-AAF9EA32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10435" y="6492153"/>
            <a:ext cx="2057400" cy="365125"/>
          </a:xfrm>
        </p:spPr>
        <p:txBody>
          <a:bodyPr/>
          <a:lstStyle/>
          <a:p>
            <a:fld id="{AAB8DC1C-CF51-4F7D-8E83-F954D2933D5A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 descr="ClearOne Advantage">
            <a:extLst>
              <a:ext uri="{FF2B5EF4-FFF2-40B4-BE49-F238E27FC236}">
                <a16:creationId xmlns:a16="http://schemas.microsoft.com/office/drawing/2014/main" id="{804944B3-391E-B2AE-604A-6422F62D0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194" y="6282252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screenshot of a document&#10;&#10;Description automatically generated">
            <a:extLst>
              <a:ext uri="{FF2B5EF4-FFF2-40B4-BE49-F238E27FC236}">
                <a16:creationId xmlns:a16="http://schemas.microsoft.com/office/drawing/2014/main" id="{4172615B-368D-9BE2-3C4F-1FD725E1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0" y="771163"/>
            <a:ext cx="5570154" cy="4617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83DD26-B12D-171D-BD52-D3966C7E76A1}"/>
              </a:ext>
            </a:extLst>
          </p:cNvPr>
          <p:cNvSpPr txBox="1"/>
          <p:nvPr/>
        </p:nvSpPr>
        <p:spPr>
          <a:xfrm>
            <a:off x="5867203" y="2382560"/>
            <a:ext cx="3161982" cy="10464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b="1"/>
              <a:t>Draft Change Authorization</a:t>
            </a:r>
          </a:p>
          <a:p>
            <a:pPr algn="ctr"/>
            <a:r>
              <a:rPr lang="en-US" sz="1200"/>
              <a:t>0nce the client  has completed their edits they will receive a confirmation email and the </a:t>
            </a:r>
          </a:p>
          <a:p>
            <a:pPr algn="ctr"/>
            <a:r>
              <a:rPr lang="en-US" sz="1200"/>
              <a:t>Daft Change Authorization will be uploaded to their client files. </a:t>
            </a:r>
            <a:endParaRPr lang="en-US" sz="1200">
              <a:solidFill>
                <a:srgbClr val="22222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5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Props1.xml><?xml version="1.0" encoding="utf-8"?>
<ds:datastoreItem xmlns:ds="http://schemas.openxmlformats.org/officeDocument/2006/customXml" ds:itemID="{F988AEC9-89AE-4C0D-B325-9917780C03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4B98F-2B59-4E83-AB7F-1619296425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4613A-A1AE-446C-ADE1-2243A58D2292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Draft Edits via Portal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2</cp:revision>
  <cp:lastPrinted>2020-12-17T16:31:33Z</cp:lastPrinted>
  <dcterms:created xsi:type="dcterms:W3CDTF">2020-07-08T17:20:15Z</dcterms:created>
  <dcterms:modified xsi:type="dcterms:W3CDTF">2026-02-12T20:11:01Z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