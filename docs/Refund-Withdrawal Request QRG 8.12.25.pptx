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1963" r:id="rId5"/>
    <p:sldId id="1961" r:id="rId6"/>
    <p:sldId id="1962"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B16DDF-0DF8-6314-4898-FBFC9AE032D1}" v="610" dt="2025-08-12T20:19:27.777"/>
    <p1510:client id="{50FE1B78-59EA-34FF-B743-0A5A44E3F0DA}" v="176" dt="2025-08-12T19:40:47.601"/>
    <p1510:client id="{6D1A0131-FBDE-2539-9C7D-AD2D6FF9ED55}" v="8" dt="2025-08-12T21:19:33.5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1794E-0FE0-4C03-BECB-FEF0CAAD48C1}" type="datetimeFigureOut">
              <a:rPr lang="en-US" smtClean="0"/>
              <a:t>2/12/2026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8E390E-9EB2-4815-A496-32276558C1FA}" type="slidenum">
              <a:rPr lang="en-US" smtClean="0"/>
              <a:t>‹#›</a:t>
            </a:fld>
            <a:endParaRPr lang="en-US"/>
          </a:p>
        </p:txBody>
      </p:sp>
    </p:spTree>
    <p:extLst>
      <p:ext uri="{BB962C8B-B14F-4D97-AF65-F5344CB8AC3E}">
        <p14:creationId xmlns:p14="http://schemas.microsoft.com/office/powerpoint/2010/main" val="1189044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1591814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9BA6B08-7864-41CF-B0A1-FE2A672591DA}"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1393533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BA6B08-7864-41CF-B0A1-FE2A672591DA}"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1430035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A6B08-7864-41CF-B0A1-FE2A672591DA}"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1196732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BA6B08-7864-41CF-B0A1-FE2A672591DA}"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3496190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BA6B08-7864-41CF-B0A1-FE2A672591DA}"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72232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BA6B08-7864-41CF-B0A1-FE2A672591DA}"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1255938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A6B08-7864-41CF-B0A1-FE2A672591DA}"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160333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BA6B08-7864-41CF-B0A1-FE2A672591DA}"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3332595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BA6B08-7864-41CF-B0A1-FE2A672591DA}"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3835015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BA6B08-7864-41CF-B0A1-FE2A672591DA}"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1197688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BA6B08-7864-41CF-B0A1-FE2A672591DA}"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D1E689-DD1A-4E81-8266-B57D7B328F1C}" type="slidenum">
              <a:rPr lang="en-US" smtClean="0"/>
              <a:t>‹#›</a:t>
            </a:fld>
            <a:endParaRPr lang="en-US"/>
          </a:p>
        </p:txBody>
      </p:sp>
    </p:spTree>
    <p:extLst>
      <p:ext uri="{BB962C8B-B14F-4D97-AF65-F5344CB8AC3E}">
        <p14:creationId xmlns:p14="http://schemas.microsoft.com/office/powerpoint/2010/main" val="2295350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BA6B08-7864-41CF-B0A1-FE2A672591DA}" type="datetimeFigureOut">
              <a:rPr lang="en-US" smtClean="0"/>
              <a:t>2/12/2026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D1E689-DD1A-4E81-8266-B57D7B328F1C}" type="slidenum">
              <a:rPr lang="en-US" smtClean="0"/>
              <a:t>‹#›</a:t>
            </a:fld>
            <a:endParaRPr lang="en-US"/>
          </a:p>
        </p:txBody>
      </p:sp>
    </p:spTree>
    <p:extLst>
      <p:ext uri="{BB962C8B-B14F-4D97-AF65-F5344CB8AC3E}">
        <p14:creationId xmlns:p14="http://schemas.microsoft.com/office/powerpoint/2010/main" val="35438138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learoneadvantage365.sharepoint.com/:w:/r/sites/COACustomerService/_layouts/15/Doc.aspx?sourcedoc=%7B698DA517-B8B2-4341-A49E-0DED126C8DDD%7D&amp;file=UMA%20SOP.docx&amp;action=default&amp;mobileredirect=true"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learoneadvantage365.sharepoint.com/:w:/r/sites/COACustomerService/Shared%20Documents/Customer%20Service/UMA%20SOP.docx?d=w698da517b8b24341a49e0ded126c8ddd&amp;csf=1&amp;web=1&amp;e=Hr1br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FE53DAA-8B43-865A-DB50-B2DD2210D609}"/>
              </a:ext>
            </a:extLst>
          </p:cNvPr>
          <p:cNvSpPr/>
          <p:nvPr/>
        </p:nvSpPr>
        <p:spPr>
          <a:xfrm>
            <a:off x="0" y="226162"/>
            <a:ext cx="9144000" cy="67387"/>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4BADBFD-351A-2A41-1DBC-7C2267974B59}"/>
              </a:ext>
            </a:extLst>
          </p:cNvPr>
          <p:cNvSpPr/>
          <p:nvPr/>
        </p:nvSpPr>
        <p:spPr>
          <a:xfrm>
            <a:off x="557660" y="418393"/>
            <a:ext cx="7668922" cy="60035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200" b="1"/>
              <a:t>🔹 Step 1: Understand the Request </a:t>
            </a:r>
            <a:endParaRPr lang="en-US" sz="1200" b="1">
              <a:ea typeface="Calibri"/>
              <a:cs typeface="Calibri"/>
            </a:endParaRPr>
          </a:p>
          <a:p>
            <a:pPr marL="228600" indent="-228600">
              <a:buFont typeface=""/>
              <a:buChar char="•"/>
            </a:pPr>
            <a:r>
              <a:rPr lang="en-US" sz="1200"/>
              <a:t>Ask why the client wants to withdraw funds.</a:t>
            </a:r>
            <a:endParaRPr lang="en-US" sz="1200">
              <a:ea typeface="Calibri"/>
              <a:cs typeface="Calibri"/>
            </a:endParaRPr>
          </a:p>
          <a:p>
            <a:pPr marL="228600" indent="-228600">
              <a:buFont typeface=""/>
              <a:buChar char="•"/>
            </a:pPr>
            <a:r>
              <a:rPr lang="en-US" sz="1200"/>
              <a:t>Explain that keeping funds in the account supports program success.</a:t>
            </a:r>
            <a:endParaRPr lang="en-US" sz="1200">
              <a:ea typeface="Calibri"/>
              <a:cs typeface="Calibri"/>
            </a:endParaRPr>
          </a:p>
          <a:p>
            <a:pPr marL="228600" indent="-228600">
              <a:buFont typeface=""/>
              <a:buChar char="•"/>
            </a:pPr>
            <a:r>
              <a:rPr lang="en-US" sz="1200"/>
              <a:t>If they insist, continue.</a:t>
            </a:r>
            <a:endParaRPr lang="en-US" sz="1200">
              <a:ea typeface="Calibri"/>
              <a:cs typeface="Calibri"/>
            </a:endParaRPr>
          </a:p>
          <a:p>
            <a:r>
              <a:rPr lang="en-US" sz="1200" b="1"/>
              <a:t>🔹 Step 2: Verify Funds</a:t>
            </a:r>
            <a:endParaRPr lang="en-US" sz="1200" b="1">
              <a:ea typeface="Calibri"/>
              <a:cs typeface="Calibri"/>
            </a:endParaRPr>
          </a:p>
          <a:p>
            <a:pPr marL="228600" indent="-228600">
              <a:buFont typeface=""/>
              <a:buChar char="•"/>
            </a:pPr>
            <a:r>
              <a:rPr lang="en-US" sz="1200"/>
              <a:t>Confirm funds are available in the Global account.</a:t>
            </a:r>
            <a:endParaRPr lang="en-US" sz="1200">
              <a:ea typeface="Calibri"/>
              <a:cs typeface="Calibri"/>
            </a:endParaRPr>
          </a:p>
          <a:p>
            <a:r>
              <a:rPr lang="en-US" sz="1200" b="1"/>
              <a:t>🔹 Step 3: Check for Settlements</a:t>
            </a:r>
            <a:endParaRPr lang="en-US" sz="1200" b="1">
              <a:ea typeface="Calibri"/>
              <a:cs typeface="Calibri"/>
            </a:endParaRPr>
          </a:p>
          <a:p>
            <a:pPr marL="228600" indent="-228600">
              <a:buFont typeface=""/>
              <a:buChar char="•"/>
            </a:pPr>
            <a:r>
              <a:rPr lang="en-US" sz="1200"/>
              <a:t>Use the calc to find the </a:t>
            </a:r>
            <a:r>
              <a:rPr lang="en-US" sz="1200" b="1"/>
              <a:t>lowest amount</a:t>
            </a:r>
            <a:r>
              <a:rPr lang="en-US" sz="1200"/>
              <a:t> the client can withdraw without impact.</a:t>
            </a:r>
            <a:endParaRPr lang="en-US" sz="1200">
              <a:ea typeface="Calibri"/>
              <a:cs typeface="Calibri"/>
            </a:endParaRPr>
          </a:p>
          <a:p>
            <a:pPr marL="228600" indent="-228600">
              <a:buFont typeface=""/>
              <a:buChar char="•"/>
            </a:pPr>
            <a:r>
              <a:rPr lang="en-US" sz="1200"/>
              <a:t>If </a:t>
            </a:r>
            <a:r>
              <a:rPr lang="en-US" sz="1200" b="1"/>
              <a:t>$0.00 or less</a:t>
            </a:r>
            <a:r>
              <a:rPr lang="en-US" sz="1200"/>
              <a:t>, any withdrawal will cause a negative impact.</a:t>
            </a:r>
            <a:endParaRPr lang="en-US" sz="1200">
              <a:ea typeface="Calibri"/>
              <a:cs typeface="Calibri"/>
            </a:endParaRPr>
          </a:p>
          <a:p>
            <a:pPr marL="228600" lvl="1" indent="-228600">
              <a:buFont typeface=""/>
              <a:buChar char="•"/>
            </a:pPr>
            <a:r>
              <a:rPr lang="en-US" sz="1200"/>
              <a:t>Client can:</a:t>
            </a:r>
            <a:endParaRPr lang="en-US" sz="1200">
              <a:ea typeface="Calibri"/>
              <a:cs typeface="Calibri"/>
            </a:endParaRPr>
          </a:p>
          <a:p>
            <a:pPr marL="228600" lvl="2" indent="-228600">
              <a:buFont typeface=""/>
              <a:buChar char="•"/>
            </a:pPr>
            <a:r>
              <a:rPr lang="en-US" sz="1200"/>
              <a:t>Set up a draft to replace funds, or</a:t>
            </a:r>
            <a:endParaRPr lang="en-US" sz="1200">
              <a:ea typeface="Calibri"/>
              <a:cs typeface="Calibri"/>
            </a:endParaRPr>
          </a:p>
          <a:p>
            <a:pPr marL="228600" lvl="2" indent="-228600">
              <a:buFont typeface=""/>
              <a:buChar char="•"/>
            </a:pPr>
            <a:r>
              <a:rPr lang="en-US" sz="1200"/>
              <a:t>Proceed without replacing funds (settlements will be lost).</a:t>
            </a:r>
            <a:endParaRPr lang="en-US" sz="1200">
              <a:ea typeface="Calibri"/>
              <a:cs typeface="Calibri"/>
            </a:endParaRPr>
          </a:p>
          <a:p>
            <a:pPr marL="228600" indent="-228600">
              <a:buFont typeface=""/>
              <a:buChar char="•"/>
            </a:pPr>
            <a:r>
              <a:rPr lang="en-US" sz="1200" b="1"/>
              <a:t>EMT RFSS request is required for EACH settlement</a:t>
            </a:r>
            <a:r>
              <a:rPr lang="en-US" sz="1200"/>
              <a:t> if funds won’t be replaced.</a:t>
            </a:r>
            <a:endParaRPr lang="en-US" sz="1200">
              <a:ea typeface="Calibri"/>
              <a:cs typeface="Calibri"/>
            </a:endParaRPr>
          </a:p>
          <a:p>
            <a:r>
              <a:rPr lang="en-US" sz="1200" b="1"/>
              <a:t>🔹 Step 4: Submit Request</a:t>
            </a:r>
            <a:endParaRPr lang="en-US" sz="1200" b="1">
              <a:ea typeface="Calibri"/>
              <a:cs typeface="Calibri"/>
            </a:endParaRPr>
          </a:p>
          <a:p>
            <a:pPr marL="228600" indent="-228600">
              <a:buFont typeface=""/>
              <a:buChar char="•"/>
            </a:pPr>
            <a:r>
              <a:rPr lang="en-US" sz="1200" b="1"/>
              <a:t>Request Type:</a:t>
            </a:r>
            <a:r>
              <a:rPr lang="en-US" sz="1200"/>
              <a:t> Refund/Withdrawal</a:t>
            </a:r>
            <a:endParaRPr lang="en-US" sz="1200">
              <a:ea typeface="Calibri"/>
              <a:cs typeface="Calibri"/>
            </a:endParaRPr>
          </a:p>
          <a:p>
            <a:pPr marL="228600" indent="-228600">
              <a:buFont typeface=""/>
              <a:buChar char="•"/>
            </a:pPr>
            <a:r>
              <a:rPr lang="en-US" sz="1200" b="1"/>
              <a:t>Responder:</a:t>
            </a:r>
            <a:r>
              <a:rPr lang="en-US" sz="1200"/>
              <a:t> Your name</a:t>
            </a:r>
            <a:endParaRPr lang="en-US" sz="1200">
              <a:ea typeface="Calibri"/>
              <a:cs typeface="Calibri"/>
            </a:endParaRPr>
          </a:p>
          <a:p>
            <a:pPr marL="228600" indent="-228600">
              <a:buFont typeface=""/>
              <a:buChar char="•"/>
            </a:pPr>
            <a:r>
              <a:rPr lang="en-US" sz="1200" b="1"/>
              <a:t>Internal Status:</a:t>
            </a:r>
            <a:endParaRPr lang="en-US" sz="1200" b="1">
              <a:ea typeface="Calibri"/>
              <a:cs typeface="Calibri"/>
            </a:endParaRPr>
          </a:p>
          <a:p>
            <a:pPr marL="228600" lvl="2" indent="-228600">
              <a:buFont typeface=""/>
              <a:buChar char="•"/>
            </a:pPr>
            <a:r>
              <a:rPr lang="en-US" sz="1200"/>
              <a:t>Waiting on Responder</a:t>
            </a:r>
            <a:endParaRPr lang="en-US" sz="1200">
              <a:ea typeface="Calibri"/>
              <a:cs typeface="Calibri"/>
            </a:endParaRPr>
          </a:p>
          <a:p>
            <a:pPr marL="228600" indent="-228600">
              <a:buFont typeface=""/>
              <a:buChar char="•"/>
            </a:pPr>
            <a:r>
              <a:rPr lang="en-US" sz="1200" b="1"/>
              <a:t>Next Global Occurrence:</a:t>
            </a:r>
            <a:r>
              <a:rPr lang="en-US" sz="1200"/>
              <a:t> Today’s date</a:t>
            </a:r>
            <a:endParaRPr lang="en-US" sz="1200">
              <a:ea typeface="Calibri"/>
              <a:cs typeface="Calibri"/>
            </a:endParaRPr>
          </a:p>
          <a:p>
            <a:pPr marL="228600" indent="-228600">
              <a:buFont typeface=""/>
              <a:buChar char="•"/>
            </a:pPr>
            <a:r>
              <a:rPr lang="en-US" sz="1200" b="1"/>
              <a:t>Request Field Notes:</a:t>
            </a:r>
            <a:r>
              <a:rPr lang="en-US" sz="1200"/>
              <a:t> Include impact disclosure + EMT RFSS info</a:t>
            </a:r>
            <a:endParaRPr lang="en-US" sz="1200">
              <a:ea typeface="Calibri"/>
              <a:cs typeface="Calibri"/>
            </a:endParaRPr>
          </a:p>
          <a:p>
            <a:r>
              <a:rPr lang="en-US" sz="1200" b="1"/>
              <a:t>🔹 Step 5: Final Steps – Follow </a:t>
            </a:r>
            <a:r>
              <a:rPr lang="en-US" sz="1200" b="1">
                <a:solidFill>
                  <a:schemeClr val="bg1"/>
                </a:solidFill>
                <a:hlinkClick r:id="rId2">
                  <a:extLst>
                    <a:ext uri="{A12FA001-AC4F-418D-AE19-62706E023703}">
                      <ahyp:hlinkClr xmlns:ahyp="http://schemas.microsoft.com/office/drawing/2018/hyperlinkcolor" val="tx"/>
                    </a:ext>
                  </a:extLst>
                </a:hlinkClick>
              </a:rPr>
              <a:t>UMA SOP</a:t>
            </a:r>
            <a:r>
              <a:rPr lang="en-US" sz="1200" b="1">
                <a:solidFill>
                  <a:schemeClr val="bg1"/>
                </a:solidFill>
              </a:rPr>
              <a:t> for ALL refund/withdrawal requests.</a:t>
            </a:r>
            <a:endParaRPr lang="en-US" sz="1200" b="1">
              <a:solidFill>
                <a:schemeClr val="bg1"/>
              </a:solidFill>
              <a:ea typeface="Calibri"/>
              <a:cs typeface="Calibri"/>
              <a:hlinkClick r:id="rId2">
                <a:extLst>
                  <a:ext uri="{A12FA001-AC4F-418D-AE19-62706E023703}">
                    <ahyp:hlinkClr xmlns:ahyp="http://schemas.microsoft.com/office/drawing/2018/hyperlinkcolor" val="tx"/>
                  </a:ext>
                </a:extLst>
              </a:hlinkClick>
            </a:endParaRPr>
          </a:p>
          <a:p>
            <a:pPr marL="228600" indent="-228600">
              <a:buFont typeface=""/>
              <a:buChar char="•"/>
            </a:pPr>
            <a:r>
              <a:rPr lang="en-US" sz="1200"/>
              <a:t>Advise client: </a:t>
            </a:r>
            <a:r>
              <a:rPr lang="en-US" sz="1200" b="1"/>
              <a:t>3–5 business days</a:t>
            </a:r>
            <a:r>
              <a:rPr lang="en-US" sz="1200"/>
              <a:t> for processing</a:t>
            </a:r>
            <a:endParaRPr lang="en-US" sz="1200">
              <a:ea typeface="Calibri" panose="020F0502020204030204"/>
              <a:cs typeface="Calibri"/>
            </a:endParaRPr>
          </a:p>
          <a:p>
            <a:pPr marL="228600" indent="-228600">
              <a:buFont typeface=""/>
              <a:buChar char="•"/>
            </a:pPr>
            <a:endParaRPr lang="en-US" sz="1200">
              <a:ea typeface="Calibri" panose="020F0502020204030204"/>
              <a:cs typeface="Calibri"/>
            </a:endParaRPr>
          </a:p>
        </p:txBody>
      </p:sp>
      <p:sp>
        <p:nvSpPr>
          <p:cNvPr id="10" name="Title 1">
            <a:extLst>
              <a:ext uri="{FF2B5EF4-FFF2-40B4-BE49-F238E27FC236}">
                <a16:creationId xmlns:a16="http://schemas.microsoft.com/office/drawing/2014/main" id="{9110D8A1-F83C-2C32-E800-9B50E8C59C52}"/>
              </a:ext>
            </a:extLst>
          </p:cNvPr>
          <p:cNvSpPr>
            <a:spLocks noGrp="1"/>
          </p:cNvSpPr>
          <p:nvPr>
            <p:ph type="title"/>
          </p:nvPr>
        </p:nvSpPr>
        <p:spPr>
          <a:xfrm>
            <a:off x="-1038" y="7304"/>
            <a:ext cx="9148679" cy="252869"/>
          </a:xfrm>
        </p:spPr>
        <p:txBody>
          <a:bodyPr>
            <a:normAutofit fontScale="90000"/>
          </a:bodyPr>
          <a:lstStyle/>
          <a:p>
            <a:r>
              <a:rPr lang="en-US" sz="1800">
                <a:latin typeface="Arial"/>
                <a:cs typeface="Arial"/>
              </a:rPr>
              <a:t>Refund/Withdrawal Request</a:t>
            </a:r>
            <a:endParaRPr lang="en-US" sz="1800">
              <a:solidFill>
                <a:srgbClr val="FF0000"/>
              </a:solidFill>
              <a:highlight>
                <a:srgbClr val="FFFF00"/>
              </a:highlight>
              <a:latin typeface="Arial"/>
              <a:cs typeface="Arial"/>
            </a:endParaRPr>
          </a:p>
        </p:txBody>
      </p:sp>
      <p:sp>
        <p:nvSpPr>
          <p:cNvPr id="13" name="Rectangle: Rounded Corners 12">
            <a:extLst>
              <a:ext uri="{FF2B5EF4-FFF2-40B4-BE49-F238E27FC236}">
                <a16:creationId xmlns:a16="http://schemas.microsoft.com/office/drawing/2014/main" id="{AA8D4339-08D2-45B0-9F42-759D6275E028}"/>
              </a:ext>
            </a:extLst>
          </p:cNvPr>
          <p:cNvSpPr/>
          <p:nvPr/>
        </p:nvSpPr>
        <p:spPr>
          <a:xfrm>
            <a:off x="767293" y="270090"/>
            <a:ext cx="7484609" cy="5487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400"/>
              <a:t>Refund – Submitted if  COA has made error and need to return funds to clients account</a:t>
            </a:r>
            <a:endParaRPr lang="en-US" sz="1400">
              <a:cs typeface="Calibri"/>
            </a:endParaRPr>
          </a:p>
          <a:p>
            <a:pPr algn="ctr"/>
            <a:r>
              <a:rPr lang="en-US" sz="1400">
                <a:cs typeface="Calibri"/>
              </a:rPr>
              <a:t>Withdrawal – Submitted when a client is requesting funds from global (not an error)</a:t>
            </a:r>
            <a:endParaRPr lang="en-US" sz="1400">
              <a:ea typeface="Calibri"/>
              <a:cs typeface="Calibri"/>
            </a:endParaRPr>
          </a:p>
        </p:txBody>
      </p:sp>
    </p:spTree>
    <p:extLst>
      <p:ext uri="{BB962C8B-B14F-4D97-AF65-F5344CB8AC3E}">
        <p14:creationId xmlns:p14="http://schemas.microsoft.com/office/powerpoint/2010/main" val="2948070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8" y="-2815"/>
            <a:ext cx="8854631" cy="290811"/>
          </a:xfrm>
        </p:spPr>
        <p:txBody>
          <a:bodyPr>
            <a:normAutofit fontScale="90000"/>
          </a:bodyPr>
          <a:lstStyle/>
          <a:p>
            <a:r>
              <a:rPr lang="en-US" sz="1800">
                <a:latin typeface="Arial"/>
                <a:cs typeface="Arial"/>
              </a:rPr>
              <a:t>Refund/Withdrawal Script</a:t>
            </a:r>
            <a:endParaRPr lang="en-US" sz="1800">
              <a:solidFill>
                <a:srgbClr val="FF0000"/>
              </a:solidFill>
              <a:highlight>
                <a:srgbClr val="FFFF00"/>
              </a:highlight>
              <a:latin typeface="Arial"/>
              <a:cs typeface="Arial"/>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2</a:t>
            </a:fld>
            <a:endParaRPr lang="en-US"/>
          </a:p>
        </p:txBody>
      </p:sp>
      <p:sp>
        <p:nvSpPr>
          <p:cNvPr id="7" name="Rectangle 6">
            <a:extLst>
              <a:ext uri="{FF2B5EF4-FFF2-40B4-BE49-F238E27FC236}">
                <a16:creationId xmlns:a16="http://schemas.microsoft.com/office/drawing/2014/main" id="{20115940-8E32-4E7D-86BE-414C54C86E36}"/>
              </a:ext>
            </a:extLst>
          </p:cNvPr>
          <p:cNvSpPr/>
          <p:nvPr/>
        </p:nvSpPr>
        <p:spPr>
          <a:xfrm>
            <a:off x="0" y="226162"/>
            <a:ext cx="9144000" cy="67387"/>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A8D4339-08D2-45B0-9F42-759D6275E028}"/>
              </a:ext>
            </a:extLst>
          </p:cNvPr>
          <p:cNvSpPr/>
          <p:nvPr/>
        </p:nvSpPr>
        <p:spPr>
          <a:xfrm>
            <a:off x="557660" y="418393"/>
            <a:ext cx="7621495" cy="57000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1400">
                <a:ea typeface="+mn-lt"/>
                <a:cs typeface="+mn-lt"/>
              </a:rPr>
              <a:t>“In order for us to accept verbal authorization, we need to record this call. Do I have permission to record your authorization for account number </a:t>
            </a:r>
            <a:r>
              <a:rPr lang="en-US" sz="1400" u="sng">
                <a:ea typeface="+mn-lt"/>
                <a:cs typeface="+mn-lt"/>
              </a:rPr>
              <a:t>Global Account ID</a:t>
            </a:r>
            <a:r>
              <a:rPr lang="en-US" sz="1400">
                <a:ea typeface="+mn-lt"/>
                <a:cs typeface="+mn-lt"/>
              </a:rPr>
              <a:t> on </a:t>
            </a:r>
            <a:r>
              <a:rPr lang="en-US" sz="1400" u="sng">
                <a:ea typeface="+mn-lt"/>
                <a:cs typeface="+mn-lt"/>
              </a:rPr>
              <a:t>today’s date</a:t>
            </a:r>
            <a:r>
              <a:rPr lang="en-US" sz="1400">
                <a:ea typeface="+mn-lt"/>
                <a:cs typeface="+mn-lt"/>
              </a:rPr>
              <a:t>?</a:t>
            </a:r>
            <a:br>
              <a:rPr lang="en-US" sz="1400">
                <a:ea typeface="+mn-lt"/>
                <a:cs typeface="+mn-lt"/>
              </a:rPr>
            </a:br>
            <a:br>
              <a:rPr lang="en-US" sz="1400">
                <a:ea typeface="+mn-lt"/>
                <a:cs typeface="+mn-lt"/>
              </a:rPr>
            </a:br>
            <a:r>
              <a:rPr lang="en-US" sz="1400">
                <a:ea typeface="+mn-lt"/>
                <a:cs typeface="+mn-lt"/>
              </a:rPr>
              <a:t> Now that this call is being recorded, can you please state your first and last name, date of birth, and last 4 digits of your Social Security number?</a:t>
            </a:r>
            <a:br>
              <a:rPr lang="en-US" sz="1400">
                <a:ea typeface="+mn-lt"/>
                <a:cs typeface="+mn-lt"/>
              </a:rPr>
            </a:br>
            <a:br>
              <a:rPr lang="en-US" sz="1400">
                <a:ea typeface="+mn-lt"/>
                <a:cs typeface="+mn-lt"/>
              </a:rPr>
            </a:br>
            <a:r>
              <a:rPr lang="en-US" sz="1400">
                <a:ea typeface="+mn-lt"/>
                <a:cs typeface="+mn-lt"/>
              </a:rPr>
              <a:t> Today you are requesting to withdraw  </a:t>
            </a:r>
            <a:r>
              <a:rPr lang="en-US" sz="1400" u="sng">
                <a:ea typeface="+mn-lt"/>
                <a:cs typeface="+mn-lt"/>
              </a:rPr>
              <a:t>$XXX</a:t>
            </a:r>
            <a:r>
              <a:rPr lang="en-US" sz="1400">
                <a:ea typeface="+mn-lt"/>
                <a:cs typeface="+mn-lt"/>
              </a:rPr>
              <a:t> from your Global Holdings account, back to your personal account ending in </a:t>
            </a:r>
            <a:r>
              <a:rPr lang="en-US" sz="1400" u="sng">
                <a:ea typeface="+mn-lt"/>
                <a:cs typeface="+mn-lt"/>
              </a:rPr>
              <a:t>last 4 digits of your personal bank account.</a:t>
            </a:r>
            <a:br>
              <a:rPr lang="en-US" sz="1400" u="sng">
                <a:ea typeface="+mn-lt"/>
                <a:cs typeface="+mn-lt"/>
              </a:rPr>
            </a:br>
            <a:br>
              <a:rPr lang="en-US" sz="1400" u="sng">
                <a:ea typeface="+mn-lt"/>
                <a:cs typeface="+mn-lt"/>
              </a:rPr>
            </a:br>
            <a:r>
              <a:rPr lang="en-US" sz="1400" u="sng">
                <a:ea typeface="+mn-lt"/>
                <a:cs typeface="+mn-lt"/>
              </a:rPr>
              <a:t>*If no settlements in place*</a:t>
            </a:r>
            <a:r>
              <a:rPr lang="en-US" sz="1400">
                <a:ea typeface="+mn-lt"/>
                <a:cs typeface="+mn-lt"/>
              </a:rPr>
              <a:t> You also acknowledge that by moving this draft, the negotiations process may be delayed until funds are once again available. Please state Yes if you agree.</a:t>
            </a:r>
            <a:br>
              <a:rPr lang="en-US" sz="1400">
                <a:ea typeface="+mn-lt"/>
                <a:cs typeface="+mn-lt"/>
              </a:rPr>
            </a:br>
            <a:br>
              <a:rPr lang="en-US" sz="1400">
                <a:ea typeface="+mn-lt"/>
                <a:cs typeface="+mn-lt"/>
              </a:rPr>
            </a:br>
            <a:r>
              <a:rPr lang="en-US" sz="1400">
                <a:ea typeface="+mn-lt"/>
                <a:cs typeface="+mn-lt"/>
              </a:rPr>
              <a:t>*If settlements in place* You also acknowledge that by moving this draft your current settlement(s) with </a:t>
            </a:r>
            <a:r>
              <a:rPr lang="en-US" sz="1400" u="sng">
                <a:ea typeface="+mn-lt"/>
                <a:cs typeface="+mn-lt"/>
              </a:rPr>
              <a:t>list each account currently in settlement</a:t>
            </a:r>
            <a:r>
              <a:rPr lang="en-US" sz="1400">
                <a:ea typeface="+mn-lt"/>
                <a:cs typeface="+mn-lt"/>
              </a:rPr>
              <a:t> may be negatively impacted if there are not enough funds in your Global Holdings account to make the next creditor payments. We will pause further negotiations of your remaining accounts until your currently scheduled fees are paid in full. In addition, we will attempt to resettle these accounts once all other accounts are in settlement and funds are built back up. Please state Yes if you agree.</a:t>
            </a:r>
            <a:br>
              <a:rPr lang="en-US" sz="1400">
                <a:ea typeface="+mn-lt"/>
                <a:cs typeface="+mn-lt"/>
              </a:rPr>
            </a:br>
            <a:br>
              <a:rPr lang="en-US" sz="1400">
                <a:ea typeface="+mn-lt"/>
                <a:cs typeface="+mn-lt"/>
              </a:rPr>
            </a:br>
            <a:r>
              <a:rPr lang="en-US" sz="1400">
                <a:ea typeface="+mn-lt"/>
                <a:cs typeface="+mn-lt"/>
              </a:rPr>
              <a:t> Do you authorize the withdrawal from your Global Holdings account for the amount mentioned?”</a:t>
            </a:r>
            <a:endParaRPr lang="en-US">
              <a:ea typeface="+mn-lt"/>
              <a:cs typeface="+mn-lt"/>
            </a:endParaRPr>
          </a:p>
          <a:p>
            <a:pPr algn="ctr"/>
            <a:endParaRPr lang="en-US" sz="1400">
              <a:cs typeface="Calibri"/>
            </a:endParaRP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2513" y="6534979"/>
            <a:ext cx="1189346" cy="27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64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038181-F0E8-E1CD-EACC-707F989BE290}"/>
              </a:ext>
            </a:extLst>
          </p:cNvPr>
          <p:cNvSpPr/>
          <p:nvPr/>
        </p:nvSpPr>
        <p:spPr>
          <a:xfrm>
            <a:off x="0" y="226162"/>
            <a:ext cx="9144000" cy="67387"/>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0A705D0-783F-C50E-B0B2-03774722B46C}"/>
              </a:ext>
            </a:extLst>
          </p:cNvPr>
          <p:cNvSpPr>
            <a:spLocks noGrp="1"/>
          </p:cNvSpPr>
          <p:nvPr>
            <p:ph type="title"/>
          </p:nvPr>
        </p:nvSpPr>
        <p:spPr>
          <a:xfrm>
            <a:off x="64728" y="-2815"/>
            <a:ext cx="8854631" cy="290811"/>
          </a:xfrm>
        </p:spPr>
        <p:txBody>
          <a:bodyPr>
            <a:normAutofit fontScale="90000"/>
          </a:bodyPr>
          <a:lstStyle/>
          <a:p>
            <a:r>
              <a:rPr lang="en-US" sz="1800">
                <a:latin typeface="Arial"/>
                <a:cs typeface="Arial"/>
              </a:rPr>
              <a:t>Refund/Withdrawal Request</a:t>
            </a:r>
            <a:endParaRPr lang="en-US" sz="1800">
              <a:solidFill>
                <a:srgbClr val="FF0000"/>
              </a:solidFill>
              <a:highlight>
                <a:srgbClr val="FFFF00"/>
              </a:highlight>
              <a:latin typeface="Arial"/>
              <a:cs typeface="Arial"/>
            </a:endParaRPr>
          </a:p>
        </p:txBody>
      </p:sp>
      <p:sp>
        <p:nvSpPr>
          <p:cNvPr id="11" name="Rectangle: Rounded Corners 10">
            <a:extLst>
              <a:ext uri="{FF2B5EF4-FFF2-40B4-BE49-F238E27FC236}">
                <a16:creationId xmlns:a16="http://schemas.microsoft.com/office/drawing/2014/main" id="{9C2360B9-7A25-A3CA-06D5-B243F786A48B}"/>
              </a:ext>
            </a:extLst>
          </p:cNvPr>
          <p:cNvSpPr/>
          <p:nvPr/>
        </p:nvSpPr>
        <p:spPr>
          <a:xfrm>
            <a:off x="410768" y="280684"/>
            <a:ext cx="8668096" cy="65905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1"/>
            <a:r>
              <a:rPr lang="en-US" sz="1200">
                <a:ea typeface="Calibri"/>
                <a:cs typeface="Calibri"/>
              </a:rPr>
              <a:t>If client is requesting to withdraw more than $500:</a:t>
            </a:r>
          </a:p>
          <a:p>
            <a:pPr marL="800100" lvl="1" indent="-342900">
              <a:buAutoNum type="arabicPeriod"/>
            </a:pPr>
            <a:r>
              <a:rPr lang="en-US" sz="1200">
                <a:ea typeface="Calibri"/>
                <a:cs typeface="Calibri"/>
              </a:rPr>
              <a:t>Agent will fill out the withdraw request and set it as "Waiting for Responder" Do not send it to accounting yet.</a:t>
            </a:r>
          </a:p>
          <a:p>
            <a:pPr marL="800100" lvl="1" indent="-342900">
              <a:buAutoNum type="arabicPeriod"/>
            </a:pPr>
            <a:r>
              <a:rPr lang="en-US" sz="1200">
                <a:ea typeface="Calibri"/>
                <a:cs typeface="Calibri"/>
              </a:rPr>
              <a:t>Agent needs to request UMA from manager. Follow </a:t>
            </a:r>
            <a:r>
              <a:rPr lang="en-US" sz="1200">
                <a:solidFill>
                  <a:schemeClr val="bg1"/>
                </a:solidFill>
                <a:ea typeface="Calibri"/>
                <a:cs typeface="Calibri"/>
                <a:hlinkClick r:id="rId2">
                  <a:extLst>
                    <a:ext uri="{A12FA001-AC4F-418D-AE19-62706E023703}">
                      <ahyp:hlinkClr xmlns:ahyp="http://schemas.microsoft.com/office/drawing/2018/hyperlinkcolor" val="tx"/>
                    </a:ext>
                  </a:extLst>
                </a:hlinkClick>
              </a:rPr>
              <a:t>UMA process</a:t>
            </a:r>
            <a:r>
              <a:rPr lang="en-US" sz="1200">
                <a:solidFill>
                  <a:schemeClr val="bg1"/>
                </a:solidFill>
                <a:ea typeface="Calibri"/>
                <a:cs typeface="Calibri"/>
              </a:rPr>
              <a:t>.</a:t>
            </a:r>
          </a:p>
          <a:p>
            <a:pPr marL="800100" lvl="1" indent="-342900">
              <a:buAutoNum type="arabicPeriod"/>
            </a:pPr>
            <a:r>
              <a:rPr lang="en-US" sz="1200">
                <a:ea typeface="Calibri"/>
                <a:cs typeface="Calibri"/>
              </a:rPr>
              <a:t>Once the manager completes the approval, they will upload the advantage point URL to the </a:t>
            </a:r>
            <a:r>
              <a:rPr lang="en-US" sz="1200" err="1">
                <a:ea typeface="Calibri"/>
                <a:cs typeface="Calibri"/>
              </a:rPr>
              <a:t>Quickbase</a:t>
            </a:r>
            <a:r>
              <a:rPr lang="en-US" sz="1200">
                <a:ea typeface="Calibri"/>
                <a:cs typeface="Calibri"/>
              </a:rPr>
              <a:t> original refund/withdrawal request notes.</a:t>
            </a:r>
          </a:p>
          <a:p>
            <a:pPr marL="800100" lvl="1" indent="-342900">
              <a:buAutoNum type="arabicPeriod"/>
            </a:pPr>
            <a:r>
              <a:rPr lang="en-US" sz="1200">
                <a:ea typeface="Calibri"/>
                <a:cs typeface="Calibri"/>
              </a:rPr>
              <a:t>Change Internal Status to "Waiting on Accounting"</a:t>
            </a:r>
          </a:p>
          <a:p>
            <a:pPr marL="800100" lvl="1" indent="-342900">
              <a:buAutoNum type="arabicPeriod"/>
            </a:pPr>
            <a:r>
              <a:rPr lang="en-US" sz="1200">
                <a:ea typeface="Calibri"/>
                <a:cs typeface="Calibri"/>
              </a:rPr>
              <a:t>Save Request</a:t>
            </a:r>
          </a:p>
          <a:p>
            <a:pPr lvl="1"/>
            <a:r>
              <a:rPr lang="en-US" sz="1200">
                <a:ea typeface="Calibri"/>
                <a:cs typeface="Calibri"/>
              </a:rPr>
              <a:t>**Additional information:</a:t>
            </a:r>
          </a:p>
          <a:p>
            <a:pPr lvl="1"/>
            <a:r>
              <a:rPr lang="en-US" sz="1200">
                <a:ea typeface="+mn-lt"/>
                <a:cs typeface="+mn-lt"/>
              </a:rPr>
              <a:t>TL will have to complete the recording if $501-1500 and the manager will have to do the recording for $1501+ </a:t>
            </a:r>
            <a:endParaRPr lang="en-US" sz="1200">
              <a:ea typeface="Calibri"/>
              <a:cs typeface="Calibri"/>
            </a:endParaRPr>
          </a:p>
          <a:p>
            <a:pPr lvl="1"/>
            <a:r>
              <a:rPr lang="en-US" sz="1200">
                <a:ea typeface="Calibri"/>
                <a:cs typeface="Calibri"/>
              </a:rPr>
              <a:t>***If the withdrawal request is over $5,000, the manager will need to email GH </a:t>
            </a:r>
            <a:r>
              <a:rPr lang="en-US" sz="1200">
                <a:ea typeface="+mn-lt"/>
                <a:cs typeface="+mn-lt"/>
              </a:rPr>
              <a:t>"Premier Support" &lt;premiersupport@ghllc.com&gt;</a:t>
            </a:r>
            <a:r>
              <a:rPr lang="en-US" sz="1200">
                <a:ea typeface="Calibri"/>
                <a:cs typeface="Calibri"/>
              </a:rPr>
              <a:t> to confirm no red flags on the account that will hold up the withdrawal.</a:t>
            </a:r>
          </a:p>
          <a:p>
            <a:pPr lvl="1"/>
            <a:endParaRPr lang="en-US" sz="1200" b="1">
              <a:ea typeface="Calibri"/>
              <a:cs typeface="Calibri"/>
            </a:endParaRPr>
          </a:p>
          <a:p>
            <a:pPr lvl="1"/>
            <a:r>
              <a:rPr lang="en-US" sz="1200" b="1">
                <a:ea typeface="Calibri"/>
                <a:cs typeface="Calibri"/>
              </a:rPr>
              <a:t>Example of Email: </a:t>
            </a:r>
            <a:endParaRPr lang="en-US"/>
          </a:p>
          <a:p>
            <a:pPr lvl="1"/>
            <a:r>
              <a:rPr lang="en-US" sz="1200">
                <a:ea typeface="Calibri"/>
                <a:cs typeface="Calibri"/>
              </a:rPr>
              <a:t>Dear Premier Support Team,</a:t>
            </a:r>
          </a:p>
          <a:p>
            <a:pPr lvl="1"/>
            <a:endParaRPr lang="en-US" sz="1200">
              <a:ea typeface="Calibri"/>
              <a:cs typeface="Calibri"/>
            </a:endParaRPr>
          </a:p>
          <a:p>
            <a:pPr lvl="1"/>
            <a:r>
              <a:rPr lang="en-US" sz="1200">
                <a:ea typeface="Calibri"/>
                <a:cs typeface="Calibri"/>
              </a:rPr>
              <a:t>I hope this message finds you well.</a:t>
            </a:r>
          </a:p>
          <a:p>
            <a:pPr lvl="1"/>
            <a:endParaRPr lang="en-US" sz="1200">
              <a:ea typeface="Calibri"/>
              <a:cs typeface="Calibri"/>
            </a:endParaRPr>
          </a:p>
          <a:p>
            <a:pPr lvl="1"/>
            <a:r>
              <a:rPr lang="en-US" sz="1200">
                <a:ea typeface="Calibri"/>
                <a:cs typeface="Calibri"/>
              </a:rPr>
              <a:t>I am reaching out to inform you that CLIENT NAME is requesting to withdraw $5,000 from their Global Holdings account. Before we proceed, we would like to check in and ensure there are no red flags or issues associated with this account that we should be aware of.</a:t>
            </a:r>
          </a:p>
          <a:p>
            <a:pPr lvl="1"/>
            <a:endParaRPr lang="en-US" sz="1200">
              <a:ea typeface="Calibri"/>
              <a:cs typeface="Calibri"/>
            </a:endParaRPr>
          </a:p>
          <a:p>
            <a:pPr lvl="1"/>
            <a:r>
              <a:rPr lang="en-US" sz="1200">
                <a:ea typeface="Calibri"/>
                <a:cs typeface="Calibri"/>
              </a:rPr>
              <a:t>Client Global ID: CLIENTS GLOBAL ID NUMBER</a:t>
            </a:r>
          </a:p>
          <a:p>
            <a:pPr lvl="1"/>
            <a:r>
              <a:rPr lang="en-US" sz="1200">
                <a:ea typeface="Calibri"/>
                <a:cs typeface="Calibri"/>
              </a:rPr>
              <a:t>Please let us know If there is anything that would prevent or delay this transaction</a:t>
            </a:r>
          </a:p>
          <a:p>
            <a:pPr lvl="1"/>
            <a:endParaRPr lang="en-US" sz="1200">
              <a:ea typeface="Calibri"/>
              <a:cs typeface="Calibri"/>
            </a:endParaRPr>
          </a:p>
          <a:p>
            <a:pPr lvl="1"/>
            <a:r>
              <a:rPr lang="en-US" sz="1200">
                <a:ea typeface="Calibri"/>
                <a:cs typeface="Calibri"/>
              </a:rPr>
              <a:t>Example of response if no red flags</a:t>
            </a:r>
            <a:r>
              <a:rPr lang="en-US" sz="1400">
                <a:ea typeface="Calibri"/>
                <a:cs typeface="Calibri"/>
              </a:rPr>
              <a:t>: </a:t>
            </a:r>
          </a:p>
          <a:p>
            <a:pPr lvl="1"/>
            <a:endParaRPr lang="en-US" sz="1400">
              <a:ea typeface="Calibri"/>
              <a:cs typeface="Calibri"/>
            </a:endParaRPr>
          </a:p>
          <a:p>
            <a:pPr lvl="1"/>
            <a:endParaRPr lang="en-US" sz="1400">
              <a:ea typeface="Calibri"/>
              <a:cs typeface="Calibri"/>
            </a:endParaRPr>
          </a:p>
          <a:p>
            <a:pPr marL="800100" lvl="1" indent="-342900">
              <a:buAutoNum type="arabicPeriod"/>
            </a:pPr>
            <a:endParaRPr lang="en-US" sz="1400">
              <a:ea typeface="Calibri"/>
              <a:cs typeface="Calibri"/>
            </a:endParaRPr>
          </a:p>
          <a:p>
            <a:pPr marL="800100" lvl="1" indent="-342900">
              <a:buAutoNum type="arabicPeriod"/>
            </a:pPr>
            <a:endParaRPr lang="en-US" sz="1400">
              <a:ea typeface="Calibri"/>
              <a:cs typeface="Calibri"/>
            </a:endParaRPr>
          </a:p>
        </p:txBody>
      </p:sp>
      <p:pic>
        <p:nvPicPr>
          <p:cNvPr id="3" name="Picture 2" descr="A screenshot of a computer&#10;&#10;AI-generated content may be incorrect.">
            <a:extLst>
              <a:ext uri="{FF2B5EF4-FFF2-40B4-BE49-F238E27FC236}">
                <a16:creationId xmlns:a16="http://schemas.microsoft.com/office/drawing/2014/main" id="{BA4A9471-AD00-68D2-A170-E3166DF3EFE7}"/>
              </a:ext>
            </a:extLst>
          </p:cNvPr>
          <p:cNvPicPr>
            <a:picLocks noChangeAspect="1"/>
          </p:cNvPicPr>
          <p:nvPr/>
        </p:nvPicPr>
        <p:blipFill>
          <a:blip r:embed="rId3"/>
          <a:stretch>
            <a:fillRect/>
          </a:stretch>
        </p:blipFill>
        <p:spPr>
          <a:xfrm>
            <a:off x="1454168" y="5405781"/>
            <a:ext cx="3279470" cy="1362076"/>
          </a:xfrm>
          <a:prstGeom prst="rect">
            <a:avLst/>
          </a:prstGeom>
        </p:spPr>
      </p:pic>
    </p:spTree>
    <p:extLst>
      <p:ext uri="{BB962C8B-B14F-4D97-AF65-F5344CB8AC3E}">
        <p14:creationId xmlns:p14="http://schemas.microsoft.com/office/powerpoint/2010/main" val="13503338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99E072-E2EB-4A16-8A07-7D24BD3247DB}">
  <ds:schemaRefs>
    <ds:schemaRef ds:uri="dfbadaf6-90cf-41d3-a0ba-bbd98d259036"/>
    <ds:schemaRef ds:uri="fca21091-4343-4232-a795-e59481497cb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9F8C063-090C-4C9C-93AA-55A6E09FD7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83C4AB-F39E-4B90-9D28-E178AAA9D1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On-screen Show (4:3)</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Refund/Withdrawal Request</vt:lpstr>
      <vt:lpstr>Refund/Withdrawal Script</vt:lpstr>
      <vt:lpstr>Refund/Withdrawal Request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Cancel without OFC and without Active SIFS</dc:title>
  <dc:creator>Christina Borrello</dc:creator>
  <cp:revision>2</cp:revision>
  <dcterms:created xsi:type="dcterms:W3CDTF">2021-09-02T18:42:54Z</dcterms:created>
  <dcterms:modified xsi:type="dcterms:W3CDTF">2026-02-12T20:24:38Z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