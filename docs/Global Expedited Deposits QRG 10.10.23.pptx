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4"/>
  </p:notesMasterIdLst>
  <p:sldIdLst>
    <p:sldId id="1956" r:id="rId5"/>
    <p:sldId id="1958" r:id="rId6"/>
    <p:sldId id="1957" r:id="rId7"/>
    <p:sldId id="1960" r:id="rId8"/>
    <p:sldId id="1961" r:id="rId9"/>
    <p:sldId id="1962" r:id="rId10"/>
    <p:sldId id="1963" r:id="rId11"/>
    <p:sldId id="1964" r:id="rId12"/>
    <p:sldId id="1959" r:id="rId13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BCDA1A-0A1D-DCDE-328D-DCA3A8B8EA2E}" name="Christina Borrello" initials="CB" userId="S::cborrello@clearoneadvantage.com::920200ae-9917-4322-a251-f102818e0e63" providerId="AD"/>
  <p188:author id="{A7A5B8CC-3876-DBBD-2027-6F51F5282F47}" name="Heather Sellers" initials="HS" userId="S::hsellers@clearoneadvantage.com::25461d58-9233-4504-9b5c-0ad25644213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  <p:cmAuthor id="4" name="Christina Borrello" initials="CB" lastIdx="1" clrIdx="3">
    <p:extLst>
      <p:ext uri="{19B8F6BF-5375-455C-9EA6-DF929625EA0E}">
        <p15:presenceInfo xmlns:p15="http://schemas.microsoft.com/office/powerpoint/2012/main" userId="S::cborrello@clg.clearoneadvantage.com::920200ae-9917-4322-a251-f102818e0e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9EC"/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cid:image002.jpg@01D920FF.97A320E0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736988"/>
          </a:xfrm>
        </p:spPr>
        <p:txBody>
          <a:bodyPr>
            <a:noAutofit/>
          </a:bodyPr>
          <a:lstStyle/>
          <a:p>
            <a:pPr algn="ctr"/>
            <a:r>
              <a:rPr lang="en-US" sz="2800" b="1">
                <a:effectLst/>
                <a:latin typeface="Poppins" panose="00000500000000000000" pitchFamily="2" charset="0"/>
                <a:ea typeface="Calibri" panose="020F0502020204030204" pitchFamily="34" charset="0"/>
              </a:rPr>
              <a:t>Expedited Deposits </a:t>
            </a:r>
            <a:endParaRPr lang="en-US" sz="2800" b="1">
              <a:latin typeface="Calibri Light"/>
              <a:cs typeface="Calibri Ligh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777510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88971-DE78-800E-1BFE-CD1FE908B75D}"/>
              </a:ext>
            </a:extLst>
          </p:cNvPr>
          <p:cNvSpPr txBox="1"/>
          <p:nvPr/>
        </p:nvSpPr>
        <p:spPr>
          <a:xfrm>
            <a:off x="7693989" y="117193"/>
            <a:ext cx="145001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cs typeface="Calibri"/>
              </a:rPr>
              <a:t>Reviewed: 10/27/2023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F29FBD-8B7E-418C-F323-948A0F07AA26}"/>
              </a:ext>
            </a:extLst>
          </p:cNvPr>
          <p:cNvSpPr txBox="1"/>
          <p:nvPr/>
        </p:nvSpPr>
        <p:spPr>
          <a:xfrm>
            <a:off x="292231" y="669303"/>
            <a:ext cx="862712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02F753-CE90-A919-3E51-E7478D4BB92D}"/>
              </a:ext>
            </a:extLst>
          </p:cNvPr>
          <p:cNvSpPr txBox="1"/>
          <p:nvPr/>
        </p:nvSpPr>
        <p:spPr>
          <a:xfrm>
            <a:off x="292231" y="5709225"/>
            <a:ext cx="862712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2424E-3DDD-EDFD-18BA-443ABD140419}"/>
              </a:ext>
            </a:extLst>
          </p:cNvPr>
          <p:cNvSpPr txBox="1"/>
          <p:nvPr/>
        </p:nvSpPr>
        <p:spPr>
          <a:xfrm>
            <a:off x="396147" y="885717"/>
            <a:ext cx="8419293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Poppins"/>
                <a:cs typeface="Poppins"/>
              </a:rPr>
              <a:t>Clients can make one-time deposits into their GH account with a debit card</a:t>
            </a:r>
            <a:endParaRPr lang="en-US" sz="1600">
              <a:latin typeface="Calibri" panose="020F0502020204030204"/>
              <a:cs typeface="Calibri"/>
            </a:endParaRPr>
          </a:p>
          <a:p>
            <a:endParaRPr lang="en-US" sz="1600">
              <a:latin typeface="Poppins"/>
              <a:cs typeface="Poppins"/>
            </a:endParaRPr>
          </a:p>
          <a:p>
            <a:r>
              <a:rPr lang="en-US" sz="1600">
                <a:latin typeface="Poppins"/>
                <a:cs typeface="Poppins"/>
              </a:rPr>
              <a:t>This feature allows clients to quickly increase their balances, making additional funds available for real-time settlement activity</a:t>
            </a:r>
            <a:endParaRPr lang="en-US" sz="1600">
              <a:cs typeface="Calibri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en-US" sz="16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effectLst/>
                <a:latin typeface="Poppins" panose="00000500000000000000" pitchFamily="2" charset="0"/>
                <a:ea typeface="Calibri" panose="020F0502020204030204" pitchFamily="34" charset="0"/>
              </a:rPr>
              <a:t>Using </a:t>
            </a:r>
            <a:r>
              <a:rPr lang="en-US" sz="1600" err="1">
                <a:effectLst/>
                <a:latin typeface="Poppins" panose="00000500000000000000" pitchFamily="2" charset="0"/>
                <a:ea typeface="Calibri" panose="020F0502020204030204" pitchFamily="34" charset="0"/>
              </a:rPr>
              <a:t>Global’s</a:t>
            </a:r>
            <a:r>
              <a:rPr lang="en-US" sz="1600">
                <a:effectLst/>
                <a:latin typeface="Poppins" panose="00000500000000000000" pitchFamily="2" charset="0"/>
                <a:ea typeface="Calibri" panose="020F0502020204030204" pitchFamily="34" charset="0"/>
              </a:rPr>
              <a:t> client portal to initiate the deposit, clients can provide their account information, enter their debit card details and receive a confirmation that the deposit was authorized.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>
              <a:effectLst/>
              <a:latin typeface="Poppins" panose="00000500000000000000" pitchFamily="2" charset="0"/>
              <a:ea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The consumer is the only party authorized to make a deposit to their account.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Global accepts all debit cards issued by Visa, Mastercard, or Discover.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err="1"/>
              <a:t>Global’s</a:t>
            </a:r>
            <a:r>
              <a:rPr lang="en-US"/>
              <a:t> deposit maximum is $20,000.00. The consumer’s bank may have different transaction limits. The consumer may want to confirm that their submission is within their bank’s limits.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The consumer will know right away if the deposit is accepted or declined.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Expedited deposits process every day. If submitted before 7:00 p.m. central standard time (CST), they post to consumer accounts immediately. If submitted after 7:00 p.m. CST, they post the following day.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The consumer can cancel a debit card transaction until 5:00 p.m. CST of the day they submitted it. 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5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45F6-ED02-81E5-A9AD-5C6EEDF8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455736"/>
          </a:xfrm>
        </p:spPr>
        <p:txBody>
          <a:bodyPr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latin typeface="+mn-lt"/>
              </a:rPr>
              <a:t>The consumer can start a one-time deposit from the Account Login page. </a:t>
            </a:r>
            <a:br>
              <a:rPr lang="en-US" sz="2000">
                <a:latin typeface="+mn-lt"/>
              </a:rPr>
            </a:br>
            <a:r>
              <a:rPr lang="en-US" sz="2000">
                <a:latin typeface="+mn-lt"/>
              </a:rPr>
              <a:t>• Look underneath </a:t>
            </a:r>
            <a:r>
              <a:rPr lang="en-US" sz="2000" b="1">
                <a:latin typeface="+mn-lt"/>
              </a:rPr>
              <a:t>Make a deposit? </a:t>
            </a:r>
            <a:r>
              <a:rPr lang="en-US" sz="2000">
                <a:latin typeface="+mn-lt"/>
              </a:rPr>
              <a:t>and click </a:t>
            </a:r>
            <a:r>
              <a:rPr lang="en-US" sz="2000" b="1">
                <a:latin typeface="+mn-lt"/>
              </a:rPr>
              <a:t>Start Here</a:t>
            </a:r>
            <a:r>
              <a:rPr lang="en-US" sz="2000">
                <a:latin typeface="+mn-lt"/>
              </a:rPr>
              <a:t>.</a:t>
            </a:r>
            <a:endParaRPr lang="en-US" sz="2000">
              <a:latin typeface="+mn-lt"/>
              <a:ea typeface="Calibri Light"/>
              <a:cs typeface="Calibri Ligh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8CB9E-46B1-90E9-EE02-8060BFDE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8CB01-8DF1-19EC-48D1-49586DE6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2</a:t>
            </a:fld>
            <a:endParaRPr lang="en-US"/>
          </a:p>
        </p:txBody>
      </p:sp>
      <p:pic>
        <p:nvPicPr>
          <p:cNvPr id="1025" name="x_x_Picture 3">
            <a:extLst>
              <a:ext uri="{FF2B5EF4-FFF2-40B4-BE49-F238E27FC236}">
                <a16:creationId xmlns:a16="http://schemas.microsoft.com/office/drawing/2014/main" id="{F43FA4C7-42FB-9ADF-DAD8-2EE11AD3D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30" y="1820863"/>
            <a:ext cx="7124700" cy="453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29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AB1A8-C53D-1396-67EF-3974CC1A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90DB4-F8C5-E017-CED3-91079123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3</a:t>
            </a:fld>
            <a:endParaRPr lang="en-US"/>
          </a:p>
        </p:txBody>
      </p:sp>
      <p:pic>
        <p:nvPicPr>
          <p:cNvPr id="2050" name="x_x_Picture 4">
            <a:extLst>
              <a:ext uri="{FF2B5EF4-FFF2-40B4-BE49-F238E27FC236}">
                <a16:creationId xmlns:a16="http://schemas.microsoft.com/office/drawing/2014/main" id="{A9126731-9BD8-0C72-1758-0FEB4E5A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264" y="3860410"/>
            <a:ext cx="4947023" cy="2861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8">
            <a:extLst>
              <a:ext uri="{FF2B5EF4-FFF2-40B4-BE49-F238E27FC236}">
                <a16:creationId xmlns:a16="http://schemas.microsoft.com/office/drawing/2014/main" id="{AD237C2C-721B-DB52-F1ED-539BB01D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06920"/>
          </a:xfrm>
        </p:spPr>
        <p:txBody>
          <a:bodyPr>
            <a:noAutofit/>
          </a:bodyPr>
          <a:lstStyle/>
          <a:p>
            <a:r>
              <a:rPr lang="en-US" sz="1800">
                <a:latin typeface="+mn-lt"/>
              </a:rPr>
              <a:t>The One-Time Deposit page opens. The consumer must verify their identity, confirm their email address, and provide a deposit amount. If the consumer knows their 16-digit account number, they can verify their identity with the account number and the last four digits of their Social Security number (SSN). </a:t>
            </a:r>
            <a:br>
              <a:rPr lang="en-US" sz="1800">
                <a:latin typeface="+mn-lt"/>
              </a:rPr>
            </a:br>
            <a:br>
              <a:rPr lang="en-US" sz="1800">
                <a:latin typeface="+mn-lt"/>
              </a:rPr>
            </a:br>
            <a:endParaRPr lang="en-US" sz="180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39D1E9-2FF3-084C-1233-87818CBD52F0}"/>
              </a:ext>
            </a:extLst>
          </p:cNvPr>
          <p:cNvSpPr txBox="1"/>
          <p:nvPr/>
        </p:nvSpPr>
        <p:spPr>
          <a:xfrm>
            <a:off x="418011" y="1428875"/>
            <a:ext cx="84386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</a:rPr>
              <a:t>To make a one-time deposit, enter your 16-digit account number, the last four digits of your SSN, your email address, and the deposit amount. Then click Proceed.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</a:rPr>
              <a:t>If you don’t know your account number, you can look it up in your welcome letter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</a:rPr>
              <a:t>If you can’t find your account number, click Look Up Account Number. See Verify identity without an account number.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you are not able to locate your account number, your CLG agent can provide that information. </a:t>
            </a:r>
            <a:endParaRPr lang="en-US" sz="18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</a:rPr>
              <a:t>To view information about one-time deposits, click One-Time Deposit Info.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9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149A-55DF-A22D-02F8-7F8D1F98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Verify identity without an account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25DC1-A939-3A03-6FFE-16D8CC01D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83743"/>
            <a:ext cx="7886700" cy="469322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If the consumer can’t find their 16-digit account number, they can verify their identity with other identifying information. When the consumer clicks Look Up Account Number, a Can’t find your Account Number page opens. </a:t>
            </a:r>
          </a:p>
          <a:p>
            <a:pPr marL="0" indent="0">
              <a:buNone/>
            </a:pPr>
            <a:r>
              <a:rPr lang="en-US"/>
              <a:t>1. Enter your ZIP code, your date of birth, and the last four digits of your SSN. </a:t>
            </a:r>
          </a:p>
          <a:p>
            <a:pPr marL="0" indent="0">
              <a:buNone/>
            </a:pPr>
            <a:r>
              <a:rPr lang="en-US"/>
              <a:t>2. Click Next.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7C10E-64DA-42F5-8A1B-EB56B4F7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E10F8-9C5A-2F86-DD4B-26C5CFA3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8B5884-9111-EE0B-2354-827C09821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3287795"/>
            <a:ext cx="4749430" cy="288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1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F6DD-0F11-FB0D-059B-E6679E87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 an account when multiple are 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187D-07E7-372D-5D6B-5AD405FE4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2755"/>
            <a:ext cx="7886700" cy="462420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If the consumer tries to verify their identity and multiple accounts on file match their information, a list of possible accounts appears. The website only displays accounts if all three pieces of information match (ZIP code, date of birth, and last four digits of an SSN). </a:t>
            </a:r>
          </a:p>
          <a:p>
            <a:r>
              <a:rPr lang="en-US"/>
              <a:t>1. Select your account. </a:t>
            </a:r>
          </a:p>
          <a:p>
            <a:r>
              <a:rPr lang="en-US"/>
              <a:t>2. Click Submit.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69A9D-0FED-B066-789F-186C34C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0DBD0-F198-73B8-61F6-6D060F30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03E40-73FB-6D8D-3891-EBE8B1A9A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625" y="3157117"/>
            <a:ext cx="4648849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6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FF5-8E4B-C7FA-BD72-4016AA68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Enter a payment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798D-4D96-1E85-7A0A-082723DD5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0226"/>
            <a:ext cx="7886700" cy="479673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After the consumer verifies their identity, they must provide a debit card to make the one-time deposit. The Payer Express website opens with the Enter a Payment Method dialog. </a:t>
            </a:r>
          </a:p>
          <a:p>
            <a:pPr marL="457200" indent="-457200">
              <a:buAutoNum type="arabicPeriod"/>
            </a:pPr>
            <a:r>
              <a:rPr lang="en-US"/>
              <a:t>Enter your debit card information, including name on card, card number, expiration date, security code, and billing address. </a:t>
            </a:r>
          </a:p>
          <a:p>
            <a:pPr marL="457200" indent="-457200">
              <a:buAutoNum type="arabicPeriod"/>
            </a:pPr>
            <a:r>
              <a:rPr lang="en-US"/>
              <a:t>Read the disclosure and select Agree and Enter Account.</a:t>
            </a:r>
          </a:p>
          <a:p>
            <a:pPr marL="457200" indent="-457200">
              <a:buAutoNum type="arabicPeriod"/>
            </a:pPr>
            <a:r>
              <a:rPr lang="en-US"/>
              <a:t>Click Enter Account.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80B49-6140-42F4-3119-9334449C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3B0E7-1856-5BD3-6D2C-6C2434A3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8E2D4-B64B-08FE-7FC2-3A5C9A2C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199" y="3429000"/>
            <a:ext cx="3908322" cy="299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7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9369-BC5E-4435-3F0A-330881B6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97687"/>
            <a:ext cx="7886700" cy="668472"/>
          </a:xfrm>
        </p:spPr>
        <p:txBody>
          <a:bodyPr/>
          <a:lstStyle/>
          <a:p>
            <a:r>
              <a:rPr lang="en-US"/>
              <a:t>Verify and make the debit card payment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7912-9B84-4FB3-2B1B-A00B5C54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66159"/>
            <a:ext cx="7886700" cy="30882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After the consumer enters their debit card information, they agree to </a:t>
            </a:r>
            <a:r>
              <a:rPr lang="en-US" err="1"/>
              <a:t>Global’s</a:t>
            </a:r>
            <a:r>
              <a:rPr lang="en-US"/>
              <a:t> terms and conditions and submit the payment. They have the opportunity to modify the payment information if needed.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Review the payment summary, contact information, and payment details. </a:t>
            </a:r>
          </a:p>
          <a:p>
            <a:pPr lvl="2"/>
            <a:r>
              <a:rPr lang="en-US" sz="1800"/>
              <a:t>To export the payment details to a CSV, look next to Payment Details and click Export. </a:t>
            </a:r>
          </a:p>
          <a:p>
            <a:pPr lvl="2"/>
            <a:r>
              <a:rPr lang="en-US" sz="1800"/>
              <a:t>To print an invoice, click the View Invoice button. Then click Print. </a:t>
            </a:r>
          </a:p>
          <a:p>
            <a:pPr marL="457200" indent="-457200">
              <a:buAutoNum type="arabicPeriod"/>
            </a:pPr>
            <a:r>
              <a:rPr lang="en-US"/>
              <a:t>Update information if needed. </a:t>
            </a:r>
          </a:p>
          <a:p>
            <a:pPr lvl="2"/>
            <a:r>
              <a:rPr lang="en-US" sz="1800"/>
              <a:t>To change the payment method, look under Payment Summary and click Enter. </a:t>
            </a:r>
          </a:p>
          <a:p>
            <a:pPr lvl="2"/>
            <a:r>
              <a:rPr lang="en-US" sz="1800"/>
              <a:t>To change your email, use the Email field. </a:t>
            </a:r>
          </a:p>
          <a:p>
            <a:pPr lvl="2"/>
            <a:r>
              <a:rPr lang="en-US" sz="1800"/>
              <a:t>To change the payment amount, use the Final Amount field. </a:t>
            </a:r>
          </a:p>
          <a:p>
            <a:pPr marL="457200" indent="-457200">
              <a:buAutoNum type="arabicPeriod"/>
            </a:pPr>
            <a:r>
              <a:rPr lang="en-US"/>
              <a:t>Agree to the terms and conditions. Select the checkbox next to “By checking this box you agree.” </a:t>
            </a:r>
          </a:p>
          <a:p>
            <a:pPr marL="457200" indent="-457200">
              <a:buAutoNum type="arabicPeriod"/>
            </a:pPr>
            <a:r>
              <a:rPr lang="en-US"/>
              <a:t>Click Make Payment.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08D72-A274-B84C-6EA4-3709A101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AA23F-4EF9-7CF6-0943-5954A529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35A0A2-71E9-9592-D14D-940BFC3A0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53" y="3374980"/>
            <a:ext cx="4748949" cy="31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8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158E-5641-D984-7CA2-DCA46826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5538"/>
          </a:xfrm>
        </p:spPr>
        <p:txBody>
          <a:bodyPr/>
          <a:lstStyle/>
          <a:p>
            <a:r>
              <a:rPr lang="en-US"/>
              <a:t>Confirm the deposit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5CCB-C48F-A973-571E-ABDB6925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00665"/>
            <a:ext cx="7886700" cy="517629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When the consumer submits the debit card payment, the website displays a confirmation page and sends the consumer a confirmation email. </a:t>
            </a:r>
          </a:p>
          <a:p>
            <a:r>
              <a:rPr lang="en-US"/>
              <a:t>To print the confirmation page, click Print Confirmation Page.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3D996-E4A5-8EE4-14DA-19D4EB52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02ACF-A923-121C-601F-3F9A2BF2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0320A3-69C2-61E2-E14A-382F553C2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91" y="2449163"/>
            <a:ext cx="3817378" cy="37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6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ED71-678D-2827-019E-3A31424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/>
              <a:t>Need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A2332-D4EE-8A92-D206-41A8B08A4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1F3864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T</a:t>
            </a: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he client is the only party authorized to make a deposit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Visa, Mastercard and Discover debit cards are accepted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Posted deposits are visible on Transactions and Deposit History screens in the Client Portal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Expedited deposits do not process on Saturdays, Sundays, or Holidays. The deposit date will be the next business day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The client will know right away if the transaction is accepted/declined, just like any online purchase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A deposit will post to the client’s account immediately upon completion, no waiting period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Minimum transaction is $1 and maximum is $20,000. Deposits larger than the maximum can be achieved through multiple transactions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>
                <a:solidFill>
                  <a:srgbClr val="00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</a:rPr>
              <a:t>Deposits submitted after 7pm (CST) or on weekends/holidays will post the following business day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BF3F6-B089-9207-FB10-BA80379C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C42A-9AF3-E058-EE45-9A5E72D0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71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44613A-A1AE-446C-ADE1-2243A58D2292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854B98F-2B59-4E83-AB7F-1619296425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75B580-F8DD-48A5-A2A8-4CC706007F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Application>Microsoft Office PowerPoint</Application>
  <PresentationFormat>On-screen Show (4:3)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Expedited Deposits </vt:lpstr>
      <vt:lpstr>The consumer can start a one-time deposit from the Account Login page.  • Look underneath Make a deposit? and click Start Here.</vt:lpstr>
      <vt:lpstr>The One-Time Deposit page opens. The consumer must verify their identity, confirm their email address, and provide a deposit amount. If the consumer knows their 16-digit account number, they can verify their identity with the account number and the last four digits of their Social Security number (SSN).   </vt:lpstr>
      <vt:lpstr>Verify identity without an account number</vt:lpstr>
      <vt:lpstr>Select an account when multiple are on file</vt:lpstr>
      <vt:lpstr>Enter a payment method</vt:lpstr>
      <vt:lpstr>Verify and make the debit card payment</vt:lpstr>
      <vt:lpstr>Confirm the deposit</vt:lpstr>
      <vt:lpstr>Need to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revision>3</cp:revision>
  <cp:lastPrinted>2020-12-17T16:31:33Z</cp:lastPrinted>
  <dcterms:created xsi:type="dcterms:W3CDTF">2020-07-08T17:20:15Z</dcterms:created>
  <dcterms:modified xsi:type="dcterms:W3CDTF">2026-02-12T20:10:59Z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