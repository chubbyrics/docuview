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7"/>
  </p:notesMasterIdLst>
  <p:sldIdLst>
    <p:sldId id="1944" r:id="rId5"/>
    <p:sldId id="1945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6D1762-DB65-4818-95E3-34542BF2EAD4}" v="16" dt="2023-08-18T13:39:56.603"/>
  </p1510:revLst>
</p1510:revInfo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49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93EA27-2861-40C2-8C35-26D6DF861391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8F8EEA-920D-4492-9FA6-99CB16C8F6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93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818EA0-D2EF-4C38-A8B1-0D8C28DF25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0507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818EA0-D2EF-4C38-A8B1-0D8C28DF25E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6932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B714A-7976-4F32-9967-486AF477D0A2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761F1-2C91-4384-89A4-EB8A5880B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764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B714A-7976-4F32-9967-486AF477D0A2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761F1-2C91-4384-89A4-EB8A5880B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302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B714A-7976-4F32-9967-486AF477D0A2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761F1-2C91-4384-89A4-EB8A5880B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196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B714A-7976-4F32-9967-486AF477D0A2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761F1-2C91-4384-89A4-EB8A5880B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243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B714A-7976-4F32-9967-486AF477D0A2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761F1-2C91-4384-89A4-EB8A5880B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789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B714A-7976-4F32-9967-486AF477D0A2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761F1-2C91-4384-89A4-EB8A5880B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367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B714A-7976-4F32-9967-486AF477D0A2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761F1-2C91-4384-89A4-EB8A5880B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04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B714A-7976-4F32-9967-486AF477D0A2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761F1-2C91-4384-89A4-EB8A5880B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45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B714A-7976-4F32-9967-486AF477D0A2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761F1-2C91-4384-89A4-EB8A5880B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865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B714A-7976-4F32-9967-486AF477D0A2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761F1-2C91-4384-89A4-EB8A5880B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654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B714A-7976-4F32-9967-486AF477D0A2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761F1-2C91-4384-89A4-EB8A5880B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585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EB714A-7976-4F32-9967-486AF477D0A2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9761F1-2C91-4384-89A4-EB8A5880B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900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177C8-003C-49AC-9E7A-B4F3742C3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22" y="193000"/>
            <a:ext cx="7899400" cy="614363"/>
          </a:xfrm>
        </p:spPr>
        <p:txBody>
          <a:bodyPr>
            <a:normAutofit/>
          </a:bodyPr>
          <a:lstStyle/>
          <a:p>
            <a:pPr algn="ctr"/>
            <a:r>
              <a:rPr lang="en-US" sz="2000" b="1" dirty="0">
                <a:latin typeface="Arial"/>
                <a:cs typeface="Arial"/>
              </a:rPr>
              <a:t>High Value Clients (HV Clients)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1</a:t>
            </a:fld>
            <a:endParaRPr lang="en-US"/>
          </a:p>
        </p:txBody>
      </p:sp>
      <p:pic>
        <p:nvPicPr>
          <p:cNvPr id="4" name="Picture 2" descr="ClearOne Advantage">
            <a:extLst>
              <a:ext uri="{FF2B5EF4-FFF2-40B4-BE49-F238E27FC236}">
                <a16:creationId xmlns:a16="http://schemas.microsoft.com/office/drawing/2014/main" id="{9E7A9EBC-4E6F-49FE-9AB3-E487E8E2A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3948" y="6447628"/>
            <a:ext cx="1395194" cy="390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0115940-8E32-4E7D-86BE-414C54C86E36}"/>
              </a:ext>
            </a:extLst>
          </p:cNvPr>
          <p:cNvSpPr/>
          <p:nvPr/>
        </p:nvSpPr>
        <p:spPr>
          <a:xfrm>
            <a:off x="0" y="683569"/>
            <a:ext cx="9144000" cy="45719"/>
          </a:xfrm>
          <a:prstGeom prst="rect">
            <a:avLst/>
          </a:prstGeom>
          <a:solidFill>
            <a:srgbClr val="8C93A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517055-398C-CCB6-84EA-9C32CABF7ECC}"/>
              </a:ext>
            </a:extLst>
          </p:cNvPr>
          <p:cNvSpPr txBox="1"/>
          <p:nvPr/>
        </p:nvSpPr>
        <p:spPr>
          <a:xfrm>
            <a:off x="7152967" y="82959"/>
            <a:ext cx="186198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cs typeface="Calibri"/>
              </a:rPr>
              <a:t>Updated 8.17.23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3D4FE1-5D2F-5517-5D6E-7174E16B60AE}"/>
              </a:ext>
            </a:extLst>
          </p:cNvPr>
          <p:cNvSpPr txBox="1"/>
          <p:nvPr/>
        </p:nvSpPr>
        <p:spPr>
          <a:xfrm>
            <a:off x="671226" y="949028"/>
            <a:ext cx="7794791" cy="5139869"/>
          </a:xfrm>
          <a:prstGeom prst="rect">
            <a:avLst/>
          </a:prstGeom>
          <a:ln w="76200"/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Who is considered a High Value Client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Clients enrolled with debt balances of $60,000 or more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How does a High Value client differ from any other client?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In effort to track the success of our high enrolled debt clients we will have a specific group of teammates assigned to High Value skills for both inbound and dialer campaign outreach efforts to complete their welcome call and guide them through their successful first draft.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Our High Value inbound skill is a prioritized skill, therefore, if a client calls in on that number, their call will be prioritized.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All clients will continue to get our premium client experience, however, for better tracking of client needs for these high enrolled debt clients, we will route them to prioritized skills.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Anything else we should know?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This process is for COA, Affiliate, and Attorney Model Clients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These clients are all loaded into our High Value dialer skills however, sometimes, you may be asked to manually contact one of these clients.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When speaking to an HV client, always be sure to provide them the HV inbound number.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/>
              <a:t>COA Client – 443.401.4399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/>
              <a:t>AM Client – 443.563.1755</a:t>
            </a:r>
          </a:p>
        </p:txBody>
      </p:sp>
    </p:spTree>
    <p:extLst>
      <p:ext uri="{BB962C8B-B14F-4D97-AF65-F5344CB8AC3E}">
        <p14:creationId xmlns:p14="http://schemas.microsoft.com/office/powerpoint/2010/main" val="2413463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177C8-003C-49AC-9E7A-B4F3742C3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22" y="193000"/>
            <a:ext cx="7899400" cy="614363"/>
          </a:xfrm>
        </p:spPr>
        <p:txBody>
          <a:bodyPr>
            <a:normAutofit/>
          </a:bodyPr>
          <a:lstStyle/>
          <a:p>
            <a:pPr algn="ctr"/>
            <a:r>
              <a:rPr lang="en-US" sz="2000" b="1" dirty="0">
                <a:latin typeface="Arial"/>
                <a:cs typeface="Arial"/>
              </a:rPr>
              <a:t>High Value Clients (HV Clients)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2</a:t>
            </a:fld>
            <a:endParaRPr lang="en-US"/>
          </a:p>
        </p:txBody>
      </p:sp>
      <p:pic>
        <p:nvPicPr>
          <p:cNvPr id="4" name="Picture 2" descr="ClearOne Advantage">
            <a:extLst>
              <a:ext uri="{FF2B5EF4-FFF2-40B4-BE49-F238E27FC236}">
                <a16:creationId xmlns:a16="http://schemas.microsoft.com/office/drawing/2014/main" id="{9E7A9EBC-4E6F-49FE-9AB3-E487E8E2A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3948" y="6447628"/>
            <a:ext cx="1395194" cy="390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0115940-8E32-4E7D-86BE-414C54C86E36}"/>
              </a:ext>
            </a:extLst>
          </p:cNvPr>
          <p:cNvSpPr/>
          <p:nvPr/>
        </p:nvSpPr>
        <p:spPr>
          <a:xfrm>
            <a:off x="0" y="683569"/>
            <a:ext cx="9144000" cy="45719"/>
          </a:xfrm>
          <a:prstGeom prst="rect">
            <a:avLst/>
          </a:prstGeom>
          <a:solidFill>
            <a:srgbClr val="8C93A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517055-398C-CCB6-84EA-9C32CABF7ECC}"/>
              </a:ext>
            </a:extLst>
          </p:cNvPr>
          <p:cNvSpPr txBox="1"/>
          <p:nvPr/>
        </p:nvSpPr>
        <p:spPr>
          <a:xfrm>
            <a:off x="7152967" y="82959"/>
            <a:ext cx="186198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cs typeface="Calibri"/>
              </a:rPr>
              <a:t>Updated 8.17.23</a:t>
            </a: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AC0BEF7-FA01-6848-54E2-848057F840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491" y="2139304"/>
            <a:ext cx="3811804" cy="2780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19E23D83-33A1-9DAC-17B9-2063CC0DE3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7295" y="2362961"/>
            <a:ext cx="3524250" cy="2333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19560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63EA4EAC53434282EAA3F21CEC1BE7" ma:contentTypeVersion="29" ma:contentTypeDescription="Create a new document." ma:contentTypeScope="" ma:versionID="d1e6db6382f9bf0a238767834c1ba2e8">
  <xsd:schema xmlns:xsd="http://www.w3.org/2001/XMLSchema" xmlns:xs="http://www.w3.org/2001/XMLSchema" xmlns:p="http://schemas.microsoft.com/office/2006/metadata/properties" xmlns:ns1="http://schemas.microsoft.com/sharepoint/v3" xmlns:ns2="dfbadaf6-90cf-41d3-a0ba-bbd98d259036" xmlns:ns3="fca21091-4343-4232-a795-e59481497cb5" targetNamespace="http://schemas.microsoft.com/office/2006/metadata/properties" ma:root="true" ma:fieldsID="0d55a77fe706b52e8d7bff5f40b8e9f5" ns1:_="" ns2:_="" ns3:_="">
    <xsd:import namespace="http://schemas.microsoft.com/sharepoint/v3"/>
    <xsd:import namespace="dfbadaf6-90cf-41d3-a0ba-bbd98d259036"/>
    <xsd:import namespace="fca21091-4343-4232-a795-e59481497c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Tags" minOccurs="0"/>
                <xsd:element ref="ns1:_ip_UnifiedCompliancePolicyProperties" minOccurs="0"/>
                <xsd:element ref="ns1:_ip_UnifiedCompliancePolicyUIAc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_Flow_SignoffStatu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7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8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badaf6-90cf-41d3-a0ba-bbd98d25903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f4aff2b-04e6-48f0-83c9-56fafe2014f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Flow_SignoffStatus" ma:index="26" nillable="true" ma:displayName="Sign-off status" ma:internalName="Sign_x002d_off_x0020_status">
      <xsd:simpleType>
        <xsd:restriction base="dms:Text"/>
      </xsd:simpleType>
    </xsd:element>
    <xsd:element name="MediaServiceLocation" ma:index="27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a21091-4343-4232-a795-e59481497cb5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d36b9b6e-086a-4dd3-8773-df145aa506ae}" ma:internalName="TaxCatchAll" ma:showField="CatchAllData" ma:web="fca21091-4343-4232-a795-e59481497c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fca21091-4343-4232-a795-e59481497cb5" xsi:nil="true"/>
    <lcf76f155ced4ddcb4097134ff3c332f xmlns="dfbadaf6-90cf-41d3-a0ba-bbd98d259036">
      <Terms xmlns="http://schemas.microsoft.com/office/infopath/2007/PartnerControls"/>
    </lcf76f155ced4ddcb4097134ff3c332f>
    <SharedWithUsers xmlns="fca21091-4343-4232-a795-e59481497cb5">
      <UserInfo>
        <DisplayName>Balboa CLG Members</DisplayName>
        <AccountId>380</AccountId>
        <AccountType/>
      </UserInfo>
    </SharedWithUsers>
    <_Flow_SignoffStatus xmlns="dfbadaf6-90cf-41d3-a0ba-bbd98d259036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D90B4B8-E104-435D-8DE4-27CBCD8A609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dfbadaf6-90cf-41d3-a0ba-bbd98d259036"/>
    <ds:schemaRef ds:uri="fca21091-4343-4232-a795-e59481497c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0FA56C0-277C-45F3-9465-2BF2AE57E064}">
  <ds:schemaRefs>
    <ds:schemaRef ds:uri="dfbadaf6-90cf-41d3-a0ba-bbd98d259036"/>
    <ds:schemaRef ds:uri="fca21091-4343-4232-a795-e59481497cb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733BB013-1A28-451B-A60B-FFB57FF7FA7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</TotalTime>
  <Words>232</Words>
  <Application>Microsoft Office PowerPoint</Application>
  <PresentationFormat>On-screen Show (4:3)</PresentationFormat>
  <Paragraphs>22</Paragraphs>
  <Slides>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High Value Clients (HV Clients)</vt:lpstr>
      <vt:lpstr>High Value Clients (HV Clients)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Affiliate Model Welcome Calls</dc:title>
  <dc:creator>Christina Borrello</dc:creator>
  <cp:lastModifiedBy>Christina Borrello</cp:lastModifiedBy>
  <cp:revision>3</cp:revision>
  <dcterms:created xsi:type="dcterms:W3CDTF">2021-07-29T12:14:05Z</dcterms:created>
  <dcterms:modified xsi:type="dcterms:W3CDTF">2026-02-12T20:13:03Z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0x010100E563EA4EAC53434282EAA3F21CEC1BE7</vt:lpwstr>
  </property>
  <property fmtid="{D5CDD505-2E9C-101B-9397-08002B2CF9AE}" pid="3" name="MediaServiceImageTags">
    <vt:lpwstr/>
  </property>
</Properties>
</file>