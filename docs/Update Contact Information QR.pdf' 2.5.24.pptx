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8"/>
  </p:notesMasterIdLst>
  <p:sldIdLst>
    <p:sldId id="1945" r:id="rId5"/>
    <p:sldId id="1946" r:id="rId6"/>
    <p:sldId id="1947" r:id="rId7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E5344-BA33-A733-AF4B-9ECFDAB81B33}" v="2" dt="2024-02-05T20:22:57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Drivers include macro factors: holiday seasonality, </a:t>
            </a:r>
            <a:r>
              <a:rPr lang="en-US" err="1"/>
              <a:t>covid</a:t>
            </a:r>
            <a:r>
              <a:rPr lang="en-US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7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Drivers include macro factors: holiday seasonality, </a:t>
            </a:r>
            <a:r>
              <a:rPr lang="en-US" dirty="0" err="1"/>
              <a:t>covid</a:t>
            </a:r>
            <a:r>
              <a:rPr lang="en-US" dirty="0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069"/>
            <a:ext cx="3650044" cy="395778"/>
          </a:xfrm>
        </p:spPr>
        <p:txBody>
          <a:bodyPr>
            <a:normAutofit/>
          </a:bodyPr>
          <a:lstStyle/>
          <a:p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Update Contact Information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5E35A-2A07-4B1A-8FC1-E00B7BD4A0B0}"/>
              </a:ext>
            </a:extLst>
          </p:cNvPr>
          <p:cNvSpPr txBox="1"/>
          <p:nvPr/>
        </p:nvSpPr>
        <p:spPr>
          <a:xfrm>
            <a:off x="182322" y="949344"/>
            <a:ext cx="3650044" cy="5478423"/>
          </a:xfrm>
          <a:prstGeom prst="rect">
            <a:avLst/>
          </a:prstGeom>
          <a:solidFill>
            <a:schemeClr val="accent5"/>
          </a:solidFill>
          <a:effectLst>
            <a:glow rad="228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/>
            <a:endParaRPr lang="en-US" sz="1400" kern="120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/>
            <a:r>
              <a:rPr lang="en-US" sz="1400" kern="12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Please review the information we should be doing at the very beginning of each call to ensure that the calls with our clients continue to be successful:</a:t>
            </a:r>
          </a:p>
          <a:p>
            <a:pPr marL="0" marR="0"/>
            <a:endParaRPr lang="en-US" sz="140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en-US" sz="1400" kern="12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Greet the client. After greeting the client, please state: “This call is being recorded for quality control and training purposes.”</a:t>
            </a:r>
            <a:endParaRPr lang="en-US" sz="1400">
              <a:solidFill>
                <a:srgbClr val="000000"/>
              </a:solidFill>
              <a:effectLst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lphaUcPeriod"/>
              <a:tabLst>
                <a:tab pos="457200" algn="l"/>
              </a:tabLst>
            </a:pPr>
            <a:r>
              <a:rPr lang="en-US" sz="1400" kern="12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Confirm the client’s address on file</a:t>
            </a:r>
            <a:endParaRPr lang="en-US" sz="1400">
              <a:solidFill>
                <a:srgbClr val="000000"/>
              </a:solidFill>
              <a:effectLst/>
            </a:endParaRPr>
          </a:p>
          <a:p>
            <a:pPr marL="342900" indent="-342900">
              <a:buFont typeface="+mj-lt"/>
              <a:buAutoNum type="alphaUcPeriod"/>
              <a:tabLst>
                <a:tab pos="457200" algn="l"/>
              </a:tabLst>
            </a:pPr>
            <a:r>
              <a:rPr lang="en-US" sz="1400" kern="12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After confirming the client’s address, if the phone number </a:t>
            </a:r>
            <a:r>
              <a:rPr lang="en-US" sz="1400">
                <a:solidFill>
                  <a:srgbClr val="000000"/>
                </a:solidFill>
                <a:ea typeface="Times New Roman" panose="02020603050405020304" pitchFamily="18" charset="0"/>
              </a:rPr>
              <a:t>that the client</a:t>
            </a:r>
            <a:r>
              <a:rPr lang="en-US" sz="1400" kern="12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en-US" sz="1400">
                <a:solidFill>
                  <a:srgbClr val="000000"/>
                </a:solidFill>
                <a:ea typeface="Times New Roman" panose="02020603050405020304" pitchFamily="18" charset="0"/>
              </a:rPr>
              <a:t>called in on does not</a:t>
            </a:r>
            <a:r>
              <a:rPr lang="en-US" sz="1400" kern="12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match the phone number on the </a:t>
            </a:r>
            <a:r>
              <a:rPr lang="en-US" sz="1400">
                <a:solidFill>
                  <a:srgbClr val="000000"/>
                </a:solidFill>
                <a:ea typeface="Times New Roman" panose="02020603050405020304" pitchFamily="18" charset="0"/>
              </a:rPr>
              <a:t>clients</a:t>
            </a:r>
            <a:r>
              <a:rPr lang="en-US" sz="1400" kern="120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account, please proceed to confirming their phone number and email address. EX: “Ms. Doe, before we proceed with any questions or concerns you may have today, may I please confirm your phone number and email address on file?”</a:t>
            </a:r>
            <a:endParaRPr lang="en-US" sz="1400">
              <a:solidFill>
                <a:srgbClr val="000000"/>
              </a:solidFill>
              <a:effectLst/>
            </a:endParaRPr>
          </a:p>
          <a:p>
            <a:pPr marL="342900" marR="0" indent="-342900">
              <a:spcAft>
                <a:spcPts val="0"/>
              </a:spcAft>
              <a:buAutoNum type="alphaUcPeriod"/>
            </a:pPr>
            <a:endParaRPr lang="en-US" sz="140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/>
            </a:endParaRPr>
          </a:p>
          <a:p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If client needs to update any information (phone number, email address, physical address) obtain clients new information and </a:t>
            </a:r>
            <a:r>
              <a:rPr lang="en-US" sz="14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follow the Client Sensitive Change Request SOP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F6BCBC-F96C-436D-AA9E-A164B5E3F3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992"/>
          <a:stretch/>
        </p:blipFill>
        <p:spPr>
          <a:xfrm>
            <a:off x="3961667" y="905393"/>
            <a:ext cx="5000011" cy="48805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443A918-C882-4EDE-B197-74E7B2EE54BB}"/>
              </a:ext>
            </a:extLst>
          </p:cNvPr>
          <p:cNvSpPr/>
          <p:nvPr/>
        </p:nvSpPr>
        <p:spPr>
          <a:xfrm>
            <a:off x="3960072" y="5275823"/>
            <a:ext cx="2689161" cy="39085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84D454-2DE4-4A3F-9173-30D16AAEA154}"/>
              </a:ext>
            </a:extLst>
          </p:cNvPr>
          <p:cNvSpPr/>
          <p:nvPr/>
        </p:nvSpPr>
        <p:spPr>
          <a:xfrm>
            <a:off x="5304653" y="2571282"/>
            <a:ext cx="658266" cy="39085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F3D8E-6B6B-45F5-9463-8A2939F0A747}"/>
              </a:ext>
            </a:extLst>
          </p:cNvPr>
          <p:cNvSpPr/>
          <p:nvPr/>
        </p:nvSpPr>
        <p:spPr>
          <a:xfrm>
            <a:off x="4001336" y="3876540"/>
            <a:ext cx="770210" cy="4880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0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878"/>
            <a:ext cx="4314423" cy="41608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to Update Contact Information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2</a:t>
            </a:fld>
            <a:endParaRPr lang="en-US" dirty="0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A704A7-85B6-43B5-AA3B-CF69B7DBE276}"/>
              </a:ext>
            </a:extLst>
          </p:cNvPr>
          <p:cNvSpPr/>
          <p:nvPr/>
        </p:nvSpPr>
        <p:spPr>
          <a:xfrm>
            <a:off x="115910" y="1051046"/>
            <a:ext cx="3644721" cy="5614570"/>
          </a:xfrm>
          <a:prstGeom prst="rect">
            <a:avLst/>
          </a:prstGeom>
          <a:solidFill>
            <a:schemeClr val="accent5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Please remind our clients that verbal communication is imperative while enrolled with ClearOne Advantage. The Sole Purpose is for negotiations, quicker assistance with draft changes, requests, and legal.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Step 1: Locate the “Main” tab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Step 2: Click on the “Related Lead” link on the client’s QuickBase page.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Step 3: Click on “Edit”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Step 4: Go to the “Contact Information” Tab.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DA37FB-B0FA-4A9D-AB99-93516E1009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86" b="61465"/>
          <a:stretch/>
        </p:blipFill>
        <p:spPr>
          <a:xfrm>
            <a:off x="4031091" y="2608778"/>
            <a:ext cx="5074275" cy="180000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D8329B-37ED-46C4-90F4-FC200217EF43}"/>
              </a:ext>
            </a:extLst>
          </p:cNvPr>
          <p:cNvSpPr/>
          <p:nvPr/>
        </p:nvSpPr>
        <p:spPr>
          <a:xfrm>
            <a:off x="5993503" y="3618462"/>
            <a:ext cx="806541" cy="4797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BCF862C-E6B5-4A8E-AC87-4A731B1A49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0932" b="60813"/>
          <a:stretch/>
        </p:blipFill>
        <p:spPr>
          <a:xfrm>
            <a:off x="3953815" y="875102"/>
            <a:ext cx="5074275" cy="180000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D015F9D-8E46-4AB5-9CDB-7C7BDCDC74F6}"/>
              </a:ext>
            </a:extLst>
          </p:cNvPr>
          <p:cNvSpPr/>
          <p:nvPr/>
        </p:nvSpPr>
        <p:spPr>
          <a:xfrm>
            <a:off x="4031091" y="1767377"/>
            <a:ext cx="360609" cy="3010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975AC8-0D81-405E-84E5-16EAE33395F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9147" b="38766"/>
          <a:stretch/>
        </p:blipFill>
        <p:spPr>
          <a:xfrm>
            <a:off x="3953817" y="4412482"/>
            <a:ext cx="5151549" cy="180000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7A9FF2E-837A-4E54-9BD4-22A82EEE18B2}"/>
              </a:ext>
            </a:extLst>
          </p:cNvPr>
          <p:cNvSpPr/>
          <p:nvPr/>
        </p:nvSpPr>
        <p:spPr>
          <a:xfrm>
            <a:off x="8193378" y="4591710"/>
            <a:ext cx="321972" cy="2040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796F2E-1D70-466D-9B53-148BAB324DE1}"/>
              </a:ext>
            </a:extLst>
          </p:cNvPr>
          <p:cNvSpPr/>
          <p:nvPr/>
        </p:nvSpPr>
        <p:spPr>
          <a:xfrm>
            <a:off x="4819514" y="5655031"/>
            <a:ext cx="731279" cy="3924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 descr="Badge 1 with solid fill">
            <a:extLst>
              <a:ext uri="{FF2B5EF4-FFF2-40B4-BE49-F238E27FC236}">
                <a16:creationId xmlns:a16="http://schemas.microsoft.com/office/drawing/2014/main" id="{27DC587E-77B9-4557-8550-E7990BFDAD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4840" y="1229284"/>
            <a:ext cx="573110" cy="533717"/>
          </a:xfrm>
          <a:prstGeom prst="rect">
            <a:avLst/>
          </a:prstGeom>
        </p:spPr>
      </p:pic>
      <p:pic>
        <p:nvPicPr>
          <p:cNvPr id="41" name="Graphic 40" descr="Badge with solid fill">
            <a:extLst>
              <a:ext uri="{FF2B5EF4-FFF2-40B4-BE49-F238E27FC236}">
                <a16:creationId xmlns:a16="http://schemas.microsoft.com/office/drawing/2014/main" id="{FF7829D3-E0B1-4E3F-89A6-BA8F24FC60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0620" y="3060182"/>
            <a:ext cx="572306" cy="576171"/>
          </a:xfrm>
          <a:prstGeom prst="rect">
            <a:avLst/>
          </a:prstGeom>
        </p:spPr>
      </p:pic>
      <p:pic>
        <p:nvPicPr>
          <p:cNvPr id="43" name="Graphic 42" descr="Badge 3 with solid fill">
            <a:extLst>
              <a:ext uri="{FF2B5EF4-FFF2-40B4-BE49-F238E27FC236}">
                <a16:creationId xmlns:a16="http://schemas.microsoft.com/office/drawing/2014/main" id="{227D1D9A-C8CB-47D2-A692-2B0930070C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6319" y="4043972"/>
            <a:ext cx="536090" cy="593157"/>
          </a:xfrm>
          <a:prstGeom prst="rect">
            <a:avLst/>
          </a:prstGeom>
        </p:spPr>
      </p:pic>
      <p:pic>
        <p:nvPicPr>
          <p:cNvPr id="45" name="Graphic 44" descr="Badge 4 with solid fill">
            <a:extLst>
              <a:ext uri="{FF2B5EF4-FFF2-40B4-BE49-F238E27FC236}">
                <a16:creationId xmlns:a16="http://schemas.microsoft.com/office/drawing/2014/main" id="{E828023B-5E4B-4518-8C90-49F1518D2B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08960" y="5110704"/>
            <a:ext cx="552385" cy="54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0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266977-5872-43A3-8134-2BD3815F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E6FA95-8130-44F6-B3CB-10E4DB755E7A}"/>
              </a:ext>
            </a:extLst>
          </p:cNvPr>
          <p:cNvSpPr/>
          <p:nvPr/>
        </p:nvSpPr>
        <p:spPr>
          <a:xfrm>
            <a:off x="244699" y="759854"/>
            <a:ext cx="3404851" cy="5396246"/>
          </a:xfrm>
          <a:prstGeom prst="rect">
            <a:avLst/>
          </a:prstGeom>
          <a:solidFill>
            <a:schemeClr val="accent5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1"/>
                </a:solidFill>
              </a:rPr>
              <a:t>Step 5: Remove the current primary phone number and/or add a secondary number to the client’s account.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Step 6: You can remove the primary email address and/or add a secondary email address.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Step 7: Save &amp; Close the Page.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831943-CF32-40D2-84D9-F61F19BAA4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785"/>
          <a:stretch/>
        </p:blipFill>
        <p:spPr>
          <a:xfrm>
            <a:off x="3760631" y="601030"/>
            <a:ext cx="5383369" cy="5538934"/>
          </a:xfrm>
          <a:prstGeom prst="rect">
            <a:avLst/>
          </a:prstGeom>
        </p:spPr>
      </p:pic>
      <p:pic>
        <p:nvPicPr>
          <p:cNvPr id="1027" name="Picture 1">
            <a:extLst>
              <a:ext uri="{FF2B5EF4-FFF2-40B4-BE49-F238E27FC236}">
                <a16:creationId xmlns:a16="http://schemas.microsoft.com/office/drawing/2014/main" id="{F276C948-AAFA-4132-A046-1DFF0171B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324" y="6246254"/>
            <a:ext cx="1293589" cy="61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9FEDCCB-8D78-4411-B77E-CCB66E1ABBBA}"/>
              </a:ext>
            </a:extLst>
          </p:cNvPr>
          <p:cNvSpPr/>
          <p:nvPr/>
        </p:nvSpPr>
        <p:spPr>
          <a:xfrm>
            <a:off x="8126568" y="685836"/>
            <a:ext cx="631065" cy="3992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BF5C64-1617-472F-818A-B98416598168}"/>
              </a:ext>
            </a:extLst>
          </p:cNvPr>
          <p:cNvSpPr/>
          <p:nvPr/>
        </p:nvSpPr>
        <p:spPr>
          <a:xfrm>
            <a:off x="4005330" y="3335627"/>
            <a:ext cx="4546242" cy="3992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EB343-2B41-4355-AAB0-D3B6F8763338}"/>
              </a:ext>
            </a:extLst>
          </p:cNvPr>
          <p:cNvSpPr/>
          <p:nvPr/>
        </p:nvSpPr>
        <p:spPr>
          <a:xfrm>
            <a:off x="4005330" y="4881093"/>
            <a:ext cx="3284112" cy="3651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 descr="Badge 5 with solid fill">
            <a:extLst>
              <a:ext uri="{FF2B5EF4-FFF2-40B4-BE49-F238E27FC236}">
                <a16:creationId xmlns:a16="http://schemas.microsoft.com/office/drawing/2014/main" id="{73FF4C94-2E42-4742-8710-CB438D8C0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7672" y="2783130"/>
            <a:ext cx="641530" cy="605307"/>
          </a:xfrm>
          <a:prstGeom prst="rect">
            <a:avLst/>
          </a:prstGeom>
        </p:spPr>
      </p:pic>
      <p:pic>
        <p:nvPicPr>
          <p:cNvPr id="29" name="Graphic 28" descr="Badge 6 with solid fill">
            <a:extLst>
              <a:ext uri="{FF2B5EF4-FFF2-40B4-BE49-F238E27FC236}">
                <a16:creationId xmlns:a16="http://schemas.microsoft.com/office/drawing/2014/main" id="{51851E3B-AC1A-4254-A46C-233F8621CF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5320" y="4347913"/>
            <a:ext cx="633882" cy="62462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B7C3172-DEA3-4FE9-8545-A6F47BCF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878"/>
            <a:ext cx="4314423" cy="41608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to Update Contact Information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601B75-ADB2-4679-8FE4-CB5FE98AAFEB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Badge 7 with solid fill">
            <a:extLst>
              <a:ext uri="{FF2B5EF4-FFF2-40B4-BE49-F238E27FC236}">
                <a16:creationId xmlns:a16="http://schemas.microsoft.com/office/drawing/2014/main" id="{3B3F66C1-E964-43F6-9B74-7F3A8B29BE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66614" y="1022016"/>
            <a:ext cx="522802" cy="48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7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Props1.xml><?xml version="1.0" encoding="utf-8"?>
<ds:datastoreItem xmlns:ds="http://schemas.openxmlformats.org/officeDocument/2006/customXml" ds:itemID="{6CBA5092-7189-4DD9-B469-74F2EB4767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34C796-474A-44CF-86FE-5F77BCF109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C1D25B-C9D7-4A85-9CA8-F1FE7C31EA43}">
  <ds:schemaRefs>
    <ds:schemaRef ds:uri="49a14083-d019-4b24-adc6-cf652797b544"/>
    <ds:schemaRef ds:uri="5b24465e-2bcf-4362-9b4d-3bbeb5c65673"/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Application>Microsoft Office PowerPoint</Application>
  <PresentationFormat>On-screen Show (4:3)</PresentationFormat>
  <Slides>3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Update Contact Information</vt:lpstr>
      <vt:lpstr>How to Update Contact Information</vt:lpstr>
      <vt:lpstr>How to Update Contact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revision>4</cp:revision>
  <cp:lastPrinted>2020-12-17T16:31:33Z</cp:lastPrinted>
  <dcterms:created xsi:type="dcterms:W3CDTF">2020-07-08T17:20:15Z</dcterms:created>
  <dcterms:modified xsi:type="dcterms:W3CDTF">2026-02-12T20:27:13Z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