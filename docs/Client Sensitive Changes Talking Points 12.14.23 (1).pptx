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1956" r:id="rId5"/>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 id="4" name="Christina Borrello" initials="CB" lastIdx="1" clrIdx="3">
    <p:extLst>
      <p:ext uri="{19B8F6BF-5375-455C-9EA6-DF929625EA0E}">
        <p15:presenceInfo xmlns:p15="http://schemas.microsoft.com/office/powerpoint/2012/main" userId="S::cborrello@clg.clearoneadvantage.com::920200ae-9917-4322-a251-f102818e0e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EC"/>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9D47C-56B7-8A11-D978-F628B08435E0}" v="4" dt="2023-10-17T19:18:37.073"/>
    <p1510:client id="{48DC9E9E-271D-4448-A4D0-9C9768DABFC0}" v="6" dt="2023-10-11T16:34:11.901"/>
    <p1510:client id="{8C15417C-2FAE-5D00-ED90-9033D853D939}" v="1011" dt="2023-12-15T00:05:07.5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80"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116327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736988"/>
          </a:xfrm>
        </p:spPr>
        <p:txBody>
          <a:bodyPr>
            <a:noAutofit/>
          </a:bodyPr>
          <a:lstStyle/>
          <a:p>
            <a:pPr algn="ctr"/>
            <a:r>
              <a:rPr lang="en-US" sz="2800" b="1" dirty="0">
                <a:latin typeface="Calibri Light"/>
                <a:cs typeface="Calibri Light"/>
              </a:rPr>
              <a:t>Talking Points – Client Sensitive Changes</a:t>
            </a:r>
          </a:p>
        </p:txBody>
      </p:sp>
      <p:sp>
        <p:nvSpPr>
          <p:cNvPr id="3" name="Footer Placeholder 2"/>
          <p:cNvSpPr>
            <a:spLocks noGrp="1"/>
          </p:cNvSpPr>
          <p:nvPr>
            <p:ph type="ftr" sz="quarter" idx="11"/>
          </p:nvPr>
        </p:nvSpPr>
        <p:spPr>
          <a:xfrm>
            <a:off x="-1008021" y="6473797"/>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77751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9B88971-DE78-800E-1BFE-CD1FE908B75D}"/>
              </a:ext>
            </a:extLst>
          </p:cNvPr>
          <p:cNvSpPr txBox="1"/>
          <p:nvPr/>
        </p:nvSpPr>
        <p:spPr>
          <a:xfrm>
            <a:off x="8024566" y="71683"/>
            <a:ext cx="184731" cy="369332"/>
          </a:xfrm>
          <a:prstGeom prst="rect">
            <a:avLst/>
          </a:prstGeom>
          <a:noFill/>
        </p:spPr>
        <p:txBody>
          <a:bodyPr wrap="none" lIns="91440" tIns="45720" rIns="91440" bIns="45720" rtlCol="0" anchor="t">
            <a:spAutoFit/>
          </a:bodyPr>
          <a:lstStyle/>
          <a:p>
            <a:endParaRPr lang="en-US" dirty="0">
              <a:cs typeface="Calibri"/>
            </a:endParaRPr>
          </a:p>
        </p:txBody>
      </p:sp>
      <p:sp>
        <p:nvSpPr>
          <p:cNvPr id="11" name="TextBox 10">
            <a:extLst>
              <a:ext uri="{FF2B5EF4-FFF2-40B4-BE49-F238E27FC236}">
                <a16:creationId xmlns:a16="http://schemas.microsoft.com/office/drawing/2014/main" id="{4BF29FBD-8B7E-418C-F323-948A0F07AA26}"/>
              </a:ext>
            </a:extLst>
          </p:cNvPr>
          <p:cNvSpPr txBox="1"/>
          <p:nvPr/>
        </p:nvSpPr>
        <p:spPr>
          <a:xfrm>
            <a:off x="292231" y="669303"/>
            <a:ext cx="8627126" cy="369332"/>
          </a:xfrm>
          <a:prstGeom prst="rect">
            <a:avLst/>
          </a:prstGeom>
          <a:noFill/>
        </p:spPr>
        <p:txBody>
          <a:bodyPr wrap="square" lIns="91440" tIns="45720" rIns="91440" bIns="45720" rtlCol="0" anchor="t">
            <a:spAutoFit/>
          </a:bodyPr>
          <a:lstStyle/>
          <a:p>
            <a:endParaRPr lang="en-US" dirty="0"/>
          </a:p>
        </p:txBody>
      </p:sp>
      <p:sp>
        <p:nvSpPr>
          <p:cNvPr id="12" name="TextBox 11">
            <a:extLst>
              <a:ext uri="{FF2B5EF4-FFF2-40B4-BE49-F238E27FC236}">
                <a16:creationId xmlns:a16="http://schemas.microsoft.com/office/drawing/2014/main" id="{FB02F753-CE90-A919-3E51-E7478D4BB92D}"/>
              </a:ext>
            </a:extLst>
          </p:cNvPr>
          <p:cNvSpPr txBox="1"/>
          <p:nvPr/>
        </p:nvSpPr>
        <p:spPr>
          <a:xfrm>
            <a:off x="292231" y="5709225"/>
            <a:ext cx="8627126" cy="369332"/>
          </a:xfrm>
          <a:prstGeom prst="rect">
            <a:avLst/>
          </a:prstGeom>
          <a:noFill/>
        </p:spPr>
        <p:txBody>
          <a:bodyPr wrap="square" lIns="91440" tIns="45720" rIns="91440" bIns="45720" rtlCol="0" anchor="t">
            <a:spAutoFit/>
          </a:bodyPr>
          <a:lstStyle/>
          <a:p>
            <a:endParaRPr lang="en-US" dirty="0">
              <a:cs typeface="Calibri"/>
            </a:endParaRPr>
          </a:p>
        </p:txBody>
      </p:sp>
      <p:sp>
        <p:nvSpPr>
          <p:cNvPr id="6" name="TextBox 5">
            <a:extLst>
              <a:ext uri="{FF2B5EF4-FFF2-40B4-BE49-F238E27FC236}">
                <a16:creationId xmlns:a16="http://schemas.microsoft.com/office/drawing/2014/main" id="{51743BCE-3BC8-57CF-0246-15CBABAC6B21}"/>
              </a:ext>
            </a:extLst>
          </p:cNvPr>
          <p:cNvSpPr txBox="1"/>
          <p:nvPr/>
        </p:nvSpPr>
        <p:spPr>
          <a:xfrm>
            <a:off x="1236728" y="1200845"/>
            <a:ext cx="6790135" cy="4451347"/>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nSpc>
                <a:spcPct val="107000"/>
              </a:lnSpc>
            </a:pPr>
            <a:r>
              <a:rPr lang="en-US" kern="0" dirty="0">
                <a:latin typeface="Segoe UI"/>
                <a:ea typeface="Calibri" panose="020F0502020204030204" pitchFamily="34" charset="0"/>
                <a:cs typeface="Times New Roman"/>
              </a:rPr>
              <a:t>Acknowledge clients' request:</a:t>
            </a:r>
            <a:endParaRPr lang="en-US" kern="0" dirty="0">
              <a:latin typeface="Segoe UI"/>
              <a:ea typeface="Calibri" panose="020F0502020204030204" pitchFamily="34" charset="0"/>
              <a:cs typeface="Times New Roman" panose="02020603050405020304" pitchFamily="18" charset="0"/>
            </a:endParaRPr>
          </a:p>
          <a:p>
            <a:pPr marL="171450" indent="-171450">
              <a:buFont typeface="Arial"/>
              <a:buChar char="•"/>
            </a:pPr>
            <a:r>
              <a:rPr lang="en-US" sz="1400" kern="0" dirty="0">
                <a:latin typeface="Times New Roman"/>
                <a:ea typeface="Calibri" panose="020F0502020204030204" pitchFamily="34" charset="0"/>
                <a:cs typeface="Times New Roman"/>
              </a:rPr>
              <a:t>We will be happy to make that change for you! </a:t>
            </a:r>
          </a:p>
          <a:p>
            <a:endParaRPr lang="en-US" sz="1200" kern="0" dirty="0">
              <a:latin typeface="Times New Roman"/>
              <a:ea typeface="Calibri" panose="020F0502020204030204" pitchFamily="34" charset="0"/>
              <a:cs typeface="Times New Roman"/>
            </a:endParaRPr>
          </a:p>
          <a:p>
            <a:r>
              <a:rPr lang="en-US" kern="0" dirty="0">
                <a:latin typeface="Times New Roman"/>
                <a:cs typeface="Times New Roman"/>
              </a:rPr>
              <a:t>Advise client that for security purposes we have an enhanced process:</a:t>
            </a:r>
          </a:p>
          <a:p>
            <a:pPr marL="171450" indent="-171450">
              <a:buFont typeface="Arial"/>
              <a:buChar char="•"/>
            </a:pPr>
            <a:r>
              <a:rPr lang="en-US" sz="1400" kern="0" dirty="0">
                <a:latin typeface="Times New Roman"/>
                <a:ea typeface="Calibri" panose="020F0502020204030204" pitchFamily="34" charset="0"/>
                <a:cs typeface="Times New Roman"/>
              </a:rPr>
              <a:t>We would like to share that we have enhanced our procedure for handling updates to our customers' personal information.</a:t>
            </a:r>
          </a:p>
          <a:p>
            <a:pPr marL="171450" indent="-171450">
              <a:buFont typeface="Arial"/>
              <a:buChar char="•"/>
            </a:pPr>
            <a:endParaRPr lang="en-US" sz="1200" kern="0" dirty="0">
              <a:latin typeface="Times New Roman"/>
              <a:ea typeface="Calibri" panose="020F0502020204030204" pitchFamily="34" charset="0"/>
              <a:cs typeface="Times New Roman"/>
            </a:endParaRPr>
          </a:p>
          <a:p>
            <a:r>
              <a:rPr lang="en-US" kern="0" dirty="0">
                <a:latin typeface="Times New Roman"/>
                <a:cs typeface="Times New Roman"/>
              </a:rPr>
              <a:t>Share additional details with client:</a:t>
            </a:r>
          </a:p>
          <a:p>
            <a:pPr marL="171450" indent="-171450">
              <a:buFont typeface="Arial"/>
              <a:buChar char="•"/>
            </a:pPr>
            <a:r>
              <a:rPr lang="en-US" sz="1400" kern="0" dirty="0">
                <a:latin typeface="Times New Roman"/>
                <a:ea typeface="Calibri" panose="020F0502020204030204" pitchFamily="34" charset="0"/>
                <a:cs typeface="Times New Roman"/>
              </a:rPr>
              <a:t>We will submit your request a change to your personal information. </a:t>
            </a:r>
          </a:p>
          <a:p>
            <a:pPr marL="171450" indent="-171450">
              <a:buFont typeface="Arial"/>
              <a:buChar char="•"/>
            </a:pPr>
            <a:r>
              <a:rPr lang="en-US" sz="1400" kern="0" dirty="0">
                <a:latin typeface="Times New Roman"/>
                <a:ea typeface="Calibri" panose="020F0502020204030204" pitchFamily="34" charset="0"/>
                <a:cs typeface="Times New Roman"/>
              </a:rPr>
              <a:t>You'll get an authorization text or email for the change. Please authorize as soon as possible to ensure that the process is completed. </a:t>
            </a:r>
          </a:p>
          <a:p>
            <a:pPr marL="171450" indent="-171450">
              <a:buFont typeface="Arial"/>
              <a:buChar char="•"/>
            </a:pPr>
            <a:r>
              <a:rPr lang="en-US" sz="1400" kern="0" dirty="0">
                <a:latin typeface="Times New Roman"/>
                <a:ea typeface="Calibri" panose="020F0502020204030204" pitchFamily="34" charset="0"/>
                <a:cs typeface="Times New Roman"/>
              </a:rPr>
              <a:t>Once authorized, it will take between 2 to 3 business days to complete. </a:t>
            </a:r>
          </a:p>
          <a:p>
            <a:pPr marL="171450" indent="-171450">
              <a:buFont typeface="Arial"/>
              <a:buChar char="•"/>
            </a:pPr>
            <a:endParaRPr lang="en-US" sz="1400" kern="0" dirty="0">
              <a:effectLst/>
              <a:latin typeface="Times New Roman"/>
              <a:ea typeface="Calibri" panose="020F0502020204030204" pitchFamily="34" charset="0"/>
              <a:cs typeface="Times New Roman" panose="02020603050405020304" pitchFamily="18" charset="0"/>
            </a:endParaRPr>
          </a:p>
          <a:p>
            <a:pPr indent="-171450">
              <a:buFont typeface="Arial"/>
              <a:buChar char="•"/>
            </a:pPr>
            <a:endParaRPr lang="en-US" kern="0" dirty="0">
              <a:latin typeface="Times New Roman"/>
              <a:cs typeface="Times New Roman"/>
            </a:endParaRPr>
          </a:p>
          <a:p>
            <a:r>
              <a:rPr lang="en-US" kern="0" dirty="0">
                <a:latin typeface="Times New Roman"/>
                <a:cs typeface="Times New Roman"/>
              </a:rPr>
              <a:t>If a client has questions or concerns: </a:t>
            </a:r>
          </a:p>
          <a:p>
            <a:pPr marL="171450" indent="-171450">
              <a:buFont typeface="Arial"/>
              <a:buChar char="•"/>
            </a:pPr>
            <a:r>
              <a:rPr lang="en-US" sz="1400" kern="0" dirty="0">
                <a:latin typeface="Times New Roman"/>
                <a:cs typeface="Times New Roman"/>
              </a:rPr>
              <a:t>We are always looking for ways to protect our client's personal information. </a:t>
            </a:r>
          </a:p>
          <a:p>
            <a:pPr marL="171450" indent="-171450">
              <a:buFont typeface="Arial"/>
              <a:buChar char="•"/>
            </a:pPr>
            <a:r>
              <a:rPr lang="en-US" sz="1400" kern="0" dirty="0">
                <a:latin typeface="Times New Roman"/>
                <a:cs typeface="Times New Roman"/>
              </a:rPr>
              <a:t>We understand that this will take longer than you may be used to but this process is our new standard practice and will allow us to ensure the security of your account and program.</a:t>
            </a:r>
          </a:p>
        </p:txBody>
      </p:sp>
    </p:spTree>
    <p:extLst>
      <p:ext uri="{BB962C8B-B14F-4D97-AF65-F5344CB8AC3E}">
        <p14:creationId xmlns:p14="http://schemas.microsoft.com/office/powerpoint/2010/main" val="424853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SharedWithUsers xmlns="fca21091-4343-4232-a795-e59481497cb5">
      <UserInfo>
        <DisplayName>CLG Members</DisplayName>
        <AccountId>145</AccountId>
        <AccountType/>
      </UserInfo>
    </SharedWithUsers>
  </documentManagement>
</p:properties>
</file>

<file path=customXml/itemProps1.xml><?xml version="1.0" encoding="utf-8"?>
<ds:datastoreItem xmlns:ds="http://schemas.openxmlformats.org/officeDocument/2006/customXml" ds:itemID="{6BA2F8EF-ADFF-4CF0-9EF8-01173FA603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54B98F-2B59-4E83-AB7F-16192964250A}">
  <ds:schemaRefs>
    <ds:schemaRef ds:uri="http://schemas.microsoft.com/sharepoint/v3/contenttype/forms"/>
  </ds:schemaRefs>
</ds:datastoreItem>
</file>

<file path=customXml/itemProps3.xml><?xml version="1.0" encoding="utf-8"?>
<ds:datastoreItem xmlns:ds="http://schemas.openxmlformats.org/officeDocument/2006/customXml" ds:itemID="{FF44613A-A1AE-446C-ADE1-2243A58D2292}">
  <ds:schemaRefs>
    <ds:schemaRef ds:uri="http://www.w3.org/XML/1998/namespace"/>
    <ds:schemaRef ds:uri="http://purl.org/dc/terms/"/>
    <ds:schemaRef ds:uri="http://schemas.microsoft.com/office/2006/metadata/properties"/>
    <ds:schemaRef ds:uri="http://purl.org/dc/dcmitype/"/>
    <ds:schemaRef ds:uri="http://schemas.microsoft.com/office/infopath/2007/PartnerControls"/>
    <ds:schemaRef ds:uri="http://schemas.microsoft.com/office/2006/documentManagement/types"/>
    <ds:schemaRef ds:uri="dfbadaf6-90cf-41d3-a0ba-bbd98d259036"/>
    <ds:schemaRef ds:uri="http://schemas.openxmlformats.org/package/2006/metadata/core-properties"/>
    <ds:schemaRef ds:uri="fca21091-4343-4232-a795-e59481497cb5"/>
    <ds:schemaRef ds:uri="http://schemas.microsoft.com/sharepoint/v3"/>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COA ppt template</Template>
  <TotalTime>31</TotalTime>
  <Words>88</Words>
  <Application>Microsoft Office PowerPoint</Application>
  <PresentationFormat>On-screen Show (4:3)</PresentationFormat>
  <Paragraphs>17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Talking Points – Client Sensitive Changes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Heather Sellers</cp:lastModifiedBy>
  <cp:revision>462</cp:revision>
  <cp:lastPrinted>2020-12-17T16:31:33Z</cp:lastPrinted>
  <dcterms:created xsi:type="dcterms:W3CDTF">2020-07-08T17:20:15Z</dcterms:created>
  <dcterms:modified xsi:type="dcterms:W3CDTF">2026-02-12T20:04:28Z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