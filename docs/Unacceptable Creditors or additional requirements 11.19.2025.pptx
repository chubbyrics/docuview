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1965" r:id="rId5"/>
    <p:sldId id="1966" r:id="rId6"/>
    <p:sldId id="1967" r:id="rId7"/>
    <p:sldId id="19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60BDAC-9BA7-36E3-5949-58C6CC73E459}" v="20" dt="2026-01-16T19:53:54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D1DE8-DAD3-464A-9B87-BD23DFF49A9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15EE1B-84EF-4067-BD50-DA62E0541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7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There are many </a:t>
            </a:r>
            <a:r>
              <a:rPr lang="en-US" err="1"/>
              <a:t>many</a:t>
            </a:r>
            <a:r>
              <a:rPr lang="en-US"/>
              <a:t> creditors that we can add to our program, however there are a few that we can’t add.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Here is a list for you – and I also have it uploaded on SharePoint so that its easily accessible. Please always double check this list.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0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There are many </a:t>
            </a:r>
            <a:r>
              <a:rPr lang="en-US" err="1"/>
              <a:t>many</a:t>
            </a:r>
            <a:r>
              <a:rPr lang="en-US"/>
              <a:t> creditors that we can add to our program, however there are a few that we can’t add.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Here is a list for you – and I also have it uploaded on SharePoint so that its easily accessible. Please always double check this list.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96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BC00-A018-4FA5-A200-A4CF3F4D7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B3C06B-6FDC-4CA6-A989-CDC953FA3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1BACC-5AFF-43C0-949F-C68A15DAB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EAAD-627B-477E-8738-7F4897C9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C8F90-5118-40DC-AE20-E7CEC152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AFBC-1EE7-438D-866B-3BBBFF12F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B53E3-43E9-47F4-A387-FEAFA31CE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599E4-60B7-4D15-B977-1520C5E3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09300-7CDF-43FD-BD39-D80D263C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E5DBB-BB21-4DAA-A4D7-473734112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10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8941-7678-45D4-A9B7-4586071F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56D66-928E-4366-940B-923148AA7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AA4A8-40C1-42BB-9169-D295973E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E6E89-4823-4671-96BC-3C4556F5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AE49D-F403-45AC-B67D-925E3E16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5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3107E-925D-4D81-AA8B-5033B05B6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5173C-6279-413D-A58A-7A7A51E32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33EC9-C5CC-4FDE-BDA2-619E9EB4A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60ECD-83FC-42AC-9343-324ABAAF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B7F5B-EC06-46CB-A52B-C931219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27849-FBAA-4C64-9C57-A3F68404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5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CBD05-C5BE-4E10-995B-92917C15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F6D88-96EA-4DB5-A2CB-DF207522E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FE77C-8695-462B-A450-BD475CE2D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D76C6-E316-4BF1-A83B-6861268AC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C3B9A-5CC2-439F-846D-8D0986192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F598D-6841-4C94-B4D8-CB4478C45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3EDCC2-44F7-46D8-9F0D-50BB5DA8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8FD867-45FE-4293-BE3E-4196B1E3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3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59C5-6E47-4996-9926-82C198903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C0D78-A61B-412F-95A3-6A28CEAD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51F4F-EB73-48EE-9429-22D8F83B9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C5601-B2ED-47CC-B0A9-972FC329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2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06F93F-636B-4963-8528-1782D9F5C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46025-FF98-4550-9CA4-B783A342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4D33A-22A7-44D1-8F17-8A692B10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8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1891-F70B-498C-A6BA-4691494E6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DC1E0-6AA0-445A-81B7-5D35BDE6C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AD177-0EE3-4960-ADBB-A6D060708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CFC38-59D2-418F-BE63-D687339C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43B99-96E9-43CC-A11E-A4CC7D3D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50790-6900-44D3-AD57-B13EF45A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40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99116-588E-4DE7-986E-3C47FBFF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30C6AE-9160-4458-9FFD-EA26C4E334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751E85-CC3B-4876-AA7D-057B89625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192CB-B8A4-4CEB-850A-FDC6005D9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8F028-1C81-4FEF-9342-60D9DF79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98D57-621B-4226-BCDA-CE8D8171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1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FE76C-1CAE-4E23-9B36-5AB00C83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9D5CD-3092-4553-8928-DD0D2BA84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CDE4F-5112-4450-979C-49E0BFEA0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B6786-9DF4-493A-B785-8B2D5A7FF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96A63-3185-455B-8C9D-F778FBD2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7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99D378-72DA-4ED9-B316-ABDC8B356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6E232-F4EB-4752-A65E-2EC7B3A8A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4CC16-4829-48B4-A05A-8E6FF4A7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2AD88-1B5D-4E09-AD36-7B669352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2F7A-F813-4434-B1D4-2B60B579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9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8EA772-0777-4162-BC48-752F4E2F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1A2A9-53BC-4CF5-A2D0-8884BFE78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4213D-35E3-4B23-92EC-8FC61F353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890B9-A8B4-4D9A-B2B7-3630A736D79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BAE9C-2089-4BE4-AA61-323CB03BA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65571-450F-4134-BD73-A54A6B7B3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38BC8-DEC6-4E70-A53A-0B2E943A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5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727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/>
                <a:cs typeface="Arial"/>
              </a:rPr>
              <a:t>Unacceptable Creditors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52950" y="6371322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726" y="6358556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1524000" y="416041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39BD4-A26C-4DDA-9D27-93B431C2A5D6}"/>
              </a:ext>
            </a:extLst>
          </p:cNvPr>
          <p:cNvSpPr txBox="1"/>
          <p:nvPr/>
        </p:nvSpPr>
        <p:spPr>
          <a:xfrm>
            <a:off x="1312173" y="473360"/>
            <a:ext cx="9575908" cy="67095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latin typeface="Calibri"/>
                <a:ea typeface="Calibri"/>
                <a:cs typeface="Arial"/>
              </a:rPr>
              <a:t>These creditors cannot be enrolled, as these are creditors that we don't work with. The creditor will not negotiate any settlements on these accounts.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>
                <a:latin typeface="Calibri"/>
                <a:ea typeface="Calibri"/>
                <a:cs typeface="Calibri"/>
              </a:rPr>
              <a:t>Unacceptable Creditors:</a:t>
            </a: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Aloha Pacific FCU</a:t>
            </a: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American Education System (AES)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Armed Forces Bank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Army Air Force Exchange Lease/Rental Agreements (</a:t>
            </a:r>
            <a:r>
              <a:rPr lang="en-US" sz="1100" b="1">
                <a:ea typeface="+mn-lt"/>
                <a:cs typeface="+mn-lt"/>
              </a:rPr>
              <a:t>MUST BE IN COLLECTIONS</a:t>
            </a:r>
            <a:r>
              <a:rPr lang="en-US" sz="1100">
                <a:ea typeface="+mn-lt"/>
                <a:cs typeface="+mn-lt"/>
              </a:rPr>
              <a:t>)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Army National Bank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Broadview FCU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Cap Com FCU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 err="1">
                <a:ea typeface="+mn-lt"/>
                <a:cs typeface="+mn-lt"/>
              </a:rPr>
              <a:t>Denefits</a:t>
            </a:r>
            <a:r>
              <a:rPr lang="en-US" sz="1100">
                <a:ea typeface="+mn-lt"/>
                <a:cs typeface="+mn-lt"/>
              </a:rPr>
              <a:t> LLC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Diamond Resorts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 err="1">
                <a:ea typeface="+mn-lt"/>
                <a:cs typeface="+mn-lt"/>
              </a:rPr>
              <a:t>EdFinancial</a:t>
            </a:r>
            <a:r>
              <a:rPr lang="en-US" sz="1100">
                <a:ea typeface="+mn-lt"/>
                <a:cs typeface="+mn-lt"/>
              </a:rPr>
              <a:t> Services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 err="1">
                <a:ea typeface="+mn-lt"/>
                <a:cs typeface="+mn-lt"/>
              </a:rPr>
              <a:t>EnerBank</a:t>
            </a:r>
            <a:endParaRPr lang="en-US" err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Farmers Home Furnishing / Furniture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Fast and Reliable Cash Advance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Frost Bank / Frost National Bank (Student Loans)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 err="1">
                <a:ea typeface="+mn-lt"/>
                <a:cs typeface="+mn-lt"/>
              </a:rPr>
              <a:t>GoodLeap</a:t>
            </a:r>
            <a:r>
              <a:rPr lang="en-US" sz="1100">
                <a:ea typeface="+mn-lt"/>
                <a:cs typeface="+mn-lt"/>
              </a:rPr>
              <a:t> (</a:t>
            </a:r>
            <a:r>
              <a:rPr lang="en-US" sz="1100" b="1">
                <a:ea typeface="+mn-lt"/>
                <a:cs typeface="+mn-lt"/>
              </a:rPr>
              <a:t>MUST BE IN COLLECTIONS</a:t>
            </a:r>
            <a:r>
              <a:rPr lang="en-US" sz="1100">
                <a:ea typeface="+mn-lt"/>
                <a:cs typeface="+mn-lt"/>
              </a:rPr>
              <a:t>)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MEDICAL PAYMENT DATA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Members 1st FCU / Members 1st CU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Military Star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Mosaic Tower Loans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Nebraska Furniture Mart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OneLoan Direct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OneMain – ***Secured Loans, Installment Loans, and Note Loans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Police &amp; Fire CU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Schlumberger Employees CU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Security Finance (</a:t>
            </a:r>
            <a:r>
              <a:rPr lang="en-US" sz="1100" b="1">
                <a:ea typeface="+mn-lt"/>
                <a:cs typeface="+mn-lt"/>
              </a:rPr>
              <a:t>MUST BE IN COLLECTIONS</a:t>
            </a:r>
            <a:r>
              <a:rPr lang="en-US" sz="1100">
                <a:ea typeface="+mn-lt"/>
                <a:cs typeface="+mn-lt"/>
              </a:rPr>
              <a:t>)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Self-Reported (Telecom)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Self-Reported (Utility)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Southeast Toyota Finance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Special Finance Company / Special Finance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State Employees CU / FCU (SECU / SEFCU)</a:t>
            </a:r>
            <a:endParaRPr lang="en-US"/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Timeshares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Virginia CU / FCU</a:t>
            </a:r>
            <a:endParaRPr lang="en-US"/>
          </a:p>
          <a:p>
            <a:pPr>
              <a:buFont typeface="Arial"/>
              <a:buChar char="•"/>
            </a:pPr>
            <a:endParaRPr lang="en-US" sz="1100">
              <a:ea typeface="+mn-lt"/>
              <a:cs typeface="+mn-lt"/>
            </a:endParaRPr>
          </a:p>
          <a:p>
            <a:pPr marL="628650" lvl="1" indent="-171450">
              <a:buFont typeface="Arial"/>
              <a:buChar char="•"/>
            </a:pPr>
            <a:endParaRPr lang="en-US" sz="1000"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100">
              <a:latin typeface="Calibri"/>
              <a:ea typeface="Calibri"/>
              <a:cs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>
              <a:highlight>
                <a:srgbClr val="FFFF00"/>
              </a:highlight>
              <a:latin typeface="Arial"/>
              <a:ea typeface="+mn-lt"/>
              <a:cs typeface="+mn-lt"/>
            </a:endParaRPr>
          </a:p>
          <a:p>
            <a:r>
              <a:rPr lang="en-US" sz="1200">
                <a:latin typeface="Arial"/>
                <a:ea typeface="+mn-lt"/>
                <a:cs typeface="+mn-lt"/>
              </a:rPr>
              <a:t>. 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FE8C4-7192-6EDF-CAF1-4F2383357131}"/>
              </a:ext>
            </a:extLst>
          </p:cNvPr>
          <p:cNvSpPr txBox="1"/>
          <p:nvPr/>
        </p:nvSpPr>
        <p:spPr>
          <a:xfrm>
            <a:off x="9982200" y="86216"/>
            <a:ext cx="24765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Updated 11/19/2025</a:t>
            </a:r>
          </a:p>
        </p:txBody>
      </p:sp>
    </p:spTree>
    <p:extLst>
      <p:ext uri="{BB962C8B-B14F-4D97-AF65-F5344CB8AC3E}">
        <p14:creationId xmlns:p14="http://schemas.microsoft.com/office/powerpoint/2010/main" val="266822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727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/>
                <a:cs typeface="Arial"/>
              </a:rPr>
              <a:t>Additional Requirements 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52950" y="6371322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726" y="6358556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1524000" y="507848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39BD4-A26C-4DDA-9D27-93B431C2A5D6}"/>
              </a:ext>
            </a:extLst>
          </p:cNvPr>
          <p:cNvSpPr txBox="1"/>
          <p:nvPr/>
        </p:nvSpPr>
        <p:spPr>
          <a:xfrm>
            <a:off x="2005780" y="534147"/>
            <a:ext cx="8424854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en-US" sz="1200">
              <a:latin typeface="Arial"/>
              <a:ea typeface="+mn-lt"/>
              <a:cs typeface="Arial"/>
            </a:endParaRPr>
          </a:p>
          <a:p>
            <a:pPr algn="ctr"/>
            <a:r>
              <a:rPr lang="en-US" sz="1400">
                <a:latin typeface="Arial"/>
                <a:ea typeface="Calibri" panose="020F0502020204030204"/>
                <a:cs typeface="Arial"/>
              </a:rPr>
              <a:t>Creditors that have additional requirements </a:t>
            </a:r>
          </a:p>
          <a:p>
            <a:pPr algn="ctr"/>
            <a:endParaRPr lang="en-US" sz="1400">
              <a:latin typeface="Arial"/>
              <a:ea typeface="Calibri" panose="020F0502020204030204"/>
              <a:cs typeface="Arial"/>
            </a:endParaRPr>
          </a:p>
          <a:p>
            <a:r>
              <a:rPr lang="en-US" sz="1400" b="1" err="1">
                <a:ea typeface="+mn-lt"/>
                <a:cs typeface="+mn-lt"/>
              </a:rPr>
              <a:t>OneMain</a:t>
            </a:r>
            <a:r>
              <a:rPr lang="en-US" sz="1400" b="1">
                <a:ea typeface="+mn-lt"/>
                <a:cs typeface="+mn-lt"/>
              </a:rPr>
              <a:t> Financial Enrollment Requirements: 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Accounts appearing as “Secured” on CR will require original loan docs to verify collateral regardless of balance. 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Accounts appearing as “Unsecured” or in a collection’s status will not require original loan docs. </a:t>
            </a:r>
          </a:p>
          <a:p>
            <a:r>
              <a:rPr lang="en-US" sz="1400" b="1">
                <a:ea typeface="+mn-lt"/>
                <a:cs typeface="+mn-lt"/>
              </a:rPr>
              <a:t>Banker Healthcare Group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1400">
                <a:latin typeface="Calibri"/>
                <a:ea typeface="+mn-lt"/>
                <a:cs typeface="Calibri"/>
              </a:rPr>
              <a:t>Files containing BHG qualify for a max term of months</a:t>
            </a:r>
            <a:endParaRPr lang="en-US" sz="1400" b="1">
              <a:latin typeface="Calibri"/>
              <a:ea typeface="+mn-lt"/>
              <a:cs typeface="Calibri"/>
            </a:endParaRPr>
          </a:p>
          <a:p>
            <a:pPr algn="ctr"/>
            <a:endParaRPr lang="en-US" sz="1200">
              <a:latin typeface="Arial"/>
              <a:ea typeface="+mn-lt"/>
              <a:cs typeface="Arial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>
              <a:latin typeface="Arial"/>
              <a:ea typeface="+mn-lt"/>
              <a:cs typeface="+mn-lt"/>
            </a:endParaRPr>
          </a:p>
          <a:p>
            <a:r>
              <a:rPr lang="en-US" sz="1200">
                <a:latin typeface="Arial"/>
                <a:ea typeface="+mn-lt"/>
                <a:cs typeface="+mn-lt"/>
              </a:rPr>
              <a:t>. 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FE8C4-7192-6EDF-CAF1-4F2383357131}"/>
              </a:ext>
            </a:extLst>
          </p:cNvPr>
          <p:cNvSpPr txBox="1"/>
          <p:nvPr/>
        </p:nvSpPr>
        <p:spPr>
          <a:xfrm>
            <a:off x="9982200" y="86216"/>
            <a:ext cx="24765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Updated 9/24/2025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E97F54-005C-14B2-6329-D992E065A33D}"/>
              </a:ext>
            </a:extLst>
          </p:cNvPr>
          <p:cNvSpPr txBox="1"/>
          <p:nvPr/>
        </p:nvSpPr>
        <p:spPr>
          <a:xfrm>
            <a:off x="136380" y="3089038"/>
            <a:ext cx="233610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cs typeface="Calibri"/>
              </a:rPr>
              <a:t>Recap script is required of clients adds these following creditors 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8" descr="A close-up of a list of words&#10;&#10;AI-generated content may be incorrect.">
            <a:extLst>
              <a:ext uri="{FF2B5EF4-FFF2-40B4-BE49-F238E27FC236}">
                <a16:creationId xmlns:a16="http://schemas.microsoft.com/office/drawing/2014/main" id="{CE0C4BE0-3C0E-77FB-DDCB-7A0653E29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98" y="4082384"/>
            <a:ext cx="10783835" cy="17535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8FB157D-C6C4-EF45-EBCC-4CAD97C4A531}"/>
              </a:ext>
            </a:extLst>
          </p:cNvPr>
          <p:cNvSpPr/>
          <p:nvPr/>
        </p:nvSpPr>
        <p:spPr>
          <a:xfrm>
            <a:off x="7685179" y="3865912"/>
            <a:ext cx="3541941" cy="2197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7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table with text on it&#10;&#10;AI-generated content may be incorrect.">
            <a:extLst>
              <a:ext uri="{FF2B5EF4-FFF2-40B4-BE49-F238E27FC236}">
                <a16:creationId xmlns:a16="http://schemas.microsoft.com/office/drawing/2014/main" id="{65590801-5252-97E3-9D7D-8829EEC71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971" y="269583"/>
            <a:ext cx="10679721" cy="641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3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able with text on it&#10;&#10;AI-generated content may be incorrect.">
            <a:extLst>
              <a:ext uri="{FF2B5EF4-FFF2-40B4-BE49-F238E27FC236}">
                <a16:creationId xmlns:a16="http://schemas.microsoft.com/office/drawing/2014/main" id="{0C3896A2-CABB-F50A-022D-B58B659C4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41" y="246483"/>
            <a:ext cx="11095725" cy="660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57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SharedWithUsers xmlns="fca21091-4343-4232-a795-e59481497cb5">
      <UserInfo>
        <DisplayName>CLG Ops Team Members</DisplayName>
        <AccountId>455</AccountId>
        <AccountType/>
      </UserInfo>
      <UserInfo>
        <DisplayName>CLG Members</DisplayName>
        <AccountId>145</AccountId>
        <AccountType/>
      </UserInfo>
    </SharedWithUsers>
    <_Flow_SignoffStatus xmlns="dfbadaf6-90cf-41d3-a0ba-bbd98d259036">Approved</_Flow_Signoff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ba60f6f6a5a461cc86ef43a54944f406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b5a149f786f57a5eff8787dfd2abb0bb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68F558-1FF0-4BC2-88BA-DCAFB1A27D28}">
  <ds:schemaRefs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052930C-E749-4C03-9A8C-D114A8F594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71517F-3644-4ED5-B206-3B1CD71C5D5B}">
  <ds:schemaRefs>
    <ds:schemaRef ds:uri="dfbadaf6-90cf-41d3-a0ba-bbd98d259036"/>
    <ds:schemaRef ds:uri="fca21091-4343-4232-a795-e59481497c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Unacceptable Creditors</vt:lpstr>
      <vt:lpstr>Additional Requirements 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Accounts we cannot add</dc:title>
  <dc:creator>Christina Borrello</dc:creator>
  <cp:revision>2</cp:revision>
  <dcterms:created xsi:type="dcterms:W3CDTF">2022-04-18T18:26:12Z</dcterms:created>
  <dcterms:modified xsi:type="dcterms:W3CDTF">2026-02-12T20:27:18Z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