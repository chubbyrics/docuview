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8"/>
  </p:notesMasterIdLst>
  <p:sldIdLst>
    <p:sldId id="1956" r:id="rId5"/>
    <p:sldId id="1957" r:id="rId6"/>
    <p:sldId id="1958" r:id="rId7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ndon Homuth" initials="BH" lastIdx="1" clrIdx="0">
    <p:extLst>
      <p:ext uri="{19B8F6BF-5375-455C-9EA6-DF929625EA0E}">
        <p15:presenceInfo xmlns:p15="http://schemas.microsoft.com/office/powerpoint/2012/main" userId="S::bhomuth@finance.clearoneadvantage.com::86c609f6-c353-4116-b809-d837f34ce853" providerId="AD"/>
      </p:ext>
    </p:extLst>
  </p:cmAuthor>
  <p:cmAuthor id="2" name="Matthew Falkowski" initials="MF" lastIdx="1" clrIdx="1">
    <p:extLst>
      <p:ext uri="{19B8F6BF-5375-455C-9EA6-DF929625EA0E}">
        <p15:presenceInfo xmlns:p15="http://schemas.microsoft.com/office/powerpoint/2012/main" userId="S::mfalkowski@finance.clearoneadvantage.com::e04e5b67-bb43-4176-a3a7-5c533b516048" providerId="AD"/>
      </p:ext>
    </p:extLst>
  </p:cmAuthor>
  <p:cmAuthor id="3" name="Rick Gross" initials="RG" lastIdx="1" clrIdx="2">
    <p:extLst>
      <p:ext uri="{19B8F6BF-5375-455C-9EA6-DF929625EA0E}">
        <p15:presenceInfo xmlns:p15="http://schemas.microsoft.com/office/powerpoint/2012/main" userId="S::rgross@finance.clearoneadvantage.com::56070022-d45c-4555-8b5e-ed6b6470e084" providerId="AD"/>
      </p:ext>
    </p:extLst>
  </p:cmAuthor>
  <p:cmAuthor id="4" name="Christina Borrello" initials="CB" lastIdx="1" clrIdx="3">
    <p:extLst>
      <p:ext uri="{19B8F6BF-5375-455C-9EA6-DF929625EA0E}">
        <p15:presenceInfo xmlns:p15="http://schemas.microsoft.com/office/powerpoint/2012/main" userId="S::cborrello@clg.clearoneadvantage.com::920200ae-9917-4322-a251-f102818e0e6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9EC"/>
    <a:srgbClr val="FF0000"/>
    <a:srgbClr val="AFB4BE"/>
    <a:srgbClr val="8C93A2"/>
    <a:srgbClr val="C41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AF5F61-4A07-EE21-B2BD-3750EF191E12}" v="67" dt="2023-12-14T16:30:11.117"/>
    <p1510:client id="{9F7E6504-8DED-3183-B772-3B47EA1CA0CC}" v="36" dt="2023-12-14T13:44:34.814"/>
    <p1510:client id="{AFF442E6-86C2-A3A0-34BF-18844878C370}" v="7" dt="2023-12-14T15:57:11.156"/>
    <p1510:client id="{BAA3A206-5E9E-4118-9537-9D1CA0CE4E22}" v="2" dt="2023-12-19T02:35:08.694"/>
    <p1510:client id="{F455D70A-B771-4DF3-86CB-71DD0F6246AC}" v="549" dt="2023-12-14T16:05:39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F9FBA1EC-A60A-495A-B477-8D73E894888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5100" y="1171575"/>
            <a:ext cx="4216400" cy="3163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510565"/>
            <a:ext cx="5669280" cy="3690461"/>
          </a:xfrm>
          <a:prstGeom prst="rect">
            <a:avLst/>
          </a:prstGeom>
        </p:spPr>
        <p:txBody>
          <a:bodyPr vert="horz" lIns="94046" tIns="47023" rIns="94046" bIns="470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56818EA0-D2EF-4C38-A8B1-0D8C28DF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27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0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4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1F91-5DAF-4308-8CD1-103E6D52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9D70A-3474-4171-B199-95A778533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A482-2466-4B34-B5F0-68952F62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E932-A71F-4C87-8F29-F42C899ED4B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4685A-6E3E-4417-9863-4F2A54DA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6F1FC-F314-455E-89ED-44D60103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7936-FF79-4BAD-9467-808480C3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1E9D8-3E19-4E1C-8437-CFC470EF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E1A8-58BC-40F9-A6E9-C2EA9C48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2F31-02C1-498D-9CC2-B92C2CDF434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3A46-7D43-4A54-93C9-9EF0E81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370E-CEFD-4DE4-A0FC-6F069EA2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B35C-AE0D-47A6-9D58-2B81B44D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71A32-793D-441B-AD68-4238442E1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1632-D9DF-4A7B-BF50-F25DCA77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7864-DF79-4588-8239-29C6AE68922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D7EE-09FD-4EC1-91CB-5868F9A4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9428E-60CF-473F-90FC-33845451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4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AAB0-7FF6-4933-9E22-F868C192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8B35-4553-47E2-9C69-248E2027A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70A51-07F6-4B4E-AC1B-00C92A5F9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59BD2-1DA7-47C2-927E-1EDAB02E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FAA2-19A9-44AB-B8FA-E5869F238D4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BB89C-01D5-4C85-B148-89F7B797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56DD1-999E-4E85-80AF-C5D57619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7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E3C4-28DC-4891-B961-D5AC5549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39514-3694-4568-AA95-82CF0B69D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333A6-5E74-4ACD-8AC0-FAB6C7E0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B50B8-823E-4597-A8E8-6A9638DD9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8A5CD-818C-4AC2-9FF0-0375B10D2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47E56-F9CA-448D-BF16-285FBDD6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C686-7BE9-4586-A687-B2D1E9405BF2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1C511-854E-4BC2-B903-8E577EE9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A9210-8AFB-4D59-BF25-4EFD379E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8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0A4E-7214-4395-B4A9-683862A1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BA23A-F6DD-474E-874D-71837CEC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A63C-776B-4C75-811A-901240DE072E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EEFDA-3E42-47C0-93DC-C1219B95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1EABA-4C8C-473F-B711-E494A05F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9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834C0-0139-4568-8744-EE8A5CE9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B8578-255A-4EAB-AB9D-DF676188B002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1E73B-DCCE-4735-81B5-1825A15A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9F196-8163-4B75-8CAC-61E1C785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E244-A061-4E80-BC9C-E6AB7DBD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428FE-F029-409E-B569-681CD14E9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A74DE-FA8C-4583-9E68-BF0214191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68F3A-DC58-4F1A-923E-357CDF90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5B3-C4AE-4BB1-B021-68841BA35016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46901-5A47-40C9-BF0C-854E9818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1F09E-1A7A-4217-88C3-C6FCE58F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30C2-9AC3-40D2-82EA-7358BE3F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3CFF1-6F5E-4EDE-9591-B88623C67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4FF47-9845-4311-A900-C88BE6D75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EED47-9E30-48B0-BD7D-5D140FE8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9113-9AB1-4051-924D-DF3D9AA7B385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5465-F8EA-489B-B0CE-6D03E7A7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B23C1-C907-4F63-83FE-12326EA9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1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A720-C411-4ED2-9590-91859DC2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C8D4A-1E59-44F0-B9D5-55F4EF518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2062-E7CF-4226-ABBC-7FAB80D5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5AC6-156C-4CB5-BA0A-41EEB99F2C31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2C07-11CD-4FCA-9EF9-DBCB4396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F8289-ACCF-49F8-B239-9BC52C1B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DD16A-B6EA-4F1C-B1D6-276E8C388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3C60F-2B01-4456-A9C9-E40F68052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ACA6-C1E6-45CC-987A-36AA89D2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1CCD-7326-4A57-A1EF-8B0B37DF77B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BCBA4-F9B0-4FFA-8023-E056B2BF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91EB5-9BD0-4358-9027-51E68369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EBC77-63D1-42E8-A976-F7270279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4DF2-E1A1-406E-AEE5-0CF1A3C73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C1D8-9EE9-42E3-A226-76CF87AC6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4C46C-9D8A-450F-A7A1-8B8352E02805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C20A-ED86-43E7-BD47-C0407000F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9E82-8B6D-4553-B4F9-228C6E8BF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7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736988"/>
          </a:xfrm>
        </p:spPr>
        <p:txBody>
          <a:bodyPr>
            <a:noAutofit/>
          </a:bodyPr>
          <a:lstStyle/>
          <a:p>
            <a:r>
              <a:rPr lang="en-US" sz="2000" b="1">
                <a:latin typeface="Calibri Light"/>
                <a:ea typeface="Calibri Light"/>
                <a:cs typeface="Calibri Light"/>
              </a:rPr>
              <a:t>Multi Factor Authentication on Client Portal (Client Version)</a:t>
            </a:r>
            <a:endParaRPr lang="en-US" sz="2000" b="1">
              <a:latin typeface="Calibri Light"/>
              <a:cs typeface="Calibri Ligh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-1008021" y="6473797"/>
            <a:ext cx="3086100" cy="36512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263" y="6350153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777510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B88971-DE78-800E-1BFE-CD1FE908B75D}"/>
              </a:ext>
            </a:extLst>
          </p:cNvPr>
          <p:cNvSpPr txBox="1"/>
          <p:nvPr/>
        </p:nvSpPr>
        <p:spPr>
          <a:xfrm>
            <a:off x="8024566" y="71683"/>
            <a:ext cx="184731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US"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02F753-CE90-A919-3E51-E7478D4BB92D}"/>
              </a:ext>
            </a:extLst>
          </p:cNvPr>
          <p:cNvSpPr txBox="1"/>
          <p:nvPr/>
        </p:nvSpPr>
        <p:spPr>
          <a:xfrm>
            <a:off x="292231" y="5709225"/>
            <a:ext cx="862712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743BCE-3BC8-57CF-0246-15CBABAC6B21}"/>
              </a:ext>
            </a:extLst>
          </p:cNvPr>
          <p:cNvSpPr txBox="1"/>
          <p:nvPr/>
        </p:nvSpPr>
        <p:spPr>
          <a:xfrm>
            <a:off x="839128" y="980131"/>
            <a:ext cx="6790135" cy="9596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kern="0"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To better protect our clients and their security, each time they log in they will be required to do a 2-part verification (password and authentication code)</a:t>
            </a:r>
            <a:endParaRPr lang="en-US" kern="0">
              <a:effectLst/>
              <a:latin typeface="Segoe U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114020-F1C0-0038-5F8E-4088A9C50980}"/>
              </a:ext>
            </a:extLst>
          </p:cNvPr>
          <p:cNvSpPr txBox="1"/>
          <p:nvPr/>
        </p:nvSpPr>
        <p:spPr>
          <a:xfrm>
            <a:off x="8077077" y="40522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12.14.23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5BD1F8-6292-5C76-69C8-44FB4E5D3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643" y="4015819"/>
            <a:ext cx="5459543" cy="2457978"/>
          </a:xfrm>
          <a:prstGeom prst="rect">
            <a:avLst/>
          </a:prstGeom>
        </p:spPr>
      </p:pic>
      <p:pic>
        <p:nvPicPr>
          <p:cNvPr id="9" name="Picture 8" descr="A screenshot of a chat box&#10;&#10;Description automatically generated">
            <a:extLst>
              <a:ext uri="{FF2B5EF4-FFF2-40B4-BE49-F238E27FC236}">
                <a16:creationId xmlns:a16="http://schemas.microsoft.com/office/drawing/2014/main" id="{3459D99F-D4C8-29CA-A1BA-FF5F0BABD5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41" y="1801421"/>
            <a:ext cx="5238833" cy="252665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BAF2015-8C85-38A2-BE2E-2CE592A76F32}"/>
              </a:ext>
            </a:extLst>
          </p:cNvPr>
          <p:cNvSpPr/>
          <p:nvPr/>
        </p:nvSpPr>
        <p:spPr>
          <a:xfrm>
            <a:off x="3205113" y="1883865"/>
            <a:ext cx="1621410" cy="641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Step 1: log into portal with user and password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411A4C-C34C-EDAD-122F-66AD4FCBC0D6}"/>
              </a:ext>
            </a:extLst>
          </p:cNvPr>
          <p:cNvSpPr/>
          <p:nvPr/>
        </p:nvSpPr>
        <p:spPr>
          <a:xfrm>
            <a:off x="5167017" y="4331979"/>
            <a:ext cx="1621410" cy="641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Step 2: pop up for auth code</a:t>
            </a:r>
          </a:p>
        </p:txBody>
      </p:sp>
    </p:spTree>
    <p:extLst>
      <p:ext uri="{BB962C8B-B14F-4D97-AF65-F5344CB8AC3E}">
        <p14:creationId xmlns:p14="http://schemas.microsoft.com/office/powerpoint/2010/main" val="424853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736988"/>
          </a:xfrm>
        </p:spPr>
        <p:txBody>
          <a:bodyPr>
            <a:noAutofit/>
          </a:bodyPr>
          <a:lstStyle/>
          <a:p>
            <a:r>
              <a:rPr lang="en-US" sz="2000" b="1">
                <a:latin typeface="Calibri Light"/>
                <a:ea typeface="Calibri Light"/>
                <a:cs typeface="Calibri Light"/>
              </a:rPr>
              <a:t>Multi Factor Authentication on Client Portal (Client Version </a:t>
            </a:r>
            <a:r>
              <a:rPr lang="en-US" sz="2000" b="1" err="1">
                <a:latin typeface="Calibri Light"/>
                <a:ea typeface="Calibri Light"/>
                <a:cs typeface="Calibri Light"/>
              </a:rPr>
              <a:t>cont</a:t>
            </a:r>
            <a:r>
              <a:rPr lang="en-US" sz="2000" b="1">
                <a:latin typeface="Calibri Light"/>
                <a:ea typeface="Calibri Light"/>
                <a:cs typeface="Calibri Light"/>
              </a:rPr>
              <a:t>)</a:t>
            </a:r>
            <a:endParaRPr lang="en-US" sz="2000" b="1">
              <a:latin typeface="Calibri Light"/>
              <a:cs typeface="Calibri Ligh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-1008021" y="6473797"/>
            <a:ext cx="3086100" cy="36512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263" y="6350153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777510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B88971-DE78-800E-1BFE-CD1FE908B75D}"/>
              </a:ext>
            </a:extLst>
          </p:cNvPr>
          <p:cNvSpPr txBox="1"/>
          <p:nvPr/>
        </p:nvSpPr>
        <p:spPr>
          <a:xfrm>
            <a:off x="8024566" y="71683"/>
            <a:ext cx="184731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US"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02F753-CE90-A919-3E51-E7478D4BB92D}"/>
              </a:ext>
            </a:extLst>
          </p:cNvPr>
          <p:cNvSpPr txBox="1"/>
          <p:nvPr/>
        </p:nvSpPr>
        <p:spPr>
          <a:xfrm>
            <a:off x="292231" y="5709225"/>
            <a:ext cx="862712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114020-F1C0-0038-5F8E-4088A9C50980}"/>
              </a:ext>
            </a:extLst>
          </p:cNvPr>
          <p:cNvSpPr txBox="1"/>
          <p:nvPr/>
        </p:nvSpPr>
        <p:spPr>
          <a:xfrm>
            <a:off x="8077077" y="40522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12.14.23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411A4C-C34C-EDAD-122F-66AD4FCBC0D6}"/>
              </a:ext>
            </a:extLst>
          </p:cNvPr>
          <p:cNvSpPr/>
          <p:nvPr/>
        </p:nvSpPr>
        <p:spPr>
          <a:xfrm>
            <a:off x="432764" y="4166299"/>
            <a:ext cx="1621410" cy="641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Step 4: Type in code and hit “submit”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85CA63-07FC-36F6-F175-E2323C89A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421" y="1047924"/>
            <a:ext cx="4044099" cy="193471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BAF2015-8C85-38A2-BE2E-2CE592A76F32}"/>
              </a:ext>
            </a:extLst>
          </p:cNvPr>
          <p:cNvSpPr/>
          <p:nvPr/>
        </p:nvSpPr>
        <p:spPr>
          <a:xfrm>
            <a:off x="3572582" y="982652"/>
            <a:ext cx="1621410" cy="641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Step 3: Review email for code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7229E45-E56D-C5BE-541D-A694304CF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707" y="3167598"/>
            <a:ext cx="672465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511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736988"/>
          </a:xfrm>
        </p:spPr>
        <p:txBody>
          <a:bodyPr>
            <a:noAutofit/>
          </a:bodyPr>
          <a:lstStyle/>
          <a:p>
            <a:r>
              <a:rPr lang="en-US" sz="2000" b="1">
                <a:latin typeface="Calibri Light"/>
                <a:ea typeface="Calibri Light"/>
                <a:cs typeface="Calibri Light"/>
              </a:rPr>
              <a:t>Multi Factor Authentication on Client Portal (Client Version </a:t>
            </a:r>
            <a:r>
              <a:rPr lang="en-US" sz="2000" b="1" err="1">
                <a:latin typeface="Calibri Light"/>
                <a:ea typeface="Calibri Light"/>
                <a:cs typeface="Calibri Light"/>
              </a:rPr>
              <a:t>cont</a:t>
            </a:r>
            <a:r>
              <a:rPr lang="en-US" sz="2000" b="1">
                <a:latin typeface="Calibri Light"/>
                <a:ea typeface="Calibri Light"/>
                <a:cs typeface="Calibri Light"/>
              </a:rPr>
              <a:t>)</a:t>
            </a:r>
            <a:endParaRPr lang="en-US" sz="2000" b="1">
              <a:latin typeface="Calibri Light"/>
              <a:cs typeface="Calibri Ligh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-1008021" y="6473797"/>
            <a:ext cx="3086100" cy="36512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263" y="6350153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777510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B88971-DE78-800E-1BFE-CD1FE908B75D}"/>
              </a:ext>
            </a:extLst>
          </p:cNvPr>
          <p:cNvSpPr txBox="1"/>
          <p:nvPr/>
        </p:nvSpPr>
        <p:spPr>
          <a:xfrm>
            <a:off x="8024566" y="71683"/>
            <a:ext cx="184731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US"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02F753-CE90-A919-3E51-E7478D4BB92D}"/>
              </a:ext>
            </a:extLst>
          </p:cNvPr>
          <p:cNvSpPr txBox="1"/>
          <p:nvPr/>
        </p:nvSpPr>
        <p:spPr>
          <a:xfrm>
            <a:off x="292231" y="5709225"/>
            <a:ext cx="862712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114020-F1C0-0038-5F8E-4088A9C50980}"/>
              </a:ext>
            </a:extLst>
          </p:cNvPr>
          <p:cNvSpPr txBox="1"/>
          <p:nvPr/>
        </p:nvSpPr>
        <p:spPr>
          <a:xfrm>
            <a:off x="8077077" y="40522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12.14.23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0B9244-EB45-3D8B-8F92-193F0A567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50" y="1002164"/>
            <a:ext cx="6829425" cy="2809875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70E9D41-9F05-498B-E3C3-8A62D620F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9876" y="4005823"/>
            <a:ext cx="2743200" cy="2460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1A544A-413B-2641-B9BA-1D48213AA795}"/>
              </a:ext>
            </a:extLst>
          </p:cNvPr>
          <p:cNvSpPr/>
          <p:nvPr/>
        </p:nvSpPr>
        <p:spPr>
          <a:xfrm>
            <a:off x="1029648" y="4782815"/>
            <a:ext cx="2335431" cy="11087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If COA Agent is trying to mirror client portal, the authentication code will be sent to the Shared Inbox called "Portal Multi Factor"</a:t>
            </a:r>
            <a:endParaRPr lang="en-US" sz="1200" dirty="0">
              <a:ea typeface="Calibri"/>
              <a:cs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411A4C-C34C-EDAD-122F-66AD4FCBC0D6}"/>
              </a:ext>
            </a:extLst>
          </p:cNvPr>
          <p:cNvSpPr/>
          <p:nvPr/>
        </p:nvSpPr>
        <p:spPr>
          <a:xfrm>
            <a:off x="7178889" y="2157410"/>
            <a:ext cx="1796375" cy="979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If incorrect code is submitted client will get the following error but can try again with same code.</a:t>
            </a:r>
          </a:p>
        </p:txBody>
      </p:sp>
    </p:spTree>
    <p:extLst>
      <p:ext uri="{BB962C8B-B14F-4D97-AF65-F5344CB8AC3E}">
        <p14:creationId xmlns:p14="http://schemas.microsoft.com/office/powerpoint/2010/main" val="2802813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9DC55F4-8034-4279-A768-3BC59612D256}" vid="{D2D9A7DC-B5CD-4C3A-A780-7E5258CB9C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54B98F-2B59-4E83-AB7F-1619296425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44613A-A1AE-446C-ADE1-2243A58D2292}">
  <ds:schemaRefs>
    <ds:schemaRef ds:uri="dfbadaf6-90cf-41d3-a0ba-bbd98d259036"/>
    <ds:schemaRef ds:uri="fca21091-4343-4232-a795-e59481497c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799A935-6D4D-41A2-989C-1699262B72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COA ppt template</Template>
  <Application>Microsoft Office PowerPoint</Application>
  <PresentationFormat>On-screen Show (4:3)</PresentationFormat>
  <Slides>3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Multi Factor Authentication on Client Portal (Client Version)</vt:lpstr>
      <vt:lpstr>Multi Factor Authentication on Client Portal (Client Version cont)</vt:lpstr>
      <vt:lpstr>Multi Factor Authentication on Client Portal (Client Version cont)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 Tree Insights</dc:title>
  <dc:creator>Brandon Homuth</dc:creator>
  <cp:revision>15</cp:revision>
  <cp:lastPrinted>2020-12-17T16:31:33Z</cp:lastPrinted>
  <dcterms:created xsi:type="dcterms:W3CDTF">2020-07-08T17:20:15Z</dcterms:created>
  <dcterms:modified xsi:type="dcterms:W3CDTF">2026-02-12T20:04:30Z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