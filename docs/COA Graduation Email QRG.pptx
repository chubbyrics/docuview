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0"/>
  </p:notesMasterIdLst>
  <p:sldIdLst>
    <p:sldId id="1963" r:id="rId5"/>
    <p:sldId id="1957" r:id="rId6"/>
    <p:sldId id="1961" r:id="rId7"/>
    <p:sldId id="1962" r:id="rId8"/>
    <p:sldId id="1968" r:id="rId9"/>
  </p:sldIdLst>
  <p:sldSz cx="9144000" cy="6858000" type="screen4x3"/>
  <p:notesSz cx="7086600" cy="9372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andon Homuth" initials="BH" lastIdx="1" clrIdx="0">
    <p:extLst>
      <p:ext uri="{19B8F6BF-5375-455C-9EA6-DF929625EA0E}">
        <p15:presenceInfo xmlns:p15="http://schemas.microsoft.com/office/powerpoint/2012/main" userId="S::bhomuth@finance.clearoneadvantage.com::86c609f6-c353-4116-b809-d837f34ce853" providerId="AD"/>
      </p:ext>
    </p:extLst>
  </p:cmAuthor>
  <p:cmAuthor id="2" name="Matthew Falkowski" initials="MF" lastIdx="1" clrIdx="1">
    <p:extLst>
      <p:ext uri="{19B8F6BF-5375-455C-9EA6-DF929625EA0E}">
        <p15:presenceInfo xmlns:p15="http://schemas.microsoft.com/office/powerpoint/2012/main" userId="S::mfalkowski@finance.clearoneadvantage.com::e04e5b67-bb43-4176-a3a7-5c533b516048" providerId="AD"/>
      </p:ext>
    </p:extLst>
  </p:cmAuthor>
  <p:cmAuthor id="3" name="Rick Gross" initials="RG" lastIdx="1" clrIdx="2">
    <p:extLst>
      <p:ext uri="{19B8F6BF-5375-455C-9EA6-DF929625EA0E}">
        <p15:presenceInfo xmlns:p15="http://schemas.microsoft.com/office/powerpoint/2012/main" userId="S::rgross@finance.clearoneadvantage.com::56070022-d45c-4555-8b5e-ed6b6470e084" providerId="AD"/>
      </p:ext>
    </p:extLst>
  </p:cmAuthor>
  <p:cmAuthor id="4" name="Christina Borrello" initials="CB" lastIdx="1" clrIdx="3">
    <p:extLst>
      <p:ext uri="{19B8F6BF-5375-455C-9EA6-DF929625EA0E}">
        <p15:presenceInfo xmlns:p15="http://schemas.microsoft.com/office/powerpoint/2012/main" userId="S::cborrello@clg.clearoneadvantage.com::920200ae-9917-4322-a251-f102818e0e6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D9EC"/>
    <a:srgbClr val="FF0000"/>
    <a:srgbClr val="AFB4BE"/>
    <a:srgbClr val="8C93A2"/>
    <a:srgbClr val="C41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573DD6-ACC9-D123-2B88-283FF3A7869E}" v="5" dt="2025-03-21T17:22:31.576"/>
    <p1510:client id="{B0EFF4C8-B600-4B2E-86AF-FCB6A1674E3A}" v="13" dt="2025-03-20T13:38:49.7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816" y="6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0860" cy="470258"/>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idx="1"/>
          </p:nvPr>
        </p:nvSpPr>
        <p:spPr>
          <a:xfrm>
            <a:off x="4014100" y="1"/>
            <a:ext cx="3070860" cy="470258"/>
          </a:xfrm>
          <a:prstGeom prst="rect">
            <a:avLst/>
          </a:prstGeom>
        </p:spPr>
        <p:txBody>
          <a:bodyPr vert="horz" lIns="94046" tIns="47023" rIns="94046" bIns="47023" rtlCol="0"/>
          <a:lstStyle>
            <a:lvl1pPr algn="r">
              <a:defRPr sz="1200"/>
            </a:lvl1pPr>
          </a:lstStyle>
          <a:p>
            <a:fld id="{F9FBA1EC-A60A-495A-B477-8D73E8948888}" type="datetimeFigureOut">
              <a:rPr lang="en-US" smtClean="0"/>
              <a:t>2/12/2026</a:t>
            </a:fld>
            <a:endParaRPr lang="en-US"/>
          </a:p>
        </p:txBody>
      </p:sp>
      <p:sp>
        <p:nvSpPr>
          <p:cNvPr id="4" name="Slide Image Placeholder 3"/>
          <p:cNvSpPr>
            <a:spLocks noGrp="1" noRot="1" noChangeAspect="1"/>
          </p:cNvSpPr>
          <p:nvPr>
            <p:ph type="sldImg" idx="2"/>
          </p:nvPr>
        </p:nvSpPr>
        <p:spPr>
          <a:xfrm>
            <a:off x="1435100" y="1171575"/>
            <a:ext cx="4216400" cy="3163888"/>
          </a:xfrm>
          <a:prstGeom prst="rect">
            <a:avLst/>
          </a:prstGeom>
          <a:noFill/>
          <a:ln w="12700">
            <a:solidFill>
              <a:prstClr val="black"/>
            </a:solidFill>
          </a:ln>
        </p:spPr>
        <p:txBody>
          <a:bodyPr vert="horz" lIns="94046" tIns="47023" rIns="94046" bIns="47023" rtlCol="0" anchor="ctr"/>
          <a:lstStyle/>
          <a:p>
            <a:endParaRPr lang="en-US"/>
          </a:p>
        </p:txBody>
      </p:sp>
      <p:sp>
        <p:nvSpPr>
          <p:cNvPr id="5" name="Notes Placeholder 4"/>
          <p:cNvSpPr>
            <a:spLocks noGrp="1"/>
          </p:cNvSpPr>
          <p:nvPr>
            <p:ph type="body" sz="quarter" idx="3"/>
          </p:nvPr>
        </p:nvSpPr>
        <p:spPr>
          <a:xfrm>
            <a:off x="708660" y="4510565"/>
            <a:ext cx="5669280" cy="3690461"/>
          </a:xfrm>
          <a:prstGeom prst="rect">
            <a:avLst/>
          </a:prstGeom>
        </p:spPr>
        <p:txBody>
          <a:bodyPr vert="horz" lIns="94046" tIns="47023" rIns="94046" bIns="470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02344"/>
            <a:ext cx="3070860" cy="470257"/>
          </a:xfrm>
          <a:prstGeom prst="rect">
            <a:avLst/>
          </a:prstGeom>
        </p:spPr>
        <p:txBody>
          <a:bodyPr vert="horz" lIns="94046" tIns="47023" rIns="94046" bIns="47023" rtlCol="0" anchor="b"/>
          <a:lstStyle>
            <a:lvl1pPr algn="l">
              <a:defRPr sz="1200"/>
            </a:lvl1pPr>
          </a:lstStyle>
          <a:p>
            <a:endParaRPr lang="en-US"/>
          </a:p>
        </p:txBody>
      </p:sp>
      <p:sp>
        <p:nvSpPr>
          <p:cNvPr id="7" name="Slide Number Placeholder 6"/>
          <p:cNvSpPr>
            <a:spLocks noGrp="1"/>
          </p:cNvSpPr>
          <p:nvPr>
            <p:ph type="sldNum" sz="quarter" idx="5"/>
          </p:nvPr>
        </p:nvSpPr>
        <p:spPr>
          <a:xfrm>
            <a:off x="4014100" y="8902344"/>
            <a:ext cx="3070860" cy="470257"/>
          </a:xfrm>
          <a:prstGeom prst="rect">
            <a:avLst/>
          </a:prstGeom>
        </p:spPr>
        <p:txBody>
          <a:bodyPr vert="horz" lIns="94046" tIns="47023" rIns="94046" bIns="47023" rtlCol="0" anchor="b"/>
          <a:lstStyle>
            <a:lvl1pPr algn="r">
              <a:defRPr sz="1200"/>
            </a:lvl1pPr>
          </a:lstStyle>
          <a:p>
            <a:fld id="{56818EA0-D2EF-4C38-A8B1-0D8C28DF25EC}" type="slidenum">
              <a:rPr lang="en-US" smtClean="0"/>
              <a:t>‹#›</a:t>
            </a:fld>
            <a:endParaRPr lang="en-US"/>
          </a:p>
        </p:txBody>
      </p:sp>
    </p:spTree>
    <p:extLst>
      <p:ext uri="{BB962C8B-B14F-4D97-AF65-F5344CB8AC3E}">
        <p14:creationId xmlns:p14="http://schemas.microsoft.com/office/powerpoint/2010/main" val="2096202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2</a:t>
            </a:fld>
            <a:endParaRPr lang="en-US"/>
          </a:p>
        </p:txBody>
      </p:sp>
    </p:spTree>
    <p:extLst>
      <p:ext uri="{BB962C8B-B14F-4D97-AF65-F5344CB8AC3E}">
        <p14:creationId xmlns:p14="http://schemas.microsoft.com/office/powerpoint/2010/main" val="3654475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C37CD-D00A-7CD8-B297-B0B348E56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01B09F-F0C7-87AC-684B-F37EEA98AF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9184BE-92BB-7556-384E-38B5354597CD}"/>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D71D77E7-52BF-1103-3D1E-F11E9785D160}"/>
              </a:ext>
            </a:extLst>
          </p:cNvPr>
          <p:cNvSpPr>
            <a:spLocks noGrp="1"/>
          </p:cNvSpPr>
          <p:nvPr>
            <p:ph type="sldNum" sz="quarter" idx="5"/>
          </p:nvPr>
        </p:nvSpPr>
        <p:spPr/>
        <p:txBody>
          <a:bodyPr/>
          <a:lstStyle/>
          <a:p>
            <a:fld id="{56818EA0-D2EF-4C38-A8B1-0D8C28DF25EC}" type="slidenum">
              <a:rPr lang="en-US" smtClean="0"/>
              <a:t>3</a:t>
            </a:fld>
            <a:endParaRPr lang="en-US"/>
          </a:p>
        </p:txBody>
      </p:sp>
    </p:spTree>
    <p:extLst>
      <p:ext uri="{BB962C8B-B14F-4D97-AF65-F5344CB8AC3E}">
        <p14:creationId xmlns:p14="http://schemas.microsoft.com/office/powerpoint/2010/main" val="768033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7C0FD-5DEF-EAE6-5C18-BD176860A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362F12-9F58-42CE-9394-F159F77B27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E6E70-2D0D-5F2A-4B1A-80F015E7E625}"/>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6F1D4E2C-5F30-ABD9-6C2B-D35D98739433}"/>
              </a:ext>
            </a:extLst>
          </p:cNvPr>
          <p:cNvSpPr>
            <a:spLocks noGrp="1"/>
          </p:cNvSpPr>
          <p:nvPr>
            <p:ph type="sldNum" sz="quarter" idx="5"/>
          </p:nvPr>
        </p:nvSpPr>
        <p:spPr/>
        <p:txBody>
          <a:bodyPr/>
          <a:lstStyle/>
          <a:p>
            <a:fld id="{56818EA0-D2EF-4C38-A8B1-0D8C28DF25EC}" type="slidenum">
              <a:rPr lang="en-US" smtClean="0"/>
              <a:t>4</a:t>
            </a:fld>
            <a:endParaRPr lang="en-US"/>
          </a:p>
        </p:txBody>
      </p:sp>
    </p:spTree>
    <p:extLst>
      <p:ext uri="{BB962C8B-B14F-4D97-AF65-F5344CB8AC3E}">
        <p14:creationId xmlns:p14="http://schemas.microsoft.com/office/powerpoint/2010/main" val="2199384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E81B7-C5E5-693B-37DD-80CA282BF1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A88583-EE16-60A6-AC93-04BCC95327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51B2F-CAA3-7700-1950-CED7DAA8A03B}"/>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BAD3BC8A-FA2C-7E26-3D56-55FD5E01BAB8}"/>
              </a:ext>
            </a:extLst>
          </p:cNvPr>
          <p:cNvSpPr>
            <a:spLocks noGrp="1"/>
          </p:cNvSpPr>
          <p:nvPr>
            <p:ph type="sldNum" sz="quarter" idx="5"/>
          </p:nvPr>
        </p:nvSpPr>
        <p:spPr/>
        <p:txBody>
          <a:bodyPr/>
          <a:lstStyle/>
          <a:p>
            <a:fld id="{56818EA0-D2EF-4C38-A8B1-0D8C28DF25EC}" type="slidenum">
              <a:rPr lang="en-US" smtClean="0"/>
              <a:t>5</a:t>
            </a:fld>
            <a:endParaRPr lang="en-US"/>
          </a:p>
        </p:txBody>
      </p:sp>
      <p:sp>
        <p:nvSpPr>
          <p:cNvPr id="5" name="Footer Placeholder 4">
            <a:extLst>
              <a:ext uri="{FF2B5EF4-FFF2-40B4-BE49-F238E27FC236}">
                <a16:creationId xmlns:a16="http://schemas.microsoft.com/office/drawing/2014/main" id="{EB38E4BB-D537-D943-C90F-DFD978D973F4}"/>
              </a:ext>
            </a:extLst>
          </p:cNvPr>
          <p:cNvSpPr>
            <a:spLocks noGrp="1"/>
          </p:cNvSpPr>
          <p:nvPr>
            <p:ph type="ftr" sz="quarter" idx="4"/>
          </p:nvPr>
        </p:nvSpPr>
        <p:spPr/>
        <p:txBody>
          <a:bodyPr/>
          <a:lstStyle/>
          <a:p>
            <a:r>
              <a:rPr lang="en-US"/>
              <a:t>Last Edited: 3/19/2025 By: Samantha Shumaker</a:t>
            </a:r>
          </a:p>
        </p:txBody>
      </p:sp>
    </p:spTree>
    <p:extLst>
      <p:ext uri="{BB962C8B-B14F-4D97-AF65-F5344CB8AC3E}">
        <p14:creationId xmlns:p14="http://schemas.microsoft.com/office/powerpoint/2010/main" val="1786993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A1F91-5DAF-4308-8CD1-103E6D52D74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8C9D70A-3474-4171-B199-95A7785332F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F0CA482-2466-4B34-B5F0-68952F622156}"/>
              </a:ext>
            </a:extLst>
          </p:cNvPr>
          <p:cNvSpPr>
            <a:spLocks noGrp="1"/>
          </p:cNvSpPr>
          <p:nvPr>
            <p:ph type="dt" sz="half" idx="10"/>
          </p:nvPr>
        </p:nvSpPr>
        <p:spPr/>
        <p:txBody>
          <a:bodyPr/>
          <a:lstStyle/>
          <a:p>
            <a:fld id="{B202E932-A71F-4C87-8F29-F42C899ED4BE}" type="datetime1">
              <a:rPr lang="en-US" smtClean="0"/>
              <a:t>2/12/2026</a:t>
            </a:fld>
            <a:endParaRPr lang="en-US"/>
          </a:p>
        </p:txBody>
      </p:sp>
      <p:sp>
        <p:nvSpPr>
          <p:cNvPr id="5" name="Footer Placeholder 4">
            <a:extLst>
              <a:ext uri="{FF2B5EF4-FFF2-40B4-BE49-F238E27FC236}">
                <a16:creationId xmlns:a16="http://schemas.microsoft.com/office/drawing/2014/main" id="{CA64685A-6E3E-4417-9863-4F2A54DAB06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0946F1FC-F314-455E-89ED-44D601039748}"/>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351649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47936-FF79-4BAD-9467-808480C37E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01E9D8-3E19-4E1C-8437-CFC470EFE8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7E1A8-58BC-40F9-A6E9-C2EA9C48BBF1}"/>
              </a:ext>
            </a:extLst>
          </p:cNvPr>
          <p:cNvSpPr>
            <a:spLocks noGrp="1"/>
          </p:cNvSpPr>
          <p:nvPr>
            <p:ph type="dt" sz="half" idx="10"/>
          </p:nvPr>
        </p:nvSpPr>
        <p:spPr/>
        <p:txBody>
          <a:bodyPr/>
          <a:lstStyle/>
          <a:p>
            <a:fld id="{A8742F31-02C1-498D-9CC2-B92C2CDF434E}" type="datetime1">
              <a:rPr lang="en-US" smtClean="0"/>
              <a:t>2/12/2026</a:t>
            </a:fld>
            <a:endParaRPr lang="en-US"/>
          </a:p>
        </p:txBody>
      </p:sp>
      <p:sp>
        <p:nvSpPr>
          <p:cNvPr id="5" name="Footer Placeholder 4">
            <a:extLst>
              <a:ext uri="{FF2B5EF4-FFF2-40B4-BE49-F238E27FC236}">
                <a16:creationId xmlns:a16="http://schemas.microsoft.com/office/drawing/2014/main" id="{47323A46-7D43-4A54-93C9-9EF0E81BAA9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1B07370E-CEFD-4DE4-A0FC-6F069EA2A37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938997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6B35C-AE0D-47A6-9D58-2B81B44D71F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C171A32-793D-441B-AD68-4238442E166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011632-D9DF-4A7B-BF50-F25DCA778EA2}"/>
              </a:ext>
            </a:extLst>
          </p:cNvPr>
          <p:cNvSpPr>
            <a:spLocks noGrp="1"/>
          </p:cNvSpPr>
          <p:nvPr>
            <p:ph type="dt" sz="half" idx="10"/>
          </p:nvPr>
        </p:nvSpPr>
        <p:spPr/>
        <p:txBody>
          <a:bodyPr/>
          <a:lstStyle/>
          <a:p>
            <a:fld id="{257A7864-DF79-4588-8239-29C6AE689228}" type="datetime1">
              <a:rPr lang="en-US" smtClean="0"/>
              <a:t>2/12/2026</a:t>
            </a:fld>
            <a:endParaRPr lang="en-US"/>
          </a:p>
        </p:txBody>
      </p:sp>
      <p:sp>
        <p:nvSpPr>
          <p:cNvPr id="5" name="Footer Placeholder 4">
            <a:extLst>
              <a:ext uri="{FF2B5EF4-FFF2-40B4-BE49-F238E27FC236}">
                <a16:creationId xmlns:a16="http://schemas.microsoft.com/office/drawing/2014/main" id="{CFA3D7EE-09FD-4EC1-91CB-5868F9A4EFCA}"/>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A59428E-60CF-473F-90FC-33845451FC6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654445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6AAB0-7FF6-4933-9E22-F868C19253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B08B35-4553-47E2-9C69-248E2027A1F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F70A51-07F6-4B4E-AC1B-00C92A5F9E1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B59BD2-1DA7-47C2-927E-1EDAB02E4829}"/>
              </a:ext>
            </a:extLst>
          </p:cNvPr>
          <p:cNvSpPr>
            <a:spLocks noGrp="1"/>
          </p:cNvSpPr>
          <p:nvPr>
            <p:ph type="dt" sz="half" idx="10"/>
          </p:nvPr>
        </p:nvSpPr>
        <p:spPr/>
        <p:txBody>
          <a:bodyPr/>
          <a:lstStyle/>
          <a:p>
            <a:fld id="{5AA8FAA2-19A9-44AB-B8FA-E5869F238D47}" type="datetime1">
              <a:rPr lang="en-US" smtClean="0"/>
              <a:t>2/12/2026</a:t>
            </a:fld>
            <a:endParaRPr lang="en-US"/>
          </a:p>
        </p:txBody>
      </p:sp>
      <p:sp>
        <p:nvSpPr>
          <p:cNvPr id="6" name="Footer Placeholder 5">
            <a:extLst>
              <a:ext uri="{FF2B5EF4-FFF2-40B4-BE49-F238E27FC236}">
                <a16:creationId xmlns:a16="http://schemas.microsoft.com/office/drawing/2014/main" id="{F00BB89C-01D5-4C85-B148-89F7B797D35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D0D56DD1-999E-4E85-80AF-C5D57619E24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828772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2E3C4-28DC-4891-B961-D5AC5549E4D1}"/>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439514-3694-4568-AA95-82CF0B69D20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DA333A6-5E74-4ACD-8AC0-FAB6C7E080F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9B50B8-823E-4597-A8E8-6A9638DD921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3E8A5CD-818C-4AC2-9FF0-0375B10D2C56}"/>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147E56-F9CA-448D-BF16-285FBDD66A3B}"/>
              </a:ext>
            </a:extLst>
          </p:cNvPr>
          <p:cNvSpPr>
            <a:spLocks noGrp="1"/>
          </p:cNvSpPr>
          <p:nvPr>
            <p:ph type="dt" sz="half" idx="10"/>
          </p:nvPr>
        </p:nvSpPr>
        <p:spPr/>
        <p:txBody>
          <a:bodyPr/>
          <a:lstStyle/>
          <a:p>
            <a:fld id="{D8D6C686-7BE9-4586-A687-B2D1E9405BF2}" type="datetime1">
              <a:rPr lang="en-US" smtClean="0"/>
              <a:t>2/12/2026</a:t>
            </a:fld>
            <a:endParaRPr lang="en-US"/>
          </a:p>
        </p:txBody>
      </p:sp>
      <p:sp>
        <p:nvSpPr>
          <p:cNvPr id="8" name="Footer Placeholder 7">
            <a:extLst>
              <a:ext uri="{FF2B5EF4-FFF2-40B4-BE49-F238E27FC236}">
                <a16:creationId xmlns:a16="http://schemas.microsoft.com/office/drawing/2014/main" id="{9151C511-854E-4BC2-B903-8E577EE9A9CB}"/>
              </a:ext>
            </a:extLst>
          </p:cNvPr>
          <p:cNvSpPr>
            <a:spLocks noGrp="1"/>
          </p:cNvSpPr>
          <p:nvPr>
            <p:ph type="ftr" sz="quarter" idx="11"/>
          </p:nvPr>
        </p:nvSpPr>
        <p:spPr/>
        <p:txBody>
          <a:bodyPr/>
          <a:lstStyle/>
          <a:p>
            <a:r>
              <a:rPr lang="en-US"/>
              <a:t>Confidential</a:t>
            </a:r>
          </a:p>
        </p:txBody>
      </p:sp>
      <p:sp>
        <p:nvSpPr>
          <p:cNvPr id="9" name="Slide Number Placeholder 8">
            <a:extLst>
              <a:ext uri="{FF2B5EF4-FFF2-40B4-BE49-F238E27FC236}">
                <a16:creationId xmlns:a16="http://schemas.microsoft.com/office/drawing/2014/main" id="{20CA9210-8AFB-4D59-BF25-4EFD379E7791}"/>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812281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B0A4E-7214-4395-B4A9-683862A179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1BA23A-F6DD-474E-874D-71837CECE2D0}"/>
              </a:ext>
            </a:extLst>
          </p:cNvPr>
          <p:cNvSpPr>
            <a:spLocks noGrp="1"/>
          </p:cNvSpPr>
          <p:nvPr>
            <p:ph type="dt" sz="half" idx="10"/>
          </p:nvPr>
        </p:nvSpPr>
        <p:spPr/>
        <p:txBody>
          <a:bodyPr/>
          <a:lstStyle/>
          <a:p>
            <a:fld id="{A407A63C-776B-4C75-811A-901240DE072E}" type="datetime1">
              <a:rPr lang="en-US" smtClean="0"/>
              <a:t>2/12/2026</a:t>
            </a:fld>
            <a:endParaRPr lang="en-US"/>
          </a:p>
        </p:txBody>
      </p:sp>
      <p:sp>
        <p:nvSpPr>
          <p:cNvPr id="4" name="Footer Placeholder 3">
            <a:extLst>
              <a:ext uri="{FF2B5EF4-FFF2-40B4-BE49-F238E27FC236}">
                <a16:creationId xmlns:a16="http://schemas.microsoft.com/office/drawing/2014/main" id="{168EEFDA-3E42-47C0-93DC-C1219B95B61A}"/>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2311EABA-4C8C-473F-B711-E494A05F4495}"/>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542098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E834C0-0139-4568-8744-EE8A5CE98791}"/>
              </a:ext>
            </a:extLst>
          </p:cNvPr>
          <p:cNvSpPr>
            <a:spLocks noGrp="1"/>
          </p:cNvSpPr>
          <p:nvPr>
            <p:ph type="dt" sz="half" idx="10"/>
          </p:nvPr>
        </p:nvSpPr>
        <p:spPr/>
        <p:txBody>
          <a:bodyPr/>
          <a:lstStyle/>
          <a:p>
            <a:fld id="{656B8578-255A-4EAB-AB9D-DF676188B002}" type="datetime1">
              <a:rPr lang="en-US" smtClean="0"/>
              <a:t>2/12/2026</a:t>
            </a:fld>
            <a:endParaRPr lang="en-US"/>
          </a:p>
        </p:txBody>
      </p:sp>
      <p:sp>
        <p:nvSpPr>
          <p:cNvPr id="3" name="Footer Placeholder 2">
            <a:extLst>
              <a:ext uri="{FF2B5EF4-FFF2-40B4-BE49-F238E27FC236}">
                <a16:creationId xmlns:a16="http://schemas.microsoft.com/office/drawing/2014/main" id="{ED01E73B-DCCE-4735-81B5-1825A15AD9DC}"/>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B049F196-8163-4B75-8CAC-61E1C785D81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471722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8E244-A061-4E80-BC9C-E6AB7DBD185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3C428FE-F029-409E-B569-681CD14E9DD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8A74DE-FA8C-4583-9E68-BF0214191D8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EE68F3A-DC58-4F1A-923E-357CDF901CEC}"/>
              </a:ext>
            </a:extLst>
          </p:cNvPr>
          <p:cNvSpPr>
            <a:spLocks noGrp="1"/>
          </p:cNvSpPr>
          <p:nvPr>
            <p:ph type="dt" sz="half" idx="10"/>
          </p:nvPr>
        </p:nvSpPr>
        <p:spPr/>
        <p:txBody>
          <a:bodyPr/>
          <a:lstStyle/>
          <a:p>
            <a:fld id="{ABAE85B3-C4AE-4BB1-B021-68841BA35016}" type="datetime1">
              <a:rPr lang="en-US" smtClean="0"/>
              <a:t>2/12/2026</a:t>
            </a:fld>
            <a:endParaRPr lang="en-US"/>
          </a:p>
        </p:txBody>
      </p:sp>
      <p:sp>
        <p:nvSpPr>
          <p:cNvPr id="6" name="Footer Placeholder 5">
            <a:extLst>
              <a:ext uri="{FF2B5EF4-FFF2-40B4-BE49-F238E27FC236}">
                <a16:creationId xmlns:a16="http://schemas.microsoft.com/office/drawing/2014/main" id="{12D46901-5A47-40C9-BF0C-854E9818E46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0FF1F09E-1A7A-4217-88C3-C6FCE58F00CF}"/>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700598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130C2-9AC3-40D2-82EA-7358BE3F3FC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ED3CFF1-6F5E-4EDE-9591-B88623C670E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8D14FF47-9845-4311-A900-C88BE6D7512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9FEED47-9E30-48B0-BD7D-5D140FE87D54}"/>
              </a:ext>
            </a:extLst>
          </p:cNvPr>
          <p:cNvSpPr>
            <a:spLocks noGrp="1"/>
          </p:cNvSpPr>
          <p:nvPr>
            <p:ph type="dt" sz="half" idx="10"/>
          </p:nvPr>
        </p:nvSpPr>
        <p:spPr/>
        <p:txBody>
          <a:bodyPr/>
          <a:lstStyle/>
          <a:p>
            <a:fld id="{8BEE9113-9AB1-4051-924D-DF3D9AA7B385}" type="datetime1">
              <a:rPr lang="en-US" smtClean="0"/>
              <a:t>2/12/2026</a:t>
            </a:fld>
            <a:endParaRPr lang="en-US"/>
          </a:p>
        </p:txBody>
      </p:sp>
      <p:sp>
        <p:nvSpPr>
          <p:cNvPr id="6" name="Footer Placeholder 5">
            <a:extLst>
              <a:ext uri="{FF2B5EF4-FFF2-40B4-BE49-F238E27FC236}">
                <a16:creationId xmlns:a16="http://schemas.microsoft.com/office/drawing/2014/main" id="{4DDE5465-F8EA-489B-B0CE-6D03E7A74ED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1EB23C1-C907-4F63-83FE-12326EA9ADA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661818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1A720-C411-4ED2-9590-91859DC253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AC8D4A-1E59-44F0-B9D5-55F4EF518A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2D2062-E7CF-4226-ABBC-7FAB80D53B72}"/>
              </a:ext>
            </a:extLst>
          </p:cNvPr>
          <p:cNvSpPr>
            <a:spLocks noGrp="1"/>
          </p:cNvSpPr>
          <p:nvPr>
            <p:ph type="dt" sz="half" idx="10"/>
          </p:nvPr>
        </p:nvSpPr>
        <p:spPr/>
        <p:txBody>
          <a:bodyPr/>
          <a:lstStyle/>
          <a:p>
            <a:fld id="{00EE5AC6-156C-4CB5-BA0A-41EEB99F2C31}" type="datetime1">
              <a:rPr lang="en-US" smtClean="0"/>
              <a:t>2/12/2026</a:t>
            </a:fld>
            <a:endParaRPr lang="en-US"/>
          </a:p>
        </p:txBody>
      </p:sp>
      <p:sp>
        <p:nvSpPr>
          <p:cNvPr id="5" name="Footer Placeholder 4">
            <a:extLst>
              <a:ext uri="{FF2B5EF4-FFF2-40B4-BE49-F238E27FC236}">
                <a16:creationId xmlns:a16="http://schemas.microsoft.com/office/drawing/2014/main" id="{2FDE2C07-11CD-4FCA-9EF9-DBCB439607F9}"/>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57EF8289-ACCF-49F8-B239-9BC52C1BA58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943466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1DD16A-B6EA-4F1C-B1D6-276E8C388D64}"/>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D3C60F-2B01-4456-A9C9-E40F68052A8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3CACA6-C1E6-45CC-987A-36AA89D2CB9A}"/>
              </a:ext>
            </a:extLst>
          </p:cNvPr>
          <p:cNvSpPr>
            <a:spLocks noGrp="1"/>
          </p:cNvSpPr>
          <p:nvPr>
            <p:ph type="dt" sz="half" idx="10"/>
          </p:nvPr>
        </p:nvSpPr>
        <p:spPr/>
        <p:txBody>
          <a:bodyPr/>
          <a:lstStyle/>
          <a:p>
            <a:fld id="{EC721CCD-7326-4A57-A1EF-8B0B37DF77B7}" type="datetime1">
              <a:rPr lang="en-US" smtClean="0"/>
              <a:t>2/12/2026</a:t>
            </a:fld>
            <a:endParaRPr lang="en-US"/>
          </a:p>
        </p:txBody>
      </p:sp>
      <p:sp>
        <p:nvSpPr>
          <p:cNvPr id="5" name="Footer Placeholder 4">
            <a:extLst>
              <a:ext uri="{FF2B5EF4-FFF2-40B4-BE49-F238E27FC236}">
                <a16:creationId xmlns:a16="http://schemas.microsoft.com/office/drawing/2014/main" id="{55DBCBA4-F9B0-4FFA-8023-E056B2BF9DB4}"/>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3991EB5-9BD0-4358-9027-51E6836959E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514456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EBC77-63D1-42E8-A976-F7270279F9E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A64DF2-E1A1-406E-AEE5-0CF1A3C73FD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3C1D8-9EE9-42E3-A226-76CF87AC6E6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974C46C-9D8A-450F-A7A1-8B8352E02805}" type="datetime1">
              <a:rPr lang="en-US" smtClean="0"/>
              <a:t>2/12/2026</a:t>
            </a:fld>
            <a:endParaRPr lang="en-US"/>
          </a:p>
        </p:txBody>
      </p:sp>
      <p:sp>
        <p:nvSpPr>
          <p:cNvPr id="5" name="Footer Placeholder 4">
            <a:extLst>
              <a:ext uri="{FF2B5EF4-FFF2-40B4-BE49-F238E27FC236}">
                <a16:creationId xmlns:a16="http://schemas.microsoft.com/office/drawing/2014/main" id="{6386C20A-ED86-43E7-BD47-C0407000FDC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Confidential</a:t>
            </a:r>
          </a:p>
        </p:txBody>
      </p:sp>
      <p:sp>
        <p:nvSpPr>
          <p:cNvPr id="6" name="Slide Number Placeholder 5">
            <a:extLst>
              <a:ext uri="{FF2B5EF4-FFF2-40B4-BE49-F238E27FC236}">
                <a16:creationId xmlns:a16="http://schemas.microsoft.com/office/drawing/2014/main" id="{27EB9E82-8B6D-4553-B4F9-228C6E8BF23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AB8DC1C-CF51-4F7D-8E83-F954D2933D5A}" type="slidenum">
              <a:rPr lang="en-US" smtClean="0"/>
              <a:t>‹#›</a:t>
            </a:fld>
            <a:endParaRPr lang="en-US"/>
          </a:p>
        </p:txBody>
      </p:sp>
    </p:spTree>
    <p:extLst>
      <p:ext uri="{BB962C8B-B14F-4D97-AF65-F5344CB8AC3E}">
        <p14:creationId xmlns:p14="http://schemas.microsoft.com/office/powerpoint/2010/main" val="16802740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forms.office.com/pages/responsepage.aspx?id=T6K77SXNo0mdIjlh9IETZUN0kvHA8HFNo0tdrlKFz0xUOFdPVVRSNENXOVdUQkpPVDQyS1hXNkkxTi4u"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C7B6FBA-F151-E76D-4B3E-A2520415B491}"/>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34A9F1A5-508A-1696-8382-59243AB1330E}"/>
              </a:ext>
            </a:extLst>
          </p:cNvPr>
          <p:cNvSpPr>
            <a:spLocks noGrp="1"/>
          </p:cNvSpPr>
          <p:nvPr>
            <p:ph type="sldNum" sz="quarter" idx="12"/>
          </p:nvPr>
        </p:nvSpPr>
        <p:spPr/>
        <p:txBody>
          <a:bodyPr/>
          <a:lstStyle/>
          <a:p>
            <a:fld id="{AAB8DC1C-CF51-4F7D-8E83-F954D2933D5A}" type="slidenum">
              <a:rPr lang="en-US" smtClean="0"/>
              <a:t>1</a:t>
            </a:fld>
            <a:endParaRPr lang="en-US"/>
          </a:p>
        </p:txBody>
      </p:sp>
      <p:pic>
        <p:nvPicPr>
          <p:cNvPr id="6" name="Picture 2" descr="ClearOne Advantage">
            <a:extLst>
              <a:ext uri="{FF2B5EF4-FFF2-40B4-BE49-F238E27FC236}">
                <a16:creationId xmlns:a16="http://schemas.microsoft.com/office/drawing/2014/main" id="{2221581A-F7A1-33B0-BD7F-0DA68A1344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4356" y="1282920"/>
            <a:ext cx="4785415" cy="133991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F732C46-6BCC-929C-135A-FF1C217BA2C3}"/>
              </a:ext>
            </a:extLst>
          </p:cNvPr>
          <p:cNvSpPr txBox="1"/>
          <p:nvPr/>
        </p:nvSpPr>
        <p:spPr>
          <a:xfrm>
            <a:off x="891251" y="2993107"/>
            <a:ext cx="8171726" cy="600164"/>
          </a:xfrm>
          <a:prstGeom prst="rect">
            <a:avLst/>
          </a:prstGeom>
          <a:noFill/>
        </p:spPr>
        <p:txBody>
          <a:bodyPr wrap="square">
            <a:spAutoFit/>
          </a:bodyPr>
          <a:lstStyle/>
          <a:p>
            <a:pPr algn="ctr"/>
            <a:r>
              <a:rPr lang="en-US" sz="3300" b="0" i="0" u="none" strike="noStrike" dirty="0">
                <a:solidFill>
                  <a:srgbClr val="000000"/>
                </a:solidFill>
                <a:effectLst/>
                <a:latin typeface="Calibri" panose="020F0502020204030204" pitchFamily="34" charset="0"/>
              </a:rPr>
              <a:t>Graduation Email QRG</a:t>
            </a:r>
            <a:endParaRPr lang="en-US" sz="3300" dirty="0"/>
          </a:p>
        </p:txBody>
      </p:sp>
      <p:sp>
        <p:nvSpPr>
          <p:cNvPr id="9" name="TextBox 8">
            <a:extLst>
              <a:ext uri="{FF2B5EF4-FFF2-40B4-BE49-F238E27FC236}">
                <a16:creationId xmlns:a16="http://schemas.microsoft.com/office/drawing/2014/main" id="{7FE1A9F2-15EE-A46E-9F11-7856120DBA28}"/>
              </a:ext>
            </a:extLst>
          </p:cNvPr>
          <p:cNvSpPr txBox="1"/>
          <p:nvPr/>
        </p:nvSpPr>
        <p:spPr>
          <a:xfrm>
            <a:off x="185194" y="6356351"/>
            <a:ext cx="2189161" cy="461665"/>
          </a:xfrm>
          <a:prstGeom prst="rect">
            <a:avLst/>
          </a:prstGeom>
          <a:noFill/>
        </p:spPr>
        <p:txBody>
          <a:bodyPr wrap="square" rtlCol="0">
            <a:spAutoFit/>
          </a:bodyPr>
          <a:lstStyle/>
          <a:p>
            <a:r>
              <a:rPr lang="en-US" sz="1200" dirty="0"/>
              <a:t>Last Edit 3/20/2025 By: Samantha Shumaker</a:t>
            </a:r>
          </a:p>
        </p:txBody>
      </p:sp>
      <p:pic>
        <p:nvPicPr>
          <p:cNvPr id="10" name="Picture 2" descr="ClearOne Advantage">
            <a:extLst>
              <a:ext uri="{FF2B5EF4-FFF2-40B4-BE49-F238E27FC236}">
                <a16:creationId xmlns:a16="http://schemas.microsoft.com/office/drawing/2014/main" id="{C61A297B-6928-AA93-0864-4FCBF819A3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9263" y="6350153"/>
            <a:ext cx="1395194" cy="39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964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dirty="0">
                <a:latin typeface="Arial"/>
                <a:cs typeface="Arial"/>
              </a:rPr>
              <a:t>Graduation Email QRG</a:t>
            </a:r>
          </a:p>
        </p:txBody>
      </p:sp>
      <p:sp>
        <p:nvSpPr>
          <p:cNvPr id="3" name="Footer Placeholder 2"/>
          <p:cNvSpPr>
            <a:spLocks noGrp="1"/>
          </p:cNvSpPr>
          <p:nvPr>
            <p:ph type="ftr" sz="quarter" idx="11"/>
          </p:nvPr>
        </p:nvSpPr>
        <p:spPr>
          <a:xfrm>
            <a:off x="-1008021" y="6473797"/>
            <a:ext cx="3086100" cy="365125"/>
          </a:xfrm>
        </p:spPr>
        <p:txBody>
          <a:bodyPr/>
          <a:lstStyle/>
          <a:p>
            <a:r>
              <a:rPr lang="en-US"/>
              <a:t>Confidential</a:t>
            </a:r>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9263" y="6350153"/>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F11AE6F-460E-A2DF-6249-409178441A28}"/>
              </a:ext>
            </a:extLst>
          </p:cNvPr>
          <p:cNvSpPr txBox="1"/>
          <p:nvPr/>
        </p:nvSpPr>
        <p:spPr>
          <a:xfrm>
            <a:off x="5660020" y="722412"/>
            <a:ext cx="3259337" cy="646331"/>
          </a:xfrm>
          <a:prstGeom prst="rect">
            <a:avLst/>
          </a:prstGeom>
          <a:noFill/>
        </p:spPr>
        <p:txBody>
          <a:bodyPr wrap="square" lIns="91440" tIns="45720" rIns="91440" bIns="45720" rtlCol="0" anchor="t">
            <a:spAutoFit/>
          </a:bodyPr>
          <a:lstStyle/>
          <a:p>
            <a:endParaRPr lang="en-US" dirty="0">
              <a:ea typeface="Calibri"/>
              <a:cs typeface="Calibri"/>
            </a:endParaRPr>
          </a:p>
          <a:p>
            <a:r>
              <a:rPr lang="en-US" dirty="0"/>
              <a:t> </a:t>
            </a:r>
          </a:p>
        </p:txBody>
      </p:sp>
      <p:sp>
        <p:nvSpPr>
          <p:cNvPr id="5" name="TextBox 4">
            <a:extLst>
              <a:ext uri="{FF2B5EF4-FFF2-40B4-BE49-F238E27FC236}">
                <a16:creationId xmlns:a16="http://schemas.microsoft.com/office/drawing/2014/main" id="{07970713-5952-675E-D10C-C29BAACD566D}"/>
              </a:ext>
            </a:extLst>
          </p:cNvPr>
          <p:cNvSpPr txBox="1"/>
          <p:nvPr/>
        </p:nvSpPr>
        <p:spPr>
          <a:xfrm>
            <a:off x="324091" y="902825"/>
            <a:ext cx="8700366" cy="3799438"/>
          </a:xfrm>
          <a:prstGeom prst="rect">
            <a:avLst/>
          </a:prstGeom>
          <a:noFill/>
        </p:spPr>
        <p:txBody>
          <a:bodyPr wrap="square" rtlCol="0">
            <a:spAutoFit/>
          </a:bodyPr>
          <a:lstStyle/>
          <a:p>
            <a:pPr algn="l" rtl="0" fontAlgn="base">
              <a:lnSpc>
                <a:spcPts val="1200"/>
              </a:lnSpc>
              <a:buNone/>
            </a:pPr>
            <a:r>
              <a:rPr lang="en-US" sz="1400" b="0" i="0" dirty="0">
                <a:solidFill>
                  <a:srgbClr val="000000"/>
                </a:solidFill>
                <a:effectLst/>
                <a:latin typeface="Calibri" panose="020F0502020204030204" pitchFamily="34" charset="0"/>
              </a:rPr>
              <a:t>​</a:t>
            </a:r>
            <a:r>
              <a:rPr lang="en-US" sz="1400" b="1" i="0" u="none" strike="noStrike" dirty="0">
                <a:solidFill>
                  <a:srgbClr val="000000"/>
                </a:solidFill>
                <a:effectLst/>
                <a:latin typeface="Calibri" panose="020F0502020204030204" pitchFamily="34" charset="0"/>
              </a:rPr>
              <a:t>Purpose:</a:t>
            </a:r>
            <a:r>
              <a:rPr lang="en-US" sz="1400" b="0" i="0" dirty="0">
                <a:solidFill>
                  <a:srgbClr val="000000"/>
                </a:solidFill>
                <a:effectLst/>
                <a:latin typeface="Calibri" panose="020F0502020204030204" pitchFamily="34" charset="0"/>
              </a:rPr>
              <a:t>​</a:t>
            </a:r>
            <a:br>
              <a:rPr lang="en-US" sz="1400" b="0" i="0" dirty="0">
                <a:solidFill>
                  <a:srgbClr val="000000"/>
                </a:solidFill>
                <a:effectLst/>
                <a:latin typeface="Calibri" panose="020F0502020204030204" pitchFamily="34" charset="0"/>
              </a:rPr>
            </a:br>
            <a:r>
              <a:rPr lang="en-US" sz="1400" b="0" i="0" u="none" strike="noStrike" dirty="0">
                <a:solidFill>
                  <a:srgbClr val="000000"/>
                </a:solidFill>
                <a:effectLst/>
                <a:latin typeface="Calibri" panose="020F0502020204030204" pitchFamily="34" charset="0"/>
              </a:rPr>
              <a:t>This guide outlines the process for sending the Graduation Email to OLD/LUSA clients who have successfully completed their loan program, ensuring they are informed that all fees and settlement arrangements have been paid.</a:t>
            </a: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050"/>
              </a:lnSpc>
              <a:buNone/>
            </a:pP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575"/>
              </a:lnSpc>
              <a:buNone/>
            </a:pPr>
            <a:r>
              <a:rPr lang="en-US" sz="1400" b="1" i="0" u="none" strike="noStrike" dirty="0">
                <a:solidFill>
                  <a:srgbClr val="000000"/>
                </a:solidFill>
                <a:effectLst/>
                <a:latin typeface="Calibri" panose="020F0502020204030204" pitchFamily="34" charset="0"/>
              </a:rPr>
              <a:t>Key Details:</a:t>
            </a: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200"/>
              </a:lnSpc>
              <a:buNone/>
            </a:pPr>
            <a:r>
              <a:rPr lang="en-US" sz="1400" b="1" i="0" u="none" strike="noStrike" dirty="0">
                <a:solidFill>
                  <a:srgbClr val="000000"/>
                </a:solidFill>
                <a:effectLst/>
                <a:latin typeface="Calibri" panose="020F0502020204030204" pitchFamily="34" charset="0"/>
              </a:rPr>
              <a:t>Recipients:</a:t>
            </a:r>
            <a:r>
              <a:rPr lang="en-US" sz="1400" b="0" i="0" u="none" strike="noStrike" dirty="0">
                <a:solidFill>
                  <a:srgbClr val="000000"/>
                </a:solidFill>
                <a:effectLst/>
                <a:latin typeface="Calibri" panose="020F0502020204030204" pitchFamily="34" charset="0"/>
              </a:rPr>
              <a:t> OLD/LUSA clients only</a:t>
            </a: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200"/>
              </a:lnSpc>
              <a:buNone/>
            </a:pPr>
            <a:r>
              <a:rPr lang="en-US" sz="1400" b="1" i="0" u="none" strike="noStrike" dirty="0">
                <a:solidFill>
                  <a:srgbClr val="000000"/>
                </a:solidFill>
                <a:effectLst/>
                <a:latin typeface="Calibri" panose="020F0502020204030204" pitchFamily="34" charset="0"/>
              </a:rPr>
              <a:t>Trigger:</a:t>
            </a:r>
            <a:r>
              <a:rPr lang="en-US" sz="1400" b="0" i="0" u="none" strike="noStrike" dirty="0">
                <a:solidFill>
                  <a:srgbClr val="000000"/>
                </a:solidFill>
                <a:effectLst/>
                <a:latin typeface="Calibri" panose="020F0502020204030204" pitchFamily="34" charset="0"/>
              </a:rPr>
              <a:t> Sent once the sub-graduation checklist is complete and GH balance = 0</a:t>
            </a: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200"/>
              </a:lnSpc>
              <a:buNone/>
            </a:pPr>
            <a:r>
              <a:rPr lang="en-US" sz="1400" b="1" i="0" u="none" strike="noStrike" dirty="0">
                <a:solidFill>
                  <a:srgbClr val="000000"/>
                </a:solidFill>
                <a:effectLst/>
                <a:latin typeface="Calibri" panose="020F0502020204030204" pitchFamily="34" charset="0"/>
              </a:rPr>
              <a:t>Communication Type:</a:t>
            </a:r>
            <a:r>
              <a:rPr lang="en-US" sz="1400" b="0" i="0" u="none" strike="noStrike" dirty="0">
                <a:solidFill>
                  <a:srgbClr val="000000"/>
                </a:solidFill>
                <a:effectLst/>
                <a:latin typeface="Calibri" panose="020F0502020204030204" pitchFamily="34" charset="0"/>
              </a:rPr>
              <a:t> Email only (no graduation packet)</a:t>
            </a: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200"/>
              </a:lnSpc>
              <a:buNone/>
            </a:pPr>
            <a:r>
              <a:rPr lang="en-US" sz="1400" b="1" i="0" u="none" strike="noStrike" dirty="0">
                <a:solidFill>
                  <a:srgbClr val="000000"/>
                </a:solidFill>
                <a:effectLst/>
                <a:latin typeface="Calibri" panose="020F0502020204030204" pitchFamily="34" charset="0"/>
              </a:rPr>
              <a:t>No CS Action Required:</a:t>
            </a:r>
            <a:r>
              <a:rPr lang="en-US" sz="1400" b="0" i="0" u="none" strike="noStrike" dirty="0">
                <a:solidFill>
                  <a:srgbClr val="000000"/>
                </a:solidFill>
                <a:effectLst/>
                <a:latin typeface="Calibri" panose="020F0502020204030204" pitchFamily="34" charset="0"/>
              </a:rPr>
              <a:t> This is purely informational for internal awareness</a:t>
            </a: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050"/>
              </a:lnSpc>
              <a:buNone/>
            </a:pP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575"/>
              </a:lnSpc>
              <a:buNone/>
            </a:pPr>
            <a:r>
              <a:rPr lang="en-US" sz="1400" b="1" i="0" u="none" strike="noStrike" dirty="0">
                <a:solidFill>
                  <a:srgbClr val="000000"/>
                </a:solidFill>
                <a:effectLst/>
                <a:latin typeface="Calibri" panose="020F0502020204030204" pitchFamily="34" charset="0"/>
              </a:rPr>
              <a:t>Process &amp; Timeline:</a:t>
            </a: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200"/>
              </a:lnSpc>
              <a:buNone/>
            </a:pPr>
            <a:r>
              <a:rPr lang="en-US" sz="1400" b="1" i="0" u="none" strike="noStrike" dirty="0">
                <a:solidFill>
                  <a:srgbClr val="000000"/>
                </a:solidFill>
                <a:effectLst/>
                <a:latin typeface="Calibri" panose="020F0502020204030204" pitchFamily="34" charset="0"/>
              </a:rPr>
              <a:t>Status Update:</a:t>
            </a:r>
            <a:r>
              <a:rPr lang="en-US" sz="1400" b="0" i="0" u="none" strike="noStrike" dirty="0">
                <a:solidFill>
                  <a:srgbClr val="000000"/>
                </a:solidFill>
                <a:effectLst/>
                <a:latin typeface="Calibri" panose="020F0502020204030204" pitchFamily="34" charset="0"/>
              </a:rPr>
              <a:t> When a client’s status is flipped to ‘Completed,’ this initiates the process.</a:t>
            </a: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200"/>
              </a:lnSpc>
              <a:buNone/>
            </a:pPr>
            <a:r>
              <a:rPr lang="en-US" sz="1400" b="1" i="0" u="none" strike="noStrike" dirty="0">
                <a:solidFill>
                  <a:srgbClr val="000000"/>
                </a:solidFill>
                <a:effectLst/>
                <a:latin typeface="Calibri" panose="020F0502020204030204" pitchFamily="34" charset="0"/>
              </a:rPr>
              <a:t>Verification:</a:t>
            </a:r>
            <a:r>
              <a:rPr lang="en-US" sz="1400" b="0" i="0" u="none" strike="noStrike" dirty="0">
                <a:solidFill>
                  <a:srgbClr val="000000"/>
                </a:solidFill>
                <a:effectLst/>
                <a:latin typeface="Calibri" panose="020F0502020204030204" pitchFamily="34" charset="0"/>
              </a:rPr>
              <a:t> Confirm that the sub-grad checklist is fully completed and GH balance = 0.</a:t>
            </a: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200"/>
              </a:lnSpc>
              <a:buNone/>
            </a:pPr>
            <a:r>
              <a:rPr lang="en-US" sz="1400" b="1" i="0" u="none" strike="noStrike" dirty="0">
                <a:solidFill>
                  <a:srgbClr val="000000"/>
                </a:solidFill>
                <a:effectLst/>
                <a:latin typeface="Calibri" panose="020F0502020204030204" pitchFamily="34" charset="0"/>
              </a:rPr>
              <a:t>Email Dispatch:</a:t>
            </a:r>
            <a:r>
              <a:rPr lang="en-US" sz="1400" b="0" i="0" u="none" strike="noStrike" dirty="0">
                <a:solidFill>
                  <a:srgbClr val="000000"/>
                </a:solidFill>
                <a:effectLst/>
                <a:latin typeface="Calibri" panose="020F0502020204030204" pitchFamily="34" charset="0"/>
              </a:rPr>
              <a:t> The Loan Grad team sends the graduation email within </a:t>
            </a:r>
            <a:r>
              <a:rPr lang="en-US" sz="1400" b="1" i="0" u="none" strike="noStrike" dirty="0">
                <a:solidFill>
                  <a:srgbClr val="000000"/>
                </a:solidFill>
                <a:effectLst/>
                <a:latin typeface="Calibri" panose="020F0502020204030204" pitchFamily="34" charset="0"/>
              </a:rPr>
              <a:t>one week</a:t>
            </a:r>
            <a:r>
              <a:rPr lang="en-US" sz="1400" b="0" i="0" u="none" strike="noStrike" dirty="0">
                <a:solidFill>
                  <a:srgbClr val="000000"/>
                </a:solidFill>
                <a:effectLst/>
                <a:latin typeface="Calibri" panose="020F0502020204030204" pitchFamily="34" charset="0"/>
              </a:rPr>
              <a:t> of the client’s status update.</a:t>
            </a: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200"/>
              </a:lnSpc>
              <a:buNone/>
            </a:pPr>
            <a:r>
              <a:rPr lang="en-US" sz="1400" b="1" i="0" u="none" strike="noStrike" dirty="0">
                <a:solidFill>
                  <a:srgbClr val="000000"/>
                </a:solidFill>
                <a:effectLst/>
                <a:latin typeface="Calibri" panose="020F0502020204030204" pitchFamily="34" charset="0"/>
              </a:rPr>
              <a:t>Attachment Inclusion:</a:t>
            </a:r>
            <a:r>
              <a:rPr lang="en-US" sz="1400" b="0" i="0" u="none" strike="noStrike" dirty="0">
                <a:solidFill>
                  <a:srgbClr val="000000"/>
                </a:solidFill>
                <a:effectLst/>
                <a:latin typeface="Calibri" panose="020F0502020204030204" pitchFamily="34" charset="0"/>
              </a:rPr>
              <a:t> An example email template will be attached to this QRG for reference.</a:t>
            </a: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200"/>
              </a:lnSpc>
              <a:buFont typeface="+mj-lt"/>
              <a:buAutoNum type="arabicPeriod"/>
            </a:pP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Arial" panose="020B0604020202020204" pitchFamily="34" charset="0"/>
            </a:endParaRPr>
          </a:p>
          <a:p>
            <a:pPr algn="l" rtl="0" fontAlgn="base">
              <a:lnSpc>
                <a:spcPts val="1050"/>
              </a:lnSpc>
              <a:buNone/>
            </a:pP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575"/>
              </a:lnSpc>
              <a:buNone/>
            </a:pPr>
            <a:r>
              <a:rPr lang="en-US" sz="1400" b="1" i="0" u="none" strike="noStrike" dirty="0">
                <a:solidFill>
                  <a:srgbClr val="000000"/>
                </a:solidFill>
                <a:effectLst/>
                <a:latin typeface="Calibri" panose="020F0502020204030204" pitchFamily="34" charset="0"/>
              </a:rPr>
              <a:t>Graduation Email Overview:</a:t>
            </a: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200"/>
              </a:lnSpc>
              <a:buNone/>
            </a:pPr>
            <a:r>
              <a:rPr lang="en-US" sz="1400" b="0" i="0" u="none" strike="noStrike" dirty="0">
                <a:solidFill>
                  <a:srgbClr val="000000"/>
                </a:solidFill>
                <a:effectLst/>
                <a:latin typeface="Calibri" panose="020F0502020204030204" pitchFamily="34" charset="0"/>
              </a:rPr>
              <a:t>Sent directly from the Loan Grad team</a:t>
            </a: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200"/>
              </a:lnSpc>
              <a:buNone/>
            </a:pPr>
            <a:r>
              <a:rPr lang="en-US" sz="1400" b="0" i="0" u="none" strike="noStrike" dirty="0">
                <a:solidFill>
                  <a:srgbClr val="000000"/>
                </a:solidFill>
                <a:effectLst/>
                <a:latin typeface="Calibri" panose="020F0502020204030204" pitchFamily="34" charset="0"/>
              </a:rPr>
              <a:t>Confirms successful graduation from the program</a:t>
            </a: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200"/>
              </a:lnSpc>
              <a:buNone/>
            </a:pPr>
            <a:r>
              <a:rPr lang="en-US" sz="1400" b="0" i="0" u="none" strike="noStrike" dirty="0">
                <a:solidFill>
                  <a:srgbClr val="000000"/>
                </a:solidFill>
                <a:effectLst/>
                <a:latin typeface="Calibri" panose="020F0502020204030204" pitchFamily="34" charset="0"/>
              </a:rPr>
              <a:t>Notifies the client that all fees/settlements have been fully paid</a:t>
            </a:r>
            <a:r>
              <a:rPr lang="en-US" sz="1400" b="0" i="0" dirty="0">
                <a:solidFill>
                  <a:srgbClr val="000000"/>
                </a:solidFill>
                <a:effectLst/>
                <a:latin typeface="Calibri" panose="020F0502020204030204" pitchFamily="34" charset="0"/>
              </a:rPr>
              <a:t>​</a:t>
            </a:r>
            <a:endParaRPr lang="en-US" sz="1400" b="0" i="0" dirty="0">
              <a:solidFill>
                <a:srgbClr val="000000"/>
              </a:solidFill>
              <a:effectLst/>
              <a:latin typeface="Segoe UI" panose="020B0502040204020203" pitchFamily="34" charset="0"/>
            </a:endParaRPr>
          </a:p>
          <a:p>
            <a:pPr algn="l" rtl="0" fontAlgn="base">
              <a:lnSpc>
                <a:spcPts val="1200"/>
              </a:lnSpc>
            </a:pPr>
            <a:r>
              <a:rPr lang="en-US" sz="1400" b="0" i="0" u="none" strike="noStrike" dirty="0">
                <a:solidFill>
                  <a:srgbClr val="000000"/>
                </a:solidFill>
                <a:effectLst/>
                <a:latin typeface="Calibri" panose="020F0502020204030204" pitchFamily="34" charset="0"/>
              </a:rPr>
              <a:t>No further action is required from the client</a:t>
            </a:r>
            <a:endParaRPr lang="en-US" sz="1400" b="0" i="0" dirty="0">
              <a:solidFill>
                <a:srgbClr val="000000"/>
              </a:solidFill>
              <a:effectLst/>
              <a:latin typeface="Segoe UI" panose="020B0502040204020203" pitchFamily="34" charset="0"/>
            </a:endParaRPr>
          </a:p>
          <a:p>
            <a:pPr algn="l" rtl="0" fontAlgn="base">
              <a:lnSpc>
                <a:spcPts val="1575"/>
              </a:lnSpc>
            </a:pPr>
            <a:endParaRPr lang="en-US"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2093827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4C743-B1E9-03E8-F8CD-234771A412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42EAC8-D5FA-1569-7C6F-F9DDBCE0894F}"/>
              </a:ext>
            </a:extLst>
          </p:cNvPr>
          <p:cNvSpPr>
            <a:spLocks noGrp="1"/>
          </p:cNvSpPr>
          <p:nvPr>
            <p:ph type="title"/>
          </p:nvPr>
        </p:nvSpPr>
        <p:spPr>
          <a:xfrm>
            <a:off x="64726" y="40522"/>
            <a:ext cx="8854631" cy="431654"/>
          </a:xfrm>
        </p:spPr>
        <p:txBody>
          <a:bodyPr>
            <a:normAutofit/>
          </a:bodyPr>
          <a:lstStyle/>
          <a:p>
            <a:r>
              <a:rPr lang="en-US" sz="2000" dirty="0">
                <a:latin typeface="Arial"/>
                <a:cs typeface="Arial"/>
              </a:rPr>
              <a:t>Example Email sent to COA Clients of OLD when loan is completed</a:t>
            </a:r>
          </a:p>
        </p:txBody>
      </p:sp>
      <p:sp>
        <p:nvSpPr>
          <p:cNvPr id="3" name="Footer Placeholder 2">
            <a:extLst>
              <a:ext uri="{FF2B5EF4-FFF2-40B4-BE49-F238E27FC236}">
                <a16:creationId xmlns:a16="http://schemas.microsoft.com/office/drawing/2014/main" id="{45983208-1261-902D-C45E-945F0A1D330D}"/>
              </a:ext>
            </a:extLst>
          </p:cNvPr>
          <p:cNvSpPr>
            <a:spLocks noGrp="1"/>
          </p:cNvSpPr>
          <p:nvPr>
            <p:ph type="ftr" sz="quarter" idx="11"/>
          </p:nvPr>
        </p:nvSpPr>
        <p:spPr>
          <a:xfrm>
            <a:off x="-1008021" y="6473797"/>
            <a:ext cx="3086100" cy="365125"/>
          </a:xfrm>
        </p:spPr>
        <p:txBody>
          <a:bodyPr/>
          <a:lstStyle/>
          <a:p>
            <a:r>
              <a:rPr lang="en-US"/>
              <a:t>Confidential</a:t>
            </a:r>
          </a:p>
        </p:txBody>
      </p:sp>
      <p:pic>
        <p:nvPicPr>
          <p:cNvPr id="4" name="Picture 2" descr="ClearOne Advantage">
            <a:extLst>
              <a:ext uri="{FF2B5EF4-FFF2-40B4-BE49-F238E27FC236}">
                <a16:creationId xmlns:a16="http://schemas.microsoft.com/office/drawing/2014/main" id="{EA8EC008-4479-3133-E6CC-6AA84C4E64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9263" y="6350153"/>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DE1D924-719B-BB75-B9CC-C78743AC0C1F}"/>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87B0B4E-136E-8247-3BAB-99193A304B38}"/>
              </a:ext>
            </a:extLst>
          </p:cNvPr>
          <p:cNvSpPr txBox="1"/>
          <p:nvPr/>
        </p:nvSpPr>
        <p:spPr>
          <a:xfrm>
            <a:off x="5660020" y="722412"/>
            <a:ext cx="3259337" cy="646331"/>
          </a:xfrm>
          <a:prstGeom prst="rect">
            <a:avLst/>
          </a:prstGeom>
          <a:noFill/>
        </p:spPr>
        <p:txBody>
          <a:bodyPr wrap="square" lIns="91440" tIns="45720" rIns="91440" bIns="45720" rtlCol="0" anchor="t">
            <a:spAutoFit/>
          </a:bodyPr>
          <a:lstStyle/>
          <a:p>
            <a:endParaRPr lang="en-US" dirty="0">
              <a:ea typeface="Calibri"/>
              <a:cs typeface="Calibri"/>
            </a:endParaRPr>
          </a:p>
          <a:p>
            <a:r>
              <a:rPr lang="en-US" dirty="0"/>
              <a:t> </a:t>
            </a:r>
          </a:p>
        </p:txBody>
      </p:sp>
      <p:sp>
        <p:nvSpPr>
          <p:cNvPr id="5" name="TextBox 4">
            <a:extLst>
              <a:ext uri="{FF2B5EF4-FFF2-40B4-BE49-F238E27FC236}">
                <a16:creationId xmlns:a16="http://schemas.microsoft.com/office/drawing/2014/main" id="{770DD443-7027-5832-08FA-3B2E1932357E}"/>
              </a:ext>
            </a:extLst>
          </p:cNvPr>
          <p:cNvSpPr txBox="1"/>
          <p:nvPr/>
        </p:nvSpPr>
        <p:spPr>
          <a:xfrm>
            <a:off x="64726" y="553566"/>
            <a:ext cx="8697309" cy="5539978"/>
          </a:xfrm>
          <a:prstGeom prst="rect">
            <a:avLst/>
          </a:prstGeom>
          <a:noFill/>
        </p:spPr>
        <p:txBody>
          <a:bodyPr wrap="square" rtlCol="0">
            <a:spAutoFit/>
          </a:bodyPr>
          <a:lstStyle/>
          <a:p>
            <a:pPr>
              <a:buNone/>
            </a:pPr>
            <a:r>
              <a:rPr lang="en-US" sz="1200" dirty="0">
                <a:effectLst/>
              </a:rPr>
              <a:t>We’re pleased to inform you of your official completion of our debt settlement program! Getting out of debt takes discipline and sacrifice and it’s a result of your efforts that you’ve been able to achieve this milestone.</a:t>
            </a:r>
          </a:p>
          <a:p>
            <a:pPr>
              <a:buNone/>
            </a:pPr>
            <a:r>
              <a:rPr lang="en-US" sz="1200" dirty="0">
                <a:effectLst/>
              </a:rPr>
              <a:t> </a:t>
            </a:r>
          </a:p>
          <a:p>
            <a:pPr>
              <a:buNone/>
            </a:pPr>
            <a:r>
              <a:rPr lang="en-US" sz="1200" dirty="0">
                <a:effectLst/>
              </a:rPr>
              <a:t>As of today, you have completed all payments to your creditors as required by the agreed upon settlements. Additionally, you have paid all the fees owed to Alperstein &amp; Associates for the arrangement of the settlements.</a:t>
            </a:r>
          </a:p>
          <a:p>
            <a:pPr>
              <a:buNone/>
            </a:pPr>
            <a:r>
              <a:rPr lang="en-US" sz="1200" dirty="0">
                <a:effectLst/>
              </a:rPr>
              <a:t> </a:t>
            </a:r>
          </a:p>
          <a:p>
            <a:pPr>
              <a:buNone/>
            </a:pPr>
            <a:r>
              <a:rPr lang="en-US" sz="1200" dirty="0">
                <a:effectLst/>
              </a:rPr>
              <a:t>The amount of {Amount} was sent back to {Lender} on {Date} and your account with both ClearOne Advantage and Global Holdings will be closed.</a:t>
            </a:r>
          </a:p>
          <a:p>
            <a:pPr>
              <a:buNone/>
            </a:pPr>
            <a:r>
              <a:rPr lang="en-US" sz="1200" dirty="0">
                <a:effectLst/>
              </a:rPr>
              <a:t> </a:t>
            </a:r>
          </a:p>
          <a:p>
            <a:pPr>
              <a:buNone/>
            </a:pPr>
            <a:r>
              <a:rPr lang="en-US" sz="1200" dirty="0">
                <a:effectLst/>
              </a:rPr>
              <a:t>We’d like to thank you for allowing us the opportunity to partner with you and guide you through this financial hardship. We know you put a lot of trust in us and that is not something we take lightly.</a:t>
            </a:r>
          </a:p>
          <a:p>
            <a:pPr>
              <a:buNone/>
            </a:pPr>
            <a:r>
              <a:rPr lang="en-US" sz="1200" dirty="0">
                <a:effectLst/>
              </a:rPr>
              <a:t> </a:t>
            </a:r>
          </a:p>
          <a:p>
            <a:pPr>
              <a:buNone/>
            </a:pPr>
            <a:r>
              <a:rPr lang="en-US" sz="1200" dirty="0">
                <a:effectLst/>
              </a:rPr>
              <a:t>With that said, we’d love to hear your thoughts on your experience in our program! Please click the following link that will take you to a short 5 question survey.</a:t>
            </a:r>
            <a:br>
              <a:rPr lang="en-US" sz="1200" dirty="0">
                <a:effectLst/>
              </a:rPr>
            </a:br>
            <a:r>
              <a:rPr lang="en-US" sz="1200" dirty="0">
                <a:effectLst/>
                <a:hlinkClick r:id="rId4" tooltip="https://forms.office.com/pages/responsepage.aspx?id=t6k77sxno0mdijlh9ietzun0kvha8hfno0tdrlkfz0xuofdpvvrsnenxovduqkppvdqys1hxnkkxti4u"/>
              </a:rPr>
              <a:t>https://forms.office.com/pages/responsepage.aspx?id=T6K77SXNo0mdIjlh9IETZUN0kvHA8HFNo0tdrlKFz0xUOFdPVVRSNENXOVdUQkpPVDQyS1hXNkkxTi4u</a:t>
            </a:r>
            <a:endParaRPr lang="en-US" sz="1200" dirty="0">
              <a:effectLst/>
            </a:endParaRPr>
          </a:p>
          <a:p>
            <a:pPr>
              <a:buNone/>
            </a:pPr>
            <a:r>
              <a:rPr lang="en-US" sz="1200" dirty="0">
                <a:effectLst/>
              </a:rPr>
              <a:t> </a:t>
            </a:r>
          </a:p>
          <a:p>
            <a:pPr>
              <a:buNone/>
            </a:pPr>
            <a:r>
              <a:rPr lang="en-US" sz="1200" dirty="0">
                <a:effectLst/>
              </a:rPr>
              <a:t>We’re all celebrating with you and extend our best wishes on this new chapter and sincere congratulations!</a:t>
            </a:r>
          </a:p>
          <a:p>
            <a:pPr>
              <a:buNone/>
            </a:pPr>
            <a:r>
              <a:rPr lang="en-US" sz="1200" dirty="0">
                <a:effectLst/>
              </a:rPr>
              <a:t> </a:t>
            </a:r>
          </a:p>
          <a:p>
            <a:pPr>
              <a:buNone/>
            </a:pPr>
            <a:r>
              <a:rPr lang="en-US" sz="1200" dirty="0">
                <a:effectLst/>
              </a:rPr>
              <a:t>For any information regarding your loan balances or payments please contact {Lender} at {Phone Number}.</a:t>
            </a:r>
          </a:p>
          <a:p>
            <a:pPr>
              <a:buNone/>
            </a:pPr>
            <a:r>
              <a:rPr lang="en-US" sz="1200" dirty="0">
                <a:effectLst/>
              </a:rPr>
              <a:t> </a:t>
            </a:r>
          </a:p>
          <a:p>
            <a:pPr>
              <a:buNone/>
            </a:pPr>
            <a:r>
              <a:rPr lang="en-US" sz="1200" dirty="0">
                <a:effectLst/>
              </a:rPr>
              <a:t>Thank you for your time and let us know if there is anything else we can do for you.</a:t>
            </a:r>
          </a:p>
          <a:p>
            <a:pPr>
              <a:buNone/>
            </a:pPr>
            <a:r>
              <a:rPr lang="en-US" sz="1200" dirty="0">
                <a:effectLst/>
              </a:rPr>
              <a:t> </a:t>
            </a:r>
          </a:p>
          <a:p>
            <a:r>
              <a:rPr lang="en-US" sz="1200" dirty="0">
                <a:effectLst/>
              </a:rPr>
              <a:t>Sincerely,</a:t>
            </a:r>
            <a:br>
              <a:rPr lang="en-US" sz="1200" dirty="0">
                <a:effectLst/>
              </a:rPr>
            </a:br>
            <a:r>
              <a:rPr lang="en-US" sz="1200" dirty="0">
                <a:effectLst/>
              </a:rPr>
              <a:t>{</a:t>
            </a:r>
            <a:r>
              <a:rPr lang="en-US" sz="1200" dirty="0" err="1">
                <a:effectLst/>
              </a:rPr>
              <a:t>Agent_Name</a:t>
            </a:r>
            <a:r>
              <a:rPr lang="en-US" sz="1200" dirty="0">
                <a:effectLst/>
              </a:rPr>
              <a:t>}</a:t>
            </a:r>
            <a:br>
              <a:rPr lang="en-US" sz="1200" dirty="0">
                <a:effectLst/>
              </a:rPr>
            </a:br>
            <a:r>
              <a:rPr lang="en-US" sz="1200" dirty="0">
                <a:effectLst/>
              </a:rPr>
              <a:t>Graduation Management</a:t>
            </a:r>
            <a:br>
              <a:rPr lang="en-US" sz="1200" dirty="0">
                <a:effectLst/>
              </a:rPr>
            </a:br>
            <a:r>
              <a:rPr lang="en-US" sz="1200" dirty="0">
                <a:effectLst/>
              </a:rPr>
              <a:t>ClearOne Advantage</a:t>
            </a:r>
            <a:br>
              <a:rPr lang="en-US" sz="1200" dirty="0">
                <a:effectLst/>
              </a:rPr>
            </a:br>
            <a:r>
              <a:rPr lang="en-US" sz="1200" dirty="0">
                <a:effectLst/>
              </a:rPr>
              <a:t>Click to Chat</a:t>
            </a:r>
          </a:p>
          <a:p>
            <a:endParaRPr lang="en-US" dirty="0"/>
          </a:p>
        </p:txBody>
      </p:sp>
    </p:spTree>
    <p:extLst>
      <p:ext uri="{BB962C8B-B14F-4D97-AF65-F5344CB8AC3E}">
        <p14:creationId xmlns:p14="http://schemas.microsoft.com/office/powerpoint/2010/main" val="2260963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E3660-8755-9B1F-48D9-C2364248A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005F7-FEB5-F063-8681-6F4BE2FB363A}"/>
              </a:ext>
            </a:extLst>
          </p:cNvPr>
          <p:cNvSpPr>
            <a:spLocks noGrp="1"/>
          </p:cNvSpPr>
          <p:nvPr>
            <p:ph type="title"/>
          </p:nvPr>
        </p:nvSpPr>
        <p:spPr>
          <a:xfrm>
            <a:off x="64726" y="40522"/>
            <a:ext cx="8854631" cy="431654"/>
          </a:xfrm>
        </p:spPr>
        <p:txBody>
          <a:bodyPr>
            <a:normAutofit/>
          </a:bodyPr>
          <a:lstStyle/>
          <a:p>
            <a:r>
              <a:rPr lang="en-US" sz="2000" dirty="0">
                <a:latin typeface="Arial"/>
                <a:cs typeface="Arial"/>
              </a:rPr>
              <a:t>Graduation Email- Additional Information</a:t>
            </a:r>
          </a:p>
        </p:txBody>
      </p:sp>
      <p:sp>
        <p:nvSpPr>
          <p:cNvPr id="3" name="Footer Placeholder 2">
            <a:extLst>
              <a:ext uri="{FF2B5EF4-FFF2-40B4-BE49-F238E27FC236}">
                <a16:creationId xmlns:a16="http://schemas.microsoft.com/office/drawing/2014/main" id="{9293A852-CF7E-C544-F282-492B05BE8E08}"/>
              </a:ext>
            </a:extLst>
          </p:cNvPr>
          <p:cNvSpPr>
            <a:spLocks noGrp="1"/>
          </p:cNvSpPr>
          <p:nvPr>
            <p:ph type="ftr" sz="quarter" idx="11"/>
          </p:nvPr>
        </p:nvSpPr>
        <p:spPr>
          <a:xfrm>
            <a:off x="-1008021" y="6473797"/>
            <a:ext cx="3086100" cy="365125"/>
          </a:xfrm>
        </p:spPr>
        <p:txBody>
          <a:bodyPr/>
          <a:lstStyle/>
          <a:p>
            <a:r>
              <a:rPr lang="en-US"/>
              <a:t>Confidential</a:t>
            </a:r>
          </a:p>
        </p:txBody>
      </p:sp>
      <p:pic>
        <p:nvPicPr>
          <p:cNvPr id="4" name="Picture 2" descr="ClearOne Advantage">
            <a:extLst>
              <a:ext uri="{FF2B5EF4-FFF2-40B4-BE49-F238E27FC236}">
                <a16:creationId xmlns:a16="http://schemas.microsoft.com/office/drawing/2014/main" id="{D04CCFF7-5B02-E9B1-B04E-8264BB8330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9263" y="6350153"/>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91DE5D82-B429-C21E-B0D5-D2DA45893F4B}"/>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3374FB9-5725-5024-8B7C-A5D0A07F6A70}"/>
              </a:ext>
            </a:extLst>
          </p:cNvPr>
          <p:cNvSpPr txBox="1"/>
          <p:nvPr/>
        </p:nvSpPr>
        <p:spPr>
          <a:xfrm>
            <a:off x="5660020" y="722412"/>
            <a:ext cx="3259337" cy="646331"/>
          </a:xfrm>
          <a:prstGeom prst="rect">
            <a:avLst/>
          </a:prstGeom>
          <a:noFill/>
        </p:spPr>
        <p:txBody>
          <a:bodyPr wrap="square" lIns="91440" tIns="45720" rIns="91440" bIns="45720" rtlCol="0" anchor="t">
            <a:spAutoFit/>
          </a:bodyPr>
          <a:lstStyle/>
          <a:p>
            <a:endParaRPr lang="en-US" dirty="0">
              <a:ea typeface="Calibri"/>
              <a:cs typeface="Calibri"/>
            </a:endParaRPr>
          </a:p>
          <a:p>
            <a:r>
              <a:rPr lang="en-US" dirty="0"/>
              <a:t> </a:t>
            </a:r>
          </a:p>
        </p:txBody>
      </p:sp>
      <p:sp>
        <p:nvSpPr>
          <p:cNvPr id="5" name="TextBox 13">
            <a:extLst>
              <a:ext uri="{FF2B5EF4-FFF2-40B4-BE49-F238E27FC236}">
                <a16:creationId xmlns:a16="http://schemas.microsoft.com/office/drawing/2014/main" id="{FE0AB110-7085-FE1F-CCCC-EB5853AAC195}"/>
              </a:ext>
            </a:extLst>
          </p:cNvPr>
          <p:cNvSpPr txBox="1"/>
          <p:nvPr/>
        </p:nvSpPr>
        <p:spPr>
          <a:xfrm>
            <a:off x="243597" y="551289"/>
            <a:ext cx="8656807" cy="5324535"/>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None/>
            </a:pPr>
            <a:r>
              <a:rPr lang="en-US" sz="1400" b="1" dirty="0"/>
              <a:t>Credit Report Program (FCR) &amp; Law Firm Partnership:</a:t>
            </a:r>
            <a:endParaRPr lang="en-US" sz="1400" b="1" dirty="0">
              <a:ea typeface="Calibri"/>
              <a:cs typeface="Calibri"/>
            </a:endParaRPr>
          </a:p>
          <a:p>
            <a:r>
              <a:rPr lang="en-US" sz="1400" dirty="0"/>
              <a:t>The Grad Team also sends emails for clients eligible for a Credit Report Program (FCR), which applies to both COA/ALP clients who qualify.</a:t>
            </a:r>
            <a:endParaRPr lang="en-US" sz="1400" dirty="0">
              <a:ea typeface="Calibri"/>
              <a:cs typeface="Calibri"/>
            </a:endParaRPr>
          </a:p>
          <a:p>
            <a:endParaRPr lang="en-US" sz="1400" dirty="0">
              <a:ea typeface="Calibri"/>
              <a:cs typeface="Calibri"/>
            </a:endParaRPr>
          </a:p>
          <a:p>
            <a:r>
              <a:rPr lang="en-US" sz="1400" dirty="0"/>
              <a:t>Alperstein and Associates partners with a Law Firm that provides credit repair services to graduated clients.</a:t>
            </a:r>
            <a:endParaRPr lang="en-US" sz="1400" dirty="0">
              <a:ea typeface="Calibri"/>
              <a:cs typeface="Calibri"/>
            </a:endParaRPr>
          </a:p>
          <a:p>
            <a:endParaRPr lang="en-US" sz="1400" b="1" dirty="0">
              <a:ea typeface="Calibri"/>
              <a:cs typeface="Calibri"/>
            </a:endParaRPr>
          </a:p>
          <a:p>
            <a:r>
              <a:rPr lang="en-US" sz="1400" b="1" dirty="0"/>
              <a:t>Process:</a:t>
            </a:r>
            <a:endParaRPr lang="en-US" sz="1400" dirty="0">
              <a:ea typeface="Calibri"/>
              <a:cs typeface="Calibri"/>
            </a:endParaRPr>
          </a:p>
          <a:p>
            <a:pPr marL="742950" lvl="1" indent="-285750">
              <a:buFont typeface="Arial" panose="020B0604020202020204" pitchFamily="34" charset="0"/>
              <a:buChar char="•"/>
            </a:pPr>
            <a:r>
              <a:rPr lang="en-US" sz="1400" dirty="0"/>
              <a:t>The Law Firm selects prospects based on qualified requirements.</a:t>
            </a:r>
            <a:endParaRPr lang="en-US" sz="1400" dirty="0">
              <a:ea typeface="Calibri"/>
              <a:cs typeface="Calibri"/>
            </a:endParaRPr>
          </a:p>
          <a:p>
            <a:pPr marL="742950" lvl="1" indent="-285750">
              <a:buFont typeface="Arial" panose="020B0604020202020204" pitchFamily="34" charset="0"/>
              <a:buChar char="•"/>
            </a:pPr>
            <a:r>
              <a:rPr lang="en-US" sz="1400" dirty="0"/>
              <a:t>The Grad Team contacts selected clients via email.</a:t>
            </a:r>
            <a:endParaRPr lang="en-US" sz="1400" dirty="0">
              <a:ea typeface="Calibri"/>
              <a:cs typeface="Calibri"/>
            </a:endParaRPr>
          </a:p>
          <a:p>
            <a:pPr marL="742950" lvl="1" indent="-285750">
              <a:buFont typeface="Arial" panose="020B0604020202020204" pitchFamily="34" charset="0"/>
              <a:buChar char="•"/>
            </a:pPr>
            <a:r>
              <a:rPr lang="en-US" sz="1400" dirty="0"/>
              <a:t>Credit repair benefits include: </a:t>
            </a:r>
            <a:endParaRPr lang="en-US" sz="1400" dirty="0">
              <a:ea typeface="Calibri"/>
              <a:cs typeface="Calibri"/>
            </a:endParaRPr>
          </a:p>
          <a:p>
            <a:pPr marL="1143000" lvl="2" indent="-228600">
              <a:buFont typeface="Arial" panose="020B0604020202020204" pitchFamily="34" charset="0"/>
              <a:buChar char="•"/>
            </a:pPr>
            <a:r>
              <a:rPr lang="en-US" sz="1400" dirty="0"/>
              <a:t>Reviewing completed settlements to check for any outstanding issues.</a:t>
            </a:r>
            <a:endParaRPr lang="en-US" sz="1400" dirty="0">
              <a:ea typeface="Calibri"/>
              <a:cs typeface="Calibri"/>
            </a:endParaRPr>
          </a:p>
          <a:p>
            <a:pPr marL="1143000" lvl="2" indent="-228600">
              <a:buFont typeface="Arial" panose="020B0604020202020204" pitchFamily="34" charset="0"/>
              <a:buChar char="•"/>
            </a:pPr>
            <a:r>
              <a:rPr lang="en-US" sz="1400" dirty="0"/>
              <a:t>Disputing with creditors using completed SIF documents retained.</a:t>
            </a:r>
            <a:endParaRPr lang="en-US" sz="1400" dirty="0">
              <a:ea typeface="Calibri"/>
              <a:cs typeface="Calibri"/>
            </a:endParaRPr>
          </a:p>
          <a:p>
            <a:pPr marL="1143000" lvl="2" indent="-228600">
              <a:buFont typeface="Arial" panose="020B0604020202020204" pitchFamily="34" charset="0"/>
              <a:buChar char="•"/>
            </a:pPr>
            <a:r>
              <a:rPr lang="en-US" sz="1400" dirty="0"/>
              <a:t>Updating credit reports to reflect settled accounts.</a:t>
            </a:r>
            <a:endParaRPr lang="en-US" sz="1400" dirty="0">
              <a:ea typeface="Calibri"/>
              <a:cs typeface="Calibri"/>
            </a:endParaRPr>
          </a:p>
          <a:p>
            <a:pPr marL="1143000" lvl="2" indent="-228600">
              <a:buFont typeface="Arial" panose="020B0604020202020204" pitchFamily="34" charset="0"/>
              <a:buChar char="•"/>
            </a:pPr>
            <a:endParaRPr lang="en-US" sz="1400" dirty="0">
              <a:ea typeface="Calibri"/>
              <a:cs typeface="Calibri"/>
            </a:endParaRPr>
          </a:p>
          <a:p>
            <a:endParaRPr lang="en-US" sz="1400" dirty="0">
              <a:ea typeface="+mn-lt"/>
              <a:cs typeface="+mn-lt"/>
            </a:endParaRPr>
          </a:p>
          <a:p>
            <a:pPr marL="285750" indent="-285750">
              <a:buFont typeface="Arial"/>
              <a:buChar char="•"/>
            </a:pPr>
            <a:r>
              <a:rPr lang="en-US" sz="1400" dirty="0">
                <a:ea typeface="+mn-lt"/>
                <a:cs typeface="+mn-lt"/>
              </a:rPr>
              <a:t>There are communication routing issues, where client responses are sent to the CS email inbox instead of the intended general inbox.</a:t>
            </a:r>
            <a:endParaRPr lang="en-US" sz="1400" dirty="0">
              <a:ea typeface="Calibri"/>
              <a:cs typeface="Calibri"/>
            </a:endParaRPr>
          </a:p>
          <a:p>
            <a:pPr marL="285750" indent="-285750">
              <a:buFont typeface="Arial"/>
              <a:buChar char="•"/>
            </a:pPr>
            <a:r>
              <a:rPr lang="en-US" sz="1400" dirty="0">
                <a:ea typeface="+mn-lt"/>
                <a:cs typeface="+mn-lt"/>
              </a:rPr>
              <a:t>A ticket has been submitted for resolution, but for now, the </a:t>
            </a:r>
            <a:r>
              <a:rPr lang="en-US" sz="1400" b="1" dirty="0">
                <a:ea typeface="+mn-lt"/>
                <a:cs typeface="+mn-lt"/>
              </a:rPr>
              <a:t>Loan Team has requested that emails be forwarded back to the loan agent for assistance.</a:t>
            </a:r>
            <a:endParaRPr lang="en-US" sz="1400" dirty="0">
              <a:ea typeface="Calibri"/>
              <a:cs typeface="Calibri"/>
            </a:endParaRPr>
          </a:p>
          <a:p>
            <a:pPr marL="285750" indent="-285750">
              <a:buFont typeface="Arial"/>
              <a:buChar char="•"/>
            </a:pPr>
            <a:r>
              <a:rPr lang="en-US" sz="1400" dirty="0">
                <a:ea typeface="+mn-lt"/>
                <a:cs typeface="+mn-lt"/>
              </a:rPr>
              <a:t>The OL Support Team will cascade this information, and efforts are being made to ensure </a:t>
            </a:r>
            <a:r>
              <a:rPr lang="en-US" sz="1400" b="1" dirty="0">
                <a:ea typeface="+mn-lt"/>
                <a:cs typeface="+mn-lt"/>
              </a:rPr>
              <a:t>departmental partnership</a:t>
            </a:r>
            <a:r>
              <a:rPr lang="en-US" sz="1400" dirty="0">
                <a:ea typeface="+mn-lt"/>
                <a:cs typeface="+mn-lt"/>
              </a:rPr>
              <a:t> for better communication on future campaigns.</a:t>
            </a:r>
            <a:endParaRPr lang="en-US" sz="1400" dirty="0">
              <a:ea typeface="Calibri"/>
              <a:cs typeface="Calibri"/>
            </a:endParaRPr>
          </a:p>
          <a:p>
            <a:endParaRPr lang="en-US" sz="1400" dirty="0">
              <a:ea typeface="Calibri"/>
              <a:cs typeface="Calibri"/>
            </a:endParaRPr>
          </a:p>
          <a:p>
            <a:r>
              <a:rPr lang="en-US" sz="1400" dirty="0"/>
              <a:t>An example email template is included in the attachments for reference.</a:t>
            </a:r>
            <a:endParaRPr lang="en-US" sz="1400" dirty="0">
              <a:ea typeface="Calibri"/>
              <a:cs typeface="Calibri"/>
            </a:endParaRPr>
          </a:p>
          <a:p>
            <a:endParaRPr lang="en-US" dirty="0"/>
          </a:p>
        </p:txBody>
      </p:sp>
    </p:spTree>
    <p:extLst>
      <p:ext uri="{BB962C8B-B14F-4D97-AF65-F5344CB8AC3E}">
        <p14:creationId xmlns:p14="http://schemas.microsoft.com/office/powerpoint/2010/main" val="2016963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D5684-DA3A-0C81-7D12-B71B0AE856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B154C-90DD-091B-319D-6708E0CF5DFD}"/>
              </a:ext>
            </a:extLst>
          </p:cNvPr>
          <p:cNvSpPr>
            <a:spLocks noGrp="1"/>
          </p:cNvSpPr>
          <p:nvPr>
            <p:ph type="title"/>
          </p:nvPr>
        </p:nvSpPr>
        <p:spPr>
          <a:xfrm>
            <a:off x="64726" y="40522"/>
            <a:ext cx="8854631" cy="431654"/>
          </a:xfrm>
        </p:spPr>
        <p:txBody>
          <a:bodyPr>
            <a:normAutofit/>
          </a:bodyPr>
          <a:lstStyle/>
          <a:p>
            <a:r>
              <a:rPr lang="en-US" sz="2000" dirty="0">
                <a:latin typeface="Arial"/>
                <a:cs typeface="Arial"/>
              </a:rPr>
              <a:t>Example of Partnership Email:</a:t>
            </a:r>
          </a:p>
        </p:txBody>
      </p:sp>
      <p:sp>
        <p:nvSpPr>
          <p:cNvPr id="3" name="Footer Placeholder 2">
            <a:extLst>
              <a:ext uri="{FF2B5EF4-FFF2-40B4-BE49-F238E27FC236}">
                <a16:creationId xmlns:a16="http://schemas.microsoft.com/office/drawing/2014/main" id="{6B4CE995-EC94-73B5-1AFB-1622222217D6}"/>
              </a:ext>
            </a:extLst>
          </p:cNvPr>
          <p:cNvSpPr>
            <a:spLocks noGrp="1"/>
          </p:cNvSpPr>
          <p:nvPr>
            <p:ph type="ftr" sz="quarter" idx="11"/>
          </p:nvPr>
        </p:nvSpPr>
        <p:spPr>
          <a:xfrm>
            <a:off x="-1008021" y="6473797"/>
            <a:ext cx="3086100" cy="365125"/>
          </a:xfrm>
        </p:spPr>
        <p:txBody>
          <a:bodyPr/>
          <a:lstStyle/>
          <a:p>
            <a:r>
              <a:rPr lang="en-US"/>
              <a:t>Confidential</a:t>
            </a:r>
          </a:p>
        </p:txBody>
      </p:sp>
      <p:sp>
        <p:nvSpPr>
          <p:cNvPr id="7" name="Rectangle 6">
            <a:extLst>
              <a:ext uri="{FF2B5EF4-FFF2-40B4-BE49-F238E27FC236}">
                <a16:creationId xmlns:a16="http://schemas.microsoft.com/office/drawing/2014/main" id="{4A7EAF72-C54B-617A-4787-908D8E4C2FDA}"/>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40F7258-4E1F-6C9B-34C6-057CD95CB4EA}"/>
              </a:ext>
            </a:extLst>
          </p:cNvPr>
          <p:cNvSpPr txBox="1"/>
          <p:nvPr/>
        </p:nvSpPr>
        <p:spPr>
          <a:xfrm>
            <a:off x="5660020" y="722412"/>
            <a:ext cx="3259337" cy="646331"/>
          </a:xfrm>
          <a:prstGeom prst="rect">
            <a:avLst/>
          </a:prstGeom>
          <a:noFill/>
        </p:spPr>
        <p:txBody>
          <a:bodyPr wrap="square" lIns="91440" tIns="45720" rIns="91440" bIns="45720" rtlCol="0" anchor="t">
            <a:spAutoFit/>
          </a:bodyPr>
          <a:lstStyle/>
          <a:p>
            <a:endParaRPr lang="en-US" dirty="0">
              <a:ea typeface="Calibri"/>
              <a:cs typeface="Calibri"/>
            </a:endParaRPr>
          </a:p>
          <a:p>
            <a:r>
              <a:rPr lang="en-US" dirty="0"/>
              <a:t> </a:t>
            </a:r>
          </a:p>
        </p:txBody>
      </p:sp>
      <p:sp>
        <p:nvSpPr>
          <p:cNvPr id="5" name="Slide Number Placeholder 4">
            <a:extLst>
              <a:ext uri="{FF2B5EF4-FFF2-40B4-BE49-F238E27FC236}">
                <a16:creationId xmlns:a16="http://schemas.microsoft.com/office/drawing/2014/main" id="{D8CB4994-C759-5654-43AD-A205A27612F6}"/>
              </a:ext>
            </a:extLst>
          </p:cNvPr>
          <p:cNvSpPr>
            <a:spLocks noGrp="1"/>
          </p:cNvSpPr>
          <p:nvPr>
            <p:ph type="sldNum" sz="quarter" idx="12"/>
          </p:nvPr>
        </p:nvSpPr>
        <p:spPr>
          <a:xfrm>
            <a:off x="11376314" y="9845678"/>
            <a:ext cx="739888" cy="118614"/>
          </a:xfrm>
        </p:spPr>
        <p:txBody>
          <a:bodyPr/>
          <a:lstStyle/>
          <a:p>
            <a:fld id="{AAB8DC1C-CF51-4F7D-8E83-F954D2933D5A}" type="slidenum">
              <a:rPr lang="en-US" smtClean="0"/>
              <a:t>5</a:t>
            </a:fld>
            <a:endParaRPr lang="en-US"/>
          </a:p>
        </p:txBody>
      </p:sp>
      <p:sp>
        <p:nvSpPr>
          <p:cNvPr id="14" name="TextBox 13">
            <a:extLst>
              <a:ext uri="{FF2B5EF4-FFF2-40B4-BE49-F238E27FC236}">
                <a16:creationId xmlns:a16="http://schemas.microsoft.com/office/drawing/2014/main" id="{06ADD885-E1E7-4EF7-0F49-47F54A694223}"/>
              </a:ext>
            </a:extLst>
          </p:cNvPr>
          <p:cNvSpPr txBox="1"/>
          <p:nvPr/>
        </p:nvSpPr>
        <p:spPr>
          <a:xfrm>
            <a:off x="262550" y="722412"/>
            <a:ext cx="8656807" cy="5909310"/>
          </a:xfrm>
          <a:prstGeom prst="rect">
            <a:avLst/>
          </a:prstGeom>
          <a:noFill/>
        </p:spPr>
        <p:txBody>
          <a:bodyPr wrap="square" rtlCol="0">
            <a:spAutoFit/>
          </a:bodyPr>
          <a:lstStyle/>
          <a:p>
            <a:pPr>
              <a:buNone/>
            </a:pPr>
            <a:r>
              <a:rPr lang="en-US" sz="1200" dirty="0">
                <a:effectLst/>
              </a:rPr>
              <a:t>Hi Autumn,</a:t>
            </a:r>
          </a:p>
          <a:p>
            <a:pPr>
              <a:buNone/>
            </a:pPr>
            <a:r>
              <a:rPr lang="en-US" sz="1200" dirty="0">
                <a:effectLst/>
              </a:rPr>
              <a:t>We have successfully negotiated and settled your debt, but after reviewing your credit report, we’ve identified an issue - Your creditor has not accurately reported your settlement to the credit reporting agencies.</a:t>
            </a:r>
          </a:p>
          <a:p>
            <a:pPr>
              <a:buNone/>
            </a:pPr>
            <a:r>
              <a:rPr lang="en-US" sz="1200" dirty="0">
                <a:effectLst/>
              </a:rPr>
              <a:t>Unfortunately, some creditors fail to update credit reports correctly, which means your account may still be listed as unpaid or delinquent—even though it was settled. This can unfairly impact your credit score and financial opportunities.</a:t>
            </a:r>
          </a:p>
          <a:p>
            <a:pPr>
              <a:buNone/>
            </a:pPr>
            <a:r>
              <a:rPr lang="en-US" sz="1200" dirty="0">
                <a:effectLst/>
              </a:rPr>
              <a:t>Under the Fair Credit Reporting Act (FCRA), you have the right to an accurate credit report. To assist with this, we’re connecting you with an independent consumer protection law firm that has extensive experience representing consumers with potential credit report issues.</a:t>
            </a:r>
          </a:p>
          <a:p>
            <a:pPr>
              <a:buFont typeface="Arial" panose="020B0604020202020204" pitchFamily="34" charset="0"/>
              <a:buChar char="•"/>
            </a:pPr>
            <a:r>
              <a:rPr lang="en-US" sz="1200" dirty="0"/>
              <a:t>A soft credit pull (won’t affect your score) will be used.</a:t>
            </a:r>
          </a:p>
          <a:p>
            <a:pPr>
              <a:buFont typeface="Arial" panose="020B0604020202020204" pitchFamily="34" charset="0"/>
              <a:buChar char="•"/>
            </a:pPr>
            <a:r>
              <a:rPr lang="en-US" sz="1200" dirty="0"/>
              <a:t>If errors are found, the law firm may take action at no upfront cost.</a:t>
            </a:r>
          </a:p>
          <a:p>
            <a:pPr>
              <a:buFont typeface="Arial" panose="020B0604020202020204" pitchFamily="34" charset="0"/>
              <a:buChar char="•"/>
            </a:pPr>
            <a:r>
              <a:rPr lang="en-US" sz="1200" dirty="0"/>
              <a:t>You will not pay anything out of pocket!</a:t>
            </a:r>
          </a:p>
          <a:p>
            <a:pPr>
              <a:buFont typeface="Arial" panose="020B0604020202020204" pitchFamily="34" charset="0"/>
              <a:buChar char="•"/>
            </a:pPr>
            <a:r>
              <a:rPr lang="en-US" sz="1200" dirty="0"/>
              <a:t>If eligible, the law firm may work to correct errors or take legal action.</a:t>
            </a:r>
          </a:p>
          <a:p>
            <a:pPr>
              <a:buFont typeface="Arial" panose="020B0604020202020204" pitchFamily="34" charset="0"/>
              <a:buChar char="•"/>
            </a:pPr>
            <a:r>
              <a:rPr lang="en-US" sz="1200" dirty="0"/>
              <a:t>You may be entitled to compensation if a creditor refuses to fix an error.</a:t>
            </a:r>
          </a:p>
          <a:p>
            <a:pPr>
              <a:buNone/>
            </a:pPr>
            <a:endParaRPr lang="en-US" sz="1200" dirty="0">
              <a:effectLst/>
            </a:endParaRPr>
          </a:p>
          <a:p>
            <a:pPr>
              <a:buNone/>
            </a:pPr>
            <a:r>
              <a:rPr lang="en-US" sz="1200" dirty="0">
                <a:effectLst/>
              </a:rPr>
              <a:t>Take 30 seconds to authorize your free legal review by replying with "Yes" to this email.</a:t>
            </a:r>
          </a:p>
          <a:p>
            <a:pPr>
              <a:buNone/>
            </a:pPr>
            <a:r>
              <a:rPr lang="en-US" sz="1200" dirty="0">
                <a:effectLst/>
              </a:rPr>
              <a:t>Important Disclosures:</a:t>
            </a:r>
          </a:p>
          <a:p>
            <a:pPr>
              <a:buFont typeface="Arial" panose="020B0604020202020204" pitchFamily="34" charset="0"/>
              <a:buChar char="•"/>
            </a:pPr>
            <a:r>
              <a:rPr lang="en-US" sz="1200" dirty="0"/>
              <a:t>The originating and referring organization may be ClearOne Advantage, LLC (COA), Alperstein &amp; Associates, LLC, or one of their subsidiaries or affiliates.</a:t>
            </a:r>
          </a:p>
          <a:p>
            <a:pPr>
              <a:buFont typeface="Arial" panose="020B0604020202020204" pitchFamily="34" charset="0"/>
              <a:buChar char="•"/>
            </a:pPr>
            <a:r>
              <a:rPr lang="en-US" sz="1200" dirty="0"/>
              <a:t>None of the above-mentioned entities are credit repair organizations and do not offer credit repair services.</a:t>
            </a:r>
          </a:p>
          <a:p>
            <a:pPr>
              <a:buFont typeface="Arial" panose="020B0604020202020204" pitchFamily="34" charset="0"/>
              <a:buChar char="•"/>
            </a:pPr>
            <a:r>
              <a:rPr lang="en-US" sz="1200" dirty="0"/>
              <a:t>This review is conducted by an independent law firm that will determine if your rights under the Fair Credit Reporting Act (FCRA) have been violated. If violations are found, the law firm will work at no cost to you to correct the errors.</a:t>
            </a:r>
          </a:p>
          <a:p>
            <a:pPr>
              <a:buFont typeface="Arial" panose="020B0604020202020204" pitchFamily="34" charset="0"/>
              <a:buChar char="•"/>
            </a:pPr>
            <a:r>
              <a:rPr lang="en-US" sz="1200" dirty="0"/>
              <a:t>The referring organization and the law firm operate separately; the referring organization does not influence or oversee their legal process.</a:t>
            </a:r>
          </a:p>
          <a:p>
            <a:pPr>
              <a:buFont typeface="Arial" panose="020B0604020202020204" pitchFamily="34" charset="0"/>
              <a:buChar char="•"/>
            </a:pPr>
            <a:r>
              <a:rPr lang="en-US" sz="1200" dirty="0"/>
              <a:t>This is not credit repair—it’s about ensuring your credit report accurately reflects your settlement.</a:t>
            </a:r>
          </a:p>
          <a:p>
            <a:pPr>
              <a:buNone/>
            </a:pPr>
            <a:endParaRPr lang="en-US" sz="1200" dirty="0">
              <a:effectLst/>
            </a:endParaRPr>
          </a:p>
          <a:p>
            <a:pPr>
              <a:buNone/>
            </a:pPr>
            <a:r>
              <a:rPr lang="en-US" sz="1200" dirty="0">
                <a:effectLst/>
              </a:rPr>
              <a:t>Let’s make sure your credit report accurately reflects the results of your settlement.</a:t>
            </a:r>
          </a:p>
          <a:p>
            <a:pPr>
              <a:buNone/>
            </a:pPr>
            <a:r>
              <a:rPr lang="en-US" sz="1200" dirty="0">
                <a:effectLst/>
              </a:rPr>
              <a:t>Best,</a:t>
            </a:r>
          </a:p>
          <a:p>
            <a:r>
              <a:rPr lang="en-US" sz="1200" dirty="0">
                <a:effectLst/>
              </a:rPr>
              <a:t>Rhea DelaPena</a:t>
            </a:r>
            <a:br>
              <a:rPr lang="en-US" sz="1200" dirty="0">
                <a:effectLst/>
              </a:rPr>
            </a:br>
            <a:r>
              <a:rPr lang="en-US" sz="1200" dirty="0">
                <a:effectLst/>
              </a:rPr>
              <a:t>39407866</a:t>
            </a:r>
            <a:br>
              <a:rPr lang="en-US" sz="1200" dirty="0">
                <a:effectLst/>
              </a:rPr>
            </a:br>
            <a:r>
              <a:rPr lang="en-US" sz="1200" dirty="0">
                <a:effectLst/>
              </a:rPr>
              <a:t>Graduation Management</a:t>
            </a:r>
            <a:br>
              <a:rPr lang="en-US" sz="1200" dirty="0">
                <a:effectLst/>
              </a:rPr>
            </a:br>
            <a:r>
              <a:rPr lang="en-US" sz="1200"/>
              <a:t>ClearOne Advantage</a:t>
            </a:r>
            <a:endParaRPr lang="en-US" sz="1200" dirty="0">
              <a:effectLst/>
            </a:endParaRPr>
          </a:p>
          <a:p>
            <a:endParaRPr lang="en-US" dirty="0"/>
          </a:p>
        </p:txBody>
      </p:sp>
      <p:pic>
        <p:nvPicPr>
          <p:cNvPr id="4" name="Picture 2" descr="ClearOne Advantage">
            <a:extLst>
              <a:ext uri="{FF2B5EF4-FFF2-40B4-BE49-F238E27FC236}">
                <a16:creationId xmlns:a16="http://schemas.microsoft.com/office/drawing/2014/main" id="{C592234D-35C8-20FD-22CF-32ABB075E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9263" y="6350153"/>
            <a:ext cx="1395194" cy="39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56118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99DC55F4-8034-4279-A768-3BC59612D256}" vid="{D2D9A7DC-B5CD-4C3A-A780-7E5258CB9C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d1e6db6382f9bf0a238767834c1ba2e8">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0d55a77fe706b52e8d7bff5f40b8e9f5"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_Flow_SignoffStatus xmlns="dfbadaf6-90cf-41d3-a0ba-bbd98d259036" xsi:nil="true"/>
  </documentManagement>
</p:properties>
</file>

<file path=customXml/itemProps1.xml><?xml version="1.0" encoding="utf-8"?>
<ds:datastoreItem xmlns:ds="http://schemas.openxmlformats.org/officeDocument/2006/customXml" ds:itemID="{72455B36-AA23-4068-8D56-6732DB8F77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854B98F-2B59-4E83-AB7F-16192964250A}">
  <ds:schemaRefs>
    <ds:schemaRef ds:uri="http://schemas.microsoft.com/sharepoint/v3/contenttype/forms"/>
  </ds:schemaRefs>
</ds:datastoreItem>
</file>

<file path=customXml/itemProps3.xml><?xml version="1.0" encoding="utf-8"?>
<ds:datastoreItem xmlns:ds="http://schemas.openxmlformats.org/officeDocument/2006/customXml" ds:itemID="{FF44613A-A1AE-446C-ADE1-2243A58D2292}">
  <ds:schemaRefs>
    <ds:schemaRef ds:uri="http://www.w3.org/XML/1998/namespace"/>
    <ds:schemaRef ds:uri="http://schemas.microsoft.com/sharepoint/v3"/>
    <ds:schemaRef ds:uri="http://purl.org/dc/dcmitype/"/>
    <ds:schemaRef ds:uri="http://schemas.openxmlformats.org/package/2006/metadata/core-properties"/>
    <ds:schemaRef ds:uri="dfbadaf6-90cf-41d3-a0ba-bbd98d259036"/>
    <ds:schemaRef ds:uri="http://purl.org/dc/terms/"/>
    <ds:schemaRef ds:uri="http://schemas.microsoft.com/office/2006/documentManagement/types"/>
    <ds:schemaRef ds:uri="http://schemas.microsoft.com/office/2006/metadata/properties"/>
    <ds:schemaRef ds:uri="http://schemas.microsoft.com/office/infopath/2007/PartnerControls"/>
    <ds:schemaRef ds:uri="fca21091-4343-4232-a795-e59481497cb5"/>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COA ppt template</Template>
  <TotalTime>6</TotalTime>
  <Words>1152</Words>
  <Application>Microsoft Office PowerPoint</Application>
  <PresentationFormat>On-screen Show (4:3)</PresentationFormat>
  <Paragraphs>105</Paragraphs>
  <Slides>5</Slides>
  <Notes>4</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Graduation Email QRG</vt:lpstr>
      <vt:lpstr>Example Email sent to COA Clients of OLD when loan is completed</vt:lpstr>
      <vt:lpstr>Graduation Email- Additional Information</vt:lpstr>
      <vt:lpstr>Example of Partnership Email: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Tree Insights</dc:title>
  <dc:creator>Brandon Homuth</dc:creator>
  <cp:lastModifiedBy>Samantha Shumaker</cp:lastModifiedBy>
  <cp:revision>11</cp:revision>
  <cp:lastPrinted>2020-12-17T16:31:33Z</cp:lastPrinted>
  <dcterms:created xsi:type="dcterms:W3CDTF">2020-07-08T17:20:15Z</dcterms:created>
  <dcterms:modified xsi:type="dcterms:W3CDTF">2026-02-12T20:04:27Z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ies>
</file>